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44" r:id="rId1"/>
  </p:sldMasterIdLst>
  <p:notesMasterIdLst>
    <p:notesMasterId r:id="rId23"/>
  </p:notesMasterIdLst>
  <p:handoutMasterIdLst>
    <p:handoutMasterId r:id="rId24"/>
  </p:handoutMasterIdLst>
  <p:sldIdLst>
    <p:sldId id="256" r:id="rId2"/>
    <p:sldId id="257" r:id="rId3"/>
    <p:sldId id="266" r:id="rId4"/>
    <p:sldId id="263" r:id="rId5"/>
    <p:sldId id="267" r:id="rId6"/>
    <p:sldId id="264" r:id="rId7"/>
    <p:sldId id="269" r:id="rId8"/>
    <p:sldId id="268" r:id="rId9"/>
    <p:sldId id="265" r:id="rId10"/>
    <p:sldId id="281" r:id="rId11"/>
    <p:sldId id="283" r:id="rId12"/>
    <p:sldId id="282" r:id="rId13"/>
    <p:sldId id="270" r:id="rId14"/>
    <p:sldId id="284" r:id="rId15"/>
    <p:sldId id="285" r:id="rId16"/>
    <p:sldId id="287" r:id="rId17"/>
    <p:sldId id="286" r:id="rId18"/>
    <p:sldId id="288" r:id="rId19"/>
    <p:sldId id="274" r:id="rId20"/>
    <p:sldId id="275" r:id="rId21"/>
    <p:sldId id="277" r:id="rId22"/>
  </p:sldIdLst>
  <p:sldSz cx="12192000" cy="6858000"/>
  <p:notesSz cx="9144000" cy="6858000"/>
  <p:defaultTextStyle>
    <a:defPPr>
      <a:defRPr lang="de-DE"/>
    </a:defPPr>
    <a:lvl1pPr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5pPr>
    <a:lvl6pPr marL="2286000" algn="l" defTabSz="914400" rtl="0" eaLnBrk="1" latinLnBrk="0" hangingPunct="1">
      <a:defRPr sz="2400" kern="1200">
        <a:solidFill>
          <a:schemeClr val="tx1"/>
        </a:solidFill>
        <a:latin typeface="Arial" panose="020B0604020202020204" pitchFamily="34" charset="0"/>
        <a:ea typeface="ヒラギノ角ゴ Pro W3" charset="-128"/>
        <a:cs typeface="+mn-cs"/>
      </a:defRPr>
    </a:lvl6pPr>
    <a:lvl7pPr marL="2743200" algn="l" defTabSz="914400" rtl="0" eaLnBrk="1" latinLnBrk="0" hangingPunct="1">
      <a:defRPr sz="2400" kern="1200">
        <a:solidFill>
          <a:schemeClr val="tx1"/>
        </a:solidFill>
        <a:latin typeface="Arial" panose="020B0604020202020204" pitchFamily="34" charset="0"/>
        <a:ea typeface="ヒラギノ角ゴ Pro W3" charset="-128"/>
        <a:cs typeface="+mn-cs"/>
      </a:defRPr>
    </a:lvl7pPr>
    <a:lvl8pPr marL="3200400" algn="l" defTabSz="914400" rtl="0" eaLnBrk="1" latinLnBrk="0" hangingPunct="1">
      <a:defRPr sz="2400" kern="1200">
        <a:solidFill>
          <a:schemeClr val="tx1"/>
        </a:solidFill>
        <a:latin typeface="Arial" panose="020B0604020202020204" pitchFamily="34" charset="0"/>
        <a:ea typeface="ヒラギノ角ゴ Pro W3" charset="-128"/>
        <a:cs typeface="+mn-cs"/>
      </a:defRPr>
    </a:lvl8pPr>
    <a:lvl9pPr marL="3657600" algn="l" defTabSz="914400" rtl="0" eaLnBrk="1" latinLnBrk="0" hangingPunct="1">
      <a:defRPr sz="2400" kern="1200">
        <a:solidFill>
          <a:schemeClr val="tx1"/>
        </a:solidFill>
        <a:latin typeface="Arial" panose="020B0604020202020204" pitchFamily="34" charset="0"/>
        <a:ea typeface="ヒラギノ角ゴ Pro W3" charset="-128"/>
        <a:cs typeface="+mn-cs"/>
      </a:defRPr>
    </a:lvl9pPr>
  </p:defaultTextStyle>
  <p:extLst>
    <p:ext uri="{EFAFB233-063F-42B5-8137-9DF3F51BA10A}">
      <p15:sldGuideLst xmlns:p15="http://schemas.microsoft.com/office/powerpoint/2012/main">
        <p15:guide id="1" orient="horz" pos="1296">
          <p15:clr>
            <a:srgbClr val="A4A3A4"/>
          </p15:clr>
        </p15:guide>
        <p15:guide id="2" pos="595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FF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77175" autoAdjust="0"/>
  </p:normalViewPr>
  <p:slideViewPr>
    <p:cSldViewPr snapToGrid="0">
      <p:cViewPr varScale="1">
        <p:scale>
          <a:sx n="74" d="100"/>
          <a:sy n="74" d="100"/>
        </p:scale>
        <p:origin x="1195" y="58"/>
      </p:cViewPr>
      <p:guideLst>
        <p:guide orient="horz" pos="1296"/>
        <p:guide pos="5952"/>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notesViewPr>
    <p:cSldViewPr snapToGrid="0">
      <p:cViewPr varScale="1">
        <p:scale>
          <a:sx n="117" d="100"/>
          <a:sy n="117" d="100"/>
        </p:scale>
        <p:origin x="273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C424A38-A8B2-E0EC-7A28-AFD479539829}"/>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B4BC391B-27A7-FAAD-7DC7-CB36FE5A6E4A}"/>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75AB4CA9-CCE6-4DE5-84AD-E1F7B6CB5CBB}" type="datetimeFigureOut">
              <a:rPr lang="de-DE" smtClean="0"/>
              <a:t>23.07.2026</a:t>
            </a:fld>
            <a:endParaRPr lang="de-DE"/>
          </a:p>
        </p:txBody>
      </p:sp>
      <p:sp>
        <p:nvSpPr>
          <p:cNvPr id="4" name="Fußzeilenplatzhalter 3">
            <a:extLst>
              <a:ext uri="{FF2B5EF4-FFF2-40B4-BE49-F238E27FC236}">
                <a16:creationId xmlns:a16="http://schemas.microsoft.com/office/drawing/2014/main" id="{C9044DCD-B54D-86BE-7F28-47D99C0553F4}"/>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de-DE" dirty="0"/>
          </a:p>
        </p:txBody>
      </p:sp>
      <p:sp>
        <p:nvSpPr>
          <p:cNvPr id="5" name="Foliennummernplatzhalter 4">
            <a:extLst>
              <a:ext uri="{FF2B5EF4-FFF2-40B4-BE49-F238E27FC236}">
                <a16:creationId xmlns:a16="http://schemas.microsoft.com/office/drawing/2014/main" id="{0420775E-50E3-8820-082D-219DAAE6487C}"/>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6B6A8762-026B-44CD-B702-65A0748002CC}" type="slidenum">
              <a:rPr lang="de-DE" smtClean="0"/>
              <a:t>‹Nr.›</a:t>
            </a:fld>
            <a:endParaRPr lang="de-DE" dirty="0"/>
          </a:p>
        </p:txBody>
      </p:sp>
    </p:spTree>
    <p:extLst>
      <p:ext uri="{BB962C8B-B14F-4D97-AF65-F5344CB8AC3E}">
        <p14:creationId xmlns:p14="http://schemas.microsoft.com/office/powerpoint/2010/main" val="238000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52D5829F-2F94-0B44-A96D-AE852A87AC61}" type="datetimeFigureOut">
              <a:rPr lang="de-DE" smtClean="0"/>
              <a:t>23.07.2026</a:t>
            </a:fld>
            <a:endParaRPr lang="de-DE"/>
          </a:p>
        </p:txBody>
      </p:sp>
      <p:sp>
        <p:nvSpPr>
          <p:cNvPr id="4" name="Folienbildplatzhalt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0492B7F2-6741-7346-B13A-366117EE2BBB}" type="slidenum">
              <a:rPr lang="de-DE" smtClean="0"/>
              <a:t>‹Nr.›</a:t>
            </a:fld>
            <a:endParaRPr lang="de-DE"/>
          </a:p>
        </p:txBody>
      </p:sp>
    </p:spTree>
    <p:extLst>
      <p:ext uri="{BB962C8B-B14F-4D97-AF65-F5344CB8AC3E}">
        <p14:creationId xmlns:p14="http://schemas.microsoft.com/office/powerpoint/2010/main" val="3392550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kern="1200" dirty="0">
                <a:solidFill>
                  <a:schemeClr val="tx1"/>
                </a:solidFill>
                <a:effectLst/>
                <a:latin typeface="+mn-lt"/>
                <a:ea typeface="+mn-ea"/>
                <a:cs typeface="+mn-cs"/>
              </a:rPr>
              <a:t>Victor</a:t>
            </a:r>
            <a:endParaRPr lang="de-DE" dirty="0"/>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1</a:t>
            </a:fld>
            <a:endParaRPr lang="de-DE"/>
          </a:p>
        </p:txBody>
      </p:sp>
    </p:spTree>
    <p:extLst>
      <p:ext uri="{BB962C8B-B14F-4D97-AF65-F5344CB8AC3E}">
        <p14:creationId xmlns:p14="http://schemas.microsoft.com/office/powerpoint/2010/main" val="192921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kern="1200" dirty="0">
                <a:solidFill>
                  <a:schemeClr val="tx1"/>
                </a:solidFill>
                <a:effectLst/>
                <a:latin typeface="+mn-lt"/>
                <a:ea typeface="+mn-ea"/>
                <a:cs typeface="+mn-cs"/>
              </a:rPr>
              <a:t>Victor</a:t>
            </a:r>
          </a:p>
          <a:p>
            <a:r>
              <a:rPr lang="de-DE" sz="1200" b="0" kern="1200" dirty="0">
                <a:solidFill>
                  <a:schemeClr val="tx1"/>
                </a:solidFill>
                <a:effectLst/>
                <a:latin typeface="+mn-lt"/>
                <a:ea typeface="+mn-ea"/>
                <a:cs typeface="+mn-cs"/>
              </a:rPr>
              <a:t>Zuerst stellen wir Daten und Versuchsaufbau vor. Danach erklären wir Modell und</a:t>
            </a:r>
          </a:p>
          <a:p>
            <a:r>
              <a:rPr lang="de-DE" sz="1200" b="0" kern="1200" dirty="0">
                <a:solidFill>
                  <a:schemeClr val="tx1"/>
                </a:solidFill>
                <a:effectLst/>
                <a:latin typeface="+mn-lt"/>
                <a:ea typeface="+mn-ea"/>
                <a:cs typeface="+mn-cs"/>
              </a:rPr>
              <a:t>Metriken, vergleichen beide Vorverarbeitungen und schließen mit der fachlichen</a:t>
            </a:r>
          </a:p>
          <a:p>
            <a:r>
              <a:rPr lang="de-DE" sz="1200" b="0" kern="1200" dirty="0">
                <a:solidFill>
                  <a:schemeClr val="tx1"/>
                </a:solidFill>
                <a:effectLst/>
                <a:latin typeface="+mn-lt"/>
                <a:ea typeface="+mn-ea"/>
                <a:cs typeface="+mn-cs"/>
              </a:rPr>
              <a:t>Einordnung. Der Vortrag ist auf etwa neun Minuten und zehn Sekunden ausgelegt.</a:t>
            </a:r>
          </a:p>
          <a:p>
            <a:endParaRPr lang="de-DE" sz="1200" b="0" kern="1200" dirty="0">
              <a:solidFill>
                <a:schemeClr val="tx1"/>
              </a:solidFill>
              <a:effectLst/>
              <a:latin typeface="+mn-lt"/>
              <a:ea typeface="+mn-ea"/>
              <a:cs typeface="+mn-cs"/>
            </a:endParaRPr>
          </a:p>
        </p:txBody>
      </p:sp>
      <p:sp>
        <p:nvSpPr>
          <p:cNvPr id="4" name="Foliennummernplatzhalter 3"/>
          <p:cNvSpPr>
            <a:spLocks noGrp="1"/>
          </p:cNvSpPr>
          <p:nvPr>
            <p:ph type="sldNum" sz="quarter" idx="5"/>
          </p:nvPr>
        </p:nvSpPr>
        <p:spPr/>
        <p:txBody>
          <a:bodyPr/>
          <a:lstStyle/>
          <a:p>
            <a:fld id="{0492B7F2-6741-7346-B13A-366117EE2BBB}" type="slidenum">
              <a:rPr lang="de-DE" smtClean="0"/>
              <a:t>2</a:t>
            </a:fld>
            <a:endParaRPr lang="de-DE"/>
          </a:p>
        </p:txBody>
      </p:sp>
    </p:spTree>
    <p:extLst>
      <p:ext uri="{BB962C8B-B14F-4D97-AF65-F5344CB8AC3E}">
        <p14:creationId xmlns:p14="http://schemas.microsoft.com/office/powerpoint/2010/main" val="2591093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Victor</a:t>
            </a:r>
          </a:p>
          <a:p>
            <a:r>
              <a:rPr lang="de-DE" sz="1200" b="0" kern="1200" dirty="0">
                <a:solidFill>
                  <a:schemeClr val="tx1"/>
                </a:solidFill>
                <a:effectLst/>
                <a:latin typeface="+mn-lt"/>
                <a:ea typeface="+mn-ea"/>
                <a:cs typeface="+mn-cs"/>
              </a:rPr>
              <a:t>Die Feature-Extraktion wird immer vor der Mittelung ausgeführt. Dadurch mitteln wir Merkmalsvektoren und nicht Rohsignale. Die Mittelung verändert nur Z01 und Z04; die anderen Gruppen bleiben inhaltlich unverändert.</a:t>
            </a:r>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3</a:t>
            </a:fld>
            <a:endParaRPr lang="de-DE"/>
          </a:p>
        </p:txBody>
      </p:sp>
    </p:spTree>
    <p:extLst>
      <p:ext uri="{BB962C8B-B14F-4D97-AF65-F5344CB8AC3E}">
        <p14:creationId xmlns:p14="http://schemas.microsoft.com/office/powerpoint/2010/main" val="4078869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kern="1200" dirty="0">
                <a:solidFill>
                  <a:schemeClr val="tx1"/>
                </a:solidFill>
                <a:effectLst/>
                <a:latin typeface="+mn-lt"/>
                <a:ea typeface="+mn-ea"/>
                <a:cs typeface="+mn-cs"/>
              </a:rPr>
              <a:t>Victor</a:t>
            </a:r>
          </a:p>
          <a:p>
            <a:r>
              <a:rPr lang="de-DE" sz="1200" b="0" kern="1200" dirty="0">
                <a:solidFill>
                  <a:schemeClr val="tx1"/>
                </a:solidFill>
                <a:effectLst/>
                <a:latin typeface="+mn-lt"/>
                <a:ea typeface="+mn-ea"/>
                <a:cs typeface="+mn-cs"/>
              </a:rPr>
              <a:t>Die äußeren Splits entsprechen exakt der Aufgabenstellung. </a:t>
            </a:r>
          </a:p>
          <a:p>
            <a:r>
              <a:rPr lang="de-DE" sz="1200" b="0" kern="1200" dirty="0">
                <a:solidFill>
                  <a:schemeClr val="tx1"/>
                </a:solidFill>
                <a:effectLst/>
                <a:latin typeface="+mn-lt"/>
                <a:ea typeface="+mn-ea"/>
                <a:cs typeface="+mn-cs"/>
              </a:rPr>
              <a:t>Jeder gesunde Zustand wird einmal als unbekannte gesunde Gruppe getestet. Z05 wird in jedem Fold erneut ausgewertet.</a:t>
            </a:r>
          </a:p>
        </p:txBody>
      </p:sp>
      <p:sp>
        <p:nvSpPr>
          <p:cNvPr id="4" name="Foliennummernplatzhalter 3"/>
          <p:cNvSpPr>
            <a:spLocks noGrp="1"/>
          </p:cNvSpPr>
          <p:nvPr>
            <p:ph type="sldNum" sz="quarter" idx="5"/>
          </p:nvPr>
        </p:nvSpPr>
        <p:spPr/>
        <p:txBody>
          <a:bodyPr/>
          <a:lstStyle/>
          <a:p>
            <a:fld id="{0492B7F2-6741-7346-B13A-366117EE2BBB}" type="slidenum">
              <a:rPr lang="de-DE" smtClean="0"/>
              <a:t>4</a:t>
            </a:fld>
            <a:endParaRPr lang="de-DE"/>
          </a:p>
        </p:txBody>
      </p:sp>
    </p:spTree>
    <p:extLst>
      <p:ext uri="{BB962C8B-B14F-4D97-AF65-F5344CB8AC3E}">
        <p14:creationId xmlns:p14="http://schemas.microsoft.com/office/powerpoint/2010/main" val="3211991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9F389-D4E0-D2D0-D0E3-FEDCB601268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1C17418-FDE2-F315-1FCC-C0AE13826ED7}"/>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72DD5A0F-089C-81AB-670E-7E39A76EBC0D}"/>
              </a:ext>
            </a:extLst>
          </p:cNvPr>
          <p:cNvSpPr>
            <a:spLocks noGrp="1"/>
          </p:cNvSpPr>
          <p:nvPr>
            <p:ph type="body" idx="1"/>
          </p:nvPr>
        </p:nvSpPr>
        <p:spPr/>
        <p:txBody>
          <a:bodyPr/>
          <a:lstStyle/>
          <a:p>
            <a:r>
              <a:rPr lang="de-DE" sz="1200" b="0" kern="1200" dirty="0">
                <a:solidFill>
                  <a:schemeClr val="tx1"/>
                </a:solidFill>
                <a:effectLst/>
                <a:latin typeface="+mn-lt"/>
                <a:ea typeface="+mn-ea"/>
                <a:cs typeface="+mn-cs"/>
              </a:rPr>
              <a:t>David</a:t>
            </a:r>
            <a:br>
              <a:rPr lang="de-DE" sz="1200" b="0" kern="1200" dirty="0">
                <a:solidFill>
                  <a:schemeClr val="tx1"/>
                </a:solidFill>
                <a:effectLst/>
                <a:latin typeface="+mn-lt"/>
                <a:ea typeface="+mn-ea"/>
                <a:cs typeface="+mn-cs"/>
              </a:rPr>
            </a:br>
            <a:r>
              <a:rPr lang="de-DE" sz="1200" b="0" kern="1200" dirty="0">
                <a:solidFill>
                  <a:schemeClr val="tx1"/>
                </a:solidFill>
                <a:effectLst/>
                <a:latin typeface="+mn-lt"/>
                <a:ea typeface="+mn-ea"/>
                <a:cs typeface="+mn-cs"/>
              </a:rPr>
              <a:t>Aus dem Zahnrad-Signal entstehen 62 Audiofeatures. Der Encoder komprimiert diese über 32 auf 8 Werte; </a:t>
            </a:r>
          </a:p>
          <a:p>
            <a:r>
              <a:rPr lang="de-DE" sz="1200" b="0" kern="1200" dirty="0">
                <a:solidFill>
                  <a:schemeClr val="tx1"/>
                </a:solidFill>
                <a:effectLst/>
                <a:latin typeface="+mn-lt"/>
                <a:ea typeface="+mn-ea"/>
                <a:cs typeface="+mn-cs"/>
              </a:rPr>
              <a:t>der Decoder rekonstruiert den Merkmalsvektor. </a:t>
            </a:r>
          </a:p>
          <a:p>
            <a:r>
              <a:rPr lang="de-DE" sz="1200" b="0" kern="1200" dirty="0">
                <a:solidFill>
                  <a:schemeClr val="tx1"/>
                </a:solidFill>
                <a:effectLst/>
                <a:latin typeface="+mn-lt"/>
                <a:ea typeface="+mn-ea"/>
                <a:cs typeface="+mn-cs"/>
              </a:rPr>
              <a:t>Ein großer MSE weist auf eine Anomalie hin. </a:t>
            </a:r>
          </a:p>
          <a:p>
            <a:r>
              <a:rPr lang="de-DE" sz="1200" b="0" kern="1200" dirty="0">
                <a:solidFill>
                  <a:schemeClr val="tx1"/>
                </a:solidFill>
                <a:effectLst/>
                <a:latin typeface="+mn-lt"/>
                <a:ea typeface="+mn-ea"/>
                <a:cs typeface="+mn-cs"/>
              </a:rPr>
              <a:t>Alle Hyperparameter bleiben zwischen den Pipelines gleich, und die Skalierung wird je Trainings-Fold neu gelernt. </a:t>
            </a:r>
          </a:p>
          <a:p>
            <a:endParaRPr lang="de-DE" dirty="0"/>
          </a:p>
        </p:txBody>
      </p:sp>
      <p:sp>
        <p:nvSpPr>
          <p:cNvPr id="4" name="Foliennummernplatzhalter 3">
            <a:extLst>
              <a:ext uri="{FF2B5EF4-FFF2-40B4-BE49-F238E27FC236}">
                <a16:creationId xmlns:a16="http://schemas.microsoft.com/office/drawing/2014/main" id="{AA57F3D0-5F1F-FB96-9DEC-006699FAA684}"/>
              </a:ext>
            </a:extLst>
          </p:cNvPr>
          <p:cNvSpPr>
            <a:spLocks noGrp="1"/>
          </p:cNvSpPr>
          <p:nvPr>
            <p:ph type="sldNum" sz="quarter" idx="5"/>
          </p:nvPr>
        </p:nvSpPr>
        <p:spPr/>
        <p:txBody>
          <a:bodyPr/>
          <a:lstStyle/>
          <a:p>
            <a:fld id="{0492B7F2-6741-7346-B13A-366117EE2BBB}" type="slidenum">
              <a:rPr lang="de-DE" smtClean="0"/>
              <a:t>5</a:t>
            </a:fld>
            <a:endParaRPr lang="de-DE"/>
          </a:p>
        </p:txBody>
      </p:sp>
    </p:spTree>
    <p:extLst>
      <p:ext uri="{BB962C8B-B14F-4D97-AF65-F5344CB8AC3E}">
        <p14:creationId xmlns:p14="http://schemas.microsoft.com/office/powerpoint/2010/main" val="2678451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David</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Quantil wurde zwischen 95% und 99% getestet mit 98% erster wert bei dem keine FN auftreten und die maximale Anzahl an TN gefunden werden.</a:t>
            </a:r>
          </a:p>
          <a:p>
            <a:r>
              <a:rPr lang="de-DE" sz="1200" b="0" kern="1200" dirty="0">
                <a:solidFill>
                  <a:schemeClr val="tx1"/>
                </a:solidFill>
                <a:effectLst/>
                <a:latin typeface="+mn-lt"/>
                <a:ea typeface="+mn-ea"/>
                <a:cs typeface="+mn-cs"/>
              </a:rPr>
              <a:t>Ein gepoolter Vergleich allein wäre unfair: Ohne Mittelung hat Fold 4 wegen</a:t>
            </a:r>
          </a:p>
          <a:p>
            <a:r>
              <a:rPr lang="de-DE" sz="1200" b="0" kern="1200" dirty="0">
                <a:solidFill>
                  <a:schemeClr val="tx1"/>
                </a:solidFill>
                <a:effectLst/>
                <a:latin typeface="+mn-lt"/>
                <a:ea typeface="+mn-ea"/>
                <a:cs typeface="+mn-cs"/>
              </a:rPr>
              <a:t>Z01 besonders viele Testzeilen. BAR gleicht Klassen aus; das Makromittel gibt</a:t>
            </a:r>
          </a:p>
          <a:p>
            <a:r>
              <a:rPr lang="de-DE" sz="1200" b="0" kern="1200" dirty="0">
                <a:solidFill>
                  <a:schemeClr val="tx1"/>
                </a:solidFill>
                <a:effectLst/>
                <a:latin typeface="+mn-lt"/>
                <a:ea typeface="+mn-ea"/>
                <a:cs typeface="+mn-cs"/>
              </a:rPr>
              <a:t>zusätzlich jedem der acht Modelle dasselbe Gewicht.</a:t>
            </a:r>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6</a:t>
            </a:fld>
            <a:endParaRPr lang="de-DE"/>
          </a:p>
        </p:txBody>
      </p:sp>
    </p:spTree>
    <p:extLst>
      <p:ext uri="{BB962C8B-B14F-4D97-AF65-F5344CB8AC3E}">
        <p14:creationId xmlns:p14="http://schemas.microsoft.com/office/powerpoint/2010/main" val="1783365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Benny</a:t>
            </a:r>
          </a:p>
          <a:p>
            <a:r>
              <a:rPr lang="de-DE" sz="1200" b="0" kern="1200" dirty="0">
                <a:solidFill>
                  <a:schemeClr val="tx1"/>
                </a:solidFill>
                <a:effectLst/>
                <a:latin typeface="+mn-lt"/>
                <a:ea typeface="+mn-ea"/>
                <a:cs typeface="+mn-cs"/>
              </a:rPr>
              <a:t>Die Spezifität beträgt in allen Folds 1,000; es treten keine </a:t>
            </a:r>
            <a:r>
              <a:rPr lang="de-DE" sz="1200" b="0" kern="1200" dirty="0" err="1">
                <a:solidFill>
                  <a:schemeClr val="tx1"/>
                </a:solidFill>
                <a:effectLst/>
                <a:latin typeface="+mn-lt"/>
                <a:ea typeface="+mn-ea"/>
                <a:cs typeface="+mn-cs"/>
              </a:rPr>
              <a:t>False</a:t>
            </a:r>
            <a:r>
              <a:rPr lang="de-DE" sz="1200" b="0" kern="1200" dirty="0">
                <a:solidFill>
                  <a:schemeClr val="tx1"/>
                </a:solidFill>
                <a:effectLst/>
                <a:latin typeface="+mn-lt"/>
                <a:ea typeface="+mn-ea"/>
                <a:cs typeface="+mn-cs"/>
              </a:rPr>
              <a:t> Positives auf.</a:t>
            </a:r>
          </a:p>
          <a:p>
            <a:r>
              <a:rPr lang="de-DE" sz="1200" b="0" kern="1200" dirty="0">
                <a:solidFill>
                  <a:schemeClr val="tx1"/>
                </a:solidFill>
                <a:effectLst/>
                <a:latin typeface="+mn-lt"/>
                <a:ea typeface="+mn-ea"/>
                <a:cs typeface="+mn-cs"/>
              </a:rPr>
              <a:t>Fold 1 bis 3 sind gut, Fold 4 weist dagegen viele </a:t>
            </a:r>
            <a:r>
              <a:rPr lang="de-DE" sz="1200" b="0" kern="1200" dirty="0" err="1">
                <a:solidFill>
                  <a:schemeClr val="tx1"/>
                </a:solidFill>
                <a:effectLst/>
                <a:latin typeface="+mn-lt"/>
                <a:ea typeface="+mn-ea"/>
                <a:cs typeface="+mn-cs"/>
              </a:rPr>
              <a:t>False</a:t>
            </a:r>
            <a:r>
              <a:rPr lang="de-DE" sz="1200" b="0" kern="1200" dirty="0">
                <a:solidFill>
                  <a:schemeClr val="tx1"/>
                </a:solidFill>
                <a:effectLst/>
                <a:latin typeface="+mn-lt"/>
                <a:ea typeface="+mn-ea"/>
                <a:cs typeface="+mn-cs"/>
              </a:rPr>
              <a:t> Negatives der gesunden</a:t>
            </a:r>
          </a:p>
          <a:p>
            <a:r>
              <a:rPr lang="de-DE" sz="1200" b="0" kern="1200" dirty="0">
                <a:solidFill>
                  <a:schemeClr val="tx1"/>
                </a:solidFill>
                <a:effectLst/>
                <a:latin typeface="+mn-lt"/>
                <a:ea typeface="+mn-ea"/>
                <a:cs typeface="+mn-cs"/>
              </a:rPr>
              <a:t>Z01-Testgruppe auf. Ohne Mittelung bleibt die Variation der fünf</a:t>
            </a:r>
          </a:p>
          <a:p>
            <a:r>
              <a:rPr lang="de-DE" sz="1200" b="0" kern="1200" dirty="0">
                <a:solidFill>
                  <a:schemeClr val="tx1"/>
                </a:solidFill>
                <a:effectLst/>
                <a:latin typeface="+mn-lt"/>
                <a:ea typeface="+mn-ea"/>
                <a:cs typeface="+mn-cs"/>
              </a:rPr>
              <a:t>Z01-mIDs sichtbar.</a:t>
            </a:r>
          </a:p>
        </p:txBody>
      </p:sp>
      <p:sp>
        <p:nvSpPr>
          <p:cNvPr id="4" name="Foliennummernplatzhalter 3"/>
          <p:cNvSpPr>
            <a:spLocks noGrp="1"/>
          </p:cNvSpPr>
          <p:nvPr>
            <p:ph type="sldNum" sz="quarter" idx="5"/>
          </p:nvPr>
        </p:nvSpPr>
        <p:spPr/>
        <p:txBody>
          <a:bodyPr/>
          <a:lstStyle/>
          <a:p>
            <a:fld id="{0492B7F2-6741-7346-B13A-366117EE2BBB}" type="slidenum">
              <a:rPr lang="de-DE" smtClean="0"/>
              <a:t>7</a:t>
            </a:fld>
            <a:endParaRPr lang="de-DE"/>
          </a:p>
        </p:txBody>
      </p:sp>
    </p:spTree>
    <p:extLst>
      <p:ext uri="{BB962C8B-B14F-4D97-AF65-F5344CB8AC3E}">
        <p14:creationId xmlns:p14="http://schemas.microsoft.com/office/powerpoint/2010/main" val="3220427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63EF-EA1A-0B8A-1379-0A6160E522A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6D235D-AA7B-F048-6715-4D5C7A058148}"/>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42AAE592-F1C0-8F4D-517A-D2570ED297B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Benny</a:t>
            </a:r>
          </a:p>
          <a:p>
            <a:r>
              <a:rPr lang="de-DE" sz="1200" b="0" kern="1200" dirty="0">
                <a:solidFill>
                  <a:schemeClr val="tx1"/>
                </a:solidFill>
                <a:effectLst/>
                <a:latin typeface="+mn-lt"/>
                <a:ea typeface="+mn-ea"/>
                <a:cs typeface="+mn-cs"/>
              </a:rPr>
              <a:t>Vor dem MLP werden alle Features standardisiert. Das ist wichtig, weil die Merkmale unterschiedliche Wertebereiche besitzen. Pro Channel trainieren wir ein eigenes kleines Modell, da der Datensatz trotz Rohdateien klein bleibt. Ein zu großes Netz könnte leicht auswendig lernen.</a:t>
            </a:r>
          </a:p>
        </p:txBody>
      </p:sp>
      <p:sp>
        <p:nvSpPr>
          <p:cNvPr id="4" name="Foliennummernplatzhalter 3">
            <a:extLst>
              <a:ext uri="{FF2B5EF4-FFF2-40B4-BE49-F238E27FC236}">
                <a16:creationId xmlns:a16="http://schemas.microsoft.com/office/drawing/2014/main" id="{A438551F-788D-EDA4-E8B5-EFFC99D96854}"/>
              </a:ext>
            </a:extLst>
          </p:cNvPr>
          <p:cNvSpPr>
            <a:spLocks noGrp="1"/>
          </p:cNvSpPr>
          <p:nvPr>
            <p:ph type="sldNum" sz="quarter" idx="5"/>
          </p:nvPr>
        </p:nvSpPr>
        <p:spPr/>
        <p:txBody>
          <a:bodyPr/>
          <a:lstStyle/>
          <a:p>
            <a:fld id="{0492B7F2-6741-7346-B13A-366117EE2BBB}" type="slidenum">
              <a:rPr lang="de-DE" smtClean="0"/>
              <a:t>8</a:t>
            </a:fld>
            <a:endParaRPr lang="de-DE"/>
          </a:p>
        </p:txBody>
      </p:sp>
    </p:spTree>
    <p:extLst>
      <p:ext uri="{BB962C8B-B14F-4D97-AF65-F5344CB8AC3E}">
        <p14:creationId xmlns:p14="http://schemas.microsoft.com/office/powerpoint/2010/main" val="1770632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kern="1200" dirty="0">
                <a:solidFill>
                  <a:schemeClr val="tx1"/>
                </a:solidFill>
                <a:effectLst/>
                <a:latin typeface="+mn-lt"/>
                <a:ea typeface="+mn-ea"/>
                <a:cs typeface="+mn-cs"/>
              </a:rPr>
              <a:t>60 Gesunde (Label 0) Signale von Z04, da aber Z01 (die wie wir in Task 2 gesehen haben ziemlich verstreut ist) in Training ist sind die Ergebnisse „ok“</a:t>
            </a:r>
          </a:p>
        </p:txBody>
      </p:sp>
      <p:sp>
        <p:nvSpPr>
          <p:cNvPr id="4" name="Foliennummernplatzhalter 3"/>
          <p:cNvSpPr>
            <a:spLocks noGrp="1"/>
          </p:cNvSpPr>
          <p:nvPr>
            <p:ph type="sldNum" sz="quarter" idx="5"/>
          </p:nvPr>
        </p:nvSpPr>
        <p:spPr/>
        <p:txBody>
          <a:bodyPr/>
          <a:lstStyle/>
          <a:p>
            <a:fld id="{0492B7F2-6741-7346-B13A-366117EE2BBB}" type="slidenum">
              <a:rPr lang="de-DE" smtClean="0"/>
              <a:t>9</a:t>
            </a:fld>
            <a:endParaRPr lang="de-DE"/>
          </a:p>
        </p:txBody>
      </p:sp>
    </p:spTree>
    <p:extLst>
      <p:ext uri="{BB962C8B-B14F-4D97-AF65-F5344CB8AC3E}">
        <p14:creationId xmlns:p14="http://schemas.microsoft.com/office/powerpoint/2010/main" val="420512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C249B-BF03-3FEA-42A6-ED12FCF80B1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0EE3261-7752-DF09-0A7E-C800CE8B48B3}"/>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4624E5E6-45C1-C599-4773-1CB1CB8691C8}"/>
              </a:ext>
            </a:extLst>
          </p:cNvPr>
          <p:cNvSpPr>
            <a:spLocks noGrp="1"/>
          </p:cNvSpPr>
          <p:nvPr>
            <p:ph type="body" idx="1"/>
          </p:nvPr>
        </p:nvSpPr>
        <p:spPr/>
        <p:txBody>
          <a:bodyPr/>
          <a:lstStyle/>
          <a:p>
            <a:r>
              <a:rPr lang="de-DE" sz="1200" b="0" kern="1200" dirty="0">
                <a:solidFill>
                  <a:schemeClr val="tx1"/>
                </a:solidFill>
                <a:effectLst/>
                <a:latin typeface="+mn-lt"/>
                <a:ea typeface="+mn-ea"/>
                <a:cs typeface="+mn-cs"/>
              </a:rPr>
              <a:t>20 Signale aus Z02 (beide </a:t>
            </a:r>
            <a:r>
              <a:rPr lang="de-DE" sz="1200" b="0" kern="1200" dirty="0" err="1">
                <a:solidFill>
                  <a:schemeClr val="tx1"/>
                </a:solidFill>
                <a:effectLst/>
                <a:latin typeface="+mn-lt"/>
                <a:ea typeface="+mn-ea"/>
                <a:cs typeface="+mn-cs"/>
              </a:rPr>
              <a:t>mID</a:t>
            </a:r>
            <a:r>
              <a:rPr lang="de-DE" sz="1200" b="0" kern="1200" dirty="0">
                <a:solidFill>
                  <a:schemeClr val="tx1"/>
                </a:solidFill>
                <a:effectLst/>
                <a:latin typeface="+mn-lt"/>
                <a:ea typeface="+mn-ea"/>
                <a:cs typeface="+mn-cs"/>
              </a:rPr>
              <a:t> überschüssigen Zahnräder sind in </a:t>
            </a:r>
            <a:r>
              <a:rPr lang="de-DE" sz="1200" b="0" kern="1200" dirty="0" err="1">
                <a:solidFill>
                  <a:schemeClr val="tx1"/>
                </a:solidFill>
                <a:effectLst/>
                <a:latin typeface="+mn-lt"/>
                <a:ea typeface="+mn-ea"/>
                <a:cs typeface="+mn-cs"/>
              </a:rPr>
              <a:t>train</a:t>
            </a:r>
            <a:r>
              <a:rPr lang="de-DE" sz="1200" b="0" kern="1200" dirty="0">
                <a:solidFill>
                  <a:schemeClr val="tx1"/>
                </a:solidFill>
                <a:effectLst/>
                <a:latin typeface="+mn-lt"/>
                <a:ea typeface="+mn-ea"/>
                <a:cs typeface="+mn-cs"/>
              </a:rPr>
              <a:t>)</a:t>
            </a:r>
          </a:p>
        </p:txBody>
      </p:sp>
      <p:sp>
        <p:nvSpPr>
          <p:cNvPr id="4" name="Foliennummernplatzhalter 3">
            <a:extLst>
              <a:ext uri="{FF2B5EF4-FFF2-40B4-BE49-F238E27FC236}">
                <a16:creationId xmlns:a16="http://schemas.microsoft.com/office/drawing/2014/main" id="{2CD3B589-EC5C-40EE-889A-6A61DC2DCED6}"/>
              </a:ext>
            </a:extLst>
          </p:cNvPr>
          <p:cNvSpPr>
            <a:spLocks noGrp="1"/>
          </p:cNvSpPr>
          <p:nvPr>
            <p:ph type="sldNum" sz="quarter" idx="5"/>
          </p:nvPr>
        </p:nvSpPr>
        <p:spPr/>
        <p:txBody>
          <a:bodyPr/>
          <a:lstStyle/>
          <a:p>
            <a:fld id="{0492B7F2-6741-7346-B13A-366117EE2BBB}" type="slidenum">
              <a:rPr lang="de-DE" smtClean="0"/>
              <a:t>10</a:t>
            </a:fld>
            <a:endParaRPr lang="de-DE"/>
          </a:p>
        </p:txBody>
      </p:sp>
    </p:spTree>
    <p:extLst>
      <p:ext uri="{BB962C8B-B14F-4D97-AF65-F5344CB8AC3E}">
        <p14:creationId xmlns:p14="http://schemas.microsoft.com/office/powerpoint/2010/main" val="2504185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145DD-A245-1432-5F26-BAF67B57342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0F66CC1-C74C-CE8B-A74D-93BCBB743019}"/>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76ED9703-69F9-AA3F-FF26-4D3473E7F31A}"/>
              </a:ext>
            </a:extLst>
          </p:cNvPr>
          <p:cNvSpPr>
            <a:spLocks noGrp="1"/>
          </p:cNvSpPr>
          <p:nvPr>
            <p:ph type="body" idx="1"/>
          </p:nvPr>
        </p:nvSpPr>
        <p:spPr/>
        <p:txBody>
          <a:bodyPr/>
          <a:lstStyle/>
          <a:p>
            <a:r>
              <a:rPr lang="de-DE" sz="1200" b="0" kern="1200" dirty="0">
                <a:solidFill>
                  <a:schemeClr val="tx1"/>
                </a:solidFill>
                <a:effectLst/>
                <a:latin typeface="+mn-lt"/>
                <a:ea typeface="+mn-ea"/>
                <a:cs typeface="+mn-cs"/>
              </a:rPr>
              <a:t>20 Signale aus Z03 in Test </a:t>
            </a:r>
            <a:r>
              <a:rPr lang="de-DE" sz="1200" b="0" kern="1200" dirty="0" err="1">
                <a:solidFill>
                  <a:schemeClr val="tx1"/>
                </a:solidFill>
                <a:effectLst/>
                <a:latin typeface="+mn-lt"/>
                <a:ea typeface="+mn-ea"/>
                <a:cs typeface="+mn-cs"/>
              </a:rPr>
              <a:t>set</a:t>
            </a:r>
            <a:endParaRPr lang="de-DE" sz="1200" b="0" kern="1200" dirty="0">
              <a:solidFill>
                <a:schemeClr val="tx1"/>
              </a:solidFill>
              <a:effectLst/>
              <a:latin typeface="+mn-lt"/>
              <a:ea typeface="+mn-ea"/>
              <a:cs typeface="+mn-cs"/>
            </a:endParaRPr>
          </a:p>
        </p:txBody>
      </p:sp>
      <p:sp>
        <p:nvSpPr>
          <p:cNvPr id="4" name="Foliennummernplatzhalter 3">
            <a:extLst>
              <a:ext uri="{FF2B5EF4-FFF2-40B4-BE49-F238E27FC236}">
                <a16:creationId xmlns:a16="http://schemas.microsoft.com/office/drawing/2014/main" id="{30313553-ADFE-8DDF-E162-D6FF44166FB5}"/>
              </a:ext>
            </a:extLst>
          </p:cNvPr>
          <p:cNvSpPr>
            <a:spLocks noGrp="1"/>
          </p:cNvSpPr>
          <p:nvPr>
            <p:ph type="sldNum" sz="quarter" idx="5"/>
          </p:nvPr>
        </p:nvSpPr>
        <p:spPr/>
        <p:txBody>
          <a:bodyPr/>
          <a:lstStyle/>
          <a:p>
            <a:fld id="{0492B7F2-6741-7346-B13A-366117EE2BBB}" type="slidenum">
              <a:rPr lang="de-DE" smtClean="0"/>
              <a:t>11</a:t>
            </a:fld>
            <a:endParaRPr lang="de-DE"/>
          </a:p>
        </p:txBody>
      </p:sp>
    </p:spTree>
    <p:extLst>
      <p:ext uri="{BB962C8B-B14F-4D97-AF65-F5344CB8AC3E}">
        <p14:creationId xmlns:p14="http://schemas.microsoft.com/office/powerpoint/2010/main" val="10422054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D8CC5-1F04-F25E-FA74-E6B2B6B398D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45F7C57-2DE9-C50E-933F-5D517FA9B9EC}"/>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A6E79513-5D2F-8C20-92D6-39292B8A9E52}"/>
              </a:ext>
            </a:extLst>
          </p:cNvPr>
          <p:cNvSpPr>
            <a:spLocks noGrp="1"/>
          </p:cNvSpPr>
          <p:nvPr>
            <p:ph type="body" idx="1"/>
          </p:nvPr>
        </p:nvSpPr>
        <p:spPr/>
        <p:txBody>
          <a:bodyPr/>
          <a:lstStyle/>
          <a:p>
            <a:r>
              <a:rPr lang="de-DE" sz="1200" b="0" kern="1200" dirty="0">
                <a:solidFill>
                  <a:schemeClr val="tx1"/>
                </a:solidFill>
                <a:effectLst/>
                <a:latin typeface="+mn-lt"/>
                <a:ea typeface="+mn-ea"/>
                <a:cs typeface="+mn-cs"/>
              </a:rPr>
              <a:t>Z01 mit 100 Signalen in Test </a:t>
            </a:r>
            <a:r>
              <a:rPr lang="de-DE" sz="1200" b="0" kern="1200" dirty="0" err="1">
                <a:solidFill>
                  <a:schemeClr val="tx1"/>
                </a:solidFill>
                <a:effectLst/>
                <a:latin typeface="+mn-lt"/>
                <a:ea typeface="+mn-ea"/>
                <a:cs typeface="+mn-cs"/>
              </a:rPr>
              <a:t>set</a:t>
            </a:r>
            <a:endParaRPr lang="de-DE" sz="1200" b="0" kern="1200" dirty="0">
              <a:solidFill>
                <a:schemeClr val="tx1"/>
              </a:solidFill>
              <a:effectLst/>
              <a:latin typeface="+mn-lt"/>
              <a:ea typeface="+mn-ea"/>
              <a:cs typeface="+mn-cs"/>
            </a:endParaRPr>
          </a:p>
        </p:txBody>
      </p:sp>
      <p:sp>
        <p:nvSpPr>
          <p:cNvPr id="4" name="Foliennummernplatzhalter 3">
            <a:extLst>
              <a:ext uri="{FF2B5EF4-FFF2-40B4-BE49-F238E27FC236}">
                <a16:creationId xmlns:a16="http://schemas.microsoft.com/office/drawing/2014/main" id="{57AA724F-048C-9840-F6C7-1D143204DC1E}"/>
              </a:ext>
            </a:extLst>
          </p:cNvPr>
          <p:cNvSpPr>
            <a:spLocks noGrp="1"/>
          </p:cNvSpPr>
          <p:nvPr>
            <p:ph type="sldNum" sz="quarter" idx="5"/>
          </p:nvPr>
        </p:nvSpPr>
        <p:spPr/>
        <p:txBody>
          <a:bodyPr/>
          <a:lstStyle/>
          <a:p>
            <a:fld id="{0492B7F2-6741-7346-B13A-366117EE2BBB}" type="slidenum">
              <a:rPr lang="de-DE" smtClean="0"/>
              <a:t>12</a:t>
            </a:fld>
            <a:endParaRPr lang="de-DE"/>
          </a:p>
        </p:txBody>
      </p:sp>
    </p:spTree>
    <p:extLst>
      <p:ext uri="{BB962C8B-B14F-4D97-AF65-F5344CB8AC3E}">
        <p14:creationId xmlns:p14="http://schemas.microsoft.com/office/powerpoint/2010/main" val="1842521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dirty="0"/>
              <a:t>ROC x-Achse </a:t>
            </a:r>
            <a:r>
              <a:rPr lang="de-DE" dirty="0">
                <a:sym typeface="Wingdings" panose="05000000000000000000" pitchFamily="2" charset="2"/>
              </a:rPr>
              <a:t> </a:t>
            </a:r>
            <a:r>
              <a:rPr lang="de-DE" dirty="0" err="1">
                <a:sym typeface="Wingdings" panose="05000000000000000000" pitchFamily="2" charset="2"/>
              </a:rPr>
              <a:t>wieviele</a:t>
            </a:r>
            <a:r>
              <a:rPr lang="de-DE" dirty="0">
                <a:sym typeface="Wingdings" panose="05000000000000000000" pitchFamily="2" charset="2"/>
              </a:rPr>
              <a:t> Label 0 haben einen höheren Score als Label 1? </a:t>
            </a:r>
          </a:p>
          <a:p>
            <a:r>
              <a:rPr lang="de-DE" dirty="0">
                <a:sym typeface="Wingdings" panose="05000000000000000000" pitchFamily="2" charset="2"/>
              </a:rPr>
              <a:t>Wenn 0 bei x-Achse dann alle Label 0 kleineren Score als Label 1.</a:t>
            </a:r>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13</a:t>
            </a:fld>
            <a:endParaRPr lang="de-DE"/>
          </a:p>
        </p:txBody>
      </p:sp>
    </p:spTree>
    <p:extLst>
      <p:ext uri="{BB962C8B-B14F-4D97-AF65-F5344CB8AC3E}">
        <p14:creationId xmlns:p14="http://schemas.microsoft.com/office/powerpoint/2010/main" val="2471118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20170-30E8-2B89-DA31-CFC8D2D6A25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B7C22FC-186A-69F1-9253-CC7E29695523}"/>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CCD11782-B80F-1F29-554B-E4A398A145D9}"/>
              </a:ext>
            </a:extLst>
          </p:cNvPr>
          <p:cNvSpPr>
            <a:spLocks noGrp="1"/>
          </p:cNvSpPr>
          <p:nvPr>
            <p:ph type="body" idx="1"/>
          </p:nvPr>
        </p:nvSpPr>
        <p:spPr/>
        <p:txBody>
          <a:bodyPr/>
          <a:lstStyle/>
          <a:p>
            <a:r>
              <a:rPr lang="de-DE" dirty="0"/>
              <a:t>ROC x-Achse </a:t>
            </a:r>
            <a:r>
              <a:rPr lang="de-DE" dirty="0">
                <a:sym typeface="Wingdings" panose="05000000000000000000" pitchFamily="2" charset="2"/>
              </a:rPr>
              <a:t> </a:t>
            </a:r>
            <a:r>
              <a:rPr lang="de-DE" dirty="0" err="1">
                <a:sym typeface="Wingdings" panose="05000000000000000000" pitchFamily="2" charset="2"/>
              </a:rPr>
              <a:t>wieviele</a:t>
            </a:r>
            <a:r>
              <a:rPr lang="de-DE" dirty="0">
                <a:sym typeface="Wingdings" panose="05000000000000000000" pitchFamily="2" charset="2"/>
              </a:rPr>
              <a:t> Label 0 haben einen höheren Score als Label 1? </a:t>
            </a:r>
          </a:p>
          <a:p>
            <a:r>
              <a:rPr lang="de-DE" dirty="0">
                <a:sym typeface="Wingdings" panose="05000000000000000000" pitchFamily="2" charset="2"/>
              </a:rPr>
              <a:t>Wenn 0 bei x-Achse dann alle Label 0 kleineren Score als Label 1.</a:t>
            </a:r>
            <a:endParaRPr lang="de-DE" dirty="0"/>
          </a:p>
        </p:txBody>
      </p:sp>
      <p:sp>
        <p:nvSpPr>
          <p:cNvPr id="4" name="Foliennummernplatzhalter 3">
            <a:extLst>
              <a:ext uri="{FF2B5EF4-FFF2-40B4-BE49-F238E27FC236}">
                <a16:creationId xmlns:a16="http://schemas.microsoft.com/office/drawing/2014/main" id="{8B22ACB8-9C77-6EBF-B432-B33D2A56E7F8}"/>
              </a:ext>
            </a:extLst>
          </p:cNvPr>
          <p:cNvSpPr>
            <a:spLocks noGrp="1"/>
          </p:cNvSpPr>
          <p:nvPr>
            <p:ph type="sldNum" sz="quarter" idx="5"/>
          </p:nvPr>
        </p:nvSpPr>
        <p:spPr/>
        <p:txBody>
          <a:bodyPr/>
          <a:lstStyle/>
          <a:p>
            <a:fld id="{0492B7F2-6741-7346-B13A-366117EE2BBB}" type="slidenum">
              <a:rPr lang="de-DE" smtClean="0"/>
              <a:t>14</a:t>
            </a:fld>
            <a:endParaRPr lang="de-DE"/>
          </a:p>
        </p:txBody>
      </p:sp>
    </p:spTree>
    <p:extLst>
      <p:ext uri="{BB962C8B-B14F-4D97-AF65-F5344CB8AC3E}">
        <p14:creationId xmlns:p14="http://schemas.microsoft.com/office/powerpoint/2010/main" val="38773353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1F09-352B-6E4F-1FA4-5A2E30ED477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30A2D9-B7E1-AD36-5EAE-205C8CA04720}"/>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DC01EDD2-981B-1065-883E-F79081F17924}"/>
              </a:ext>
            </a:extLst>
          </p:cNvPr>
          <p:cNvSpPr>
            <a:spLocks noGrp="1"/>
          </p:cNvSpPr>
          <p:nvPr>
            <p:ph type="body" idx="1"/>
          </p:nvPr>
        </p:nvSpPr>
        <p:spPr/>
        <p:txBody>
          <a:bodyPr/>
          <a:lstStyle/>
          <a:p>
            <a:r>
              <a:rPr lang="de-DE" dirty="0"/>
              <a:t>ROC x-Achse </a:t>
            </a:r>
            <a:r>
              <a:rPr lang="de-DE" dirty="0">
                <a:sym typeface="Wingdings" panose="05000000000000000000" pitchFamily="2" charset="2"/>
              </a:rPr>
              <a:t> </a:t>
            </a:r>
            <a:r>
              <a:rPr lang="de-DE" dirty="0" err="1">
                <a:sym typeface="Wingdings" panose="05000000000000000000" pitchFamily="2" charset="2"/>
              </a:rPr>
              <a:t>wieviele</a:t>
            </a:r>
            <a:r>
              <a:rPr lang="de-DE" dirty="0">
                <a:sym typeface="Wingdings" panose="05000000000000000000" pitchFamily="2" charset="2"/>
              </a:rPr>
              <a:t> Label 0 haben einen höheren Score als Label 1? </a:t>
            </a:r>
          </a:p>
          <a:p>
            <a:r>
              <a:rPr lang="de-DE" dirty="0">
                <a:sym typeface="Wingdings" panose="05000000000000000000" pitchFamily="2" charset="2"/>
              </a:rPr>
              <a:t>Wenn 0 bei x-Achse dann alle Label 0 kleineren Score als Label 1.</a:t>
            </a:r>
            <a:endParaRPr lang="de-DE" dirty="0"/>
          </a:p>
        </p:txBody>
      </p:sp>
      <p:sp>
        <p:nvSpPr>
          <p:cNvPr id="4" name="Foliennummernplatzhalter 3">
            <a:extLst>
              <a:ext uri="{FF2B5EF4-FFF2-40B4-BE49-F238E27FC236}">
                <a16:creationId xmlns:a16="http://schemas.microsoft.com/office/drawing/2014/main" id="{EB030EE1-3907-FB42-0CDF-65975B87C35B}"/>
              </a:ext>
            </a:extLst>
          </p:cNvPr>
          <p:cNvSpPr>
            <a:spLocks noGrp="1"/>
          </p:cNvSpPr>
          <p:nvPr>
            <p:ph type="sldNum" sz="quarter" idx="5"/>
          </p:nvPr>
        </p:nvSpPr>
        <p:spPr/>
        <p:txBody>
          <a:bodyPr/>
          <a:lstStyle/>
          <a:p>
            <a:fld id="{0492B7F2-6741-7346-B13A-366117EE2BBB}" type="slidenum">
              <a:rPr lang="de-DE" smtClean="0"/>
              <a:t>15</a:t>
            </a:fld>
            <a:endParaRPr lang="de-DE"/>
          </a:p>
        </p:txBody>
      </p:sp>
    </p:spTree>
    <p:extLst>
      <p:ext uri="{BB962C8B-B14F-4D97-AF65-F5344CB8AC3E}">
        <p14:creationId xmlns:p14="http://schemas.microsoft.com/office/powerpoint/2010/main" val="3102286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A8DAC-873E-943E-8CFC-98EE272084B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34931D3-77B0-893D-4F29-2702FBC77A52}"/>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5211EE8A-7C83-9BEE-0AA3-422F4582E718}"/>
              </a:ext>
            </a:extLst>
          </p:cNvPr>
          <p:cNvSpPr>
            <a:spLocks noGrp="1"/>
          </p:cNvSpPr>
          <p:nvPr>
            <p:ph type="body" idx="1"/>
          </p:nvPr>
        </p:nvSpPr>
        <p:spPr/>
        <p:txBody>
          <a:bodyPr/>
          <a:lstStyle/>
          <a:p>
            <a:r>
              <a:rPr lang="de-DE" dirty="0"/>
              <a:t>Benny</a:t>
            </a:r>
          </a:p>
          <a:p>
            <a:r>
              <a:rPr lang="de-DE" dirty="0"/>
              <a:t>ROC x-Achse </a:t>
            </a:r>
            <a:r>
              <a:rPr lang="de-DE" dirty="0">
                <a:sym typeface="Wingdings" panose="05000000000000000000" pitchFamily="2" charset="2"/>
              </a:rPr>
              <a:t> </a:t>
            </a:r>
            <a:r>
              <a:rPr lang="de-DE" dirty="0" err="1">
                <a:sym typeface="Wingdings" panose="05000000000000000000" pitchFamily="2" charset="2"/>
              </a:rPr>
              <a:t>wieviele</a:t>
            </a:r>
            <a:r>
              <a:rPr lang="de-DE" dirty="0">
                <a:sym typeface="Wingdings" panose="05000000000000000000" pitchFamily="2" charset="2"/>
              </a:rPr>
              <a:t> Label 0 haben einen höheren Score als Label 1? </a:t>
            </a:r>
          </a:p>
          <a:p>
            <a:r>
              <a:rPr lang="de-DE" dirty="0">
                <a:sym typeface="Wingdings" panose="05000000000000000000" pitchFamily="2" charset="2"/>
              </a:rPr>
              <a:t>Wenn 0 bei x-Achse dann alle Label 0 kleineren Score als Label 1.</a:t>
            </a:r>
            <a:endParaRPr lang="de-DE" dirty="0"/>
          </a:p>
        </p:txBody>
      </p:sp>
      <p:sp>
        <p:nvSpPr>
          <p:cNvPr id="4" name="Foliennummernplatzhalter 3">
            <a:extLst>
              <a:ext uri="{FF2B5EF4-FFF2-40B4-BE49-F238E27FC236}">
                <a16:creationId xmlns:a16="http://schemas.microsoft.com/office/drawing/2014/main" id="{7A25C5E9-C839-3BEE-2D2F-0298BCB6471F}"/>
              </a:ext>
            </a:extLst>
          </p:cNvPr>
          <p:cNvSpPr>
            <a:spLocks noGrp="1"/>
          </p:cNvSpPr>
          <p:nvPr>
            <p:ph type="sldNum" sz="quarter" idx="5"/>
          </p:nvPr>
        </p:nvSpPr>
        <p:spPr/>
        <p:txBody>
          <a:bodyPr/>
          <a:lstStyle/>
          <a:p>
            <a:fld id="{0492B7F2-6741-7346-B13A-366117EE2BBB}" type="slidenum">
              <a:rPr lang="de-DE" smtClean="0"/>
              <a:t>17</a:t>
            </a:fld>
            <a:endParaRPr lang="de-DE"/>
          </a:p>
        </p:txBody>
      </p:sp>
    </p:spTree>
    <p:extLst>
      <p:ext uri="{BB962C8B-B14F-4D97-AF65-F5344CB8AC3E}">
        <p14:creationId xmlns:p14="http://schemas.microsoft.com/office/powerpoint/2010/main" val="9854959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dirty="0"/>
              <a:t>Tim</a:t>
            </a:r>
          </a:p>
          <a:p>
            <a:r>
              <a:rPr lang="de-DE" sz="1200" b="0" i="0" kern="1200" dirty="0">
                <a:solidFill>
                  <a:schemeClr val="tx1"/>
                </a:solidFill>
                <a:effectLst/>
                <a:latin typeface="+mn-lt"/>
                <a:ea typeface="+mn-ea"/>
                <a:cs typeface="+mn-cs"/>
              </a:rPr>
              <a:t>Fold 4 -&gt; wissen über Verteilung aus Task 2 </a:t>
            </a:r>
            <a:br>
              <a:rPr lang="de-DE" sz="1200" b="0" i="0" kern="1200" dirty="0">
                <a:solidFill>
                  <a:schemeClr val="tx1"/>
                </a:solidFill>
                <a:effectLst/>
                <a:latin typeface="+mn-lt"/>
                <a:ea typeface="+mn-ea"/>
                <a:cs typeface="+mn-cs"/>
              </a:rPr>
            </a:br>
            <a:r>
              <a:rPr lang="de-DE" sz="1200" b="0" i="0" kern="1200" dirty="0">
                <a:solidFill>
                  <a:schemeClr val="tx1"/>
                </a:solidFill>
                <a:effectLst/>
                <a:latin typeface="+mn-lt"/>
                <a:ea typeface="+mn-ea"/>
                <a:cs typeface="+mn-cs"/>
              </a:rPr>
              <a:t>BA = </a:t>
            </a:r>
            <a:r>
              <a:rPr lang="de-DE" sz="1200" b="0" i="0" kern="1200" dirty="0" err="1">
                <a:solidFill>
                  <a:schemeClr val="tx1"/>
                </a:solidFill>
                <a:effectLst/>
                <a:latin typeface="+mn-lt"/>
                <a:ea typeface="+mn-ea"/>
                <a:cs typeface="+mn-cs"/>
              </a:rPr>
              <a:t>Balanced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Accuracy</a:t>
            </a:r>
            <a:r>
              <a:rPr lang="de-DE" sz="1200" b="0" i="0" kern="1200" dirty="0">
                <a:solidFill>
                  <a:schemeClr val="tx1"/>
                </a:solidFill>
                <a:effectLst/>
                <a:latin typeface="+mn-lt"/>
                <a:ea typeface="+mn-ea"/>
                <a:cs typeface="+mn-cs"/>
              </a:rPr>
              <a:t> </a:t>
            </a:r>
            <a:br>
              <a:rPr lang="de-DE" sz="1200" b="0" i="0" kern="1200" dirty="0">
                <a:solidFill>
                  <a:schemeClr val="tx1"/>
                </a:solidFill>
                <a:effectLst/>
                <a:latin typeface="+mn-lt"/>
                <a:ea typeface="+mn-ea"/>
                <a:cs typeface="+mn-cs"/>
              </a:rPr>
            </a:br>
            <a:r>
              <a:rPr lang="de-DE" sz="1200" b="0" i="0" kern="1200" dirty="0">
                <a:solidFill>
                  <a:schemeClr val="tx1"/>
                </a:solidFill>
                <a:effectLst/>
                <a:latin typeface="+mn-lt"/>
                <a:ea typeface="+mn-ea"/>
                <a:cs typeface="+mn-cs"/>
              </a:rPr>
              <a:t>TNR = True negative Rate</a:t>
            </a:r>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19</a:t>
            </a:fld>
            <a:endParaRPr lang="de-DE"/>
          </a:p>
        </p:txBody>
      </p:sp>
    </p:spTree>
    <p:extLst>
      <p:ext uri="{BB962C8B-B14F-4D97-AF65-F5344CB8AC3E}">
        <p14:creationId xmlns:p14="http://schemas.microsoft.com/office/powerpoint/2010/main" val="22657268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Tim</a:t>
            </a:r>
          </a:p>
          <a:p>
            <a:r>
              <a:rPr lang="de-DE" sz="1200" b="0" i="0" kern="1200" dirty="0">
                <a:solidFill>
                  <a:schemeClr val="tx1"/>
                </a:solidFill>
                <a:effectLst/>
                <a:latin typeface="+mn-lt"/>
                <a:ea typeface="+mn-ea"/>
                <a:cs typeface="+mn-cs"/>
              </a:rPr>
              <a:t>TPR = True positive Rate </a:t>
            </a:r>
          </a:p>
          <a:p>
            <a:r>
              <a:rPr lang="de-DE" sz="1200" b="0" i="0" kern="1200" dirty="0">
                <a:solidFill>
                  <a:schemeClr val="tx1"/>
                </a:solidFill>
                <a:effectLst/>
                <a:latin typeface="+mn-lt"/>
                <a:ea typeface="+mn-ea"/>
                <a:cs typeface="+mn-cs"/>
              </a:rPr>
              <a:t>TNR = True Negative Rate </a:t>
            </a:r>
          </a:p>
          <a:p>
            <a:r>
              <a:rPr lang="de-DE" sz="1200" b="0" i="0" kern="1200" dirty="0">
                <a:solidFill>
                  <a:schemeClr val="tx1"/>
                </a:solidFill>
                <a:effectLst/>
                <a:latin typeface="+mn-lt"/>
                <a:ea typeface="+mn-ea"/>
                <a:cs typeface="+mn-cs"/>
              </a:rPr>
              <a:t>BA = </a:t>
            </a:r>
            <a:r>
              <a:rPr lang="de-DE" sz="1200" b="0" i="0" kern="1200" dirty="0" err="1">
                <a:solidFill>
                  <a:schemeClr val="tx1"/>
                </a:solidFill>
                <a:effectLst/>
                <a:latin typeface="+mn-lt"/>
                <a:ea typeface="+mn-ea"/>
                <a:cs typeface="+mn-cs"/>
              </a:rPr>
              <a:t>Balanced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Accuracy</a:t>
            </a:r>
            <a:r>
              <a:rPr lang="de-DE" sz="1200" b="0" i="0" kern="1200" dirty="0">
                <a:solidFill>
                  <a:schemeClr val="tx1"/>
                </a:solidFill>
                <a:effectLst/>
                <a:latin typeface="+mn-lt"/>
                <a:ea typeface="+mn-ea"/>
                <a:cs typeface="+mn-cs"/>
              </a:rPr>
              <a:t> </a:t>
            </a:r>
          </a:p>
          <a:p>
            <a:r>
              <a:rPr lang="de-DE" sz="1200" b="0" i="0" kern="1200" dirty="0">
                <a:solidFill>
                  <a:schemeClr val="tx1"/>
                </a:solidFill>
                <a:effectLst/>
                <a:latin typeface="+mn-lt"/>
                <a:ea typeface="+mn-ea"/>
                <a:cs typeface="+mn-cs"/>
              </a:rPr>
              <a:t>F1-Score = Genauigkeit &amp; Trefferquote in einem Wert </a:t>
            </a:r>
          </a:p>
          <a:p>
            <a:r>
              <a:rPr lang="de-DE" sz="1200" b="0" i="0" kern="1200" dirty="0">
                <a:solidFill>
                  <a:schemeClr val="tx1"/>
                </a:solidFill>
                <a:effectLst/>
                <a:latin typeface="+mn-lt"/>
                <a:ea typeface="+mn-ea"/>
                <a:cs typeface="+mn-cs"/>
              </a:rPr>
              <a:t>ROC Hinweis: gut, aber Kein Schwellenwert ist mit drin aber weniger relevant</a:t>
            </a:r>
            <a:br>
              <a:rPr lang="de-DE" sz="1200" b="0" i="0" kern="1200" dirty="0">
                <a:solidFill>
                  <a:schemeClr val="tx1"/>
                </a:solidFill>
                <a:effectLst/>
                <a:latin typeface="+mn-lt"/>
                <a:ea typeface="+mn-ea"/>
                <a:cs typeface="+mn-cs"/>
              </a:rPr>
            </a:br>
            <a:r>
              <a:rPr lang="de-DE" sz="1200" b="0" i="0" kern="1200" dirty="0">
                <a:solidFill>
                  <a:schemeClr val="tx1"/>
                </a:solidFill>
                <a:effectLst/>
                <a:latin typeface="+mn-lt"/>
                <a:ea typeface="+mn-ea"/>
                <a:cs typeface="+mn-cs"/>
              </a:rPr>
              <a:t>(Falls noch nicht erwähnt: Fold 2 und 3 sehr Ähnlich da 160 der 180 Trainingssignale genau die gleichen sind)</a:t>
            </a:r>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20</a:t>
            </a:fld>
            <a:endParaRPr lang="de-DE"/>
          </a:p>
        </p:txBody>
      </p:sp>
    </p:spTree>
    <p:extLst>
      <p:ext uri="{BB962C8B-B14F-4D97-AF65-F5344CB8AC3E}">
        <p14:creationId xmlns:p14="http://schemas.microsoft.com/office/powerpoint/2010/main" val="30012666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Tim</a:t>
            </a:r>
            <a:endParaRPr lang="de-DE" dirty="0"/>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21</a:t>
            </a:fld>
            <a:endParaRPr lang="de-DE"/>
          </a:p>
        </p:txBody>
      </p:sp>
    </p:spTree>
    <p:extLst>
      <p:ext uri="{BB962C8B-B14F-4D97-AF65-F5344CB8AC3E}">
        <p14:creationId xmlns:p14="http://schemas.microsoft.com/office/powerpoint/2010/main" val="1776778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Benutzerdefiniertes Layout">
    <p:spTree>
      <p:nvGrpSpPr>
        <p:cNvPr id="1" name=""/>
        <p:cNvGrpSpPr/>
        <p:nvPr/>
      </p:nvGrpSpPr>
      <p:grpSpPr>
        <a:xfrm>
          <a:off x="0" y="0"/>
          <a:ext cx="0" cy="0"/>
          <a:chOff x="0" y="0"/>
          <a:chExt cx="0" cy="0"/>
        </a:xfrm>
      </p:grpSpPr>
      <p:pic>
        <p:nvPicPr>
          <p:cNvPr id="2" name="Picture 7">
            <a:extLst>
              <a:ext uri="{FF2B5EF4-FFF2-40B4-BE49-F238E27FC236}">
                <a16:creationId xmlns:a16="http://schemas.microsoft.com/office/drawing/2014/main" id="{B444426F-EB14-AE2B-DE0F-A801F4F81953}"/>
              </a:ext>
            </a:extLst>
          </p:cNvPr>
          <p:cNvPicPr/>
          <p:nvPr/>
        </p:nvPicPr>
        <p:blipFill rotWithShape="1">
          <a:blip r:embed="rId2">
            <a:extLst>
              <a:ext uri="{28A0092B-C50C-407E-A947-70E740481C1C}">
                <a14:useLocalDpi xmlns:a14="http://schemas.microsoft.com/office/drawing/2010/main" val="0"/>
              </a:ext>
            </a:extLst>
          </a:blip>
          <a:srcRect t="24768" b="62769"/>
          <a:stretch>
            <a:fillRect/>
          </a:stretch>
        </p:blipFill>
        <p:spPr bwMode="auto">
          <a:xfrm>
            <a:off x="0" y="1656000"/>
            <a:ext cx="4038600" cy="35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liennummernplatzhalter 2">
            <a:extLst>
              <a:ext uri="{FF2B5EF4-FFF2-40B4-BE49-F238E27FC236}">
                <a16:creationId xmlns:a16="http://schemas.microsoft.com/office/drawing/2014/main" id="{2B340968-F14F-B3B0-6A1A-48445E11A325}"/>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C79F848B-CD57-204F-C247-E348D52A37ED}"/>
              </a:ext>
            </a:extLst>
          </p:cNvPr>
          <p:cNvSpPr>
            <a:spLocks noGrp="1"/>
          </p:cNvSpPr>
          <p:nvPr>
            <p:ph type="ftr" sz="quarter" idx="11"/>
          </p:nvPr>
        </p:nvSpPr>
        <p:spPr/>
        <p:txBody>
          <a:bodyPr/>
          <a:lstStyle/>
          <a:p>
            <a:r>
              <a:rPr lang="de-DE"/>
              <a:t>Materialdiagnostik: Task 4</a:t>
            </a:r>
            <a:endParaRPr lang="de-DE" dirty="0"/>
          </a:p>
        </p:txBody>
      </p:sp>
      <p:sp>
        <p:nvSpPr>
          <p:cNvPr id="5" name="Datumsplatzhalter 4">
            <a:extLst>
              <a:ext uri="{FF2B5EF4-FFF2-40B4-BE49-F238E27FC236}">
                <a16:creationId xmlns:a16="http://schemas.microsoft.com/office/drawing/2014/main" id="{135CA77C-97B0-DC89-DE46-9C01C1B748F9}"/>
              </a:ext>
            </a:extLst>
          </p:cNvPr>
          <p:cNvSpPr>
            <a:spLocks noGrp="1"/>
          </p:cNvSpPr>
          <p:nvPr>
            <p:ph type="dt" sz="half" idx="12"/>
          </p:nvPr>
        </p:nvSpPr>
        <p:spPr/>
        <p:txBody>
          <a:bodyPr/>
          <a:lstStyle/>
          <a:p>
            <a:r>
              <a:rPr lang="de-DE"/>
              <a:t>23.07.2026</a:t>
            </a:r>
          </a:p>
        </p:txBody>
      </p:sp>
      <p:sp>
        <p:nvSpPr>
          <p:cNvPr id="8" name="Titel 1">
            <a:extLst>
              <a:ext uri="{FF2B5EF4-FFF2-40B4-BE49-F238E27FC236}">
                <a16:creationId xmlns:a16="http://schemas.microsoft.com/office/drawing/2014/main" id="{0E28AB7D-ACDC-B820-A518-4C9D6ED03C67}"/>
              </a:ext>
            </a:extLst>
          </p:cNvPr>
          <p:cNvSpPr>
            <a:spLocks noGrp="1"/>
          </p:cNvSpPr>
          <p:nvPr>
            <p:ph type="title"/>
          </p:nvPr>
        </p:nvSpPr>
        <p:spPr>
          <a:xfrm>
            <a:off x="4665616" y="2716438"/>
            <a:ext cx="3590109" cy="1444082"/>
          </a:xfrm>
          <a:prstGeom prst="rect">
            <a:avLst/>
          </a:prstGeom>
        </p:spPr>
        <p:txBody>
          <a:bodyPr anchor="ctr"/>
          <a:lstStyle>
            <a:lvl1pPr algn="l">
              <a:defRPr sz="3200"/>
            </a:lvl1pPr>
          </a:lstStyle>
          <a:p>
            <a:r>
              <a:rPr lang="de-DE"/>
              <a:t>Mastertitelformat bearbeiten</a:t>
            </a:r>
          </a:p>
        </p:txBody>
      </p:sp>
    </p:spTree>
    <p:extLst>
      <p:ext uri="{BB962C8B-B14F-4D97-AF65-F5344CB8AC3E}">
        <p14:creationId xmlns:p14="http://schemas.microsoft.com/office/powerpoint/2010/main" val="240850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enutzerdefiniertes Layout">
    <p:spTree>
      <p:nvGrpSpPr>
        <p:cNvPr id="1" name=""/>
        <p:cNvGrpSpPr/>
        <p:nvPr/>
      </p:nvGrpSpPr>
      <p:grpSpPr>
        <a:xfrm>
          <a:off x="0" y="0"/>
          <a:ext cx="0" cy="0"/>
          <a:chOff x="0" y="0"/>
          <a:chExt cx="0" cy="0"/>
        </a:xfrm>
      </p:grpSpPr>
      <p:pic>
        <p:nvPicPr>
          <p:cNvPr id="6" name="Picture 7">
            <a:extLst>
              <a:ext uri="{FF2B5EF4-FFF2-40B4-BE49-F238E27FC236}">
                <a16:creationId xmlns:a16="http://schemas.microsoft.com/office/drawing/2014/main" id="{2222C908-A429-7650-ECA8-11037E79FC19}"/>
              </a:ext>
            </a:extLst>
          </p:cNvPr>
          <p:cNvPicPr/>
          <p:nvPr/>
        </p:nvPicPr>
        <p:blipFill rotWithShape="1">
          <a:blip r:embed="rId2">
            <a:extLst>
              <a:ext uri="{28A0092B-C50C-407E-A947-70E740481C1C}">
                <a14:useLocalDpi xmlns:a14="http://schemas.microsoft.com/office/drawing/2010/main" val="0"/>
              </a:ext>
            </a:extLst>
          </a:blip>
          <a:srcRect t="74770" b="12767"/>
          <a:stretch>
            <a:fillRect/>
          </a:stretch>
        </p:blipFill>
        <p:spPr bwMode="auto">
          <a:xfrm>
            <a:off x="0" y="1656000"/>
            <a:ext cx="4038600" cy="35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a:extLst>
              <a:ext uri="{FF2B5EF4-FFF2-40B4-BE49-F238E27FC236}">
                <a16:creationId xmlns:a16="http://schemas.microsoft.com/office/drawing/2014/main" id="{EDCA2648-E994-E6D3-AF41-D6F53E8D59C0}"/>
              </a:ext>
            </a:extLst>
          </p:cNvPr>
          <p:cNvSpPr>
            <a:spLocks noGrp="1"/>
          </p:cNvSpPr>
          <p:nvPr>
            <p:ph type="title"/>
          </p:nvPr>
        </p:nvSpPr>
        <p:spPr>
          <a:xfrm>
            <a:off x="348342" y="561068"/>
            <a:ext cx="3590109" cy="712561"/>
          </a:xfrm>
          <a:prstGeom prst="rect">
            <a:avLst/>
          </a:prstGeom>
        </p:spPr>
        <p:txBody>
          <a:bodyPr anchor="ctr"/>
          <a:lstStyle>
            <a:lvl1pPr algn="l">
              <a:defRPr sz="3200"/>
            </a:lvl1pPr>
          </a:lstStyle>
          <a:p>
            <a:r>
              <a:rPr lang="de-DE"/>
              <a:t>Mastertitelformat bearbeiten</a:t>
            </a:r>
          </a:p>
        </p:txBody>
      </p:sp>
      <p:sp>
        <p:nvSpPr>
          <p:cNvPr id="3" name="Foliennummernplatzhalter 2">
            <a:extLst>
              <a:ext uri="{FF2B5EF4-FFF2-40B4-BE49-F238E27FC236}">
                <a16:creationId xmlns:a16="http://schemas.microsoft.com/office/drawing/2014/main" id="{BC4125B1-FB93-0A54-C1FC-012CFB2AD8A6}"/>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C59775D2-5919-D9B2-1D19-B697C0DC8CFE}"/>
              </a:ext>
            </a:extLst>
          </p:cNvPr>
          <p:cNvSpPr>
            <a:spLocks noGrp="1"/>
          </p:cNvSpPr>
          <p:nvPr>
            <p:ph type="ftr" sz="quarter" idx="11"/>
          </p:nvPr>
        </p:nvSpPr>
        <p:spPr/>
        <p:txBody>
          <a:bodyPr/>
          <a:lstStyle/>
          <a:p>
            <a:r>
              <a:rPr lang="de-DE"/>
              <a:t>Materialdiagnostik: Task 4</a:t>
            </a:r>
          </a:p>
        </p:txBody>
      </p:sp>
      <p:sp>
        <p:nvSpPr>
          <p:cNvPr id="5" name="Datumsplatzhalter 4">
            <a:extLst>
              <a:ext uri="{FF2B5EF4-FFF2-40B4-BE49-F238E27FC236}">
                <a16:creationId xmlns:a16="http://schemas.microsoft.com/office/drawing/2014/main" id="{1AE38025-E921-C3E6-B686-C475F88CE870}"/>
              </a:ext>
            </a:extLst>
          </p:cNvPr>
          <p:cNvSpPr>
            <a:spLocks noGrp="1"/>
          </p:cNvSpPr>
          <p:nvPr>
            <p:ph type="dt" sz="half" idx="12"/>
          </p:nvPr>
        </p:nvSpPr>
        <p:spPr/>
        <p:txBody>
          <a:bodyPr/>
          <a:lstStyle/>
          <a:p>
            <a:r>
              <a:rPr lang="de-DE"/>
              <a:t>23.07.2026</a:t>
            </a:r>
          </a:p>
        </p:txBody>
      </p:sp>
      <p:sp>
        <p:nvSpPr>
          <p:cNvPr id="11" name="Textplatzhalter 10">
            <a:extLst>
              <a:ext uri="{FF2B5EF4-FFF2-40B4-BE49-F238E27FC236}">
                <a16:creationId xmlns:a16="http://schemas.microsoft.com/office/drawing/2014/main" id="{7BE556C1-D820-A75A-539E-EEDFD22CDD64}"/>
              </a:ext>
            </a:extLst>
          </p:cNvPr>
          <p:cNvSpPr>
            <a:spLocks noGrp="1"/>
          </p:cNvSpPr>
          <p:nvPr>
            <p:ph type="body" sz="quarter" idx="13"/>
          </p:nvPr>
        </p:nvSpPr>
        <p:spPr>
          <a:xfrm>
            <a:off x="4672148" y="1620000"/>
            <a:ext cx="5747658" cy="4330337"/>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396546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8E03C5-7BDA-A77F-7DB0-658C45A5E0C4}"/>
              </a:ext>
            </a:extLst>
          </p:cNvPr>
          <p:cNvSpPr>
            <a:spLocks noGrp="1"/>
          </p:cNvSpPr>
          <p:nvPr>
            <p:ph type="title"/>
          </p:nvPr>
        </p:nvSpPr>
        <p:spPr>
          <a:xfrm>
            <a:off x="341811" y="567600"/>
            <a:ext cx="4315098" cy="706030"/>
          </a:xfrm>
          <a:prstGeom prst="rect">
            <a:avLst/>
          </a:prstGeom>
        </p:spPr>
        <p:txBody>
          <a:bodyPr anchor="ctr"/>
          <a:lstStyle>
            <a:lvl1pPr>
              <a:defRPr sz="2400"/>
            </a:lvl1pPr>
          </a:lstStyle>
          <a:p>
            <a:r>
              <a:rPr lang="de-DE"/>
              <a:t>Mastertitelformat bearbeiten</a:t>
            </a:r>
          </a:p>
        </p:txBody>
      </p:sp>
      <p:sp>
        <p:nvSpPr>
          <p:cNvPr id="3" name="Foliennummernplatzhalter 2">
            <a:extLst>
              <a:ext uri="{FF2B5EF4-FFF2-40B4-BE49-F238E27FC236}">
                <a16:creationId xmlns:a16="http://schemas.microsoft.com/office/drawing/2014/main" id="{2F163DC2-8D97-BB7D-E638-8BCDF8587551}"/>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74427F6E-DEF6-9732-439A-15C1079AC98E}"/>
              </a:ext>
            </a:extLst>
          </p:cNvPr>
          <p:cNvSpPr>
            <a:spLocks noGrp="1"/>
          </p:cNvSpPr>
          <p:nvPr>
            <p:ph type="ftr" sz="quarter" idx="11"/>
          </p:nvPr>
        </p:nvSpPr>
        <p:spPr/>
        <p:txBody>
          <a:bodyPr/>
          <a:lstStyle/>
          <a:p>
            <a:r>
              <a:rPr lang="de-DE"/>
              <a:t>Materialdiagnostik: Task 4</a:t>
            </a:r>
          </a:p>
        </p:txBody>
      </p:sp>
      <p:sp>
        <p:nvSpPr>
          <p:cNvPr id="5" name="Datumsplatzhalter 4">
            <a:extLst>
              <a:ext uri="{FF2B5EF4-FFF2-40B4-BE49-F238E27FC236}">
                <a16:creationId xmlns:a16="http://schemas.microsoft.com/office/drawing/2014/main" id="{9833FDA4-3C0A-D485-A83B-E93F011A19E7}"/>
              </a:ext>
            </a:extLst>
          </p:cNvPr>
          <p:cNvSpPr>
            <a:spLocks noGrp="1"/>
          </p:cNvSpPr>
          <p:nvPr>
            <p:ph type="dt" sz="half" idx="12"/>
          </p:nvPr>
        </p:nvSpPr>
        <p:spPr/>
        <p:txBody>
          <a:bodyPr/>
          <a:lstStyle/>
          <a:p>
            <a:r>
              <a:rPr lang="de-DE"/>
              <a:t>23.07.2026</a:t>
            </a:r>
          </a:p>
        </p:txBody>
      </p:sp>
      <p:sp>
        <p:nvSpPr>
          <p:cNvPr id="7" name="Inhaltsplatzhalter 6">
            <a:extLst>
              <a:ext uri="{FF2B5EF4-FFF2-40B4-BE49-F238E27FC236}">
                <a16:creationId xmlns:a16="http://schemas.microsoft.com/office/drawing/2014/main" id="{48C9B890-E4BD-AF52-A4AD-7A4FFFB1C674}"/>
              </a:ext>
            </a:extLst>
          </p:cNvPr>
          <p:cNvSpPr>
            <a:spLocks noGrp="1"/>
          </p:cNvSpPr>
          <p:nvPr>
            <p:ph sz="quarter" idx="13"/>
          </p:nvPr>
        </p:nvSpPr>
        <p:spPr>
          <a:xfrm>
            <a:off x="341313" y="1620000"/>
            <a:ext cx="5391104" cy="4316412"/>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Inhaltsplatzhalter 6">
            <a:extLst>
              <a:ext uri="{FF2B5EF4-FFF2-40B4-BE49-F238E27FC236}">
                <a16:creationId xmlns:a16="http://schemas.microsoft.com/office/drawing/2014/main" id="{9A74469E-8B25-F402-08AE-D6E8658AC6B1}"/>
              </a:ext>
            </a:extLst>
          </p:cNvPr>
          <p:cNvSpPr>
            <a:spLocks noGrp="1"/>
          </p:cNvSpPr>
          <p:nvPr>
            <p:ph sz="quarter" idx="14"/>
          </p:nvPr>
        </p:nvSpPr>
        <p:spPr>
          <a:xfrm>
            <a:off x="6459584" y="1620000"/>
            <a:ext cx="5391104" cy="4316412"/>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718874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Benutzerdefiniertes Layout">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C6044954-ED93-46FB-83FB-4A733E86723E}"/>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C6CC6F70-1A0A-8538-A145-259BBA1B332E}"/>
              </a:ext>
            </a:extLst>
          </p:cNvPr>
          <p:cNvSpPr>
            <a:spLocks noGrp="1"/>
          </p:cNvSpPr>
          <p:nvPr>
            <p:ph type="ftr" sz="quarter" idx="11"/>
          </p:nvPr>
        </p:nvSpPr>
        <p:spPr/>
        <p:txBody>
          <a:bodyPr/>
          <a:lstStyle/>
          <a:p>
            <a:r>
              <a:rPr lang="de-DE"/>
              <a:t>Materialdiagnostik: Task 4</a:t>
            </a:r>
          </a:p>
        </p:txBody>
      </p:sp>
      <p:sp>
        <p:nvSpPr>
          <p:cNvPr id="5" name="Datumsplatzhalter 4">
            <a:extLst>
              <a:ext uri="{FF2B5EF4-FFF2-40B4-BE49-F238E27FC236}">
                <a16:creationId xmlns:a16="http://schemas.microsoft.com/office/drawing/2014/main" id="{4BC4B84F-E88D-95C9-4F2A-678239DD52D5}"/>
              </a:ext>
            </a:extLst>
          </p:cNvPr>
          <p:cNvSpPr>
            <a:spLocks noGrp="1"/>
          </p:cNvSpPr>
          <p:nvPr>
            <p:ph type="dt" sz="half" idx="12"/>
          </p:nvPr>
        </p:nvSpPr>
        <p:spPr/>
        <p:txBody>
          <a:bodyPr/>
          <a:lstStyle/>
          <a:p>
            <a:r>
              <a:rPr lang="de-DE"/>
              <a:t>23.07.2026</a:t>
            </a:r>
          </a:p>
        </p:txBody>
      </p:sp>
      <p:sp>
        <p:nvSpPr>
          <p:cNvPr id="6" name="Titel 1">
            <a:extLst>
              <a:ext uri="{FF2B5EF4-FFF2-40B4-BE49-F238E27FC236}">
                <a16:creationId xmlns:a16="http://schemas.microsoft.com/office/drawing/2014/main" id="{84ECAC2C-EA91-2538-AA1B-D131492BAE74}"/>
              </a:ext>
            </a:extLst>
          </p:cNvPr>
          <p:cNvSpPr>
            <a:spLocks noGrp="1"/>
          </p:cNvSpPr>
          <p:nvPr>
            <p:ph type="title"/>
          </p:nvPr>
        </p:nvSpPr>
        <p:spPr>
          <a:xfrm>
            <a:off x="341811" y="567600"/>
            <a:ext cx="4315098" cy="706030"/>
          </a:xfrm>
          <a:prstGeom prst="rect">
            <a:avLst/>
          </a:prstGeom>
        </p:spPr>
        <p:txBody>
          <a:bodyPr anchor="ctr"/>
          <a:lstStyle>
            <a:lvl1pPr>
              <a:defRPr sz="2400"/>
            </a:lvl1pPr>
          </a:lstStyle>
          <a:p>
            <a:r>
              <a:rPr lang="de-DE"/>
              <a:t>Mastertitelformat bearbeiten</a:t>
            </a:r>
          </a:p>
        </p:txBody>
      </p:sp>
      <p:sp>
        <p:nvSpPr>
          <p:cNvPr id="8" name="Diagrammplatzhalter 7">
            <a:extLst>
              <a:ext uri="{FF2B5EF4-FFF2-40B4-BE49-F238E27FC236}">
                <a16:creationId xmlns:a16="http://schemas.microsoft.com/office/drawing/2014/main" id="{8F665CA4-B29F-61A8-C1F7-805E9C9E2AAD}"/>
              </a:ext>
            </a:extLst>
          </p:cNvPr>
          <p:cNvSpPr>
            <a:spLocks noGrp="1"/>
          </p:cNvSpPr>
          <p:nvPr>
            <p:ph type="chart" sz="quarter" idx="13"/>
          </p:nvPr>
        </p:nvSpPr>
        <p:spPr>
          <a:xfrm>
            <a:off x="342000" y="1620000"/>
            <a:ext cx="6464300" cy="4357688"/>
          </a:xfrm>
          <a:prstGeom prst="rect">
            <a:avLst/>
          </a:prstGeom>
        </p:spPr>
        <p:txBody>
          <a:bodyPr/>
          <a:lstStyle/>
          <a:p>
            <a:r>
              <a:rPr lang="de-DE"/>
              <a:t>Diagramm durch Klicken auf Symbol hinzufügen</a:t>
            </a:r>
          </a:p>
        </p:txBody>
      </p:sp>
      <p:sp>
        <p:nvSpPr>
          <p:cNvPr id="10" name="Textplatzhalter 9">
            <a:extLst>
              <a:ext uri="{FF2B5EF4-FFF2-40B4-BE49-F238E27FC236}">
                <a16:creationId xmlns:a16="http://schemas.microsoft.com/office/drawing/2014/main" id="{968CD71D-F381-DDC3-57C8-6E2E31AE9B70}"/>
              </a:ext>
            </a:extLst>
          </p:cNvPr>
          <p:cNvSpPr>
            <a:spLocks noGrp="1"/>
          </p:cNvSpPr>
          <p:nvPr>
            <p:ph type="body" sz="quarter" idx="14"/>
          </p:nvPr>
        </p:nvSpPr>
        <p:spPr>
          <a:xfrm>
            <a:off x="7537450" y="1619250"/>
            <a:ext cx="4313238" cy="4357688"/>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504715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Benutzerdefiniertes Layout">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298C56F7-04DC-07E6-E754-FAEBDCAFD6E5}"/>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E5B3395E-75D0-0881-9E63-D45B3C890C78}"/>
              </a:ext>
            </a:extLst>
          </p:cNvPr>
          <p:cNvSpPr>
            <a:spLocks noGrp="1"/>
          </p:cNvSpPr>
          <p:nvPr>
            <p:ph type="ftr" sz="quarter" idx="11"/>
          </p:nvPr>
        </p:nvSpPr>
        <p:spPr/>
        <p:txBody>
          <a:bodyPr/>
          <a:lstStyle/>
          <a:p>
            <a:r>
              <a:rPr lang="de-DE"/>
              <a:t>Materialdiagnostik: Task 4</a:t>
            </a:r>
          </a:p>
        </p:txBody>
      </p:sp>
      <p:sp>
        <p:nvSpPr>
          <p:cNvPr id="5" name="Datumsplatzhalter 4">
            <a:extLst>
              <a:ext uri="{FF2B5EF4-FFF2-40B4-BE49-F238E27FC236}">
                <a16:creationId xmlns:a16="http://schemas.microsoft.com/office/drawing/2014/main" id="{D388320E-D078-EA6A-9A8C-DD57443F9308}"/>
              </a:ext>
            </a:extLst>
          </p:cNvPr>
          <p:cNvSpPr>
            <a:spLocks noGrp="1"/>
          </p:cNvSpPr>
          <p:nvPr>
            <p:ph type="dt" sz="half" idx="12"/>
          </p:nvPr>
        </p:nvSpPr>
        <p:spPr/>
        <p:txBody>
          <a:bodyPr/>
          <a:lstStyle/>
          <a:p>
            <a:r>
              <a:rPr lang="de-DE"/>
              <a:t>23.07.2026</a:t>
            </a:r>
          </a:p>
        </p:txBody>
      </p:sp>
      <p:sp>
        <p:nvSpPr>
          <p:cNvPr id="6" name="Titel 1">
            <a:extLst>
              <a:ext uri="{FF2B5EF4-FFF2-40B4-BE49-F238E27FC236}">
                <a16:creationId xmlns:a16="http://schemas.microsoft.com/office/drawing/2014/main" id="{6501B65D-DEB8-9B99-668F-C2A8BA5977E3}"/>
              </a:ext>
            </a:extLst>
          </p:cNvPr>
          <p:cNvSpPr>
            <a:spLocks noGrp="1"/>
          </p:cNvSpPr>
          <p:nvPr>
            <p:ph type="title"/>
          </p:nvPr>
        </p:nvSpPr>
        <p:spPr>
          <a:xfrm>
            <a:off x="341811" y="567600"/>
            <a:ext cx="4315098" cy="706030"/>
          </a:xfrm>
          <a:prstGeom prst="rect">
            <a:avLst/>
          </a:prstGeom>
        </p:spPr>
        <p:txBody>
          <a:bodyPr anchor="ctr"/>
          <a:lstStyle>
            <a:lvl1pPr>
              <a:defRPr sz="2400"/>
            </a:lvl1pPr>
          </a:lstStyle>
          <a:p>
            <a:r>
              <a:rPr lang="de-DE"/>
              <a:t>Mastertitelformat bearbeiten</a:t>
            </a:r>
          </a:p>
        </p:txBody>
      </p:sp>
      <p:sp>
        <p:nvSpPr>
          <p:cNvPr id="8" name="Tabellenplatzhalter 7">
            <a:extLst>
              <a:ext uri="{FF2B5EF4-FFF2-40B4-BE49-F238E27FC236}">
                <a16:creationId xmlns:a16="http://schemas.microsoft.com/office/drawing/2014/main" id="{77EC83A4-CD88-BEBE-32B4-1CB0630E0C25}"/>
              </a:ext>
            </a:extLst>
          </p:cNvPr>
          <p:cNvSpPr>
            <a:spLocks noGrp="1"/>
          </p:cNvSpPr>
          <p:nvPr>
            <p:ph type="tbl" sz="quarter" idx="13"/>
          </p:nvPr>
        </p:nvSpPr>
        <p:spPr>
          <a:xfrm>
            <a:off x="341313" y="1620000"/>
            <a:ext cx="11509374" cy="4329112"/>
          </a:xfrm>
          <a:prstGeom prst="rect">
            <a:avLst/>
          </a:prstGeom>
        </p:spPr>
        <p:txBody>
          <a:bodyPr/>
          <a:lstStyle/>
          <a:p>
            <a:r>
              <a:rPr lang="de-DE"/>
              <a:t>Tabelle durch Klicken auf Symbol hinzufügen</a:t>
            </a:r>
          </a:p>
        </p:txBody>
      </p:sp>
    </p:spTree>
    <p:extLst>
      <p:ext uri="{BB962C8B-B14F-4D97-AF65-F5344CB8AC3E}">
        <p14:creationId xmlns:p14="http://schemas.microsoft.com/office/powerpoint/2010/main" val="2365388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Benutzerdefiniertes Layout">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A4C0288E-0BC3-A2B2-6635-8CA0B598348C}"/>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DE378F51-1F21-2A9E-140B-3E85C6EDA68C}"/>
              </a:ext>
            </a:extLst>
          </p:cNvPr>
          <p:cNvSpPr>
            <a:spLocks noGrp="1"/>
          </p:cNvSpPr>
          <p:nvPr>
            <p:ph type="ftr" sz="quarter" idx="11"/>
          </p:nvPr>
        </p:nvSpPr>
        <p:spPr/>
        <p:txBody>
          <a:bodyPr/>
          <a:lstStyle/>
          <a:p>
            <a:r>
              <a:rPr lang="de-DE"/>
              <a:t>Materialdiagnostik: Task 4</a:t>
            </a:r>
          </a:p>
        </p:txBody>
      </p:sp>
      <p:sp>
        <p:nvSpPr>
          <p:cNvPr id="5" name="Datumsplatzhalter 4">
            <a:extLst>
              <a:ext uri="{FF2B5EF4-FFF2-40B4-BE49-F238E27FC236}">
                <a16:creationId xmlns:a16="http://schemas.microsoft.com/office/drawing/2014/main" id="{5995910A-7460-9DA2-7D0D-21EA392FA163}"/>
              </a:ext>
            </a:extLst>
          </p:cNvPr>
          <p:cNvSpPr>
            <a:spLocks noGrp="1"/>
          </p:cNvSpPr>
          <p:nvPr>
            <p:ph type="dt" sz="half" idx="12"/>
          </p:nvPr>
        </p:nvSpPr>
        <p:spPr/>
        <p:txBody>
          <a:bodyPr/>
          <a:lstStyle/>
          <a:p>
            <a:r>
              <a:rPr lang="de-DE"/>
              <a:t>23.07.2026</a:t>
            </a:r>
          </a:p>
        </p:txBody>
      </p:sp>
      <p:sp>
        <p:nvSpPr>
          <p:cNvPr id="6" name="Titel 1">
            <a:extLst>
              <a:ext uri="{FF2B5EF4-FFF2-40B4-BE49-F238E27FC236}">
                <a16:creationId xmlns:a16="http://schemas.microsoft.com/office/drawing/2014/main" id="{18B7627B-6839-36FA-8BDF-10F29038E6C1}"/>
              </a:ext>
            </a:extLst>
          </p:cNvPr>
          <p:cNvSpPr>
            <a:spLocks noGrp="1"/>
          </p:cNvSpPr>
          <p:nvPr>
            <p:ph type="title"/>
          </p:nvPr>
        </p:nvSpPr>
        <p:spPr>
          <a:xfrm>
            <a:off x="341811" y="567600"/>
            <a:ext cx="4315098" cy="706030"/>
          </a:xfrm>
          <a:prstGeom prst="rect">
            <a:avLst/>
          </a:prstGeom>
        </p:spPr>
        <p:txBody>
          <a:bodyPr anchor="ctr"/>
          <a:lstStyle>
            <a:lvl1pPr>
              <a:defRPr sz="2400"/>
            </a:lvl1pPr>
          </a:lstStyle>
          <a:p>
            <a:r>
              <a:rPr lang="de-DE"/>
              <a:t>Mastertitelformat bearbeiten</a:t>
            </a:r>
          </a:p>
        </p:txBody>
      </p:sp>
      <p:sp>
        <p:nvSpPr>
          <p:cNvPr id="8" name="Medienplatzhalter 7">
            <a:extLst>
              <a:ext uri="{FF2B5EF4-FFF2-40B4-BE49-F238E27FC236}">
                <a16:creationId xmlns:a16="http://schemas.microsoft.com/office/drawing/2014/main" id="{8A710AA4-AAF2-4B75-C3F3-871BBE9241F8}"/>
              </a:ext>
            </a:extLst>
          </p:cNvPr>
          <p:cNvSpPr>
            <a:spLocks noGrp="1"/>
          </p:cNvSpPr>
          <p:nvPr>
            <p:ph type="media" sz="quarter" idx="13"/>
          </p:nvPr>
        </p:nvSpPr>
        <p:spPr>
          <a:xfrm>
            <a:off x="342900" y="1620000"/>
            <a:ext cx="11506200" cy="4364038"/>
          </a:xfrm>
          <a:prstGeom prst="rect">
            <a:avLst/>
          </a:prstGeom>
        </p:spPr>
        <p:txBody>
          <a:bodyPr/>
          <a:lstStyle/>
          <a:p>
            <a:r>
              <a:rPr lang="de-DE"/>
              <a:t>Mediaclip durch Klicken auf Symbol hinzufügen</a:t>
            </a:r>
          </a:p>
        </p:txBody>
      </p:sp>
    </p:spTree>
    <p:extLst>
      <p:ext uri="{BB962C8B-B14F-4D97-AF65-F5344CB8AC3E}">
        <p14:creationId xmlns:p14="http://schemas.microsoft.com/office/powerpoint/2010/main" val="1053121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Benutzerdefiniertes Layout">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F33115BF-78EF-27BB-F487-EADE5934B133}"/>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77968A7B-1911-8BE6-C669-DC5B4D85D1D4}"/>
              </a:ext>
            </a:extLst>
          </p:cNvPr>
          <p:cNvSpPr>
            <a:spLocks noGrp="1"/>
          </p:cNvSpPr>
          <p:nvPr>
            <p:ph type="ftr" sz="quarter" idx="11"/>
          </p:nvPr>
        </p:nvSpPr>
        <p:spPr/>
        <p:txBody>
          <a:bodyPr/>
          <a:lstStyle/>
          <a:p>
            <a:r>
              <a:rPr lang="de-DE"/>
              <a:t>Materialdiagnostik: Task 4</a:t>
            </a:r>
            <a:endParaRPr lang="de-DE" dirty="0"/>
          </a:p>
        </p:txBody>
      </p:sp>
      <p:sp>
        <p:nvSpPr>
          <p:cNvPr id="5" name="Datumsplatzhalter 4">
            <a:extLst>
              <a:ext uri="{FF2B5EF4-FFF2-40B4-BE49-F238E27FC236}">
                <a16:creationId xmlns:a16="http://schemas.microsoft.com/office/drawing/2014/main" id="{51324397-1ED7-8CF8-6036-BBCE91679937}"/>
              </a:ext>
            </a:extLst>
          </p:cNvPr>
          <p:cNvSpPr>
            <a:spLocks noGrp="1"/>
          </p:cNvSpPr>
          <p:nvPr>
            <p:ph type="dt" sz="half" idx="12"/>
          </p:nvPr>
        </p:nvSpPr>
        <p:spPr/>
        <p:txBody>
          <a:bodyPr/>
          <a:lstStyle/>
          <a:p>
            <a:r>
              <a:rPr lang="de-DE"/>
              <a:t>23.07.2026</a:t>
            </a:r>
          </a:p>
        </p:txBody>
      </p:sp>
      <p:sp>
        <p:nvSpPr>
          <p:cNvPr id="7" name="Inhaltsplatzhalter 6">
            <a:extLst>
              <a:ext uri="{FF2B5EF4-FFF2-40B4-BE49-F238E27FC236}">
                <a16:creationId xmlns:a16="http://schemas.microsoft.com/office/drawing/2014/main" id="{7E6FF748-506D-DF48-0CE6-B5937A97C3BD}"/>
              </a:ext>
            </a:extLst>
          </p:cNvPr>
          <p:cNvSpPr>
            <a:spLocks noGrp="1"/>
          </p:cNvSpPr>
          <p:nvPr>
            <p:ph sz="quarter" idx="13"/>
          </p:nvPr>
        </p:nvSpPr>
        <p:spPr>
          <a:xfrm>
            <a:off x="341811" y="1620000"/>
            <a:ext cx="11512052" cy="4395788"/>
          </a:xfrm>
          <a:prstGeom prst="rect">
            <a:avLst/>
          </a:prstGeo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1">
            <a:extLst>
              <a:ext uri="{FF2B5EF4-FFF2-40B4-BE49-F238E27FC236}">
                <a16:creationId xmlns:a16="http://schemas.microsoft.com/office/drawing/2014/main" id="{21AF7B95-D724-2667-6A8F-48BC1B491D0E}"/>
              </a:ext>
            </a:extLst>
          </p:cNvPr>
          <p:cNvSpPr>
            <a:spLocks noGrp="1"/>
          </p:cNvSpPr>
          <p:nvPr>
            <p:ph type="title"/>
          </p:nvPr>
        </p:nvSpPr>
        <p:spPr>
          <a:xfrm>
            <a:off x="341811" y="567600"/>
            <a:ext cx="4315098" cy="706030"/>
          </a:xfrm>
          <a:prstGeom prst="rect">
            <a:avLst/>
          </a:prstGeom>
        </p:spPr>
        <p:txBody>
          <a:bodyPr anchor="ctr"/>
          <a:lstStyle>
            <a:lvl1pPr>
              <a:defRPr sz="2400"/>
            </a:lvl1pPr>
          </a:lstStyle>
          <a:p>
            <a:r>
              <a:rPr lang="de-DE"/>
              <a:t>Mastertitelformat bearbeiten</a:t>
            </a:r>
          </a:p>
        </p:txBody>
      </p:sp>
    </p:spTree>
    <p:extLst>
      <p:ext uri="{BB962C8B-B14F-4D97-AF65-F5344CB8AC3E}">
        <p14:creationId xmlns:p14="http://schemas.microsoft.com/office/powerpoint/2010/main" val="415779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029" name="Picture 8">
            <a:extLst>
              <a:ext uri="{FF2B5EF4-FFF2-40B4-BE49-F238E27FC236}">
                <a16:creationId xmlns:a16="http://schemas.microsoft.com/office/drawing/2014/main" id="{24F5A3AF-D943-BD2A-8943-FC6AD197AD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p:blipFill>
        <p:spPr bwMode="auto">
          <a:xfrm>
            <a:off x="7937576" y="609600"/>
            <a:ext cx="3644824" cy="622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liennummernplatzhalter 2">
            <a:extLst>
              <a:ext uri="{FF2B5EF4-FFF2-40B4-BE49-F238E27FC236}">
                <a16:creationId xmlns:a16="http://schemas.microsoft.com/office/drawing/2014/main" id="{C4F520D8-5DD0-8AC6-5A23-456771581E55}"/>
              </a:ext>
            </a:extLst>
          </p:cNvPr>
          <p:cNvSpPr>
            <a:spLocks noGrp="1" noRot="1" noMove="1" noResize="1" noEditPoints="1" noAdjustHandles="1" noChangeArrowheads="1" noChangeShapeType="1"/>
          </p:cNvSpPr>
          <p:nvPr>
            <p:ph type="sldNum" sz="quarter" idx="4"/>
          </p:nvPr>
        </p:nvSpPr>
        <p:spPr>
          <a:xfrm>
            <a:off x="11582400" y="6447859"/>
            <a:ext cx="496388" cy="365125"/>
          </a:xfrm>
          <a:prstGeom prst="rect">
            <a:avLst/>
          </a:prstGeom>
        </p:spPr>
        <p:txBody>
          <a:bodyPr vert="horz" lIns="91440" tIns="45720" rIns="91440" bIns="45720" rtlCol="0" anchor="ctr"/>
          <a:lstStyle>
            <a:lvl1pPr algn="r">
              <a:defRPr sz="1200" b="1">
                <a:solidFill>
                  <a:srgbClr val="A8CC2F"/>
                </a:solidFill>
              </a:defRPr>
            </a:lvl1pPr>
          </a:lstStyle>
          <a:p>
            <a:pPr>
              <a:defRPr/>
            </a:pPr>
            <a:fld id="{AF7B6FBB-3871-4A64-9491-1B11EE455FFC}" type="slidenum">
              <a:rPr lang="de-DE" altLang="de-DE" smtClean="0"/>
              <a:pPr>
                <a:defRPr/>
              </a:pPr>
              <a:t>‹Nr.›</a:t>
            </a:fld>
            <a:endParaRPr lang="de-DE" altLang="de-DE" dirty="0"/>
          </a:p>
        </p:txBody>
      </p:sp>
      <p:sp>
        <p:nvSpPr>
          <p:cNvPr id="4" name="Fußzeilenplatzhalter 3">
            <a:extLst>
              <a:ext uri="{FF2B5EF4-FFF2-40B4-BE49-F238E27FC236}">
                <a16:creationId xmlns:a16="http://schemas.microsoft.com/office/drawing/2014/main" id="{0CA301AD-975A-4725-14C1-3B11D71EE0DE}"/>
              </a:ext>
            </a:extLst>
          </p:cNvPr>
          <p:cNvSpPr>
            <a:spLocks noGrp="1" noRot="1" noMove="1" noResize="1" noEditPoints="1" noAdjustHandles="1" noChangeArrowheads="1" noChangeShapeType="1"/>
          </p:cNvSpPr>
          <p:nvPr>
            <p:ph type="ftr" sz="quarter" idx="3"/>
          </p:nvPr>
        </p:nvSpPr>
        <p:spPr>
          <a:xfrm>
            <a:off x="4038600" y="6447858"/>
            <a:ext cx="4114800" cy="365125"/>
          </a:xfrm>
          <a:prstGeom prst="rect">
            <a:avLst/>
          </a:prstGeom>
        </p:spPr>
        <p:txBody>
          <a:bodyPr vert="horz" lIns="91440" tIns="45720" rIns="91440" bIns="45720" rtlCol="0" anchor="ctr"/>
          <a:lstStyle>
            <a:lvl1pPr algn="ctr">
              <a:defRPr sz="1200" b="1">
                <a:solidFill>
                  <a:srgbClr val="A8CC2F"/>
                </a:solidFill>
              </a:defRPr>
            </a:lvl1pPr>
          </a:lstStyle>
          <a:p>
            <a:r>
              <a:rPr lang="de-DE"/>
              <a:t>Materialdiagnostik: Task 4</a:t>
            </a:r>
            <a:endParaRPr lang="de-DE" dirty="0"/>
          </a:p>
        </p:txBody>
      </p:sp>
      <p:sp>
        <p:nvSpPr>
          <p:cNvPr id="5" name="Datumsplatzhalter 4">
            <a:extLst>
              <a:ext uri="{FF2B5EF4-FFF2-40B4-BE49-F238E27FC236}">
                <a16:creationId xmlns:a16="http://schemas.microsoft.com/office/drawing/2014/main" id="{41824E65-93DD-275C-14CB-0DD245806FD8}"/>
              </a:ext>
            </a:extLst>
          </p:cNvPr>
          <p:cNvSpPr>
            <a:spLocks noGrp="1" noRot="1" noMove="1" noResize="1" noEditPoints="1" noAdjustHandles="1" noChangeArrowheads="1" noChangeShapeType="1"/>
          </p:cNvSpPr>
          <p:nvPr>
            <p:ph type="dt" sz="half" idx="2"/>
          </p:nvPr>
        </p:nvSpPr>
        <p:spPr>
          <a:xfrm>
            <a:off x="113212" y="6447857"/>
            <a:ext cx="951411"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de-DE"/>
              <a:t>23.07.2026</a:t>
            </a:r>
          </a:p>
        </p:txBody>
      </p:sp>
    </p:spTree>
    <p:extLst>
      <p:ext uri="{BB962C8B-B14F-4D97-AF65-F5344CB8AC3E}">
        <p14:creationId xmlns:p14="http://schemas.microsoft.com/office/powerpoint/2010/main" val="159967084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Lst>
  <p:hf hdr="0"/>
  <p:txStyles>
    <p:titleStyle>
      <a:lvl1pPr algn="l" rtl="0" eaLnBrk="1" fontAlgn="base" hangingPunct="1">
        <a:spcBef>
          <a:spcPct val="0"/>
        </a:spcBef>
        <a:spcAft>
          <a:spcPct val="0"/>
        </a:spcAft>
        <a:defRPr b="1">
          <a:solidFill>
            <a:srgbClr val="A8CC2F"/>
          </a:solidFill>
          <a:latin typeface="+mj-lt"/>
          <a:ea typeface="+mj-ea"/>
          <a:cs typeface="+mj-cs"/>
        </a:defRPr>
      </a:lvl1pPr>
      <a:lvl2pPr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2pPr>
      <a:lvl3pPr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3pPr>
      <a:lvl4pPr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4pPr>
      <a:lvl5pPr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5pPr>
      <a:lvl6pPr marL="457200"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6pPr>
      <a:lvl7pPr marL="914400"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7pPr>
      <a:lvl8pPr marL="1371600"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8pPr>
      <a:lvl9pPr marL="1828800"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9pPr>
    </p:titleStyle>
    <p:bodyStyle>
      <a:lvl1pPr marL="342900" indent="-342900" algn="l" rtl="0" eaLnBrk="1" fontAlgn="base" hangingPunct="1">
        <a:spcBef>
          <a:spcPct val="20000"/>
        </a:spcBef>
        <a:spcAft>
          <a:spcPct val="0"/>
        </a:spcAft>
        <a:buFont typeface="Lucida Grande" charset="0"/>
        <a:buChar char="·"/>
        <a:defRPr sz="2400">
          <a:solidFill>
            <a:srgbClr val="414141"/>
          </a:solidFill>
          <a:latin typeface="+mn-lt"/>
          <a:ea typeface="+mn-ea"/>
          <a:cs typeface="+mn-cs"/>
        </a:defRPr>
      </a:lvl1pPr>
      <a:lvl2pPr marL="742950" indent="-285750" algn="l" rtl="0" eaLnBrk="1" fontAlgn="base" hangingPunct="1">
        <a:spcBef>
          <a:spcPct val="20000"/>
        </a:spcBef>
        <a:spcAft>
          <a:spcPct val="0"/>
        </a:spcAft>
        <a:buFont typeface="Lucida Grande" charset="0"/>
        <a:buChar char="·"/>
        <a:defRPr sz="2000">
          <a:solidFill>
            <a:srgbClr val="414141"/>
          </a:solidFill>
          <a:latin typeface="+mn-lt"/>
          <a:ea typeface="+mn-ea"/>
          <a:cs typeface="+mn-cs"/>
        </a:defRPr>
      </a:lvl2pPr>
      <a:lvl3pPr marL="1143000" indent="-228600" algn="l" rtl="0" eaLnBrk="1" fontAlgn="base" hangingPunct="1">
        <a:spcBef>
          <a:spcPct val="20000"/>
        </a:spcBef>
        <a:spcAft>
          <a:spcPct val="0"/>
        </a:spcAft>
        <a:buFont typeface="Lucida Grande" charset="0"/>
        <a:buChar char="·"/>
        <a:defRPr>
          <a:solidFill>
            <a:srgbClr val="414141"/>
          </a:solidFill>
          <a:latin typeface="+mn-lt"/>
          <a:ea typeface="+mn-ea"/>
          <a:cs typeface="+mn-cs"/>
        </a:defRPr>
      </a:lvl3pPr>
      <a:lvl4pPr marL="1144588" algn="l" rtl="0" eaLnBrk="1" fontAlgn="base" hangingPunct="1">
        <a:spcBef>
          <a:spcPct val="20000"/>
        </a:spcBef>
        <a:spcAft>
          <a:spcPct val="0"/>
        </a:spcAft>
        <a:buClr>
          <a:srgbClr val="414141"/>
        </a:buClr>
        <a:defRPr>
          <a:solidFill>
            <a:srgbClr val="414141"/>
          </a:solidFill>
          <a:latin typeface="Courier New"/>
          <a:ea typeface="+mn-ea"/>
          <a:cs typeface="+mn-cs"/>
        </a:defRPr>
      </a:lvl4pPr>
      <a:lvl5pPr marL="1144588" indent="-228600" algn="l" rtl="0" eaLnBrk="1" fontAlgn="base" hangingPunct="1">
        <a:spcBef>
          <a:spcPct val="20000"/>
        </a:spcBef>
        <a:spcAft>
          <a:spcPct val="0"/>
        </a:spcAft>
        <a:buFont typeface="Lucida Grande" charset="0"/>
        <a:buChar char="·"/>
        <a:defRPr>
          <a:solidFill>
            <a:srgbClr val="A8CC2F"/>
          </a:solidFill>
          <a:latin typeface="+mn-lt"/>
          <a:ea typeface="+mn-ea"/>
          <a:cs typeface="+mn-cs"/>
        </a:defRPr>
      </a:lvl5pPr>
      <a:lvl6pPr marL="2438400" indent="-228600" algn="l" rtl="0" eaLnBrk="1" fontAlgn="base" hangingPunct="1">
        <a:spcBef>
          <a:spcPct val="20000"/>
        </a:spcBef>
        <a:spcAft>
          <a:spcPct val="0"/>
        </a:spcAft>
        <a:defRPr sz="1600">
          <a:solidFill>
            <a:srgbClr val="414141"/>
          </a:solidFill>
          <a:latin typeface="+mn-lt"/>
          <a:ea typeface="+mn-ea"/>
          <a:cs typeface="+mn-cs"/>
        </a:defRPr>
      </a:lvl6pPr>
      <a:lvl7pPr marL="2895600" indent="-228600" algn="l" rtl="0" eaLnBrk="1" fontAlgn="base" hangingPunct="1">
        <a:spcBef>
          <a:spcPct val="20000"/>
        </a:spcBef>
        <a:spcAft>
          <a:spcPct val="0"/>
        </a:spcAft>
        <a:defRPr sz="1600">
          <a:solidFill>
            <a:srgbClr val="414141"/>
          </a:solidFill>
          <a:latin typeface="+mn-lt"/>
          <a:ea typeface="+mn-ea"/>
          <a:cs typeface="+mn-cs"/>
        </a:defRPr>
      </a:lvl7pPr>
      <a:lvl8pPr marL="3352800" indent="-228600" algn="l" rtl="0" eaLnBrk="1" fontAlgn="base" hangingPunct="1">
        <a:spcBef>
          <a:spcPct val="20000"/>
        </a:spcBef>
        <a:spcAft>
          <a:spcPct val="0"/>
        </a:spcAft>
        <a:defRPr sz="1600">
          <a:solidFill>
            <a:srgbClr val="414141"/>
          </a:solidFill>
          <a:latin typeface="+mn-lt"/>
          <a:ea typeface="+mn-ea"/>
          <a:cs typeface="+mn-cs"/>
        </a:defRPr>
      </a:lvl8pPr>
      <a:lvl9pPr marL="3810000" indent="-228600" algn="l" rtl="0" eaLnBrk="1" fontAlgn="base" hangingPunct="1">
        <a:spcBef>
          <a:spcPct val="20000"/>
        </a:spcBef>
        <a:spcAft>
          <a:spcPct val="0"/>
        </a:spcAft>
        <a:defRPr sz="1600">
          <a:solidFill>
            <a:srgbClr val="41414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B476EBB-4D93-C7B4-2E1A-4A6262020142}"/>
              </a:ext>
            </a:extLst>
          </p:cNvPr>
          <p:cNvSpPr>
            <a:spLocks noGrp="1"/>
          </p:cNvSpPr>
          <p:nvPr>
            <p:ph type="title"/>
          </p:nvPr>
        </p:nvSpPr>
        <p:spPr>
          <a:xfrm>
            <a:off x="4470883" y="2288322"/>
            <a:ext cx="5392784" cy="1444082"/>
          </a:xfrm>
        </p:spPr>
        <p:txBody>
          <a:bodyPr/>
          <a:lstStyle/>
          <a:p>
            <a:r>
              <a:rPr lang="de-DE" sz="4800" dirty="0"/>
              <a:t>Seminaraufgabe 4</a:t>
            </a:r>
          </a:p>
        </p:txBody>
      </p:sp>
      <p:sp>
        <p:nvSpPr>
          <p:cNvPr id="2" name="Untertitel 1">
            <a:extLst>
              <a:ext uri="{FF2B5EF4-FFF2-40B4-BE49-F238E27FC236}">
                <a16:creationId xmlns:a16="http://schemas.microsoft.com/office/drawing/2014/main" id="{B127D0AE-943F-5B24-AF1D-9467215FE8B7}"/>
              </a:ext>
            </a:extLst>
          </p:cNvPr>
          <p:cNvSpPr>
            <a:spLocks noGrp="1"/>
          </p:cNvSpPr>
          <p:nvPr>
            <p:ph type="subTitle" idx="4294967295"/>
          </p:nvPr>
        </p:nvSpPr>
        <p:spPr>
          <a:xfrm>
            <a:off x="4470883" y="3732404"/>
            <a:ext cx="4063517" cy="1752600"/>
          </a:xfrm>
          <a:prstGeom prst="rect">
            <a:avLst/>
          </a:prstGeom>
        </p:spPr>
        <p:txBody>
          <a:bodyPr/>
          <a:lstStyle/>
          <a:p>
            <a:pPr marL="0" indent="0">
              <a:buNone/>
            </a:pPr>
            <a:r>
              <a:rPr lang="de-DE" sz="2000" b="1" dirty="0">
                <a:solidFill>
                  <a:schemeClr val="bg1">
                    <a:lumMod val="50000"/>
                  </a:schemeClr>
                </a:solidFill>
                <a:effectLst/>
              </a:rPr>
              <a:t>Benjamin Gielczynski, </a:t>
            </a:r>
            <a:br>
              <a:rPr lang="de-DE" sz="2000" b="1" dirty="0">
                <a:solidFill>
                  <a:schemeClr val="bg1">
                    <a:lumMod val="50000"/>
                  </a:schemeClr>
                </a:solidFill>
                <a:effectLst/>
              </a:rPr>
            </a:br>
            <a:r>
              <a:rPr lang="de-DE" sz="2000" b="1" dirty="0">
                <a:solidFill>
                  <a:schemeClr val="bg1">
                    <a:lumMod val="50000"/>
                  </a:schemeClr>
                </a:solidFill>
                <a:effectLst/>
              </a:rPr>
              <a:t>David von Rüden, </a:t>
            </a:r>
            <a:br>
              <a:rPr lang="de-DE" sz="2000" b="1" dirty="0">
                <a:solidFill>
                  <a:schemeClr val="bg1">
                    <a:lumMod val="50000"/>
                  </a:schemeClr>
                </a:solidFill>
                <a:effectLst/>
              </a:rPr>
            </a:br>
            <a:r>
              <a:rPr lang="de-DE" sz="2000" b="1" dirty="0">
                <a:solidFill>
                  <a:schemeClr val="bg1">
                    <a:lumMod val="50000"/>
                  </a:schemeClr>
                </a:solidFill>
                <a:effectLst/>
              </a:rPr>
              <a:t>Tim Giese, </a:t>
            </a:r>
            <a:br>
              <a:rPr lang="de-DE" sz="2000" b="1" dirty="0">
                <a:solidFill>
                  <a:schemeClr val="bg1">
                    <a:lumMod val="50000"/>
                  </a:schemeClr>
                </a:solidFill>
                <a:effectLst/>
              </a:rPr>
            </a:br>
            <a:r>
              <a:rPr lang="de-DE" sz="2000" b="1" dirty="0">
                <a:solidFill>
                  <a:schemeClr val="bg1">
                    <a:lumMod val="50000"/>
                  </a:schemeClr>
                </a:solidFill>
                <a:effectLst/>
              </a:rPr>
              <a:t>Victor Domke, </a:t>
            </a:r>
            <a:br>
              <a:rPr lang="de-DE" sz="2000" b="1" dirty="0">
                <a:solidFill>
                  <a:schemeClr val="bg1">
                    <a:lumMod val="50000"/>
                  </a:schemeClr>
                </a:solidFill>
                <a:effectLst/>
              </a:rPr>
            </a:br>
            <a:r>
              <a:rPr lang="de-DE" sz="2000" b="1" dirty="0">
                <a:solidFill>
                  <a:schemeClr val="bg1">
                    <a:lumMod val="50000"/>
                  </a:schemeClr>
                </a:solidFill>
                <a:effectLst/>
              </a:rPr>
              <a:t>Simon Brockhoff</a:t>
            </a:r>
            <a:endParaRPr lang="de-DE" sz="2000" b="0" dirty="0">
              <a:solidFill>
                <a:schemeClr val="bg1">
                  <a:lumMod val="50000"/>
                </a:schemeClr>
              </a:solidFill>
              <a:effectLst/>
            </a:endParaRPr>
          </a:p>
        </p:txBody>
      </p:sp>
    </p:spTree>
    <p:extLst>
      <p:ext uri="{BB962C8B-B14F-4D97-AF65-F5344CB8AC3E}">
        <p14:creationId xmlns:p14="http://schemas.microsoft.com/office/powerpoint/2010/main" val="1875075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28E74-1723-4026-C41F-72C0E5F4B37F}"/>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16BDFD0D-1F3F-671D-BE21-271B3E00F8BC}"/>
              </a:ext>
            </a:extLst>
          </p:cNvPr>
          <p:cNvSpPr>
            <a:spLocks noGrp="1"/>
          </p:cNvSpPr>
          <p:nvPr>
            <p:ph type="title"/>
          </p:nvPr>
        </p:nvSpPr>
        <p:spPr/>
        <p:txBody>
          <a:bodyPr/>
          <a:lstStyle/>
          <a:p>
            <a:r>
              <a:rPr lang="de-DE" sz="3200" dirty="0"/>
              <a:t>Gliederung</a:t>
            </a:r>
            <a:endParaRPr lang="de-DE" dirty="0"/>
          </a:p>
        </p:txBody>
      </p:sp>
      <p:sp>
        <p:nvSpPr>
          <p:cNvPr id="2" name="Foliennummernplatzhalter 1">
            <a:extLst>
              <a:ext uri="{FF2B5EF4-FFF2-40B4-BE49-F238E27FC236}">
                <a16:creationId xmlns:a16="http://schemas.microsoft.com/office/drawing/2014/main" id="{4A95B1DA-C9BF-39EB-E4C5-A5750A2C5C28}"/>
              </a:ext>
            </a:extLst>
          </p:cNvPr>
          <p:cNvSpPr>
            <a:spLocks noGrp="1"/>
          </p:cNvSpPr>
          <p:nvPr>
            <p:ph type="sldNum" sz="quarter" idx="10"/>
          </p:nvPr>
        </p:nvSpPr>
        <p:spPr/>
        <p:txBody>
          <a:bodyPr/>
          <a:lstStyle/>
          <a:p>
            <a:fld id="{80B4FCE6-DC73-4135-BC56-1F242D45A84C}" type="slidenum">
              <a:rPr lang="de-DE" smtClean="0"/>
              <a:t>2</a:t>
            </a:fld>
            <a:endParaRPr lang="de-DE"/>
          </a:p>
        </p:txBody>
      </p:sp>
      <p:sp>
        <p:nvSpPr>
          <p:cNvPr id="7" name="Fußzeilenplatzhalter 6">
            <a:extLst>
              <a:ext uri="{FF2B5EF4-FFF2-40B4-BE49-F238E27FC236}">
                <a16:creationId xmlns:a16="http://schemas.microsoft.com/office/drawing/2014/main" id="{9D942951-2681-5B98-DB4E-AACA25F87A2D}"/>
              </a:ext>
            </a:extLst>
          </p:cNvPr>
          <p:cNvSpPr>
            <a:spLocks noGrp="1"/>
          </p:cNvSpPr>
          <p:nvPr>
            <p:ph type="ftr" sz="quarter" idx="11"/>
          </p:nvPr>
        </p:nvSpPr>
        <p:spPr/>
        <p:txBody>
          <a:bodyPr/>
          <a:lstStyle/>
          <a:p>
            <a:r>
              <a:rPr lang="de-DE"/>
              <a:t>Materialdiagnostik: Task 4</a:t>
            </a:r>
          </a:p>
        </p:txBody>
      </p:sp>
      <p:sp>
        <p:nvSpPr>
          <p:cNvPr id="6" name="Datumsplatzhalter 5">
            <a:extLst>
              <a:ext uri="{FF2B5EF4-FFF2-40B4-BE49-F238E27FC236}">
                <a16:creationId xmlns:a16="http://schemas.microsoft.com/office/drawing/2014/main" id="{2ADE982B-BFE5-5848-F763-33D2FC31C6DC}"/>
              </a:ext>
            </a:extLst>
          </p:cNvPr>
          <p:cNvSpPr>
            <a:spLocks noGrp="1"/>
          </p:cNvSpPr>
          <p:nvPr>
            <p:ph type="dt" sz="half" idx="12"/>
          </p:nvPr>
        </p:nvSpPr>
        <p:spPr/>
        <p:txBody>
          <a:bodyPr/>
          <a:lstStyle/>
          <a:p>
            <a:r>
              <a:rPr lang="de-DE"/>
              <a:t>23.07.2026</a:t>
            </a:r>
          </a:p>
        </p:txBody>
      </p:sp>
      <p:sp>
        <p:nvSpPr>
          <p:cNvPr id="4" name="Textplatzhalter 3">
            <a:extLst>
              <a:ext uri="{FF2B5EF4-FFF2-40B4-BE49-F238E27FC236}">
                <a16:creationId xmlns:a16="http://schemas.microsoft.com/office/drawing/2014/main" id="{1356FFF4-95A7-CF81-6FBE-506C8F181C81}"/>
              </a:ext>
            </a:extLst>
          </p:cNvPr>
          <p:cNvSpPr>
            <a:spLocks noGrp="1"/>
          </p:cNvSpPr>
          <p:nvPr>
            <p:ph type="body" sz="quarter" idx="13"/>
          </p:nvPr>
        </p:nvSpPr>
        <p:spPr/>
        <p:txBody>
          <a:bodyPr/>
          <a:lstStyle/>
          <a:p>
            <a:pPr>
              <a:buFont typeface="Arial" panose="020B0604020202020204" pitchFamily="34" charset="0"/>
              <a:buChar char="•"/>
            </a:pPr>
            <a:endParaRPr lang="de-DE" dirty="0"/>
          </a:p>
          <a:p>
            <a:pPr>
              <a:buFont typeface="Arial" panose="020B0604020202020204" pitchFamily="34" charset="0"/>
              <a:buChar char="•"/>
            </a:pPr>
            <a:r>
              <a:rPr lang="de-DE" dirty="0"/>
              <a:t>Daten und zwei Vorverarbeitungen</a:t>
            </a:r>
          </a:p>
          <a:p>
            <a:pPr>
              <a:buFont typeface="Arial" panose="020B0604020202020204" pitchFamily="34" charset="0"/>
              <a:buChar char="•"/>
            </a:pPr>
            <a:r>
              <a:rPr lang="de-DE" dirty="0"/>
              <a:t>Kreuzvalidierung und Autoencoder</a:t>
            </a:r>
          </a:p>
          <a:p>
            <a:pPr>
              <a:buFont typeface="Arial" panose="020B0604020202020204" pitchFamily="34" charset="0"/>
              <a:buChar char="•"/>
            </a:pPr>
            <a:r>
              <a:rPr lang="de-DE" dirty="0"/>
              <a:t>Entscheidung und Metriken</a:t>
            </a:r>
          </a:p>
          <a:p>
            <a:pPr>
              <a:buFont typeface="Arial" panose="020B0604020202020204" pitchFamily="34" charset="0"/>
              <a:buChar char="•"/>
            </a:pPr>
            <a:r>
              <a:rPr lang="de-DE" dirty="0"/>
              <a:t>Ergebnisse und Pipelinevergleich</a:t>
            </a:r>
          </a:p>
          <a:p>
            <a:pPr>
              <a:buFont typeface="Arial" panose="020B0604020202020204" pitchFamily="34" charset="0"/>
              <a:buChar char="•"/>
            </a:pPr>
            <a:r>
              <a:rPr lang="de-DE" dirty="0"/>
              <a:t>Diskussion und Fazit</a:t>
            </a:r>
          </a:p>
          <a:p>
            <a:endParaRPr lang="de-DE" dirty="0"/>
          </a:p>
        </p:txBody>
      </p:sp>
    </p:spTree>
    <p:extLst>
      <p:ext uri="{BB962C8B-B14F-4D97-AF65-F5344CB8AC3E}">
        <p14:creationId xmlns:p14="http://schemas.microsoft.com/office/powerpoint/2010/main" val="1606180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DBBAAD-698E-2BBD-EFF1-ADB56162D5C1}"/>
              </a:ext>
            </a:extLst>
          </p:cNvPr>
          <p:cNvSpPr>
            <a:spLocks noGrp="1"/>
          </p:cNvSpPr>
          <p:nvPr>
            <p:ph type="title"/>
          </p:nvPr>
        </p:nvSpPr>
        <p:spPr/>
        <p:txBody>
          <a:bodyPr/>
          <a:lstStyle/>
          <a:p>
            <a:r>
              <a:rPr lang="de-DE" sz="3200" dirty="0">
                <a:latin typeface="Arial" panose="020B0604020202020204" pitchFamily="34" charset="0"/>
                <a:cs typeface="Arial" panose="020B0604020202020204" pitchFamily="34" charset="0"/>
              </a:rPr>
              <a:t>Daten &amp; Pipelines</a:t>
            </a:r>
          </a:p>
        </p:txBody>
      </p:sp>
      <p:sp>
        <p:nvSpPr>
          <p:cNvPr id="5" name="Foliennummernplatzhalter 4">
            <a:extLst>
              <a:ext uri="{FF2B5EF4-FFF2-40B4-BE49-F238E27FC236}">
                <a16:creationId xmlns:a16="http://schemas.microsoft.com/office/drawing/2014/main" id="{F8958667-57AC-BE1E-6BEA-1C93A1AE3BF9}"/>
              </a:ext>
            </a:extLst>
          </p:cNvPr>
          <p:cNvSpPr>
            <a:spLocks noGrp="1"/>
          </p:cNvSpPr>
          <p:nvPr>
            <p:ph type="sldNum" sz="quarter" idx="10"/>
          </p:nvPr>
        </p:nvSpPr>
        <p:spPr/>
        <p:txBody>
          <a:bodyPr/>
          <a:lstStyle/>
          <a:p>
            <a:fld id="{80B4FCE6-DC73-4135-BC56-1F242D45A84C}" type="slidenum">
              <a:rPr lang="de-DE" smtClean="0"/>
              <a:t>3</a:t>
            </a:fld>
            <a:endParaRPr lang="de-DE"/>
          </a:p>
        </p:txBody>
      </p:sp>
      <p:sp>
        <p:nvSpPr>
          <p:cNvPr id="9" name="Fußzeilenplatzhalter 8">
            <a:extLst>
              <a:ext uri="{FF2B5EF4-FFF2-40B4-BE49-F238E27FC236}">
                <a16:creationId xmlns:a16="http://schemas.microsoft.com/office/drawing/2014/main" id="{F03726B5-E16A-44C4-B810-6AFDF6B91428}"/>
              </a:ext>
            </a:extLst>
          </p:cNvPr>
          <p:cNvSpPr>
            <a:spLocks noGrp="1"/>
          </p:cNvSpPr>
          <p:nvPr>
            <p:ph type="ftr" sz="quarter" idx="11"/>
          </p:nvPr>
        </p:nvSpPr>
        <p:spPr/>
        <p:txBody>
          <a:bodyPr/>
          <a:lstStyle/>
          <a:p>
            <a:r>
              <a:rPr lang="de-DE"/>
              <a:t>Materialdiagnostik: Task 4</a:t>
            </a:r>
            <a:endParaRPr lang="de-DE" dirty="0"/>
          </a:p>
        </p:txBody>
      </p:sp>
      <p:sp>
        <p:nvSpPr>
          <p:cNvPr id="8" name="Datumsplatzhalter 7">
            <a:extLst>
              <a:ext uri="{FF2B5EF4-FFF2-40B4-BE49-F238E27FC236}">
                <a16:creationId xmlns:a16="http://schemas.microsoft.com/office/drawing/2014/main" id="{EC3D51E1-5F7F-CC79-B190-7E596C240B7F}"/>
              </a:ext>
            </a:extLst>
          </p:cNvPr>
          <p:cNvSpPr>
            <a:spLocks noGrp="1"/>
          </p:cNvSpPr>
          <p:nvPr>
            <p:ph type="dt" sz="half" idx="12"/>
          </p:nvPr>
        </p:nvSpPr>
        <p:spPr/>
        <p:txBody>
          <a:bodyPr/>
          <a:lstStyle/>
          <a:p>
            <a:r>
              <a:rPr lang="de-DE"/>
              <a:t>23.07.2026</a:t>
            </a:r>
          </a:p>
        </p:txBody>
      </p:sp>
      <p:sp>
        <p:nvSpPr>
          <p:cNvPr id="3" name="Inhaltsplatzhalter 2">
            <a:extLst>
              <a:ext uri="{FF2B5EF4-FFF2-40B4-BE49-F238E27FC236}">
                <a16:creationId xmlns:a16="http://schemas.microsoft.com/office/drawing/2014/main" id="{9C68DE30-D93E-3C7A-A549-46E39921BF6A}"/>
              </a:ext>
            </a:extLst>
          </p:cNvPr>
          <p:cNvSpPr>
            <a:spLocks noGrp="1"/>
          </p:cNvSpPr>
          <p:nvPr>
            <p:ph sz="quarter" idx="13"/>
          </p:nvPr>
        </p:nvSpPr>
        <p:spPr>
          <a:prstGeom prst="rect">
            <a:avLst/>
          </a:prstGeom>
        </p:spPr>
        <p:txBody>
          <a:bodyPr/>
          <a:lstStyle/>
          <a:p>
            <a:pPr>
              <a:buFont typeface="Arial" panose="020B0604020202020204" pitchFamily="34" charset="0"/>
              <a:buChar char="•"/>
            </a:pPr>
            <a:r>
              <a:rPr lang="de-DE" dirty="0"/>
              <a:t>Z01-Z04: </a:t>
            </a:r>
            <a:r>
              <a:rPr lang="de-DE" b="1" dirty="0"/>
              <a:t>gesund (Label 1)</a:t>
            </a:r>
            <a:r>
              <a:rPr lang="de-DE" dirty="0"/>
              <a:t>; </a:t>
            </a:r>
            <a:br>
              <a:rPr lang="de-DE" dirty="0"/>
            </a:br>
            <a:r>
              <a:rPr lang="de-DE" dirty="0"/>
              <a:t>Z05: </a:t>
            </a:r>
            <a:r>
              <a:rPr lang="de-DE" b="1" dirty="0"/>
              <a:t>anomal (Label 0)</a:t>
            </a:r>
            <a:endParaRPr lang="de-DE" dirty="0"/>
          </a:p>
          <a:p>
            <a:pPr>
              <a:buFont typeface="Arial" panose="020B0604020202020204" pitchFamily="34" charset="0"/>
              <a:buChar char="•"/>
            </a:pPr>
            <a:r>
              <a:rPr lang="de-DE" dirty="0"/>
              <a:t>440 WAV-Dateien, </a:t>
            </a:r>
            <a:br>
              <a:rPr lang="de-DE" dirty="0"/>
            </a:br>
            <a:r>
              <a:rPr lang="de-DE" dirty="0"/>
              <a:t>62 Audiofeatures je Datei</a:t>
            </a:r>
          </a:p>
          <a:p>
            <a:pPr>
              <a:buFont typeface="Arial" panose="020B0604020202020204" pitchFamily="34" charset="0"/>
              <a:buChar char="•"/>
            </a:pPr>
            <a:r>
              <a:rPr lang="de-DE" dirty="0"/>
              <a:t>Ch1 und Ch2 werden getrennt modelliert</a:t>
            </a:r>
          </a:p>
          <a:p>
            <a:pPr>
              <a:buFont typeface="Arial" panose="020B0604020202020204" pitchFamily="34" charset="0"/>
              <a:buChar char="•"/>
            </a:pPr>
            <a:endParaRPr lang="de-DE" dirty="0"/>
          </a:p>
          <a:p>
            <a:pPr marL="0" indent="0">
              <a:buNone/>
            </a:pPr>
            <a:r>
              <a:rPr lang="de-DE" sz="2000" dirty="0"/>
              <a:t>Nach Mittelung besitzt jede Z-Gruppe genau 20 Samples je Kanal.</a:t>
            </a:r>
          </a:p>
          <a:p>
            <a:pPr marL="0" indent="0">
              <a:buNone/>
            </a:pPr>
            <a:endParaRPr lang="de-DE" dirty="0"/>
          </a:p>
        </p:txBody>
      </p:sp>
      <p:graphicFrame>
        <p:nvGraphicFramePr>
          <p:cNvPr id="6" name="Inhaltsplatzhalter 5">
            <a:extLst>
              <a:ext uri="{FF2B5EF4-FFF2-40B4-BE49-F238E27FC236}">
                <a16:creationId xmlns:a16="http://schemas.microsoft.com/office/drawing/2014/main" id="{497B2769-3C0B-7C18-B2D9-CD0FDEF66794}"/>
              </a:ext>
            </a:extLst>
          </p:cNvPr>
          <p:cNvGraphicFramePr>
            <a:graphicFrameLocks noGrp="1"/>
          </p:cNvGraphicFramePr>
          <p:nvPr>
            <p:ph sz="quarter" idx="14"/>
            <p:extLst>
              <p:ext uri="{D42A27DB-BD31-4B8C-83A1-F6EECF244321}">
                <p14:modId xmlns:p14="http://schemas.microsoft.com/office/powerpoint/2010/main" val="2728364096"/>
              </p:ext>
            </p:extLst>
          </p:nvPr>
        </p:nvGraphicFramePr>
        <p:xfrm>
          <a:off x="5732417" y="1815152"/>
          <a:ext cx="6118271" cy="2429301"/>
        </p:xfrm>
        <a:graphic>
          <a:graphicData uri="http://schemas.openxmlformats.org/drawingml/2006/table">
            <a:tbl>
              <a:tblPr firstRow="1" bandRow="1">
                <a:tableStyleId>{5C22544A-7EE6-4342-B048-85BDC9FD1C3A}</a:tableStyleId>
              </a:tblPr>
              <a:tblGrid>
                <a:gridCol w="1569135">
                  <a:extLst>
                    <a:ext uri="{9D8B030D-6E8A-4147-A177-3AD203B41FA5}">
                      <a16:colId xmlns:a16="http://schemas.microsoft.com/office/drawing/2014/main" val="3971024240"/>
                    </a:ext>
                  </a:extLst>
                </a:gridCol>
                <a:gridCol w="3480179">
                  <a:extLst>
                    <a:ext uri="{9D8B030D-6E8A-4147-A177-3AD203B41FA5}">
                      <a16:colId xmlns:a16="http://schemas.microsoft.com/office/drawing/2014/main" val="1741228516"/>
                    </a:ext>
                  </a:extLst>
                </a:gridCol>
                <a:gridCol w="1068957">
                  <a:extLst>
                    <a:ext uri="{9D8B030D-6E8A-4147-A177-3AD203B41FA5}">
                      <a16:colId xmlns:a16="http://schemas.microsoft.com/office/drawing/2014/main" val="1235261121"/>
                    </a:ext>
                  </a:extLst>
                </a:gridCol>
              </a:tblGrid>
              <a:tr h="809767">
                <a:tc>
                  <a:txBody>
                    <a:bodyPr/>
                    <a:lstStyle/>
                    <a:p>
                      <a:r>
                        <a:rPr lang="de-DE" dirty="0">
                          <a:solidFill>
                            <a:schemeClr val="tx1"/>
                          </a:solidFill>
                        </a:rPr>
                        <a:t>Pipeline</a:t>
                      </a:r>
                    </a:p>
                  </a:txBody>
                  <a:tcPr/>
                </a:tc>
                <a:tc>
                  <a:txBody>
                    <a:bodyPr/>
                    <a:lstStyle/>
                    <a:p>
                      <a:r>
                        <a:rPr lang="de-DE" dirty="0">
                          <a:solidFill>
                            <a:schemeClr val="tx1"/>
                          </a:solidFill>
                        </a:rPr>
                        <a:t>Verarbeitung nach Feature-Extraktion</a:t>
                      </a:r>
                    </a:p>
                  </a:txBody>
                  <a:tcPr/>
                </a:tc>
                <a:tc>
                  <a:txBody>
                    <a:bodyPr/>
                    <a:lstStyle/>
                    <a:p>
                      <a:r>
                        <a:rPr lang="de-DE" dirty="0">
                          <a:solidFill>
                            <a:schemeClr val="tx1"/>
                          </a:solidFill>
                        </a:rPr>
                        <a:t>Samples</a:t>
                      </a:r>
                    </a:p>
                  </a:txBody>
                  <a:tcPr/>
                </a:tc>
                <a:extLst>
                  <a:ext uri="{0D108BD9-81ED-4DB2-BD59-A6C34878D82A}">
                    <a16:rowId xmlns:a16="http://schemas.microsoft.com/office/drawing/2014/main" val="3113023202"/>
                  </a:ext>
                </a:extLst>
              </a:tr>
              <a:tr h="809767">
                <a:tc>
                  <a:txBody>
                    <a:bodyPr/>
                    <a:lstStyle/>
                    <a:p>
                      <a:r>
                        <a:rPr lang="de-DE" dirty="0"/>
                        <a:t>Einzelmessung</a:t>
                      </a:r>
                    </a:p>
                  </a:txBody>
                  <a:tcPr/>
                </a:tc>
                <a:tc>
                  <a:txBody>
                    <a:bodyPr/>
                    <a:lstStyle/>
                    <a:p>
                      <a:r>
                        <a:rPr lang="de-DE" dirty="0"/>
                        <a:t>Keine Mittelung</a:t>
                      </a:r>
                    </a:p>
                  </a:txBody>
                  <a:tcPr/>
                </a:tc>
                <a:tc>
                  <a:txBody>
                    <a:bodyPr/>
                    <a:lstStyle/>
                    <a:p>
                      <a:r>
                        <a:rPr lang="de-DE" dirty="0"/>
                        <a:t>440</a:t>
                      </a:r>
                    </a:p>
                  </a:txBody>
                  <a:tcPr/>
                </a:tc>
                <a:extLst>
                  <a:ext uri="{0D108BD9-81ED-4DB2-BD59-A6C34878D82A}">
                    <a16:rowId xmlns:a16="http://schemas.microsoft.com/office/drawing/2014/main" val="283340712"/>
                  </a:ext>
                </a:extLst>
              </a:tr>
              <a:tr h="809767">
                <a:tc>
                  <a:txBody>
                    <a:bodyPr/>
                    <a:lstStyle/>
                    <a:p>
                      <a:r>
                        <a:rPr lang="de-DE" dirty="0" err="1"/>
                        <a:t>mID</a:t>
                      </a:r>
                      <a:r>
                        <a:rPr lang="de-DE" dirty="0"/>
                        <a:t>-gemittelt</a:t>
                      </a:r>
                    </a:p>
                  </a:txBody>
                  <a:tcPr/>
                </a:tc>
                <a:tc>
                  <a:txBody>
                    <a:bodyPr/>
                    <a:lstStyle/>
                    <a:p>
                      <a:r>
                        <a:rPr lang="de-DE" dirty="0"/>
                        <a:t>Mittel je `</a:t>
                      </a:r>
                      <a:r>
                        <a:rPr lang="de-DE" dirty="0" err="1"/>
                        <a:t>spec</a:t>
                      </a:r>
                      <a:r>
                        <a:rPr lang="de-DE" dirty="0"/>
                        <a:t>`, `</a:t>
                      </a:r>
                      <a:r>
                        <a:rPr lang="de-DE" dirty="0" err="1"/>
                        <a:t>pos</a:t>
                      </a:r>
                      <a:r>
                        <a:rPr lang="de-DE" dirty="0"/>
                        <a:t>`, `</a:t>
                      </a:r>
                      <a:r>
                        <a:rPr lang="de-DE" dirty="0" err="1"/>
                        <a:t>rID</a:t>
                      </a:r>
                      <a:r>
                        <a:rPr lang="de-DE" dirty="0"/>
                        <a:t>`, Kanal</a:t>
                      </a:r>
                    </a:p>
                  </a:txBody>
                  <a:tcPr/>
                </a:tc>
                <a:tc>
                  <a:txBody>
                    <a:bodyPr/>
                    <a:lstStyle/>
                    <a:p>
                      <a:r>
                        <a:rPr lang="de-DE" dirty="0"/>
                        <a:t>200</a:t>
                      </a:r>
                    </a:p>
                  </a:txBody>
                  <a:tcPr/>
                </a:tc>
                <a:extLst>
                  <a:ext uri="{0D108BD9-81ED-4DB2-BD59-A6C34878D82A}">
                    <a16:rowId xmlns:a16="http://schemas.microsoft.com/office/drawing/2014/main" val="1333412803"/>
                  </a:ext>
                </a:extLst>
              </a:tr>
            </a:tbl>
          </a:graphicData>
        </a:graphic>
      </p:graphicFrame>
    </p:spTree>
    <p:extLst>
      <p:ext uri="{BB962C8B-B14F-4D97-AF65-F5344CB8AC3E}">
        <p14:creationId xmlns:p14="http://schemas.microsoft.com/office/powerpoint/2010/main" val="2304305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FC91D-551D-3A12-3B4F-FD19284DCF06}"/>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01E9335-BE43-12DC-80C0-D25BC6A0C1D7}"/>
              </a:ext>
            </a:extLst>
          </p:cNvPr>
          <p:cNvSpPr>
            <a:spLocks noGrp="1"/>
          </p:cNvSpPr>
          <p:nvPr>
            <p:ph type="sldNum" sz="quarter" idx="10"/>
          </p:nvPr>
        </p:nvSpPr>
        <p:spPr/>
        <p:txBody>
          <a:bodyPr/>
          <a:lstStyle/>
          <a:p>
            <a:fld id="{80B4FCE6-DC73-4135-BC56-1F242D45A84C}" type="slidenum">
              <a:rPr lang="de-DE" smtClean="0"/>
              <a:t>4</a:t>
            </a:fld>
            <a:endParaRPr lang="de-DE"/>
          </a:p>
        </p:txBody>
      </p:sp>
      <p:sp>
        <p:nvSpPr>
          <p:cNvPr id="6" name="Fußzeilenplatzhalter 5">
            <a:extLst>
              <a:ext uri="{FF2B5EF4-FFF2-40B4-BE49-F238E27FC236}">
                <a16:creationId xmlns:a16="http://schemas.microsoft.com/office/drawing/2014/main" id="{43258A7A-FB46-C9EE-27DB-D5BFD61A3880}"/>
              </a:ext>
            </a:extLst>
          </p:cNvPr>
          <p:cNvSpPr>
            <a:spLocks noGrp="1"/>
          </p:cNvSpPr>
          <p:nvPr>
            <p:ph type="ftr" sz="quarter" idx="11"/>
          </p:nvPr>
        </p:nvSpPr>
        <p:spPr/>
        <p:txBody>
          <a:bodyPr/>
          <a:lstStyle/>
          <a:p>
            <a:r>
              <a:rPr lang="de-DE"/>
              <a:t>Materialdiagnostik: Task 4</a:t>
            </a:r>
          </a:p>
        </p:txBody>
      </p:sp>
      <p:sp>
        <p:nvSpPr>
          <p:cNvPr id="3" name="Datumsplatzhalter 2">
            <a:extLst>
              <a:ext uri="{FF2B5EF4-FFF2-40B4-BE49-F238E27FC236}">
                <a16:creationId xmlns:a16="http://schemas.microsoft.com/office/drawing/2014/main" id="{B976C4FB-8771-9C12-EC14-FF917FA91936}"/>
              </a:ext>
            </a:extLst>
          </p:cNvPr>
          <p:cNvSpPr>
            <a:spLocks noGrp="1"/>
          </p:cNvSpPr>
          <p:nvPr>
            <p:ph type="dt" sz="half" idx="12"/>
          </p:nvPr>
        </p:nvSpPr>
        <p:spPr/>
        <p:txBody>
          <a:bodyPr/>
          <a:lstStyle/>
          <a:p>
            <a:r>
              <a:rPr lang="de-DE"/>
              <a:t>23.07.2026</a:t>
            </a:r>
          </a:p>
        </p:txBody>
      </p:sp>
      <p:graphicFrame>
        <p:nvGraphicFramePr>
          <p:cNvPr id="4" name="Inhaltsplatzhalter 3">
            <a:extLst>
              <a:ext uri="{FF2B5EF4-FFF2-40B4-BE49-F238E27FC236}">
                <a16:creationId xmlns:a16="http://schemas.microsoft.com/office/drawing/2014/main" id="{B96CECF4-A07F-900E-453E-F6C3301C3D8D}"/>
              </a:ext>
            </a:extLst>
          </p:cNvPr>
          <p:cNvGraphicFramePr>
            <a:graphicFrameLocks noGrp="1"/>
          </p:cNvGraphicFramePr>
          <p:nvPr>
            <p:ph sz="quarter" idx="13"/>
            <p:extLst>
              <p:ext uri="{D42A27DB-BD31-4B8C-83A1-F6EECF244321}">
                <p14:modId xmlns:p14="http://schemas.microsoft.com/office/powerpoint/2010/main" val="3331668685"/>
              </p:ext>
            </p:extLst>
          </p:nvPr>
        </p:nvGraphicFramePr>
        <p:xfrm>
          <a:off x="341313" y="1619250"/>
          <a:ext cx="11512548" cy="1854200"/>
        </p:xfrm>
        <a:graphic>
          <a:graphicData uri="http://schemas.openxmlformats.org/drawingml/2006/table">
            <a:tbl>
              <a:tblPr firstRow="1" bandRow="1">
                <a:tableStyleId>{5C22544A-7EE6-4342-B048-85BDC9FD1C3A}</a:tableStyleId>
              </a:tblPr>
              <a:tblGrid>
                <a:gridCol w="2878137">
                  <a:extLst>
                    <a:ext uri="{9D8B030D-6E8A-4147-A177-3AD203B41FA5}">
                      <a16:colId xmlns:a16="http://schemas.microsoft.com/office/drawing/2014/main" val="1615416613"/>
                    </a:ext>
                  </a:extLst>
                </a:gridCol>
                <a:gridCol w="2878137">
                  <a:extLst>
                    <a:ext uri="{9D8B030D-6E8A-4147-A177-3AD203B41FA5}">
                      <a16:colId xmlns:a16="http://schemas.microsoft.com/office/drawing/2014/main" val="2145862400"/>
                    </a:ext>
                  </a:extLst>
                </a:gridCol>
                <a:gridCol w="2878137">
                  <a:extLst>
                    <a:ext uri="{9D8B030D-6E8A-4147-A177-3AD203B41FA5}">
                      <a16:colId xmlns:a16="http://schemas.microsoft.com/office/drawing/2014/main" val="3897919594"/>
                    </a:ext>
                  </a:extLst>
                </a:gridCol>
                <a:gridCol w="2878137">
                  <a:extLst>
                    <a:ext uri="{9D8B030D-6E8A-4147-A177-3AD203B41FA5}">
                      <a16:colId xmlns:a16="http://schemas.microsoft.com/office/drawing/2014/main" val="145885246"/>
                    </a:ext>
                  </a:extLst>
                </a:gridCol>
              </a:tblGrid>
              <a:tr h="370840">
                <a:tc>
                  <a:txBody>
                    <a:bodyPr/>
                    <a:lstStyle/>
                    <a:p>
                      <a:r>
                        <a:rPr lang="de-DE" dirty="0">
                          <a:solidFill>
                            <a:schemeClr val="tx1"/>
                          </a:solidFill>
                        </a:rPr>
                        <a:t>Fold</a:t>
                      </a:r>
                    </a:p>
                  </a:txBody>
                  <a:tcPr/>
                </a:tc>
                <a:tc>
                  <a:txBody>
                    <a:bodyPr/>
                    <a:lstStyle/>
                    <a:p>
                      <a:r>
                        <a:rPr lang="de-DE" dirty="0">
                          <a:solidFill>
                            <a:schemeClr val="tx1"/>
                          </a:solidFill>
                        </a:rPr>
                        <a:t>Gesundes Training</a:t>
                      </a:r>
                    </a:p>
                  </a:txBody>
                  <a:tcPr/>
                </a:tc>
                <a:tc>
                  <a:txBody>
                    <a:bodyPr/>
                    <a:lstStyle/>
                    <a:p>
                      <a:r>
                        <a:rPr lang="de-DE" dirty="0">
                          <a:solidFill>
                            <a:schemeClr val="tx1"/>
                          </a:solidFill>
                        </a:rPr>
                        <a:t>Test: gesund</a:t>
                      </a:r>
                    </a:p>
                  </a:txBody>
                  <a:tcPr/>
                </a:tc>
                <a:tc>
                  <a:txBody>
                    <a:bodyPr/>
                    <a:lstStyle/>
                    <a:p>
                      <a:r>
                        <a:rPr lang="de-DE" dirty="0">
                          <a:solidFill>
                            <a:schemeClr val="tx1"/>
                          </a:solidFill>
                        </a:rPr>
                        <a:t>Test: anomal</a:t>
                      </a:r>
                    </a:p>
                  </a:txBody>
                  <a:tcPr/>
                </a:tc>
                <a:extLst>
                  <a:ext uri="{0D108BD9-81ED-4DB2-BD59-A6C34878D82A}">
                    <a16:rowId xmlns:a16="http://schemas.microsoft.com/office/drawing/2014/main" val="3144091381"/>
                  </a:ext>
                </a:extLst>
              </a:tr>
              <a:tr h="370840">
                <a:tc>
                  <a:txBody>
                    <a:bodyPr/>
                    <a:lstStyle/>
                    <a:p>
                      <a:r>
                        <a:rPr lang="de-DE" dirty="0"/>
                        <a:t>1</a:t>
                      </a:r>
                    </a:p>
                  </a:txBody>
                  <a:tcPr/>
                </a:tc>
                <a:tc>
                  <a:txBody>
                    <a:bodyPr/>
                    <a:lstStyle/>
                    <a:p>
                      <a:r>
                        <a:rPr lang="de-DE" dirty="0"/>
                        <a:t>Z01, Z02, Z03</a:t>
                      </a:r>
                    </a:p>
                  </a:txBody>
                  <a:tcPr/>
                </a:tc>
                <a:tc>
                  <a:txBody>
                    <a:bodyPr/>
                    <a:lstStyle/>
                    <a:p>
                      <a:r>
                        <a:rPr lang="de-DE" dirty="0"/>
                        <a:t>Z04</a:t>
                      </a:r>
                    </a:p>
                  </a:txBody>
                  <a:tcPr/>
                </a:tc>
                <a:tc>
                  <a:txBody>
                    <a:bodyPr/>
                    <a:lstStyle/>
                    <a:p>
                      <a:r>
                        <a:rPr lang="de-DE" dirty="0"/>
                        <a:t>Z05</a:t>
                      </a:r>
                    </a:p>
                  </a:txBody>
                  <a:tcPr/>
                </a:tc>
                <a:extLst>
                  <a:ext uri="{0D108BD9-81ED-4DB2-BD59-A6C34878D82A}">
                    <a16:rowId xmlns:a16="http://schemas.microsoft.com/office/drawing/2014/main" val="593744031"/>
                  </a:ext>
                </a:extLst>
              </a:tr>
              <a:tr h="370840">
                <a:tc>
                  <a:txBody>
                    <a:bodyPr/>
                    <a:lstStyle/>
                    <a:p>
                      <a:r>
                        <a:rPr lang="de-DE" dirty="0"/>
                        <a:t>2</a:t>
                      </a:r>
                    </a:p>
                  </a:txBody>
                  <a:tcPr/>
                </a:tc>
                <a:tc>
                  <a:txBody>
                    <a:bodyPr/>
                    <a:lstStyle/>
                    <a:p>
                      <a:r>
                        <a:rPr lang="de-DE" dirty="0"/>
                        <a:t>Z01, Z02, Z04</a:t>
                      </a:r>
                    </a:p>
                  </a:txBody>
                  <a:tcPr/>
                </a:tc>
                <a:tc>
                  <a:txBody>
                    <a:bodyPr/>
                    <a:lstStyle/>
                    <a:p>
                      <a:r>
                        <a:rPr lang="de-DE" dirty="0"/>
                        <a:t>Z03</a:t>
                      </a:r>
                    </a:p>
                  </a:txBody>
                  <a:tcPr/>
                </a:tc>
                <a:tc>
                  <a:txBody>
                    <a:bodyPr/>
                    <a:lstStyle/>
                    <a:p>
                      <a:r>
                        <a:rPr lang="de-DE" dirty="0"/>
                        <a:t>Z05</a:t>
                      </a:r>
                    </a:p>
                  </a:txBody>
                  <a:tcPr/>
                </a:tc>
                <a:extLst>
                  <a:ext uri="{0D108BD9-81ED-4DB2-BD59-A6C34878D82A}">
                    <a16:rowId xmlns:a16="http://schemas.microsoft.com/office/drawing/2014/main" val="556200018"/>
                  </a:ext>
                </a:extLst>
              </a:tr>
              <a:tr h="370840">
                <a:tc>
                  <a:txBody>
                    <a:bodyPr/>
                    <a:lstStyle/>
                    <a:p>
                      <a:r>
                        <a:rPr lang="de-DE" dirty="0"/>
                        <a:t>3</a:t>
                      </a:r>
                    </a:p>
                  </a:txBody>
                  <a:tcPr/>
                </a:tc>
                <a:tc>
                  <a:txBody>
                    <a:bodyPr/>
                    <a:lstStyle/>
                    <a:p>
                      <a:r>
                        <a:rPr lang="de-DE" dirty="0"/>
                        <a:t>Z01, Z03, Z04</a:t>
                      </a:r>
                    </a:p>
                  </a:txBody>
                  <a:tcPr/>
                </a:tc>
                <a:tc>
                  <a:txBody>
                    <a:bodyPr/>
                    <a:lstStyle/>
                    <a:p>
                      <a:r>
                        <a:rPr lang="de-DE" dirty="0"/>
                        <a:t>Z02</a:t>
                      </a:r>
                    </a:p>
                  </a:txBody>
                  <a:tcPr/>
                </a:tc>
                <a:tc>
                  <a:txBody>
                    <a:bodyPr/>
                    <a:lstStyle/>
                    <a:p>
                      <a:r>
                        <a:rPr lang="de-DE" dirty="0"/>
                        <a:t>Z05</a:t>
                      </a:r>
                    </a:p>
                  </a:txBody>
                  <a:tcPr/>
                </a:tc>
                <a:extLst>
                  <a:ext uri="{0D108BD9-81ED-4DB2-BD59-A6C34878D82A}">
                    <a16:rowId xmlns:a16="http://schemas.microsoft.com/office/drawing/2014/main" val="1390168549"/>
                  </a:ext>
                </a:extLst>
              </a:tr>
              <a:tr h="370840">
                <a:tc>
                  <a:txBody>
                    <a:bodyPr/>
                    <a:lstStyle/>
                    <a:p>
                      <a:r>
                        <a:rPr lang="de-DE" dirty="0"/>
                        <a:t>4</a:t>
                      </a:r>
                    </a:p>
                  </a:txBody>
                  <a:tcPr/>
                </a:tc>
                <a:tc>
                  <a:txBody>
                    <a:bodyPr/>
                    <a:lstStyle/>
                    <a:p>
                      <a:r>
                        <a:rPr lang="de-DE" dirty="0"/>
                        <a:t>Z02, Z03, Z04</a:t>
                      </a:r>
                    </a:p>
                  </a:txBody>
                  <a:tcPr/>
                </a:tc>
                <a:tc>
                  <a:txBody>
                    <a:bodyPr/>
                    <a:lstStyle/>
                    <a:p>
                      <a:r>
                        <a:rPr lang="de-DE" dirty="0"/>
                        <a:t>Z01</a:t>
                      </a:r>
                    </a:p>
                  </a:txBody>
                  <a:tcPr/>
                </a:tc>
                <a:tc>
                  <a:txBody>
                    <a:bodyPr/>
                    <a:lstStyle/>
                    <a:p>
                      <a:r>
                        <a:rPr lang="de-DE" dirty="0"/>
                        <a:t>Z05</a:t>
                      </a:r>
                    </a:p>
                  </a:txBody>
                  <a:tcPr/>
                </a:tc>
                <a:extLst>
                  <a:ext uri="{0D108BD9-81ED-4DB2-BD59-A6C34878D82A}">
                    <a16:rowId xmlns:a16="http://schemas.microsoft.com/office/drawing/2014/main" val="2065931416"/>
                  </a:ext>
                </a:extLst>
              </a:tr>
            </a:tbl>
          </a:graphicData>
        </a:graphic>
      </p:graphicFrame>
      <p:sp>
        <p:nvSpPr>
          <p:cNvPr id="5" name="Titel 4">
            <a:extLst>
              <a:ext uri="{FF2B5EF4-FFF2-40B4-BE49-F238E27FC236}">
                <a16:creationId xmlns:a16="http://schemas.microsoft.com/office/drawing/2014/main" id="{90B690C3-0EC0-B10F-E8C5-83DB6885A9A5}"/>
              </a:ext>
            </a:extLst>
          </p:cNvPr>
          <p:cNvSpPr>
            <a:spLocks noGrp="1"/>
          </p:cNvSpPr>
          <p:nvPr>
            <p:ph type="title"/>
          </p:nvPr>
        </p:nvSpPr>
        <p:spPr/>
        <p:txBody>
          <a:bodyPr anchor="ctr">
            <a:normAutofit/>
          </a:bodyPr>
          <a:lstStyle/>
          <a:p>
            <a:pPr>
              <a:lnSpc>
                <a:spcPct val="90000"/>
              </a:lnSpc>
            </a:pPr>
            <a:r>
              <a:rPr lang="de-DE" sz="3200" dirty="0"/>
              <a:t>Kreuzvalidierung</a:t>
            </a:r>
            <a:endParaRPr lang="de-DE" sz="2200" dirty="0"/>
          </a:p>
        </p:txBody>
      </p:sp>
      <p:sp>
        <p:nvSpPr>
          <p:cNvPr id="7" name="Textfeld 6">
            <a:extLst>
              <a:ext uri="{FF2B5EF4-FFF2-40B4-BE49-F238E27FC236}">
                <a16:creationId xmlns:a16="http://schemas.microsoft.com/office/drawing/2014/main" id="{B94A0F76-0EC5-C91B-A10C-7CEABF725746}"/>
              </a:ext>
            </a:extLst>
          </p:cNvPr>
          <p:cNvSpPr txBox="1"/>
          <p:nvPr/>
        </p:nvSpPr>
        <p:spPr>
          <a:xfrm>
            <a:off x="341311" y="4175823"/>
            <a:ext cx="11512549" cy="1446550"/>
          </a:xfrm>
          <a:prstGeom prst="rect">
            <a:avLst/>
          </a:prstGeom>
          <a:noFill/>
        </p:spPr>
        <p:txBody>
          <a:bodyPr wrap="square" rtlCol="0">
            <a:spAutoFit/>
          </a:bodyPr>
          <a:lstStyle/>
          <a:p>
            <a:pPr marL="342900" indent="-342900">
              <a:buFont typeface="Arial" panose="020B0604020202020204" pitchFamily="34" charset="0"/>
              <a:buChar char="•"/>
            </a:pPr>
            <a:r>
              <a:rPr lang="de-DE" dirty="0">
                <a:latin typeface="+mn-lt"/>
              </a:rPr>
              <a:t>Pro Pipeline und Fold werden zwei Modelle trainiert: Ch1 und Ch2. </a:t>
            </a:r>
          </a:p>
          <a:p>
            <a:pPr marL="800100" lvl="1" indent="-342900">
              <a:buFont typeface="Arial" panose="020B0604020202020204" pitchFamily="34" charset="0"/>
              <a:buChar char="•"/>
            </a:pPr>
            <a:r>
              <a:rPr lang="de-DE" sz="2000" dirty="0">
                <a:latin typeface="+mn-lt"/>
              </a:rPr>
              <a:t>Z05 und die jeweils ausgelassene gesunde Gruppe beeinflussen weder Skalierung noch Training oder Schwellenwert.</a:t>
            </a:r>
          </a:p>
          <a:p>
            <a:endParaRPr lang="de-DE" dirty="0">
              <a:latin typeface="+mn-lt"/>
            </a:endParaRPr>
          </a:p>
        </p:txBody>
      </p:sp>
    </p:spTree>
    <p:extLst>
      <p:ext uri="{BB962C8B-B14F-4D97-AF65-F5344CB8AC3E}">
        <p14:creationId xmlns:p14="http://schemas.microsoft.com/office/powerpoint/2010/main" val="1000162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17B61-8CE5-3B97-6F85-3C618D6BECFE}"/>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898D85CC-7045-19F5-6B89-A95D6A5F2312}"/>
              </a:ext>
            </a:extLst>
          </p:cNvPr>
          <p:cNvSpPr>
            <a:spLocks noGrp="1"/>
          </p:cNvSpPr>
          <p:nvPr>
            <p:ph type="title"/>
          </p:nvPr>
        </p:nvSpPr>
        <p:spPr/>
        <p:txBody>
          <a:bodyPr/>
          <a:lstStyle/>
          <a:p>
            <a:r>
              <a:rPr kumimoji="0" lang="de-DE" sz="3200" b="1" i="0" u="none" strike="noStrike" kern="0" cap="none" spc="0" normalizeH="0" baseline="0" noProof="0" dirty="0">
                <a:ln>
                  <a:noFill/>
                </a:ln>
                <a:solidFill>
                  <a:srgbClr val="A8CC2F"/>
                </a:solidFill>
                <a:effectLst/>
                <a:uLnTx/>
                <a:uFillTx/>
                <a:ea typeface="ヒラギノ角ゴ Pro W3"/>
              </a:rPr>
              <a:t>Autoencoder</a:t>
            </a:r>
            <a:endParaRPr lang="de-DE" dirty="0"/>
          </a:p>
        </p:txBody>
      </p:sp>
      <p:sp>
        <p:nvSpPr>
          <p:cNvPr id="2" name="Foliennummernplatzhalter 1">
            <a:extLst>
              <a:ext uri="{FF2B5EF4-FFF2-40B4-BE49-F238E27FC236}">
                <a16:creationId xmlns:a16="http://schemas.microsoft.com/office/drawing/2014/main" id="{384EE6BD-0A8A-C35A-ACE5-8487FF073395}"/>
              </a:ext>
            </a:extLst>
          </p:cNvPr>
          <p:cNvSpPr>
            <a:spLocks noGrp="1"/>
          </p:cNvSpPr>
          <p:nvPr>
            <p:ph type="sldNum" sz="quarter" idx="10"/>
          </p:nvPr>
        </p:nvSpPr>
        <p:spPr/>
        <p:txBody>
          <a:bodyPr/>
          <a:lstStyle/>
          <a:p>
            <a:fld id="{80B4FCE6-DC73-4135-BC56-1F242D45A84C}" type="slidenum">
              <a:rPr lang="de-DE" smtClean="0"/>
              <a:t>5</a:t>
            </a:fld>
            <a:endParaRPr lang="de-DE"/>
          </a:p>
        </p:txBody>
      </p:sp>
      <p:sp>
        <p:nvSpPr>
          <p:cNvPr id="7" name="Fußzeilenplatzhalter 6">
            <a:extLst>
              <a:ext uri="{FF2B5EF4-FFF2-40B4-BE49-F238E27FC236}">
                <a16:creationId xmlns:a16="http://schemas.microsoft.com/office/drawing/2014/main" id="{F0CF3568-ABC8-8799-4537-678150D7687D}"/>
              </a:ext>
            </a:extLst>
          </p:cNvPr>
          <p:cNvSpPr>
            <a:spLocks noGrp="1"/>
          </p:cNvSpPr>
          <p:nvPr>
            <p:ph type="ftr" sz="quarter" idx="11"/>
          </p:nvPr>
        </p:nvSpPr>
        <p:spPr/>
        <p:txBody>
          <a:bodyPr/>
          <a:lstStyle/>
          <a:p>
            <a:r>
              <a:rPr lang="de-DE"/>
              <a:t>Materialdiagnostik: Task 4</a:t>
            </a:r>
            <a:endParaRPr lang="de-DE" dirty="0"/>
          </a:p>
        </p:txBody>
      </p:sp>
      <p:sp>
        <p:nvSpPr>
          <p:cNvPr id="6" name="Datumsplatzhalter 5">
            <a:extLst>
              <a:ext uri="{FF2B5EF4-FFF2-40B4-BE49-F238E27FC236}">
                <a16:creationId xmlns:a16="http://schemas.microsoft.com/office/drawing/2014/main" id="{38EAA6FE-52E8-2872-6AAC-AF23B87F158D}"/>
              </a:ext>
            </a:extLst>
          </p:cNvPr>
          <p:cNvSpPr>
            <a:spLocks noGrp="1"/>
          </p:cNvSpPr>
          <p:nvPr>
            <p:ph type="dt" sz="half" idx="12"/>
          </p:nvPr>
        </p:nvSpPr>
        <p:spPr/>
        <p:txBody>
          <a:bodyPr/>
          <a:lstStyle/>
          <a:p>
            <a:r>
              <a:rPr lang="de-DE"/>
              <a:t>23.07.2026</a:t>
            </a:r>
          </a:p>
        </p:txBody>
      </p:sp>
      <p:sp>
        <p:nvSpPr>
          <p:cNvPr id="10" name="Inhaltsplatzhalter 9">
            <a:extLst>
              <a:ext uri="{FF2B5EF4-FFF2-40B4-BE49-F238E27FC236}">
                <a16:creationId xmlns:a16="http://schemas.microsoft.com/office/drawing/2014/main" id="{3CFC55D7-9A46-28B7-DCDC-9006970AADA8}"/>
              </a:ext>
            </a:extLst>
          </p:cNvPr>
          <p:cNvSpPr>
            <a:spLocks noGrp="1"/>
          </p:cNvSpPr>
          <p:nvPr>
            <p:ph sz="quarter" idx="13"/>
          </p:nvPr>
        </p:nvSpPr>
        <p:spPr/>
        <p:txBody>
          <a:bodyPr/>
          <a:lstStyle/>
          <a:p>
            <a:pPr>
              <a:buFont typeface="Arial" panose="020B0604020202020204" pitchFamily="34" charset="0"/>
              <a:buChar char="•"/>
            </a:pPr>
            <a:r>
              <a:rPr lang="de-DE" dirty="0"/>
              <a:t>dichter Autoencoder</a:t>
            </a:r>
          </a:p>
          <a:p>
            <a:pPr>
              <a:buFont typeface="Arial" panose="020B0604020202020204" pitchFamily="34" charset="0"/>
              <a:buChar char="•"/>
            </a:pPr>
            <a:r>
              <a:rPr lang="de-DE" dirty="0" err="1"/>
              <a:t>ReLU</a:t>
            </a:r>
            <a:r>
              <a:rPr lang="de-DE" dirty="0"/>
              <a:t>-Aktivierungsfunktion</a:t>
            </a:r>
          </a:p>
          <a:p>
            <a:pPr>
              <a:buFont typeface="Arial" panose="020B0604020202020204" pitchFamily="34" charset="0"/>
              <a:buChar char="•"/>
            </a:pPr>
            <a:r>
              <a:rPr lang="de-DE" dirty="0"/>
              <a:t>Adam Optimizer</a:t>
            </a:r>
          </a:p>
          <a:p>
            <a:pPr>
              <a:buFont typeface="Arial" panose="020B0604020202020204" pitchFamily="34" charset="0"/>
              <a:buChar char="•"/>
            </a:pPr>
            <a:r>
              <a:rPr lang="de-DE" dirty="0"/>
              <a:t>Lernrate 0,001</a:t>
            </a:r>
          </a:p>
          <a:p>
            <a:pPr>
              <a:buFont typeface="Arial" panose="020B0604020202020204" pitchFamily="34" charset="0"/>
              <a:buChar char="•"/>
            </a:pPr>
            <a:r>
              <a:rPr lang="de-DE" dirty="0"/>
              <a:t>maximal 2.000 Epochen, </a:t>
            </a:r>
            <a:br>
              <a:rPr lang="de-DE" dirty="0"/>
            </a:br>
            <a:r>
              <a:rPr lang="de-DE" dirty="0"/>
              <a:t>Early </a:t>
            </a:r>
            <a:r>
              <a:rPr lang="de-DE" dirty="0" err="1"/>
              <a:t>Stopping</a:t>
            </a:r>
            <a:r>
              <a:rPr lang="de-DE" dirty="0"/>
              <a:t> mit 15 %</a:t>
            </a:r>
          </a:p>
          <a:p>
            <a:pPr>
              <a:buFont typeface="Arial" panose="020B0604020202020204" pitchFamily="34" charset="0"/>
              <a:buChar char="•"/>
            </a:pPr>
            <a:r>
              <a:rPr lang="de-DE" dirty="0"/>
              <a:t>Training ausschließlich mit Label 1</a:t>
            </a:r>
          </a:p>
        </p:txBody>
      </p:sp>
      <p:pic>
        <p:nvPicPr>
          <p:cNvPr id="8" name="Inhaltsplatzhalter 7">
            <a:extLst>
              <a:ext uri="{FF2B5EF4-FFF2-40B4-BE49-F238E27FC236}">
                <a16:creationId xmlns:a16="http://schemas.microsoft.com/office/drawing/2014/main" id="{2EA8FBC2-B3AE-5857-0E7C-EB1455065677}"/>
              </a:ext>
            </a:extLst>
          </p:cNvPr>
          <p:cNvPicPr>
            <a:picLocks noGrp="1" noChangeAspect="1"/>
          </p:cNvPicPr>
          <p:nvPr>
            <p:ph sz="quarter" idx="14"/>
          </p:nvPr>
        </p:nvPicPr>
        <p:blipFill>
          <a:blip r:embed="rId3"/>
          <a:srcRect/>
          <a:stretch/>
        </p:blipFill>
        <p:spPr>
          <a:xfrm>
            <a:off x="6096000" y="1745182"/>
            <a:ext cx="5754688" cy="3606136"/>
          </a:xfrm>
          <a:prstGeom prst="rect">
            <a:avLst/>
          </a:prstGeom>
        </p:spPr>
      </p:pic>
    </p:spTree>
    <p:extLst>
      <p:ext uri="{BB962C8B-B14F-4D97-AF65-F5344CB8AC3E}">
        <p14:creationId xmlns:p14="http://schemas.microsoft.com/office/powerpoint/2010/main" val="870363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DC8C5-6B84-38F9-328D-9E6B4534A4D9}"/>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A45EFF85-64A8-E302-6981-1B6B7F7F8DDD}"/>
              </a:ext>
            </a:extLst>
          </p:cNvPr>
          <p:cNvSpPr>
            <a:spLocks noGrp="1"/>
          </p:cNvSpPr>
          <p:nvPr>
            <p:ph type="title"/>
          </p:nvPr>
        </p:nvSpPr>
        <p:spPr>
          <a:xfrm>
            <a:off x="341811" y="567600"/>
            <a:ext cx="5470410" cy="706030"/>
          </a:xfrm>
        </p:spPr>
        <p:txBody>
          <a:bodyPr/>
          <a:lstStyle/>
          <a:p>
            <a:r>
              <a:rPr lang="de-DE" sz="3200" dirty="0"/>
              <a:t>Metriken &amp; Schwelle</a:t>
            </a:r>
          </a:p>
        </p:txBody>
      </p:sp>
      <p:sp>
        <p:nvSpPr>
          <p:cNvPr id="6" name="Fußzeilenplatzhalter 5">
            <a:extLst>
              <a:ext uri="{FF2B5EF4-FFF2-40B4-BE49-F238E27FC236}">
                <a16:creationId xmlns:a16="http://schemas.microsoft.com/office/drawing/2014/main" id="{C652A9E7-E0BD-8249-90D0-97B3A7CD27DF}"/>
              </a:ext>
            </a:extLst>
          </p:cNvPr>
          <p:cNvSpPr>
            <a:spLocks noGrp="1"/>
          </p:cNvSpPr>
          <p:nvPr>
            <p:ph type="ftr" sz="quarter" idx="11"/>
          </p:nvPr>
        </p:nvSpPr>
        <p:spPr/>
        <p:txBody>
          <a:bodyPr/>
          <a:lstStyle/>
          <a:p>
            <a:r>
              <a:rPr lang="de-DE"/>
              <a:t>Materialdiagnostik: Task 4</a:t>
            </a:r>
            <a:endParaRPr lang="de-DE" dirty="0"/>
          </a:p>
        </p:txBody>
      </p:sp>
      <p:sp>
        <p:nvSpPr>
          <p:cNvPr id="2" name="Datumsplatzhalter 1">
            <a:extLst>
              <a:ext uri="{FF2B5EF4-FFF2-40B4-BE49-F238E27FC236}">
                <a16:creationId xmlns:a16="http://schemas.microsoft.com/office/drawing/2014/main" id="{CEF0FCFB-49D3-B0D3-1565-3799B0181601}"/>
              </a:ext>
            </a:extLst>
          </p:cNvPr>
          <p:cNvSpPr>
            <a:spLocks noGrp="1"/>
          </p:cNvSpPr>
          <p:nvPr>
            <p:ph type="dt" sz="half" idx="12"/>
          </p:nvPr>
        </p:nvSpPr>
        <p:spPr/>
        <p:txBody>
          <a:bodyPr/>
          <a:lstStyle/>
          <a:p>
            <a:r>
              <a:rPr lang="de-DE"/>
              <a:t>23.07.2026</a:t>
            </a:r>
          </a:p>
        </p:txBody>
      </p:sp>
      <p:sp>
        <p:nvSpPr>
          <p:cNvPr id="8" name="Inhaltsplatzhalter 7">
            <a:extLst>
              <a:ext uri="{FF2B5EF4-FFF2-40B4-BE49-F238E27FC236}">
                <a16:creationId xmlns:a16="http://schemas.microsoft.com/office/drawing/2014/main" id="{A1313EF0-A9CF-8B6D-B55B-1752680076A4}"/>
              </a:ext>
            </a:extLst>
          </p:cNvPr>
          <p:cNvSpPr>
            <a:spLocks noGrp="1"/>
          </p:cNvSpPr>
          <p:nvPr>
            <p:ph sz="quarter" idx="13"/>
          </p:nvPr>
        </p:nvSpPr>
        <p:spPr>
          <a:xfrm>
            <a:off x="341312" y="1620000"/>
            <a:ext cx="9748619" cy="4316412"/>
          </a:xfrm>
        </p:spPr>
        <p:txBody>
          <a:bodyPr/>
          <a:lstStyle/>
          <a:p>
            <a:pPr>
              <a:buFont typeface="Arial" panose="020B0604020202020204" pitchFamily="34" charset="0"/>
              <a:buChar char="•"/>
            </a:pPr>
            <a:r>
              <a:rPr lang="de-DE" b="1" dirty="0" err="1"/>
              <a:t>Anomaliescore</a:t>
            </a:r>
            <a:r>
              <a:rPr lang="de-DE" b="1" dirty="0"/>
              <a:t>:</a:t>
            </a:r>
            <a:r>
              <a:rPr lang="de-DE" dirty="0"/>
              <a:t> </a:t>
            </a:r>
          </a:p>
          <a:p>
            <a:pPr lvl="1">
              <a:buFont typeface="Arial" panose="020B0604020202020204" pitchFamily="34" charset="0"/>
              <a:buChar char="•"/>
            </a:pPr>
            <a:r>
              <a:rPr lang="de-DE" dirty="0"/>
              <a:t>mittlerer quadratischer Rekonstruktionsfehler im standardisierten Merkmalsraum</a:t>
            </a:r>
          </a:p>
          <a:p>
            <a:pPr>
              <a:buFont typeface="Arial" panose="020B0604020202020204" pitchFamily="34" charset="0"/>
              <a:buChar char="•"/>
            </a:pPr>
            <a:r>
              <a:rPr lang="de-DE" b="1" dirty="0"/>
              <a:t>Schwelle:</a:t>
            </a:r>
            <a:r>
              <a:rPr lang="de-DE" dirty="0"/>
              <a:t> </a:t>
            </a:r>
          </a:p>
          <a:p>
            <a:pPr lvl="1">
              <a:buFont typeface="Arial" panose="020B0604020202020204" pitchFamily="34" charset="0"/>
              <a:buChar char="•"/>
            </a:pPr>
            <a:r>
              <a:rPr lang="de-DE" dirty="0"/>
              <a:t>98%-Quantil der Fehler im gesunden Training</a:t>
            </a:r>
          </a:p>
          <a:p>
            <a:pPr lvl="1">
              <a:buFont typeface="Arial" panose="020B0604020202020204" pitchFamily="34" charset="0"/>
              <a:buChar char="•"/>
            </a:pPr>
            <a:r>
              <a:rPr lang="de-DE" dirty="0"/>
              <a:t>oberhalb der Schwelle: anomal (Label 0)</a:t>
            </a:r>
          </a:p>
          <a:p>
            <a:pPr lvl="1">
              <a:buFont typeface="Arial" panose="020B0604020202020204" pitchFamily="34" charset="0"/>
              <a:buChar char="•"/>
            </a:pPr>
            <a:r>
              <a:rPr lang="de-DE" dirty="0"/>
              <a:t>keine Verwendung von Z05 zur Schwellenoptimierung</a:t>
            </a:r>
          </a:p>
          <a:p>
            <a:pPr>
              <a:buFont typeface="Arial" panose="020B0604020202020204" pitchFamily="34" charset="0"/>
              <a:buChar char="•"/>
            </a:pPr>
            <a:r>
              <a:rPr lang="de-DE" b="1" dirty="0"/>
              <a:t>Metriken:</a:t>
            </a:r>
          </a:p>
          <a:p>
            <a:pPr lvl="1">
              <a:buFont typeface="Arial" panose="020B0604020202020204" pitchFamily="34" charset="0"/>
              <a:buChar char="•"/>
            </a:pPr>
            <a:r>
              <a:rPr lang="de-DE" dirty="0"/>
              <a:t>Spezifität für Z05 und Sensitivität für gesunde Testgruppen</a:t>
            </a:r>
          </a:p>
          <a:p>
            <a:pPr lvl="1">
              <a:buFont typeface="Arial" panose="020B0604020202020204" pitchFamily="34" charset="0"/>
              <a:buChar char="•"/>
            </a:pPr>
            <a:r>
              <a:rPr lang="de-DE" dirty="0" err="1"/>
              <a:t>Accuracy</a:t>
            </a:r>
            <a:r>
              <a:rPr lang="de-DE" dirty="0"/>
              <a:t>, </a:t>
            </a:r>
            <a:r>
              <a:rPr lang="de-DE" dirty="0" err="1"/>
              <a:t>Balanced</a:t>
            </a:r>
            <a:r>
              <a:rPr lang="de-DE" dirty="0"/>
              <a:t> </a:t>
            </a:r>
            <a:r>
              <a:rPr lang="de-DE" dirty="0" err="1"/>
              <a:t>Accuracy</a:t>
            </a:r>
            <a:r>
              <a:rPr lang="de-DE" dirty="0"/>
              <a:t> (BAR), F1 und ROC-AUC</a:t>
            </a:r>
          </a:p>
        </p:txBody>
      </p:sp>
      <p:sp>
        <p:nvSpPr>
          <p:cNvPr id="10" name="Foliennummernplatzhalter 9">
            <a:extLst>
              <a:ext uri="{FF2B5EF4-FFF2-40B4-BE49-F238E27FC236}">
                <a16:creationId xmlns:a16="http://schemas.microsoft.com/office/drawing/2014/main" id="{6165C6EB-C140-CDAA-785E-DDE0FB76E230}"/>
              </a:ext>
            </a:extLst>
          </p:cNvPr>
          <p:cNvSpPr>
            <a:spLocks noGrp="1"/>
          </p:cNvSpPr>
          <p:nvPr>
            <p:ph type="sldNum" sz="quarter" idx="10"/>
          </p:nvPr>
        </p:nvSpPr>
        <p:spPr/>
        <p:txBody>
          <a:bodyPr/>
          <a:lstStyle/>
          <a:p>
            <a:fld id="{80B4FCE6-DC73-4135-BC56-1F242D45A84C}" type="slidenum">
              <a:rPr lang="de-DE" smtClean="0"/>
              <a:t>6</a:t>
            </a:fld>
            <a:endParaRPr lang="de-DE"/>
          </a:p>
        </p:txBody>
      </p:sp>
    </p:spTree>
    <p:extLst>
      <p:ext uri="{BB962C8B-B14F-4D97-AF65-F5344CB8AC3E}">
        <p14:creationId xmlns:p14="http://schemas.microsoft.com/office/powerpoint/2010/main" val="3056035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2A3BB-CCD8-3885-6A02-EE175FE1CB1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3FF9676-A75A-6AB8-50C5-C4EED7B6A7C1}"/>
              </a:ext>
            </a:extLst>
          </p:cNvPr>
          <p:cNvSpPr>
            <a:spLocks noGrp="1"/>
          </p:cNvSpPr>
          <p:nvPr>
            <p:ph type="title"/>
          </p:nvPr>
        </p:nvSpPr>
        <p:spPr/>
        <p:txBody>
          <a:bodyPr/>
          <a:lstStyle/>
          <a:p>
            <a:r>
              <a:rPr lang="de-DE" sz="3200" dirty="0"/>
              <a:t>Einzelmessungen</a:t>
            </a:r>
            <a:endParaRPr lang="de-DE" dirty="0"/>
          </a:p>
        </p:txBody>
      </p:sp>
      <p:sp>
        <p:nvSpPr>
          <p:cNvPr id="11" name="Foliennummernplatzhalter 10">
            <a:extLst>
              <a:ext uri="{FF2B5EF4-FFF2-40B4-BE49-F238E27FC236}">
                <a16:creationId xmlns:a16="http://schemas.microsoft.com/office/drawing/2014/main" id="{156E314E-BF1C-F73F-2354-4146EF630ABE}"/>
              </a:ext>
            </a:extLst>
          </p:cNvPr>
          <p:cNvSpPr>
            <a:spLocks noGrp="1"/>
          </p:cNvSpPr>
          <p:nvPr>
            <p:ph type="sldNum" sz="quarter" idx="10"/>
          </p:nvPr>
        </p:nvSpPr>
        <p:spPr/>
        <p:txBody>
          <a:bodyPr/>
          <a:lstStyle/>
          <a:p>
            <a:fld id="{80B4FCE6-DC73-4135-BC56-1F242D45A84C}" type="slidenum">
              <a:rPr lang="de-DE" smtClean="0"/>
              <a:t>7</a:t>
            </a:fld>
            <a:endParaRPr lang="de-DE"/>
          </a:p>
        </p:txBody>
      </p:sp>
      <p:sp>
        <p:nvSpPr>
          <p:cNvPr id="7" name="Fußzeilenplatzhalter 6">
            <a:extLst>
              <a:ext uri="{FF2B5EF4-FFF2-40B4-BE49-F238E27FC236}">
                <a16:creationId xmlns:a16="http://schemas.microsoft.com/office/drawing/2014/main" id="{6F3361E2-F2B2-2257-211E-2EC99788AC7F}"/>
              </a:ext>
            </a:extLst>
          </p:cNvPr>
          <p:cNvSpPr>
            <a:spLocks noGrp="1"/>
          </p:cNvSpPr>
          <p:nvPr>
            <p:ph type="ftr" sz="quarter" idx="11"/>
          </p:nvPr>
        </p:nvSpPr>
        <p:spPr/>
        <p:txBody>
          <a:bodyPr/>
          <a:lstStyle/>
          <a:p>
            <a:r>
              <a:rPr lang="de-DE"/>
              <a:t>Materialdiagnostik: Task 4</a:t>
            </a:r>
            <a:endParaRPr lang="de-DE" dirty="0"/>
          </a:p>
        </p:txBody>
      </p:sp>
      <p:sp>
        <p:nvSpPr>
          <p:cNvPr id="2" name="Datumsplatzhalter 1">
            <a:extLst>
              <a:ext uri="{FF2B5EF4-FFF2-40B4-BE49-F238E27FC236}">
                <a16:creationId xmlns:a16="http://schemas.microsoft.com/office/drawing/2014/main" id="{BE9FD257-CB15-1E41-8906-263322E6C4EE}"/>
              </a:ext>
            </a:extLst>
          </p:cNvPr>
          <p:cNvSpPr>
            <a:spLocks noGrp="1"/>
          </p:cNvSpPr>
          <p:nvPr>
            <p:ph type="dt" sz="half" idx="12"/>
          </p:nvPr>
        </p:nvSpPr>
        <p:spPr/>
        <p:txBody>
          <a:bodyPr/>
          <a:lstStyle/>
          <a:p>
            <a:r>
              <a:rPr lang="de-DE"/>
              <a:t>23.07.2026</a:t>
            </a:r>
          </a:p>
        </p:txBody>
      </p:sp>
      <p:pic>
        <p:nvPicPr>
          <p:cNvPr id="13" name="Inhaltsplatzhalter 12">
            <a:extLst>
              <a:ext uri="{FF2B5EF4-FFF2-40B4-BE49-F238E27FC236}">
                <a16:creationId xmlns:a16="http://schemas.microsoft.com/office/drawing/2014/main" id="{2782142D-C61F-00CC-FA4D-ADBFDFA20C07}"/>
              </a:ext>
            </a:extLst>
          </p:cNvPr>
          <p:cNvPicPr>
            <a:picLocks noGrp="1" noChangeAspect="1"/>
          </p:cNvPicPr>
          <p:nvPr>
            <p:ph sz="quarter" idx="13"/>
          </p:nvPr>
        </p:nvPicPr>
        <p:blipFill>
          <a:blip r:embed="rId3"/>
          <a:srcRect/>
          <a:stretch/>
        </p:blipFill>
        <p:spPr>
          <a:xfrm>
            <a:off x="113212" y="1935586"/>
            <a:ext cx="5754686" cy="3382649"/>
          </a:xfrm>
          <a:prstGeom prst="rect">
            <a:avLst/>
          </a:prstGeom>
        </p:spPr>
      </p:pic>
      <p:graphicFrame>
        <p:nvGraphicFramePr>
          <p:cNvPr id="8" name="Inhaltsplatzhalter 7">
            <a:extLst>
              <a:ext uri="{FF2B5EF4-FFF2-40B4-BE49-F238E27FC236}">
                <a16:creationId xmlns:a16="http://schemas.microsoft.com/office/drawing/2014/main" id="{E865B96F-7D07-5129-864C-8AE5D6202899}"/>
              </a:ext>
            </a:extLst>
          </p:cNvPr>
          <p:cNvGraphicFramePr>
            <a:graphicFrameLocks noGrp="1"/>
          </p:cNvGraphicFramePr>
          <p:nvPr>
            <p:ph sz="quarter" idx="14"/>
            <p:extLst>
              <p:ext uri="{D42A27DB-BD31-4B8C-83A1-F6EECF244321}">
                <p14:modId xmlns:p14="http://schemas.microsoft.com/office/powerpoint/2010/main" val="1226952282"/>
              </p:ext>
            </p:extLst>
          </p:nvPr>
        </p:nvGraphicFramePr>
        <p:xfrm>
          <a:off x="6096000" y="1935584"/>
          <a:ext cx="5982792" cy="3386027"/>
        </p:xfrm>
        <a:graphic>
          <a:graphicData uri="http://schemas.openxmlformats.org/drawingml/2006/table">
            <a:tbl>
              <a:tblPr firstRow="1" bandRow="1">
                <a:tableStyleId>{5C22544A-7EE6-4342-B048-85BDC9FD1C3A}</a:tableStyleId>
              </a:tblPr>
              <a:tblGrid>
                <a:gridCol w="680719">
                  <a:extLst>
                    <a:ext uri="{9D8B030D-6E8A-4147-A177-3AD203B41FA5}">
                      <a16:colId xmlns:a16="http://schemas.microsoft.com/office/drawing/2014/main" val="1298068458"/>
                    </a:ext>
                  </a:extLst>
                </a:gridCol>
                <a:gridCol w="885084">
                  <a:extLst>
                    <a:ext uri="{9D8B030D-6E8A-4147-A177-3AD203B41FA5}">
                      <a16:colId xmlns:a16="http://schemas.microsoft.com/office/drawing/2014/main" val="3738618844"/>
                    </a:ext>
                  </a:extLst>
                </a:gridCol>
                <a:gridCol w="956680">
                  <a:extLst>
                    <a:ext uri="{9D8B030D-6E8A-4147-A177-3AD203B41FA5}">
                      <a16:colId xmlns:a16="http://schemas.microsoft.com/office/drawing/2014/main" val="3685483365"/>
                    </a:ext>
                  </a:extLst>
                </a:gridCol>
                <a:gridCol w="944610">
                  <a:extLst>
                    <a:ext uri="{9D8B030D-6E8A-4147-A177-3AD203B41FA5}">
                      <a16:colId xmlns:a16="http://schemas.microsoft.com/office/drawing/2014/main" val="3642665571"/>
                    </a:ext>
                  </a:extLst>
                </a:gridCol>
                <a:gridCol w="917864">
                  <a:extLst>
                    <a:ext uri="{9D8B030D-6E8A-4147-A177-3AD203B41FA5}">
                      <a16:colId xmlns:a16="http://schemas.microsoft.com/office/drawing/2014/main" val="3313767678"/>
                    </a:ext>
                  </a:extLst>
                </a:gridCol>
                <a:gridCol w="819521">
                  <a:extLst>
                    <a:ext uri="{9D8B030D-6E8A-4147-A177-3AD203B41FA5}">
                      <a16:colId xmlns:a16="http://schemas.microsoft.com/office/drawing/2014/main" val="679683412"/>
                    </a:ext>
                  </a:extLst>
                </a:gridCol>
                <a:gridCol w="778314">
                  <a:extLst>
                    <a:ext uri="{9D8B030D-6E8A-4147-A177-3AD203B41FA5}">
                      <a16:colId xmlns:a16="http://schemas.microsoft.com/office/drawing/2014/main" val="72820997"/>
                    </a:ext>
                  </a:extLst>
                </a:gridCol>
              </a:tblGrid>
              <a:tr h="423216">
                <a:tc rowSpan="2">
                  <a:txBody>
                    <a:bodyPr/>
                    <a:lstStyle/>
                    <a:p>
                      <a:pPr algn="ctr"/>
                      <a:r>
                        <a:rPr lang="de-DE" dirty="0">
                          <a:solidFill>
                            <a:schemeClr val="tx1"/>
                          </a:solidFill>
                        </a:rPr>
                        <a:t>Fold</a:t>
                      </a:r>
                    </a:p>
                  </a:txBody>
                  <a:tcPr/>
                </a:tc>
                <a:tc gridSpan="2">
                  <a:txBody>
                    <a:bodyPr/>
                    <a:lstStyle/>
                    <a:p>
                      <a:pPr algn="ctr"/>
                      <a:r>
                        <a:rPr lang="de-DE" dirty="0">
                          <a:solidFill>
                            <a:schemeClr val="tx1"/>
                          </a:solidFill>
                        </a:rPr>
                        <a:t>Sensitivität / TPR</a:t>
                      </a:r>
                    </a:p>
                  </a:txBody>
                  <a:tcPr/>
                </a:tc>
                <a:tc hMerge="1">
                  <a:txBody>
                    <a:bodyPr/>
                    <a:lstStyle/>
                    <a:p>
                      <a:endParaRPr lang="de-DE" dirty="0"/>
                    </a:p>
                  </a:txBody>
                  <a:tcPr/>
                </a:tc>
                <a:tc gridSpan="2">
                  <a:txBody>
                    <a:bodyPr/>
                    <a:lstStyle/>
                    <a:p>
                      <a:pPr algn="ctr"/>
                      <a:r>
                        <a:rPr lang="de-DE" dirty="0">
                          <a:solidFill>
                            <a:schemeClr val="tx1"/>
                          </a:solidFill>
                        </a:rPr>
                        <a:t>Spezifität / TNR</a:t>
                      </a:r>
                    </a:p>
                  </a:txBody>
                  <a:tcPr/>
                </a:tc>
                <a:tc hMerge="1">
                  <a:txBody>
                    <a:bodyPr/>
                    <a:lstStyle/>
                    <a:p>
                      <a:endParaRPr lang="de-DE" dirty="0"/>
                    </a:p>
                  </a:txBody>
                  <a:tcPr/>
                </a:tc>
                <a:tc gridSpan="2">
                  <a:txBody>
                    <a:bodyPr/>
                    <a:lstStyle/>
                    <a:p>
                      <a:pPr algn="ctr"/>
                      <a:r>
                        <a:rPr lang="de-DE" dirty="0" err="1">
                          <a:solidFill>
                            <a:schemeClr val="tx1"/>
                          </a:solidFill>
                        </a:rPr>
                        <a:t>Balanced</a:t>
                      </a:r>
                      <a:r>
                        <a:rPr lang="de-DE" dirty="0">
                          <a:solidFill>
                            <a:schemeClr val="tx1"/>
                          </a:solidFill>
                        </a:rPr>
                        <a:t> </a:t>
                      </a:r>
                      <a:r>
                        <a:rPr lang="de-DE" dirty="0" err="1">
                          <a:solidFill>
                            <a:schemeClr val="tx1"/>
                          </a:solidFill>
                        </a:rPr>
                        <a:t>Acc</a:t>
                      </a:r>
                      <a:endParaRPr lang="de-DE" dirty="0">
                        <a:solidFill>
                          <a:schemeClr val="tx1"/>
                        </a:solidFill>
                      </a:endParaRPr>
                    </a:p>
                  </a:txBody>
                  <a:tcPr/>
                </a:tc>
                <a:tc hMerge="1">
                  <a:txBody>
                    <a:bodyPr/>
                    <a:lstStyle/>
                    <a:p>
                      <a:endParaRPr lang="de-DE" dirty="0"/>
                    </a:p>
                  </a:txBody>
                  <a:tcPr/>
                </a:tc>
                <a:extLst>
                  <a:ext uri="{0D108BD9-81ED-4DB2-BD59-A6C34878D82A}">
                    <a16:rowId xmlns:a16="http://schemas.microsoft.com/office/drawing/2014/main" val="3315992242"/>
                  </a:ext>
                </a:extLst>
              </a:tr>
              <a:tr h="362382">
                <a:tc vMerge="1">
                  <a:txBody>
                    <a:bodyPr/>
                    <a:lstStyle/>
                    <a:p>
                      <a:endParaRPr lang="de-DE"/>
                    </a:p>
                  </a:txBody>
                  <a:tcPr/>
                </a:tc>
                <a:tc>
                  <a:txBody>
                    <a:bodyPr/>
                    <a:lstStyle/>
                    <a:p>
                      <a:pPr algn="ctr"/>
                      <a:r>
                        <a:rPr lang="de-DE" dirty="0" err="1">
                          <a:solidFill>
                            <a:schemeClr val="tx1"/>
                          </a:solidFill>
                        </a:rPr>
                        <a:t>Ch</a:t>
                      </a:r>
                      <a:r>
                        <a:rPr lang="de-DE" dirty="0">
                          <a:solidFill>
                            <a:schemeClr val="tx1"/>
                          </a:solidFill>
                        </a:rPr>
                        <a:t> 1</a:t>
                      </a:r>
                    </a:p>
                  </a:txBody>
                  <a:tcPr/>
                </a:tc>
                <a:tc>
                  <a:txBody>
                    <a:bodyPr/>
                    <a:lstStyle/>
                    <a:p>
                      <a:pPr algn="ctr"/>
                      <a:r>
                        <a:rPr lang="de-DE" dirty="0" err="1">
                          <a:solidFill>
                            <a:schemeClr val="tx1"/>
                          </a:solidFill>
                        </a:rPr>
                        <a:t>Ch</a:t>
                      </a:r>
                      <a:r>
                        <a:rPr lang="de-DE" dirty="0">
                          <a:solidFill>
                            <a:schemeClr val="tx1"/>
                          </a:solidFill>
                        </a:rPr>
                        <a:t> 2</a:t>
                      </a:r>
                    </a:p>
                  </a:txBody>
                  <a:tcPr/>
                </a:tc>
                <a:tc>
                  <a:txBody>
                    <a:bodyPr/>
                    <a:lstStyle/>
                    <a:p>
                      <a:pPr algn="ctr"/>
                      <a:r>
                        <a:rPr lang="de-DE" dirty="0" err="1">
                          <a:solidFill>
                            <a:schemeClr val="tx1"/>
                          </a:solidFill>
                        </a:rPr>
                        <a:t>Ch</a:t>
                      </a:r>
                      <a:r>
                        <a:rPr lang="de-DE" dirty="0">
                          <a:solidFill>
                            <a:schemeClr val="tx1"/>
                          </a:solidFill>
                        </a:rPr>
                        <a:t> 1</a:t>
                      </a:r>
                    </a:p>
                  </a:txBody>
                  <a:tcPr/>
                </a:tc>
                <a:tc>
                  <a:txBody>
                    <a:bodyPr/>
                    <a:lstStyle/>
                    <a:p>
                      <a:pPr algn="ctr"/>
                      <a:r>
                        <a:rPr lang="de-DE" dirty="0" err="1">
                          <a:solidFill>
                            <a:schemeClr val="tx1"/>
                          </a:solidFill>
                        </a:rPr>
                        <a:t>Ch</a:t>
                      </a:r>
                      <a:r>
                        <a:rPr lang="de-DE" dirty="0">
                          <a:solidFill>
                            <a:schemeClr val="tx1"/>
                          </a:solidFill>
                        </a:rPr>
                        <a:t> 2</a:t>
                      </a:r>
                    </a:p>
                  </a:txBody>
                  <a:tcPr/>
                </a:tc>
                <a:tc>
                  <a:txBody>
                    <a:bodyPr/>
                    <a:lstStyle/>
                    <a:p>
                      <a:pPr algn="ctr"/>
                      <a:r>
                        <a:rPr lang="de-DE" dirty="0" err="1">
                          <a:solidFill>
                            <a:schemeClr val="tx1"/>
                          </a:solidFill>
                        </a:rPr>
                        <a:t>Ch</a:t>
                      </a:r>
                      <a:r>
                        <a:rPr lang="de-DE" dirty="0">
                          <a:solidFill>
                            <a:schemeClr val="tx1"/>
                          </a:solidFill>
                        </a:rPr>
                        <a:t> 1</a:t>
                      </a:r>
                    </a:p>
                  </a:txBody>
                  <a:tcPr/>
                </a:tc>
                <a:tc>
                  <a:txBody>
                    <a:bodyPr/>
                    <a:lstStyle/>
                    <a:p>
                      <a:pPr algn="ctr"/>
                      <a:r>
                        <a:rPr lang="de-DE" dirty="0" err="1">
                          <a:solidFill>
                            <a:schemeClr val="tx1"/>
                          </a:solidFill>
                        </a:rPr>
                        <a:t>Ch</a:t>
                      </a:r>
                      <a:r>
                        <a:rPr lang="de-DE" dirty="0">
                          <a:solidFill>
                            <a:schemeClr val="tx1"/>
                          </a:solidFill>
                        </a:rPr>
                        <a:t> 2</a:t>
                      </a:r>
                    </a:p>
                  </a:txBody>
                  <a:tcPr/>
                </a:tc>
                <a:extLst>
                  <a:ext uri="{0D108BD9-81ED-4DB2-BD59-A6C34878D82A}">
                    <a16:rowId xmlns:a16="http://schemas.microsoft.com/office/drawing/2014/main" val="1933422198"/>
                  </a:ext>
                </a:extLst>
              </a:tr>
              <a:tr h="626244">
                <a:tc>
                  <a:txBody>
                    <a:bodyPr/>
                    <a:lstStyle/>
                    <a:p>
                      <a:pPr algn="ctr"/>
                      <a:r>
                        <a:rPr lang="de-DE" dirty="0"/>
                        <a:t>1</a:t>
                      </a:r>
                    </a:p>
                  </a:txBody>
                  <a:tcPr/>
                </a:tc>
                <a:tc>
                  <a:txBody>
                    <a:bodyPr/>
                    <a:lstStyle/>
                    <a:p>
                      <a:pPr algn="ctr"/>
                      <a:r>
                        <a:rPr lang="de-DE" dirty="0"/>
                        <a:t>0.867</a:t>
                      </a:r>
                    </a:p>
                  </a:txBody>
                  <a:tcPr/>
                </a:tc>
                <a:tc>
                  <a:txBody>
                    <a:bodyPr/>
                    <a:lstStyle/>
                    <a:p>
                      <a:pPr algn="ctr"/>
                      <a:r>
                        <a:rPr lang="de-DE" dirty="0"/>
                        <a:t>0.883</a:t>
                      </a:r>
                    </a:p>
                  </a:txBody>
                  <a:tcPr/>
                </a:tc>
                <a:tc>
                  <a:txBody>
                    <a:bodyPr/>
                    <a:lstStyle/>
                    <a:p>
                      <a:pPr algn="ctr"/>
                      <a:r>
                        <a:rPr lang="de-DE" dirty="0"/>
                        <a:t>1.00</a:t>
                      </a:r>
                    </a:p>
                  </a:txBody>
                  <a:tcPr/>
                </a:tc>
                <a:tc>
                  <a:txBody>
                    <a:bodyPr/>
                    <a:lstStyle/>
                    <a:p>
                      <a:pPr algn="ctr"/>
                      <a:r>
                        <a:rPr lang="de-DE" dirty="0"/>
                        <a:t>1.00</a:t>
                      </a:r>
                    </a:p>
                  </a:txBody>
                  <a:tcPr/>
                </a:tc>
                <a:tc>
                  <a:txBody>
                    <a:bodyPr/>
                    <a:lstStyle/>
                    <a:p>
                      <a:pPr algn="ctr"/>
                      <a:r>
                        <a:rPr lang="de-DE" dirty="0"/>
                        <a:t>0.933</a:t>
                      </a:r>
                    </a:p>
                  </a:txBody>
                  <a:tcPr/>
                </a:tc>
                <a:tc>
                  <a:txBody>
                    <a:bodyPr/>
                    <a:lstStyle/>
                    <a:p>
                      <a:pPr algn="ctr"/>
                      <a:r>
                        <a:rPr lang="de-DE" dirty="0"/>
                        <a:t>0.942</a:t>
                      </a:r>
                    </a:p>
                  </a:txBody>
                  <a:tcPr/>
                </a:tc>
                <a:extLst>
                  <a:ext uri="{0D108BD9-81ED-4DB2-BD59-A6C34878D82A}">
                    <a16:rowId xmlns:a16="http://schemas.microsoft.com/office/drawing/2014/main" val="153320546"/>
                  </a:ext>
                </a:extLst>
              </a:tr>
              <a:tr h="626244">
                <a:tc>
                  <a:txBody>
                    <a:bodyPr/>
                    <a:lstStyle/>
                    <a:p>
                      <a:pPr algn="ctr"/>
                      <a:r>
                        <a:rPr lang="de-DE" dirty="0"/>
                        <a:t>2</a:t>
                      </a:r>
                    </a:p>
                  </a:txBody>
                  <a:tcPr/>
                </a:tc>
                <a:tc>
                  <a:txBody>
                    <a:bodyPr/>
                    <a:lstStyle/>
                    <a:p>
                      <a:pPr algn="ctr"/>
                      <a:r>
                        <a:rPr lang="de-DE" dirty="0"/>
                        <a:t>0.900</a:t>
                      </a:r>
                    </a:p>
                  </a:txBody>
                  <a:tcPr/>
                </a:tc>
                <a:tc>
                  <a:txBody>
                    <a:bodyPr/>
                    <a:lstStyle/>
                    <a:p>
                      <a:pPr algn="ctr"/>
                      <a:r>
                        <a:rPr lang="de-DE" dirty="0"/>
                        <a:t>0.850</a:t>
                      </a:r>
                    </a:p>
                  </a:txBody>
                  <a:tcPr/>
                </a:tc>
                <a:tc>
                  <a:txBody>
                    <a:bodyPr/>
                    <a:lstStyle/>
                    <a:p>
                      <a:pPr algn="ctr"/>
                      <a:r>
                        <a:rPr lang="de-DE" dirty="0"/>
                        <a:t>1.00</a:t>
                      </a:r>
                    </a:p>
                  </a:txBody>
                  <a:tcPr/>
                </a:tc>
                <a:tc>
                  <a:txBody>
                    <a:bodyPr/>
                    <a:lstStyle/>
                    <a:p>
                      <a:pPr algn="ctr"/>
                      <a:r>
                        <a:rPr lang="de-DE" dirty="0"/>
                        <a:t>1.00</a:t>
                      </a:r>
                    </a:p>
                  </a:txBody>
                  <a:tcPr/>
                </a:tc>
                <a:tc>
                  <a:txBody>
                    <a:bodyPr/>
                    <a:lstStyle/>
                    <a:p>
                      <a:pPr algn="ctr"/>
                      <a:r>
                        <a:rPr lang="de-DE" dirty="0"/>
                        <a:t>0.950</a:t>
                      </a:r>
                    </a:p>
                  </a:txBody>
                  <a:tcPr/>
                </a:tc>
                <a:tc>
                  <a:txBody>
                    <a:bodyPr/>
                    <a:lstStyle/>
                    <a:p>
                      <a:pPr algn="ctr"/>
                      <a:r>
                        <a:rPr lang="de-DE" dirty="0"/>
                        <a:t>0.925</a:t>
                      </a:r>
                    </a:p>
                  </a:txBody>
                  <a:tcPr/>
                </a:tc>
                <a:extLst>
                  <a:ext uri="{0D108BD9-81ED-4DB2-BD59-A6C34878D82A}">
                    <a16:rowId xmlns:a16="http://schemas.microsoft.com/office/drawing/2014/main" val="3984959788"/>
                  </a:ext>
                </a:extLst>
              </a:tr>
              <a:tr h="626244">
                <a:tc>
                  <a:txBody>
                    <a:bodyPr/>
                    <a:lstStyle/>
                    <a:p>
                      <a:pPr algn="ctr"/>
                      <a:r>
                        <a:rPr lang="de-DE" dirty="0"/>
                        <a:t>3</a:t>
                      </a:r>
                    </a:p>
                  </a:txBody>
                  <a:tcPr/>
                </a:tc>
                <a:tc>
                  <a:txBody>
                    <a:bodyPr/>
                    <a:lstStyle/>
                    <a:p>
                      <a:pPr algn="ctr"/>
                      <a:r>
                        <a:rPr lang="de-DE" dirty="0"/>
                        <a:t>0.950</a:t>
                      </a:r>
                    </a:p>
                  </a:txBody>
                  <a:tcPr/>
                </a:tc>
                <a:tc>
                  <a:txBody>
                    <a:bodyPr/>
                    <a:lstStyle/>
                    <a:p>
                      <a:pPr algn="ctr"/>
                      <a:r>
                        <a:rPr lang="de-DE" dirty="0"/>
                        <a:t>0.950</a:t>
                      </a:r>
                    </a:p>
                  </a:txBody>
                  <a:tcPr/>
                </a:tc>
                <a:tc>
                  <a:txBody>
                    <a:bodyPr/>
                    <a:lstStyle/>
                    <a:p>
                      <a:pPr algn="ctr"/>
                      <a:r>
                        <a:rPr lang="de-DE" dirty="0"/>
                        <a:t>1.00</a:t>
                      </a:r>
                    </a:p>
                  </a:txBody>
                  <a:tcPr/>
                </a:tc>
                <a:tc>
                  <a:txBody>
                    <a:bodyPr/>
                    <a:lstStyle/>
                    <a:p>
                      <a:pPr algn="ctr"/>
                      <a:r>
                        <a:rPr lang="de-DE" dirty="0"/>
                        <a:t>1.00</a:t>
                      </a:r>
                    </a:p>
                  </a:txBody>
                  <a:tcPr/>
                </a:tc>
                <a:tc>
                  <a:txBody>
                    <a:bodyPr/>
                    <a:lstStyle/>
                    <a:p>
                      <a:pPr algn="ctr"/>
                      <a:r>
                        <a:rPr lang="de-DE" dirty="0"/>
                        <a:t>0.975</a:t>
                      </a:r>
                    </a:p>
                  </a:txBody>
                  <a:tcPr/>
                </a:tc>
                <a:tc>
                  <a:txBody>
                    <a:bodyPr/>
                    <a:lstStyle/>
                    <a:p>
                      <a:pPr algn="ctr"/>
                      <a:r>
                        <a:rPr lang="de-DE" dirty="0"/>
                        <a:t>0.975</a:t>
                      </a:r>
                    </a:p>
                  </a:txBody>
                  <a:tcPr/>
                </a:tc>
                <a:extLst>
                  <a:ext uri="{0D108BD9-81ED-4DB2-BD59-A6C34878D82A}">
                    <a16:rowId xmlns:a16="http://schemas.microsoft.com/office/drawing/2014/main" val="2891050433"/>
                  </a:ext>
                </a:extLst>
              </a:tr>
              <a:tr h="718319">
                <a:tc>
                  <a:txBody>
                    <a:bodyPr/>
                    <a:lstStyle/>
                    <a:p>
                      <a:pPr algn="ctr"/>
                      <a:r>
                        <a:rPr lang="de-DE" dirty="0"/>
                        <a:t>4</a:t>
                      </a:r>
                    </a:p>
                  </a:txBody>
                  <a:tcPr/>
                </a:tc>
                <a:tc>
                  <a:txBody>
                    <a:bodyPr/>
                    <a:lstStyle/>
                    <a:p>
                      <a:pPr algn="ctr"/>
                      <a:r>
                        <a:rPr lang="de-DE" dirty="0"/>
                        <a:t>0.290</a:t>
                      </a:r>
                    </a:p>
                  </a:txBody>
                  <a:tcPr/>
                </a:tc>
                <a:tc>
                  <a:txBody>
                    <a:bodyPr/>
                    <a:lstStyle/>
                    <a:p>
                      <a:pPr algn="ctr"/>
                      <a:r>
                        <a:rPr lang="de-DE" dirty="0"/>
                        <a:t>0.730</a:t>
                      </a:r>
                    </a:p>
                  </a:txBody>
                  <a:tcPr/>
                </a:tc>
                <a:tc>
                  <a:txBody>
                    <a:bodyPr/>
                    <a:lstStyle/>
                    <a:p>
                      <a:pPr algn="ctr"/>
                      <a:r>
                        <a:rPr lang="de-DE" dirty="0"/>
                        <a:t>1.00</a:t>
                      </a:r>
                    </a:p>
                  </a:txBody>
                  <a:tcPr/>
                </a:tc>
                <a:tc>
                  <a:txBody>
                    <a:bodyPr/>
                    <a:lstStyle/>
                    <a:p>
                      <a:pPr algn="ctr"/>
                      <a:r>
                        <a:rPr lang="de-DE" dirty="0"/>
                        <a:t>1.00</a:t>
                      </a:r>
                    </a:p>
                  </a:txBody>
                  <a:tcPr/>
                </a:tc>
                <a:tc>
                  <a:txBody>
                    <a:bodyPr/>
                    <a:lstStyle/>
                    <a:p>
                      <a:pPr algn="ctr"/>
                      <a:r>
                        <a:rPr lang="de-DE" dirty="0"/>
                        <a:t>0.645</a:t>
                      </a:r>
                    </a:p>
                  </a:txBody>
                  <a:tcPr/>
                </a:tc>
                <a:tc>
                  <a:txBody>
                    <a:bodyPr/>
                    <a:lstStyle/>
                    <a:p>
                      <a:pPr algn="ctr"/>
                      <a:r>
                        <a:rPr lang="de-DE" dirty="0"/>
                        <a:t>0.865</a:t>
                      </a:r>
                    </a:p>
                  </a:txBody>
                  <a:tcPr/>
                </a:tc>
                <a:extLst>
                  <a:ext uri="{0D108BD9-81ED-4DB2-BD59-A6C34878D82A}">
                    <a16:rowId xmlns:a16="http://schemas.microsoft.com/office/drawing/2014/main" val="1307856940"/>
                  </a:ext>
                </a:extLst>
              </a:tr>
            </a:tbl>
          </a:graphicData>
        </a:graphic>
      </p:graphicFrame>
    </p:spTree>
    <p:extLst>
      <p:ext uri="{BB962C8B-B14F-4D97-AF65-F5344CB8AC3E}">
        <p14:creationId xmlns:p14="http://schemas.microsoft.com/office/powerpoint/2010/main" val="2853938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01B9E-346B-3528-8989-0CC87ABBC468}"/>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0C57D15E-CCA8-224B-43C2-BF840F74E7FD}"/>
              </a:ext>
            </a:extLst>
          </p:cNvPr>
          <p:cNvSpPr>
            <a:spLocks noGrp="1"/>
          </p:cNvSpPr>
          <p:nvPr>
            <p:ph type="title"/>
          </p:nvPr>
        </p:nvSpPr>
        <p:spPr/>
        <p:txBody>
          <a:bodyPr/>
          <a:lstStyle/>
          <a:p>
            <a:r>
              <a:rPr lang="de-DE" sz="3200" dirty="0">
                <a:ea typeface="ヒラギノ角ゴ Pro W3"/>
              </a:rPr>
              <a:t>Pipelinevergleich</a:t>
            </a:r>
            <a:endParaRPr lang="de-DE" dirty="0"/>
          </a:p>
        </p:txBody>
      </p:sp>
      <p:sp>
        <p:nvSpPr>
          <p:cNvPr id="10" name="Foliennummernplatzhalter 9">
            <a:extLst>
              <a:ext uri="{FF2B5EF4-FFF2-40B4-BE49-F238E27FC236}">
                <a16:creationId xmlns:a16="http://schemas.microsoft.com/office/drawing/2014/main" id="{774AB4C3-4602-6C57-8EB1-7749D74FE5AF}"/>
              </a:ext>
            </a:extLst>
          </p:cNvPr>
          <p:cNvSpPr>
            <a:spLocks noGrp="1"/>
          </p:cNvSpPr>
          <p:nvPr>
            <p:ph type="sldNum" sz="quarter" idx="10"/>
          </p:nvPr>
        </p:nvSpPr>
        <p:spPr/>
        <p:txBody>
          <a:bodyPr/>
          <a:lstStyle/>
          <a:p>
            <a:fld id="{80B4FCE6-DC73-4135-BC56-1F242D45A84C}" type="slidenum">
              <a:rPr lang="de-DE" smtClean="0"/>
              <a:t>8</a:t>
            </a:fld>
            <a:endParaRPr lang="de-DE"/>
          </a:p>
        </p:txBody>
      </p:sp>
      <p:sp>
        <p:nvSpPr>
          <p:cNvPr id="7" name="Fußzeilenplatzhalter 6">
            <a:extLst>
              <a:ext uri="{FF2B5EF4-FFF2-40B4-BE49-F238E27FC236}">
                <a16:creationId xmlns:a16="http://schemas.microsoft.com/office/drawing/2014/main" id="{6ABEE24C-37F3-78D2-21C6-88F44D571121}"/>
              </a:ext>
            </a:extLst>
          </p:cNvPr>
          <p:cNvSpPr>
            <a:spLocks noGrp="1"/>
          </p:cNvSpPr>
          <p:nvPr>
            <p:ph type="ftr" sz="quarter" idx="11"/>
          </p:nvPr>
        </p:nvSpPr>
        <p:spPr/>
        <p:txBody>
          <a:bodyPr/>
          <a:lstStyle/>
          <a:p>
            <a:r>
              <a:rPr lang="de-DE"/>
              <a:t>Materialdiagnostik: Task 4</a:t>
            </a:r>
            <a:endParaRPr lang="de-DE" dirty="0"/>
          </a:p>
        </p:txBody>
      </p:sp>
      <p:sp>
        <p:nvSpPr>
          <p:cNvPr id="2" name="Datumsplatzhalter 1">
            <a:extLst>
              <a:ext uri="{FF2B5EF4-FFF2-40B4-BE49-F238E27FC236}">
                <a16:creationId xmlns:a16="http://schemas.microsoft.com/office/drawing/2014/main" id="{D3CA445C-F940-E013-1AC9-1A366EEA3614}"/>
              </a:ext>
            </a:extLst>
          </p:cNvPr>
          <p:cNvSpPr>
            <a:spLocks noGrp="1"/>
          </p:cNvSpPr>
          <p:nvPr>
            <p:ph type="dt" sz="half" idx="12"/>
          </p:nvPr>
        </p:nvSpPr>
        <p:spPr/>
        <p:txBody>
          <a:bodyPr/>
          <a:lstStyle/>
          <a:p>
            <a:r>
              <a:rPr lang="de-DE"/>
              <a:t>23.07.2026</a:t>
            </a:r>
          </a:p>
        </p:txBody>
      </p:sp>
      <p:pic>
        <p:nvPicPr>
          <p:cNvPr id="11" name="Inhaltsplatzhalter 10">
            <a:extLst>
              <a:ext uri="{FF2B5EF4-FFF2-40B4-BE49-F238E27FC236}">
                <a16:creationId xmlns:a16="http://schemas.microsoft.com/office/drawing/2014/main" id="{01907500-6CF2-1641-6998-30DB0B987A04}"/>
              </a:ext>
            </a:extLst>
          </p:cNvPr>
          <p:cNvPicPr>
            <a:picLocks noGrp="1" noChangeAspect="1"/>
          </p:cNvPicPr>
          <p:nvPr>
            <p:ph sz="quarter" idx="13"/>
          </p:nvPr>
        </p:nvPicPr>
        <p:blipFill>
          <a:blip r:embed="rId3"/>
          <a:srcRect/>
          <a:stretch/>
        </p:blipFill>
        <p:spPr>
          <a:xfrm>
            <a:off x="300494" y="2058996"/>
            <a:ext cx="5795506" cy="3570588"/>
          </a:xfrm>
          <a:prstGeom prst="rect">
            <a:avLst/>
          </a:prstGeom>
        </p:spPr>
      </p:pic>
      <p:graphicFrame>
        <p:nvGraphicFramePr>
          <p:cNvPr id="8" name="Inhaltsplatzhalter 7">
            <a:extLst>
              <a:ext uri="{FF2B5EF4-FFF2-40B4-BE49-F238E27FC236}">
                <a16:creationId xmlns:a16="http://schemas.microsoft.com/office/drawing/2014/main" id="{79BB2E59-1E5D-1A44-72D5-A4F864B90204}"/>
              </a:ext>
            </a:extLst>
          </p:cNvPr>
          <p:cNvGraphicFramePr>
            <a:graphicFrameLocks noGrp="1"/>
          </p:cNvGraphicFramePr>
          <p:nvPr>
            <p:ph sz="quarter" idx="14"/>
            <p:extLst>
              <p:ext uri="{D42A27DB-BD31-4B8C-83A1-F6EECF244321}">
                <p14:modId xmlns:p14="http://schemas.microsoft.com/office/powerpoint/2010/main" val="3842105193"/>
              </p:ext>
            </p:extLst>
          </p:nvPr>
        </p:nvGraphicFramePr>
        <p:xfrm>
          <a:off x="6335970" y="2058996"/>
          <a:ext cx="5391150" cy="2860040"/>
        </p:xfrm>
        <a:graphic>
          <a:graphicData uri="http://schemas.openxmlformats.org/drawingml/2006/table">
            <a:tbl>
              <a:tblPr firstRow="1" bandRow="1">
                <a:tableStyleId>{5C22544A-7EE6-4342-B048-85BDC9FD1C3A}</a:tableStyleId>
              </a:tblPr>
              <a:tblGrid>
                <a:gridCol w="1420664">
                  <a:extLst>
                    <a:ext uri="{9D8B030D-6E8A-4147-A177-3AD203B41FA5}">
                      <a16:colId xmlns:a16="http://schemas.microsoft.com/office/drawing/2014/main" val="153177511"/>
                    </a:ext>
                  </a:extLst>
                </a:gridCol>
                <a:gridCol w="1996966">
                  <a:extLst>
                    <a:ext uri="{9D8B030D-6E8A-4147-A177-3AD203B41FA5}">
                      <a16:colId xmlns:a16="http://schemas.microsoft.com/office/drawing/2014/main" val="1209798855"/>
                    </a:ext>
                  </a:extLst>
                </a:gridCol>
                <a:gridCol w="1973520">
                  <a:extLst>
                    <a:ext uri="{9D8B030D-6E8A-4147-A177-3AD203B41FA5}">
                      <a16:colId xmlns:a16="http://schemas.microsoft.com/office/drawing/2014/main" val="1441971969"/>
                    </a:ext>
                  </a:extLst>
                </a:gridCol>
              </a:tblGrid>
              <a:tr h="185420">
                <a:tc>
                  <a:txBody>
                    <a:bodyPr/>
                    <a:lstStyle/>
                    <a:p>
                      <a:pPr algn="ctr"/>
                      <a:r>
                        <a:rPr lang="de-DE" dirty="0">
                          <a:solidFill>
                            <a:schemeClr val="tx1"/>
                          </a:solidFill>
                        </a:rPr>
                        <a:t>Fold</a:t>
                      </a:r>
                    </a:p>
                  </a:txBody>
                  <a:tcPr/>
                </a:tc>
                <a:tc>
                  <a:txBody>
                    <a:bodyPr/>
                    <a:lstStyle/>
                    <a:p>
                      <a:pPr algn="ctr"/>
                      <a:r>
                        <a:rPr lang="de-DE" dirty="0">
                          <a:solidFill>
                            <a:schemeClr val="tx1"/>
                          </a:solidFill>
                        </a:rPr>
                        <a:t>Einzelmessung</a:t>
                      </a:r>
                    </a:p>
                  </a:txBody>
                  <a:tcPr/>
                </a:tc>
                <a:tc>
                  <a:txBody>
                    <a:bodyPr/>
                    <a:lstStyle/>
                    <a:p>
                      <a:pPr algn="ctr"/>
                      <a:r>
                        <a:rPr lang="de-DE" dirty="0" err="1">
                          <a:solidFill>
                            <a:schemeClr val="tx1"/>
                          </a:solidFill>
                        </a:rPr>
                        <a:t>mID</a:t>
                      </a:r>
                      <a:r>
                        <a:rPr lang="de-DE" dirty="0">
                          <a:solidFill>
                            <a:schemeClr val="tx1"/>
                          </a:solidFill>
                        </a:rPr>
                        <a:t>-gemittelt</a:t>
                      </a:r>
                    </a:p>
                  </a:txBody>
                  <a:tcPr/>
                </a:tc>
                <a:extLst>
                  <a:ext uri="{0D108BD9-81ED-4DB2-BD59-A6C34878D82A}">
                    <a16:rowId xmlns:a16="http://schemas.microsoft.com/office/drawing/2014/main" val="229442809"/>
                  </a:ext>
                </a:extLst>
              </a:tr>
              <a:tr h="185420">
                <a:tc>
                  <a:txBody>
                    <a:bodyPr/>
                    <a:lstStyle/>
                    <a:p>
                      <a:pPr algn="ctr"/>
                      <a:endParaRPr lang="de-DE" dirty="0">
                        <a:solidFill>
                          <a:schemeClr val="tx1"/>
                        </a:solidFill>
                      </a:endParaRPr>
                    </a:p>
                  </a:txBody>
                  <a:tcPr/>
                </a:tc>
                <a:tc>
                  <a:txBody>
                    <a:bodyPr/>
                    <a:lstStyle/>
                    <a:p>
                      <a:pPr algn="ctr"/>
                      <a:r>
                        <a:rPr lang="de-DE" dirty="0">
                          <a:solidFill>
                            <a:schemeClr val="tx1"/>
                          </a:solidFill>
                        </a:rPr>
                        <a:t>(BA Ch1 + BA Ch2) / 2</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de-DE" dirty="0">
                          <a:solidFill>
                            <a:schemeClr val="tx1"/>
                          </a:solidFill>
                        </a:rPr>
                        <a:t>(BA Ch1 + BA Ch2) / 2</a:t>
                      </a:r>
                    </a:p>
                  </a:txBody>
                  <a:tcPr/>
                </a:tc>
                <a:extLst>
                  <a:ext uri="{0D108BD9-81ED-4DB2-BD59-A6C34878D82A}">
                    <a16:rowId xmlns:a16="http://schemas.microsoft.com/office/drawing/2014/main" val="1249886461"/>
                  </a:ext>
                </a:extLst>
              </a:tr>
              <a:tr h="370840">
                <a:tc>
                  <a:txBody>
                    <a:bodyPr/>
                    <a:lstStyle/>
                    <a:p>
                      <a:pPr algn="ctr"/>
                      <a:r>
                        <a:rPr lang="de-DE" dirty="0"/>
                        <a:t>1</a:t>
                      </a:r>
                    </a:p>
                  </a:txBody>
                  <a:tcPr/>
                </a:tc>
                <a:tc>
                  <a:txBody>
                    <a:bodyPr/>
                    <a:lstStyle/>
                    <a:p>
                      <a:pPr algn="ctr"/>
                      <a:r>
                        <a:rPr lang="de-DE" dirty="0"/>
                        <a:t>0.938</a:t>
                      </a:r>
                    </a:p>
                  </a:txBody>
                  <a:tcPr/>
                </a:tc>
                <a:tc>
                  <a:txBody>
                    <a:bodyPr/>
                    <a:lstStyle/>
                    <a:p>
                      <a:pPr algn="ctr"/>
                      <a:r>
                        <a:rPr lang="de-DE" dirty="0"/>
                        <a:t>0.963</a:t>
                      </a:r>
                    </a:p>
                  </a:txBody>
                  <a:tcPr/>
                </a:tc>
                <a:extLst>
                  <a:ext uri="{0D108BD9-81ED-4DB2-BD59-A6C34878D82A}">
                    <a16:rowId xmlns:a16="http://schemas.microsoft.com/office/drawing/2014/main" val="3762681257"/>
                  </a:ext>
                </a:extLst>
              </a:tr>
              <a:tr h="370840">
                <a:tc>
                  <a:txBody>
                    <a:bodyPr/>
                    <a:lstStyle/>
                    <a:p>
                      <a:pPr algn="ctr"/>
                      <a:r>
                        <a:rPr lang="de-DE" dirty="0"/>
                        <a:t>2</a:t>
                      </a:r>
                    </a:p>
                  </a:txBody>
                  <a:tcPr/>
                </a:tc>
                <a:tc>
                  <a:txBody>
                    <a:bodyPr/>
                    <a:lstStyle/>
                    <a:p>
                      <a:pPr algn="ctr"/>
                      <a:r>
                        <a:rPr lang="de-DE" dirty="0"/>
                        <a:t>0.938</a:t>
                      </a:r>
                    </a:p>
                  </a:txBody>
                  <a:tcPr/>
                </a:tc>
                <a:tc>
                  <a:txBody>
                    <a:bodyPr/>
                    <a:lstStyle/>
                    <a:p>
                      <a:pPr algn="ctr"/>
                      <a:r>
                        <a:rPr lang="de-DE" dirty="0"/>
                        <a:t>0.700</a:t>
                      </a:r>
                    </a:p>
                  </a:txBody>
                  <a:tcPr/>
                </a:tc>
                <a:extLst>
                  <a:ext uri="{0D108BD9-81ED-4DB2-BD59-A6C34878D82A}">
                    <a16:rowId xmlns:a16="http://schemas.microsoft.com/office/drawing/2014/main" val="405883056"/>
                  </a:ext>
                </a:extLst>
              </a:tr>
              <a:tr h="370840">
                <a:tc>
                  <a:txBody>
                    <a:bodyPr/>
                    <a:lstStyle/>
                    <a:p>
                      <a:pPr algn="ctr"/>
                      <a:r>
                        <a:rPr lang="de-DE" dirty="0"/>
                        <a:t>3</a:t>
                      </a:r>
                    </a:p>
                  </a:txBody>
                  <a:tcPr/>
                </a:tc>
                <a:tc>
                  <a:txBody>
                    <a:bodyPr/>
                    <a:lstStyle/>
                    <a:p>
                      <a:pPr algn="ctr"/>
                      <a:r>
                        <a:rPr lang="de-DE" dirty="0"/>
                        <a:t>0.975</a:t>
                      </a:r>
                    </a:p>
                  </a:txBody>
                  <a:tcPr/>
                </a:tc>
                <a:tc>
                  <a:txBody>
                    <a:bodyPr/>
                    <a:lstStyle/>
                    <a:p>
                      <a:pPr algn="ctr"/>
                      <a:r>
                        <a:rPr lang="de-DE" dirty="0"/>
                        <a:t>0.500</a:t>
                      </a:r>
                    </a:p>
                  </a:txBody>
                  <a:tcPr/>
                </a:tc>
                <a:extLst>
                  <a:ext uri="{0D108BD9-81ED-4DB2-BD59-A6C34878D82A}">
                    <a16:rowId xmlns:a16="http://schemas.microsoft.com/office/drawing/2014/main" val="2514947775"/>
                  </a:ext>
                </a:extLst>
              </a:tr>
              <a:tr h="370840">
                <a:tc>
                  <a:txBody>
                    <a:bodyPr/>
                    <a:lstStyle/>
                    <a:p>
                      <a:pPr algn="ctr"/>
                      <a:r>
                        <a:rPr lang="de-DE" dirty="0"/>
                        <a:t>4</a:t>
                      </a:r>
                    </a:p>
                  </a:txBody>
                  <a:tcPr/>
                </a:tc>
                <a:tc>
                  <a:txBody>
                    <a:bodyPr/>
                    <a:lstStyle/>
                    <a:p>
                      <a:pPr algn="ctr"/>
                      <a:r>
                        <a:rPr lang="de-DE" dirty="0"/>
                        <a:t>0.755</a:t>
                      </a:r>
                    </a:p>
                  </a:txBody>
                  <a:tcPr/>
                </a:tc>
                <a:tc>
                  <a:txBody>
                    <a:bodyPr/>
                    <a:lstStyle/>
                    <a:p>
                      <a:pPr algn="ctr"/>
                      <a:r>
                        <a:rPr lang="de-DE" dirty="0"/>
                        <a:t>0.838</a:t>
                      </a:r>
                    </a:p>
                  </a:txBody>
                  <a:tcPr/>
                </a:tc>
                <a:extLst>
                  <a:ext uri="{0D108BD9-81ED-4DB2-BD59-A6C34878D82A}">
                    <a16:rowId xmlns:a16="http://schemas.microsoft.com/office/drawing/2014/main" val="4142393146"/>
                  </a:ext>
                </a:extLst>
              </a:tr>
              <a:tr h="370840">
                <a:tc>
                  <a:txBody>
                    <a:bodyPr/>
                    <a:lstStyle/>
                    <a:p>
                      <a:pPr algn="ctr"/>
                      <a:r>
                        <a:rPr lang="de-DE" dirty="0"/>
                        <a:t>Makromittel</a:t>
                      </a:r>
                    </a:p>
                  </a:txBody>
                  <a:tcPr/>
                </a:tc>
                <a:tc>
                  <a:txBody>
                    <a:bodyPr/>
                    <a:lstStyle/>
                    <a:p>
                      <a:pPr algn="ctr"/>
                      <a:r>
                        <a:rPr lang="de-DE" dirty="0"/>
                        <a:t>0.901</a:t>
                      </a:r>
                    </a:p>
                  </a:txBody>
                  <a:tcPr/>
                </a:tc>
                <a:tc>
                  <a:txBody>
                    <a:bodyPr/>
                    <a:lstStyle/>
                    <a:p>
                      <a:pPr algn="ctr"/>
                      <a:r>
                        <a:rPr lang="de-DE" dirty="0"/>
                        <a:t>0.750</a:t>
                      </a:r>
                    </a:p>
                  </a:txBody>
                  <a:tcPr/>
                </a:tc>
                <a:extLst>
                  <a:ext uri="{0D108BD9-81ED-4DB2-BD59-A6C34878D82A}">
                    <a16:rowId xmlns:a16="http://schemas.microsoft.com/office/drawing/2014/main" val="3071965136"/>
                  </a:ext>
                </a:extLst>
              </a:tr>
            </a:tbl>
          </a:graphicData>
        </a:graphic>
      </p:graphicFrame>
    </p:spTree>
    <p:extLst>
      <p:ext uri="{BB962C8B-B14F-4D97-AF65-F5344CB8AC3E}">
        <p14:creationId xmlns:p14="http://schemas.microsoft.com/office/powerpoint/2010/main" val="3200753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A0095-53C7-3F5E-182B-1605E00E0FC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D757B5A5-6051-FFCC-0340-6B2A2309AADC}"/>
              </a:ext>
            </a:extLst>
          </p:cNvPr>
          <p:cNvSpPr>
            <a:spLocks noGrp="1"/>
          </p:cNvSpPr>
          <p:nvPr>
            <p:ph type="title"/>
          </p:nvPr>
        </p:nvSpPr>
        <p:spPr>
          <a:xfrm>
            <a:off x="341810" y="567600"/>
            <a:ext cx="5995927" cy="706030"/>
          </a:xfrm>
        </p:spPr>
        <p:txBody>
          <a:bodyPr/>
          <a:lstStyle/>
          <a:p>
            <a:r>
              <a:rPr lang="de-DE" sz="3200" dirty="0" err="1"/>
              <a:t>Confusion</a:t>
            </a:r>
            <a:r>
              <a:rPr lang="de-DE" sz="3200" dirty="0"/>
              <a:t>-Matrix Vergleich Fold 1</a:t>
            </a:r>
          </a:p>
        </p:txBody>
      </p:sp>
      <p:sp>
        <p:nvSpPr>
          <p:cNvPr id="14" name="Foliennummernplatzhalter 13">
            <a:extLst>
              <a:ext uri="{FF2B5EF4-FFF2-40B4-BE49-F238E27FC236}">
                <a16:creationId xmlns:a16="http://schemas.microsoft.com/office/drawing/2014/main" id="{F5D0BE65-A2B4-48E0-17C8-1A3BCBA53756}"/>
              </a:ext>
            </a:extLst>
          </p:cNvPr>
          <p:cNvSpPr>
            <a:spLocks noGrp="1"/>
          </p:cNvSpPr>
          <p:nvPr>
            <p:ph type="sldNum" sz="quarter" idx="10"/>
          </p:nvPr>
        </p:nvSpPr>
        <p:spPr/>
        <p:txBody>
          <a:bodyPr/>
          <a:lstStyle/>
          <a:p>
            <a:fld id="{80B4FCE6-DC73-4135-BC56-1F242D45A84C}" type="slidenum">
              <a:rPr lang="de-DE" smtClean="0"/>
              <a:t>9</a:t>
            </a:fld>
            <a:endParaRPr lang="de-DE"/>
          </a:p>
        </p:txBody>
      </p:sp>
      <p:sp>
        <p:nvSpPr>
          <p:cNvPr id="6" name="Fußzeilenplatzhalter 5">
            <a:extLst>
              <a:ext uri="{FF2B5EF4-FFF2-40B4-BE49-F238E27FC236}">
                <a16:creationId xmlns:a16="http://schemas.microsoft.com/office/drawing/2014/main" id="{8AEF4587-D828-91EE-B123-AA8CB8A7F45A}"/>
              </a:ext>
            </a:extLst>
          </p:cNvPr>
          <p:cNvSpPr>
            <a:spLocks noGrp="1"/>
          </p:cNvSpPr>
          <p:nvPr>
            <p:ph type="ftr" sz="quarter" idx="11"/>
          </p:nvPr>
        </p:nvSpPr>
        <p:spPr/>
        <p:txBody>
          <a:bodyPr/>
          <a:lstStyle/>
          <a:p>
            <a:r>
              <a:rPr lang="de-DE"/>
              <a:t>Materialdiagnostik: Task 4</a:t>
            </a:r>
            <a:endParaRPr lang="de-DE" dirty="0"/>
          </a:p>
        </p:txBody>
      </p:sp>
      <p:sp>
        <p:nvSpPr>
          <p:cNvPr id="2" name="Datumsplatzhalter 1">
            <a:extLst>
              <a:ext uri="{FF2B5EF4-FFF2-40B4-BE49-F238E27FC236}">
                <a16:creationId xmlns:a16="http://schemas.microsoft.com/office/drawing/2014/main" id="{CE98F3A7-4DE5-447B-E8E2-5AA1A1F5B2C0}"/>
              </a:ext>
            </a:extLst>
          </p:cNvPr>
          <p:cNvSpPr>
            <a:spLocks noGrp="1"/>
          </p:cNvSpPr>
          <p:nvPr>
            <p:ph type="dt" sz="half" idx="12"/>
          </p:nvPr>
        </p:nvSpPr>
        <p:spPr/>
        <p:txBody>
          <a:bodyPr/>
          <a:lstStyle/>
          <a:p>
            <a:r>
              <a:rPr lang="de-DE"/>
              <a:t>23.07.2026</a:t>
            </a:r>
          </a:p>
        </p:txBody>
      </p:sp>
      <p:pic>
        <p:nvPicPr>
          <p:cNvPr id="11" name="Inhaltsplatzhalter 10">
            <a:extLst>
              <a:ext uri="{FF2B5EF4-FFF2-40B4-BE49-F238E27FC236}">
                <a16:creationId xmlns:a16="http://schemas.microsoft.com/office/drawing/2014/main" id="{76E1111D-6EAD-AB55-4658-E026E716E886}"/>
              </a:ext>
            </a:extLst>
          </p:cNvPr>
          <p:cNvPicPr>
            <a:picLocks noGrp="1" noChangeAspect="1"/>
          </p:cNvPicPr>
          <p:nvPr>
            <p:ph sz="quarter" idx="13"/>
          </p:nvPr>
        </p:nvPicPr>
        <p:blipFill>
          <a:blip r:embed="rId3"/>
          <a:srcRect/>
          <a:stretch/>
        </p:blipFill>
        <p:spPr>
          <a:xfrm>
            <a:off x="447040" y="1619250"/>
            <a:ext cx="5179695" cy="4316413"/>
          </a:xfrm>
          <a:prstGeom prst="rect">
            <a:avLst/>
          </a:prstGeom>
        </p:spPr>
      </p:pic>
      <p:pic>
        <p:nvPicPr>
          <p:cNvPr id="15" name="Inhaltsplatzhalter 14">
            <a:extLst>
              <a:ext uri="{FF2B5EF4-FFF2-40B4-BE49-F238E27FC236}">
                <a16:creationId xmlns:a16="http://schemas.microsoft.com/office/drawing/2014/main" id="{B77F871A-4A0B-1EBD-3652-27ECB1E25FD7}"/>
              </a:ext>
            </a:extLst>
          </p:cNvPr>
          <p:cNvPicPr>
            <a:picLocks noGrp="1" noChangeAspect="1"/>
          </p:cNvPicPr>
          <p:nvPr>
            <p:ph sz="quarter" idx="14"/>
          </p:nvPr>
        </p:nvPicPr>
        <p:blipFill>
          <a:blip r:embed="rId4"/>
          <a:srcRect/>
          <a:stretch/>
        </p:blipFill>
        <p:spPr>
          <a:xfrm>
            <a:off x="6565265" y="1619250"/>
            <a:ext cx="5179695" cy="4316413"/>
          </a:xfrm>
          <a:prstGeom prst="rect">
            <a:avLst/>
          </a:prstGeom>
        </p:spPr>
      </p:pic>
    </p:spTree>
    <p:extLst>
      <p:ext uri="{BB962C8B-B14F-4D97-AF65-F5344CB8AC3E}">
        <p14:creationId xmlns:p14="http://schemas.microsoft.com/office/powerpoint/2010/main" val="1026886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6A420-195F-AE6A-BF05-E430617A768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44F5F173-CFCA-46AF-3825-95D573C0C940}"/>
              </a:ext>
            </a:extLst>
          </p:cNvPr>
          <p:cNvSpPr>
            <a:spLocks noGrp="1"/>
          </p:cNvSpPr>
          <p:nvPr>
            <p:ph type="title"/>
          </p:nvPr>
        </p:nvSpPr>
        <p:spPr>
          <a:xfrm>
            <a:off x="341811" y="567600"/>
            <a:ext cx="6016948" cy="706030"/>
          </a:xfrm>
        </p:spPr>
        <p:txBody>
          <a:bodyPr/>
          <a:lstStyle/>
          <a:p>
            <a:r>
              <a:rPr lang="de-DE" sz="3200" dirty="0" err="1"/>
              <a:t>Confusion</a:t>
            </a:r>
            <a:r>
              <a:rPr lang="de-DE" sz="3200" dirty="0"/>
              <a:t>-Matrix Vergleich Fold 2</a:t>
            </a:r>
          </a:p>
        </p:txBody>
      </p:sp>
      <p:sp>
        <p:nvSpPr>
          <p:cNvPr id="14" name="Foliennummernplatzhalter 13">
            <a:extLst>
              <a:ext uri="{FF2B5EF4-FFF2-40B4-BE49-F238E27FC236}">
                <a16:creationId xmlns:a16="http://schemas.microsoft.com/office/drawing/2014/main" id="{4A79E1E8-34E0-A99D-E9E8-B1CA1F50C63E}"/>
              </a:ext>
            </a:extLst>
          </p:cNvPr>
          <p:cNvSpPr>
            <a:spLocks noGrp="1"/>
          </p:cNvSpPr>
          <p:nvPr>
            <p:ph type="sldNum" sz="quarter" idx="10"/>
          </p:nvPr>
        </p:nvSpPr>
        <p:spPr/>
        <p:txBody>
          <a:bodyPr/>
          <a:lstStyle/>
          <a:p>
            <a:fld id="{80B4FCE6-DC73-4135-BC56-1F242D45A84C}" type="slidenum">
              <a:rPr lang="de-DE" smtClean="0"/>
              <a:t>10</a:t>
            </a:fld>
            <a:endParaRPr lang="de-DE"/>
          </a:p>
        </p:txBody>
      </p:sp>
      <p:sp>
        <p:nvSpPr>
          <p:cNvPr id="6" name="Fußzeilenplatzhalter 5">
            <a:extLst>
              <a:ext uri="{FF2B5EF4-FFF2-40B4-BE49-F238E27FC236}">
                <a16:creationId xmlns:a16="http://schemas.microsoft.com/office/drawing/2014/main" id="{EBE1B724-A15D-5168-DB31-DD4CA842F33C}"/>
              </a:ext>
            </a:extLst>
          </p:cNvPr>
          <p:cNvSpPr>
            <a:spLocks noGrp="1"/>
          </p:cNvSpPr>
          <p:nvPr>
            <p:ph type="ftr" sz="quarter" idx="11"/>
          </p:nvPr>
        </p:nvSpPr>
        <p:spPr/>
        <p:txBody>
          <a:bodyPr/>
          <a:lstStyle/>
          <a:p>
            <a:r>
              <a:rPr lang="de-DE"/>
              <a:t>Materialdiagnostik: Task 4</a:t>
            </a:r>
            <a:endParaRPr lang="de-DE" dirty="0"/>
          </a:p>
        </p:txBody>
      </p:sp>
      <p:sp>
        <p:nvSpPr>
          <p:cNvPr id="2" name="Datumsplatzhalter 1">
            <a:extLst>
              <a:ext uri="{FF2B5EF4-FFF2-40B4-BE49-F238E27FC236}">
                <a16:creationId xmlns:a16="http://schemas.microsoft.com/office/drawing/2014/main" id="{ED5C9E13-2494-8FF8-0639-BEDB9DC944CA}"/>
              </a:ext>
            </a:extLst>
          </p:cNvPr>
          <p:cNvSpPr>
            <a:spLocks noGrp="1"/>
          </p:cNvSpPr>
          <p:nvPr>
            <p:ph type="dt" sz="half" idx="12"/>
          </p:nvPr>
        </p:nvSpPr>
        <p:spPr/>
        <p:txBody>
          <a:bodyPr/>
          <a:lstStyle/>
          <a:p>
            <a:r>
              <a:rPr lang="de-DE"/>
              <a:t>23.07.2026</a:t>
            </a:r>
          </a:p>
        </p:txBody>
      </p:sp>
      <p:pic>
        <p:nvPicPr>
          <p:cNvPr id="11" name="Inhaltsplatzhalter 10">
            <a:extLst>
              <a:ext uri="{FF2B5EF4-FFF2-40B4-BE49-F238E27FC236}">
                <a16:creationId xmlns:a16="http://schemas.microsoft.com/office/drawing/2014/main" id="{D0FD7253-3DF1-9C7D-B68A-1760623D2AD8}"/>
              </a:ext>
            </a:extLst>
          </p:cNvPr>
          <p:cNvPicPr>
            <a:picLocks noGrp="1" noChangeAspect="1"/>
          </p:cNvPicPr>
          <p:nvPr>
            <p:ph sz="quarter" idx="13"/>
          </p:nvPr>
        </p:nvPicPr>
        <p:blipFill>
          <a:blip r:embed="rId3"/>
          <a:srcRect/>
          <a:stretch/>
        </p:blipFill>
        <p:spPr>
          <a:xfrm>
            <a:off x="447040" y="1619250"/>
            <a:ext cx="5179695" cy="4316413"/>
          </a:xfrm>
          <a:prstGeom prst="rect">
            <a:avLst/>
          </a:prstGeom>
        </p:spPr>
      </p:pic>
      <p:pic>
        <p:nvPicPr>
          <p:cNvPr id="15" name="Inhaltsplatzhalter 14">
            <a:extLst>
              <a:ext uri="{FF2B5EF4-FFF2-40B4-BE49-F238E27FC236}">
                <a16:creationId xmlns:a16="http://schemas.microsoft.com/office/drawing/2014/main" id="{EE11EAAE-CB13-B6A6-E1D7-9AD86609A0F7}"/>
              </a:ext>
            </a:extLst>
          </p:cNvPr>
          <p:cNvPicPr>
            <a:picLocks noGrp="1" noChangeAspect="1"/>
          </p:cNvPicPr>
          <p:nvPr>
            <p:ph sz="quarter" idx="14"/>
          </p:nvPr>
        </p:nvPicPr>
        <p:blipFill>
          <a:blip r:embed="rId4"/>
          <a:srcRect/>
          <a:stretch/>
        </p:blipFill>
        <p:spPr>
          <a:xfrm>
            <a:off x="6565265" y="1619250"/>
            <a:ext cx="5179695" cy="4316413"/>
          </a:xfrm>
          <a:prstGeom prst="rect">
            <a:avLst/>
          </a:prstGeom>
        </p:spPr>
      </p:pic>
    </p:spTree>
    <p:extLst>
      <p:ext uri="{BB962C8B-B14F-4D97-AF65-F5344CB8AC3E}">
        <p14:creationId xmlns:p14="http://schemas.microsoft.com/office/powerpoint/2010/main" val="2660300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7F4FB-957D-C777-D17B-03DB060A1941}"/>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70FA0071-9D28-E701-6775-DAD246DFC539}"/>
              </a:ext>
            </a:extLst>
          </p:cNvPr>
          <p:cNvSpPr>
            <a:spLocks noGrp="1"/>
          </p:cNvSpPr>
          <p:nvPr>
            <p:ph type="title"/>
          </p:nvPr>
        </p:nvSpPr>
        <p:spPr>
          <a:xfrm>
            <a:off x="341810" y="567600"/>
            <a:ext cx="5995927" cy="706030"/>
          </a:xfrm>
        </p:spPr>
        <p:txBody>
          <a:bodyPr/>
          <a:lstStyle/>
          <a:p>
            <a:r>
              <a:rPr lang="de-DE" sz="3200" dirty="0" err="1"/>
              <a:t>Confusion</a:t>
            </a:r>
            <a:r>
              <a:rPr lang="de-DE" sz="3200" dirty="0"/>
              <a:t>-Matrix Vergleich Fold 3</a:t>
            </a:r>
          </a:p>
        </p:txBody>
      </p:sp>
      <p:sp>
        <p:nvSpPr>
          <p:cNvPr id="14" name="Foliennummernplatzhalter 13">
            <a:extLst>
              <a:ext uri="{FF2B5EF4-FFF2-40B4-BE49-F238E27FC236}">
                <a16:creationId xmlns:a16="http://schemas.microsoft.com/office/drawing/2014/main" id="{6CA9F601-B423-5E4A-4C0D-61333D330743}"/>
              </a:ext>
            </a:extLst>
          </p:cNvPr>
          <p:cNvSpPr>
            <a:spLocks noGrp="1"/>
          </p:cNvSpPr>
          <p:nvPr>
            <p:ph type="sldNum" sz="quarter" idx="10"/>
          </p:nvPr>
        </p:nvSpPr>
        <p:spPr/>
        <p:txBody>
          <a:bodyPr/>
          <a:lstStyle/>
          <a:p>
            <a:fld id="{80B4FCE6-DC73-4135-BC56-1F242D45A84C}" type="slidenum">
              <a:rPr lang="de-DE" smtClean="0"/>
              <a:t>11</a:t>
            </a:fld>
            <a:endParaRPr lang="de-DE"/>
          </a:p>
        </p:txBody>
      </p:sp>
      <p:sp>
        <p:nvSpPr>
          <p:cNvPr id="6" name="Fußzeilenplatzhalter 5">
            <a:extLst>
              <a:ext uri="{FF2B5EF4-FFF2-40B4-BE49-F238E27FC236}">
                <a16:creationId xmlns:a16="http://schemas.microsoft.com/office/drawing/2014/main" id="{DB99D166-1036-73A5-42E9-EDFAB77196E3}"/>
              </a:ext>
            </a:extLst>
          </p:cNvPr>
          <p:cNvSpPr>
            <a:spLocks noGrp="1"/>
          </p:cNvSpPr>
          <p:nvPr>
            <p:ph type="ftr" sz="quarter" idx="11"/>
          </p:nvPr>
        </p:nvSpPr>
        <p:spPr/>
        <p:txBody>
          <a:bodyPr/>
          <a:lstStyle/>
          <a:p>
            <a:r>
              <a:rPr lang="de-DE"/>
              <a:t>Materialdiagnostik: Task 4</a:t>
            </a:r>
            <a:endParaRPr lang="de-DE" dirty="0"/>
          </a:p>
        </p:txBody>
      </p:sp>
      <p:sp>
        <p:nvSpPr>
          <p:cNvPr id="2" name="Datumsplatzhalter 1">
            <a:extLst>
              <a:ext uri="{FF2B5EF4-FFF2-40B4-BE49-F238E27FC236}">
                <a16:creationId xmlns:a16="http://schemas.microsoft.com/office/drawing/2014/main" id="{366AF41F-F91F-A40C-8B0D-E3FD2B2086A2}"/>
              </a:ext>
            </a:extLst>
          </p:cNvPr>
          <p:cNvSpPr>
            <a:spLocks noGrp="1"/>
          </p:cNvSpPr>
          <p:nvPr>
            <p:ph type="dt" sz="half" idx="12"/>
          </p:nvPr>
        </p:nvSpPr>
        <p:spPr/>
        <p:txBody>
          <a:bodyPr/>
          <a:lstStyle/>
          <a:p>
            <a:r>
              <a:rPr lang="de-DE"/>
              <a:t>23.07.2026</a:t>
            </a:r>
          </a:p>
        </p:txBody>
      </p:sp>
      <p:pic>
        <p:nvPicPr>
          <p:cNvPr id="11" name="Inhaltsplatzhalter 10">
            <a:extLst>
              <a:ext uri="{FF2B5EF4-FFF2-40B4-BE49-F238E27FC236}">
                <a16:creationId xmlns:a16="http://schemas.microsoft.com/office/drawing/2014/main" id="{B3E90FE8-49B9-1D1F-B1FE-FA678FB277B7}"/>
              </a:ext>
            </a:extLst>
          </p:cNvPr>
          <p:cNvPicPr>
            <a:picLocks noGrp="1" noChangeAspect="1"/>
          </p:cNvPicPr>
          <p:nvPr>
            <p:ph sz="quarter" idx="13"/>
          </p:nvPr>
        </p:nvPicPr>
        <p:blipFill>
          <a:blip r:embed="rId3"/>
          <a:srcRect/>
          <a:stretch/>
        </p:blipFill>
        <p:spPr>
          <a:xfrm>
            <a:off x="447040" y="1619250"/>
            <a:ext cx="5179695" cy="4316413"/>
          </a:xfrm>
          <a:prstGeom prst="rect">
            <a:avLst/>
          </a:prstGeom>
        </p:spPr>
      </p:pic>
      <p:pic>
        <p:nvPicPr>
          <p:cNvPr id="15" name="Inhaltsplatzhalter 14">
            <a:extLst>
              <a:ext uri="{FF2B5EF4-FFF2-40B4-BE49-F238E27FC236}">
                <a16:creationId xmlns:a16="http://schemas.microsoft.com/office/drawing/2014/main" id="{37E5B077-C654-E7CA-A38E-DB1C604295AF}"/>
              </a:ext>
            </a:extLst>
          </p:cNvPr>
          <p:cNvPicPr>
            <a:picLocks noGrp="1" noChangeAspect="1"/>
          </p:cNvPicPr>
          <p:nvPr>
            <p:ph sz="quarter" idx="14"/>
          </p:nvPr>
        </p:nvPicPr>
        <p:blipFill>
          <a:blip r:embed="rId4"/>
          <a:srcRect/>
          <a:stretch/>
        </p:blipFill>
        <p:spPr>
          <a:xfrm>
            <a:off x="6565265" y="1619250"/>
            <a:ext cx="5179695" cy="4316413"/>
          </a:xfrm>
          <a:prstGeom prst="rect">
            <a:avLst/>
          </a:prstGeom>
        </p:spPr>
      </p:pic>
    </p:spTree>
    <p:extLst>
      <p:ext uri="{BB962C8B-B14F-4D97-AF65-F5344CB8AC3E}">
        <p14:creationId xmlns:p14="http://schemas.microsoft.com/office/powerpoint/2010/main" val="3863973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2F724-9340-0C52-F77E-E37E31870DAD}"/>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7B5C4E3E-FDDB-0A91-9E25-816E8A3DB1C3}"/>
              </a:ext>
            </a:extLst>
          </p:cNvPr>
          <p:cNvSpPr>
            <a:spLocks noGrp="1"/>
          </p:cNvSpPr>
          <p:nvPr>
            <p:ph type="title"/>
          </p:nvPr>
        </p:nvSpPr>
        <p:spPr>
          <a:xfrm>
            <a:off x="341810" y="567600"/>
            <a:ext cx="5995927" cy="706030"/>
          </a:xfrm>
        </p:spPr>
        <p:txBody>
          <a:bodyPr/>
          <a:lstStyle/>
          <a:p>
            <a:r>
              <a:rPr lang="de-DE" sz="3200" dirty="0" err="1"/>
              <a:t>Confusion</a:t>
            </a:r>
            <a:r>
              <a:rPr lang="de-DE" sz="3200" dirty="0"/>
              <a:t>-Matrix Vergleich Fold 4</a:t>
            </a:r>
          </a:p>
        </p:txBody>
      </p:sp>
      <p:sp>
        <p:nvSpPr>
          <p:cNvPr id="14" name="Foliennummernplatzhalter 13">
            <a:extLst>
              <a:ext uri="{FF2B5EF4-FFF2-40B4-BE49-F238E27FC236}">
                <a16:creationId xmlns:a16="http://schemas.microsoft.com/office/drawing/2014/main" id="{75CAE18E-A74D-F847-DC73-973671E102E9}"/>
              </a:ext>
            </a:extLst>
          </p:cNvPr>
          <p:cNvSpPr>
            <a:spLocks noGrp="1"/>
          </p:cNvSpPr>
          <p:nvPr>
            <p:ph type="sldNum" sz="quarter" idx="10"/>
          </p:nvPr>
        </p:nvSpPr>
        <p:spPr/>
        <p:txBody>
          <a:bodyPr/>
          <a:lstStyle/>
          <a:p>
            <a:fld id="{80B4FCE6-DC73-4135-BC56-1F242D45A84C}" type="slidenum">
              <a:rPr lang="de-DE" smtClean="0"/>
              <a:t>12</a:t>
            </a:fld>
            <a:endParaRPr lang="de-DE"/>
          </a:p>
        </p:txBody>
      </p:sp>
      <p:sp>
        <p:nvSpPr>
          <p:cNvPr id="6" name="Fußzeilenplatzhalter 5">
            <a:extLst>
              <a:ext uri="{FF2B5EF4-FFF2-40B4-BE49-F238E27FC236}">
                <a16:creationId xmlns:a16="http://schemas.microsoft.com/office/drawing/2014/main" id="{1A3E2241-3ED3-9978-AB6C-C0D86F388513}"/>
              </a:ext>
            </a:extLst>
          </p:cNvPr>
          <p:cNvSpPr>
            <a:spLocks noGrp="1"/>
          </p:cNvSpPr>
          <p:nvPr>
            <p:ph type="ftr" sz="quarter" idx="11"/>
          </p:nvPr>
        </p:nvSpPr>
        <p:spPr/>
        <p:txBody>
          <a:bodyPr/>
          <a:lstStyle/>
          <a:p>
            <a:r>
              <a:rPr lang="de-DE"/>
              <a:t>Materialdiagnostik: Task 4</a:t>
            </a:r>
            <a:endParaRPr lang="de-DE" dirty="0"/>
          </a:p>
        </p:txBody>
      </p:sp>
      <p:sp>
        <p:nvSpPr>
          <p:cNvPr id="2" name="Datumsplatzhalter 1">
            <a:extLst>
              <a:ext uri="{FF2B5EF4-FFF2-40B4-BE49-F238E27FC236}">
                <a16:creationId xmlns:a16="http://schemas.microsoft.com/office/drawing/2014/main" id="{1EB728BA-14A3-FD9A-E16E-2E08B4358ACC}"/>
              </a:ext>
            </a:extLst>
          </p:cNvPr>
          <p:cNvSpPr>
            <a:spLocks noGrp="1"/>
          </p:cNvSpPr>
          <p:nvPr>
            <p:ph type="dt" sz="half" idx="12"/>
          </p:nvPr>
        </p:nvSpPr>
        <p:spPr/>
        <p:txBody>
          <a:bodyPr/>
          <a:lstStyle/>
          <a:p>
            <a:r>
              <a:rPr lang="de-DE"/>
              <a:t>23.07.2026</a:t>
            </a:r>
          </a:p>
        </p:txBody>
      </p:sp>
      <p:pic>
        <p:nvPicPr>
          <p:cNvPr id="11" name="Inhaltsplatzhalter 10">
            <a:extLst>
              <a:ext uri="{FF2B5EF4-FFF2-40B4-BE49-F238E27FC236}">
                <a16:creationId xmlns:a16="http://schemas.microsoft.com/office/drawing/2014/main" id="{E4914CFD-9705-AB7B-4B0B-FB1E85D39F55}"/>
              </a:ext>
            </a:extLst>
          </p:cNvPr>
          <p:cNvPicPr>
            <a:picLocks noGrp="1" noChangeAspect="1"/>
          </p:cNvPicPr>
          <p:nvPr>
            <p:ph sz="quarter" idx="13"/>
          </p:nvPr>
        </p:nvPicPr>
        <p:blipFill>
          <a:blip r:embed="rId3"/>
          <a:srcRect/>
          <a:stretch/>
        </p:blipFill>
        <p:spPr>
          <a:xfrm>
            <a:off x="447040" y="1619250"/>
            <a:ext cx="5179695" cy="4316413"/>
          </a:xfrm>
          <a:prstGeom prst="rect">
            <a:avLst/>
          </a:prstGeom>
        </p:spPr>
      </p:pic>
      <p:pic>
        <p:nvPicPr>
          <p:cNvPr id="15" name="Inhaltsplatzhalter 14">
            <a:extLst>
              <a:ext uri="{FF2B5EF4-FFF2-40B4-BE49-F238E27FC236}">
                <a16:creationId xmlns:a16="http://schemas.microsoft.com/office/drawing/2014/main" id="{13754023-48FA-6D20-6A19-4DA8C0FC511A}"/>
              </a:ext>
            </a:extLst>
          </p:cNvPr>
          <p:cNvPicPr>
            <a:picLocks noGrp="1" noChangeAspect="1"/>
          </p:cNvPicPr>
          <p:nvPr>
            <p:ph sz="quarter" idx="14"/>
          </p:nvPr>
        </p:nvPicPr>
        <p:blipFill>
          <a:blip r:embed="rId4"/>
          <a:srcRect/>
          <a:stretch/>
        </p:blipFill>
        <p:spPr>
          <a:xfrm>
            <a:off x="6565265" y="1619250"/>
            <a:ext cx="5179695" cy="4316413"/>
          </a:xfrm>
          <a:prstGeom prst="rect">
            <a:avLst/>
          </a:prstGeom>
        </p:spPr>
      </p:pic>
    </p:spTree>
    <p:extLst>
      <p:ext uri="{BB962C8B-B14F-4D97-AF65-F5344CB8AC3E}">
        <p14:creationId xmlns:p14="http://schemas.microsoft.com/office/powerpoint/2010/main" val="2295782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324D3E-0F2F-AB0F-B173-23CAC68258D5}"/>
              </a:ext>
            </a:extLst>
          </p:cNvPr>
          <p:cNvSpPr>
            <a:spLocks noGrp="1"/>
          </p:cNvSpPr>
          <p:nvPr>
            <p:ph type="title"/>
          </p:nvPr>
        </p:nvSpPr>
        <p:spPr/>
        <p:txBody>
          <a:bodyPr/>
          <a:lstStyle/>
          <a:p>
            <a:r>
              <a:rPr lang="de-DE" sz="3200" dirty="0"/>
              <a:t>ROC-Kurve</a:t>
            </a:r>
          </a:p>
        </p:txBody>
      </p:sp>
      <p:sp>
        <p:nvSpPr>
          <p:cNvPr id="8" name="Foliennummernplatzhalter 7">
            <a:extLst>
              <a:ext uri="{FF2B5EF4-FFF2-40B4-BE49-F238E27FC236}">
                <a16:creationId xmlns:a16="http://schemas.microsoft.com/office/drawing/2014/main" id="{2F72B419-304B-ACE9-A0CD-B2C1E713F427}"/>
              </a:ext>
            </a:extLst>
          </p:cNvPr>
          <p:cNvSpPr>
            <a:spLocks noGrp="1"/>
          </p:cNvSpPr>
          <p:nvPr>
            <p:ph type="sldNum" sz="quarter" idx="10"/>
          </p:nvPr>
        </p:nvSpPr>
        <p:spPr/>
        <p:txBody>
          <a:bodyPr/>
          <a:lstStyle/>
          <a:p>
            <a:fld id="{80B4FCE6-DC73-4135-BC56-1F242D45A84C}" type="slidenum">
              <a:rPr lang="de-DE" smtClean="0"/>
              <a:t>13</a:t>
            </a:fld>
            <a:endParaRPr lang="de-DE"/>
          </a:p>
        </p:txBody>
      </p:sp>
      <p:sp>
        <p:nvSpPr>
          <p:cNvPr id="5" name="Fußzeilenplatzhalter 4">
            <a:extLst>
              <a:ext uri="{FF2B5EF4-FFF2-40B4-BE49-F238E27FC236}">
                <a16:creationId xmlns:a16="http://schemas.microsoft.com/office/drawing/2014/main" id="{769D6D17-25F8-CC0D-9807-336DAF75B7C5}"/>
              </a:ext>
            </a:extLst>
          </p:cNvPr>
          <p:cNvSpPr>
            <a:spLocks noGrp="1"/>
          </p:cNvSpPr>
          <p:nvPr>
            <p:ph type="ftr" sz="quarter" idx="11"/>
          </p:nvPr>
        </p:nvSpPr>
        <p:spPr/>
        <p:txBody>
          <a:bodyPr/>
          <a:lstStyle/>
          <a:p>
            <a:r>
              <a:rPr lang="de-DE"/>
              <a:t>Materialdiagnostik: Task 4</a:t>
            </a:r>
            <a:endParaRPr lang="de-DE" dirty="0"/>
          </a:p>
        </p:txBody>
      </p:sp>
      <p:sp>
        <p:nvSpPr>
          <p:cNvPr id="3" name="Datumsplatzhalter 2">
            <a:extLst>
              <a:ext uri="{FF2B5EF4-FFF2-40B4-BE49-F238E27FC236}">
                <a16:creationId xmlns:a16="http://schemas.microsoft.com/office/drawing/2014/main" id="{10DEE32E-D555-A5C0-5E56-51A5968FB217}"/>
              </a:ext>
            </a:extLst>
          </p:cNvPr>
          <p:cNvSpPr>
            <a:spLocks noGrp="1"/>
          </p:cNvSpPr>
          <p:nvPr>
            <p:ph type="dt" sz="half" idx="12"/>
          </p:nvPr>
        </p:nvSpPr>
        <p:spPr/>
        <p:txBody>
          <a:bodyPr/>
          <a:lstStyle/>
          <a:p>
            <a:r>
              <a:rPr lang="de-DE"/>
              <a:t>23.07.2026</a:t>
            </a:r>
          </a:p>
        </p:txBody>
      </p:sp>
      <p:pic>
        <p:nvPicPr>
          <p:cNvPr id="9" name="Inhaltsplatzhalter 8">
            <a:extLst>
              <a:ext uri="{FF2B5EF4-FFF2-40B4-BE49-F238E27FC236}">
                <a16:creationId xmlns:a16="http://schemas.microsoft.com/office/drawing/2014/main" id="{85A3FBC0-059F-4ED9-5BA3-D31613BCAF47}"/>
              </a:ext>
            </a:extLst>
          </p:cNvPr>
          <p:cNvPicPr>
            <a:picLocks noGrp="1" noChangeAspect="1"/>
          </p:cNvPicPr>
          <p:nvPr>
            <p:ph sz="quarter" idx="13"/>
          </p:nvPr>
        </p:nvPicPr>
        <p:blipFill>
          <a:blip r:embed="rId3"/>
          <a:srcRect/>
          <a:stretch/>
        </p:blipFill>
        <p:spPr>
          <a:xfrm>
            <a:off x="380634" y="1619250"/>
            <a:ext cx="5312507" cy="4316413"/>
          </a:xfrm>
          <a:prstGeom prst="rect">
            <a:avLst/>
          </a:prstGeom>
        </p:spPr>
      </p:pic>
      <p:pic>
        <p:nvPicPr>
          <p:cNvPr id="11" name="Inhaltsplatzhalter 10">
            <a:extLst>
              <a:ext uri="{FF2B5EF4-FFF2-40B4-BE49-F238E27FC236}">
                <a16:creationId xmlns:a16="http://schemas.microsoft.com/office/drawing/2014/main" id="{F86CA4C6-9E33-E6CF-9E33-E5BDFD921EFA}"/>
              </a:ext>
            </a:extLst>
          </p:cNvPr>
          <p:cNvPicPr>
            <a:picLocks noGrp="1" noChangeAspect="1"/>
          </p:cNvPicPr>
          <p:nvPr>
            <p:ph sz="quarter" idx="14"/>
          </p:nvPr>
        </p:nvPicPr>
        <p:blipFill>
          <a:blip r:embed="rId4"/>
          <a:srcRect/>
          <a:stretch/>
        </p:blipFill>
        <p:spPr>
          <a:xfrm>
            <a:off x="6498859" y="1619250"/>
            <a:ext cx="5312507" cy="4316413"/>
          </a:xfrm>
          <a:prstGeom prst="rect">
            <a:avLst/>
          </a:prstGeom>
        </p:spPr>
      </p:pic>
    </p:spTree>
    <p:extLst>
      <p:ext uri="{BB962C8B-B14F-4D97-AF65-F5344CB8AC3E}">
        <p14:creationId xmlns:p14="http://schemas.microsoft.com/office/powerpoint/2010/main" val="4106251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2FAD6-4627-9F34-DB87-1A86966F8E9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603F7AB-64A5-5BEA-9CFA-3394BAF2F33D}"/>
              </a:ext>
            </a:extLst>
          </p:cNvPr>
          <p:cNvSpPr>
            <a:spLocks noGrp="1"/>
          </p:cNvSpPr>
          <p:nvPr>
            <p:ph type="title"/>
          </p:nvPr>
        </p:nvSpPr>
        <p:spPr/>
        <p:txBody>
          <a:bodyPr/>
          <a:lstStyle/>
          <a:p>
            <a:r>
              <a:rPr lang="de-DE" sz="3200" dirty="0"/>
              <a:t>ROC-Kurve</a:t>
            </a:r>
          </a:p>
        </p:txBody>
      </p:sp>
      <p:sp>
        <p:nvSpPr>
          <p:cNvPr id="8" name="Foliennummernplatzhalter 7">
            <a:extLst>
              <a:ext uri="{FF2B5EF4-FFF2-40B4-BE49-F238E27FC236}">
                <a16:creationId xmlns:a16="http://schemas.microsoft.com/office/drawing/2014/main" id="{2A1B6DE5-3B0D-93F4-35C4-FCDF73FBA84A}"/>
              </a:ext>
            </a:extLst>
          </p:cNvPr>
          <p:cNvSpPr>
            <a:spLocks noGrp="1"/>
          </p:cNvSpPr>
          <p:nvPr>
            <p:ph type="sldNum" sz="quarter" idx="10"/>
          </p:nvPr>
        </p:nvSpPr>
        <p:spPr/>
        <p:txBody>
          <a:bodyPr/>
          <a:lstStyle/>
          <a:p>
            <a:fld id="{80B4FCE6-DC73-4135-BC56-1F242D45A84C}" type="slidenum">
              <a:rPr lang="de-DE" smtClean="0"/>
              <a:t>14</a:t>
            </a:fld>
            <a:endParaRPr lang="de-DE"/>
          </a:p>
        </p:txBody>
      </p:sp>
      <p:sp>
        <p:nvSpPr>
          <p:cNvPr id="5" name="Fußzeilenplatzhalter 4">
            <a:extLst>
              <a:ext uri="{FF2B5EF4-FFF2-40B4-BE49-F238E27FC236}">
                <a16:creationId xmlns:a16="http://schemas.microsoft.com/office/drawing/2014/main" id="{DE5536E9-606F-C983-1408-2DE58604BA76}"/>
              </a:ext>
            </a:extLst>
          </p:cNvPr>
          <p:cNvSpPr>
            <a:spLocks noGrp="1"/>
          </p:cNvSpPr>
          <p:nvPr>
            <p:ph type="ftr" sz="quarter" idx="11"/>
          </p:nvPr>
        </p:nvSpPr>
        <p:spPr/>
        <p:txBody>
          <a:bodyPr/>
          <a:lstStyle/>
          <a:p>
            <a:r>
              <a:rPr lang="de-DE"/>
              <a:t>Materialdiagnostik: Task 4</a:t>
            </a:r>
            <a:endParaRPr lang="de-DE" dirty="0"/>
          </a:p>
        </p:txBody>
      </p:sp>
      <p:sp>
        <p:nvSpPr>
          <p:cNvPr id="3" name="Datumsplatzhalter 2">
            <a:extLst>
              <a:ext uri="{FF2B5EF4-FFF2-40B4-BE49-F238E27FC236}">
                <a16:creationId xmlns:a16="http://schemas.microsoft.com/office/drawing/2014/main" id="{95A6DE22-34B6-1D47-836E-ECFCAA83236B}"/>
              </a:ext>
            </a:extLst>
          </p:cNvPr>
          <p:cNvSpPr>
            <a:spLocks noGrp="1"/>
          </p:cNvSpPr>
          <p:nvPr>
            <p:ph type="dt" sz="half" idx="12"/>
          </p:nvPr>
        </p:nvSpPr>
        <p:spPr/>
        <p:txBody>
          <a:bodyPr/>
          <a:lstStyle/>
          <a:p>
            <a:r>
              <a:rPr lang="de-DE"/>
              <a:t>23.07.2026</a:t>
            </a:r>
          </a:p>
        </p:txBody>
      </p:sp>
      <p:pic>
        <p:nvPicPr>
          <p:cNvPr id="9" name="Inhaltsplatzhalter 8">
            <a:extLst>
              <a:ext uri="{FF2B5EF4-FFF2-40B4-BE49-F238E27FC236}">
                <a16:creationId xmlns:a16="http://schemas.microsoft.com/office/drawing/2014/main" id="{F1620877-DE8F-42AA-70E2-6F8FFF497514}"/>
              </a:ext>
            </a:extLst>
          </p:cNvPr>
          <p:cNvPicPr>
            <a:picLocks noGrp="1" noChangeAspect="1"/>
          </p:cNvPicPr>
          <p:nvPr>
            <p:ph sz="quarter" idx="13"/>
          </p:nvPr>
        </p:nvPicPr>
        <p:blipFill>
          <a:blip r:embed="rId3"/>
          <a:srcRect/>
          <a:stretch/>
        </p:blipFill>
        <p:spPr>
          <a:xfrm>
            <a:off x="380634" y="1619250"/>
            <a:ext cx="5312507" cy="4316413"/>
          </a:xfrm>
          <a:prstGeom prst="rect">
            <a:avLst/>
          </a:prstGeom>
        </p:spPr>
      </p:pic>
      <p:pic>
        <p:nvPicPr>
          <p:cNvPr id="11" name="Inhaltsplatzhalter 10">
            <a:extLst>
              <a:ext uri="{FF2B5EF4-FFF2-40B4-BE49-F238E27FC236}">
                <a16:creationId xmlns:a16="http://schemas.microsoft.com/office/drawing/2014/main" id="{C7057071-71C8-AF87-8458-AFDB1C5F56A2}"/>
              </a:ext>
            </a:extLst>
          </p:cNvPr>
          <p:cNvPicPr>
            <a:picLocks noGrp="1" noChangeAspect="1"/>
          </p:cNvPicPr>
          <p:nvPr>
            <p:ph sz="quarter" idx="14"/>
          </p:nvPr>
        </p:nvPicPr>
        <p:blipFill>
          <a:blip r:embed="rId4"/>
          <a:srcRect/>
          <a:stretch/>
        </p:blipFill>
        <p:spPr>
          <a:xfrm>
            <a:off x="6498859" y="1619250"/>
            <a:ext cx="5312507" cy="4316413"/>
          </a:xfrm>
          <a:prstGeom prst="rect">
            <a:avLst/>
          </a:prstGeom>
        </p:spPr>
      </p:pic>
    </p:spTree>
    <p:extLst>
      <p:ext uri="{BB962C8B-B14F-4D97-AF65-F5344CB8AC3E}">
        <p14:creationId xmlns:p14="http://schemas.microsoft.com/office/powerpoint/2010/main" val="301113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C85E5-FAA6-C964-CEBE-45537634857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75B23E4-E3F5-3DE5-EBB2-83E6F81B1E58}"/>
              </a:ext>
            </a:extLst>
          </p:cNvPr>
          <p:cNvSpPr>
            <a:spLocks noGrp="1"/>
          </p:cNvSpPr>
          <p:nvPr>
            <p:ph type="title"/>
          </p:nvPr>
        </p:nvSpPr>
        <p:spPr/>
        <p:txBody>
          <a:bodyPr/>
          <a:lstStyle/>
          <a:p>
            <a:r>
              <a:rPr lang="de-DE" sz="3200" dirty="0"/>
              <a:t>ROC-Kurve</a:t>
            </a:r>
          </a:p>
        </p:txBody>
      </p:sp>
      <p:sp>
        <p:nvSpPr>
          <p:cNvPr id="8" name="Foliennummernplatzhalter 7">
            <a:extLst>
              <a:ext uri="{FF2B5EF4-FFF2-40B4-BE49-F238E27FC236}">
                <a16:creationId xmlns:a16="http://schemas.microsoft.com/office/drawing/2014/main" id="{5D2A95ED-F98C-6262-163F-41115FB83FB7}"/>
              </a:ext>
            </a:extLst>
          </p:cNvPr>
          <p:cNvSpPr>
            <a:spLocks noGrp="1"/>
          </p:cNvSpPr>
          <p:nvPr>
            <p:ph type="sldNum" sz="quarter" idx="10"/>
          </p:nvPr>
        </p:nvSpPr>
        <p:spPr/>
        <p:txBody>
          <a:bodyPr/>
          <a:lstStyle/>
          <a:p>
            <a:fld id="{80B4FCE6-DC73-4135-BC56-1F242D45A84C}" type="slidenum">
              <a:rPr lang="de-DE" smtClean="0"/>
              <a:t>15</a:t>
            </a:fld>
            <a:endParaRPr lang="de-DE"/>
          </a:p>
        </p:txBody>
      </p:sp>
      <p:sp>
        <p:nvSpPr>
          <p:cNvPr id="5" name="Fußzeilenplatzhalter 4">
            <a:extLst>
              <a:ext uri="{FF2B5EF4-FFF2-40B4-BE49-F238E27FC236}">
                <a16:creationId xmlns:a16="http://schemas.microsoft.com/office/drawing/2014/main" id="{3CDB1AEE-102C-A7A1-3383-C3DE105E5772}"/>
              </a:ext>
            </a:extLst>
          </p:cNvPr>
          <p:cNvSpPr>
            <a:spLocks noGrp="1"/>
          </p:cNvSpPr>
          <p:nvPr>
            <p:ph type="ftr" sz="quarter" idx="11"/>
          </p:nvPr>
        </p:nvSpPr>
        <p:spPr/>
        <p:txBody>
          <a:bodyPr/>
          <a:lstStyle/>
          <a:p>
            <a:r>
              <a:rPr lang="de-DE"/>
              <a:t>Materialdiagnostik: Task 4</a:t>
            </a:r>
            <a:endParaRPr lang="de-DE" dirty="0"/>
          </a:p>
        </p:txBody>
      </p:sp>
      <p:sp>
        <p:nvSpPr>
          <p:cNvPr id="3" name="Datumsplatzhalter 2">
            <a:extLst>
              <a:ext uri="{FF2B5EF4-FFF2-40B4-BE49-F238E27FC236}">
                <a16:creationId xmlns:a16="http://schemas.microsoft.com/office/drawing/2014/main" id="{EF239192-025A-2F06-6926-4A07097FD807}"/>
              </a:ext>
            </a:extLst>
          </p:cNvPr>
          <p:cNvSpPr>
            <a:spLocks noGrp="1"/>
          </p:cNvSpPr>
          <p:nvPr>
            <p:ph type="dt" sz="half" idx="12"/>
          </p:nvPr>
        </p:nvSpPr>
        <p:spPr/>
        <p:txBody>
          <a:bodyPr/>
          <a:lstStyle/>
          <a:p>
            <a:r>
              <a:rPr lang="de-DE"/>
              <a:t>23.07.2026</a:t>
            </a:r>
          </a:p>
        </p:txBody>
      </p:sp>
      <p:pic>
        <p:nvPicPr>
          <p:cNvPr id="9" name="Inhaltsplatzhalter 8">
            <a:extLst>
              <a:ext uri="{FF2B5EF4-FFF2-40B4-BE49-F238E27FC236}">
                <a16:creationId xmlns:a16="http://schemas.microsoft.com/office/drawing/2014/main" id="{E58803F8-F76A-E078-5AD1-146E22CD1EC6}"/>
              </a:ext>
            </a:extLst>
          </p:cNvPr>
          <p:cNvPicPr>
            <a:picLocks noGrp="1" noChangeAspect="1"/>
          </p:cNvPicPr>
          <p:nvPr>
            <p:ph sz="quarter" idx="13"/>
          </p:nvPr>
        </p:nvPicPr>
        <p:blipFill>
          <a:blip r:embed="rId3"/>
          <a:srcRect/>
          <a:stretch/>
        </p:blipFill>
        <p:spPr>
          <a:xfrm>
            <a:off x="380634" y="1619250"/>
            <a:ext cx="5312507" cy="4316413"/>
          </a:xfrm>
          <a:prstGeom prst="rect">
            <a:avLst/>
          </a:prstGeom>
        </p:spPr>
      </p:pic>
      <p:pic>
        <p:nvPicPr>
          <p:cNvPr id="11" name="Inhaltsplatzhalter 10">
            <a:extLst>
              <a:ext uri="{FF2B5EF4-FFF2-40B4-BE49-F238E27FC236}">
                <a16:creationId xmlns:a16="http://schemas.microsoft.com/office/drawing/2014/main" id="{AD0FB3FB-5656-701E-0288-466A2B67D029}"/>
              </a:ext>
            </a:extLst>
          </p:cNvPr>
          <p:cNvPicPr>
            <a:picLocks noGrp="1" noChangeAspect="1"/>
          </p:cNvPicPr>
          <p:nvPr>
            <p:ph sz="quarter" idx="14"/>
          </p:nvPr>
        </p:nvPicPr>
        <p:blipFill>
          <a:blip r:embed="rId4"/>
          <a:srcRect/>
          <a:stretch/>
        </p:blipFill>
        <p:spPr>
          <a:xfrm>
            <a:off x="6498859" y="1619250"/>
            <a:ext cx="5312507" cy="4316413"/>
          </a:xfrm>
          <a:prstGeom prst="rect">
            <a:avLst/>
          </a:prstGeom>
        </p:spPr>
      </p:pic>
    </p:spTree>
    <p:extLst>
      <p:ext uri="{BB962C8B-B14F-4D97-AF65-F5344CB8AC3E}">
        <p14:creationId xmlns:p14="http://schemas.microsoft.com/office/powerpoint/2010/main" val="529354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687707-7ED5-B9A7-90A0-DFEB182366B2}"/>
              </a:ext>
            </a:extLst>
          </p:cNvPr>
          <p:cNvSpPr>
            <a:spLocks noGrp="1"/>
          </p:cNvSpPr>
          <p:nvPr>
            <p:ph type="title"/>
          </p:nvPr>
        </p:nvSpPr>
        <p:spPr/>
        <p:txBody>
          <a:bodyPr/>
          <a:lstStyle/>
          <a:p>
            <a:r>
              <a:rPr lang="de-DE" dirty="0"/>
              <a:t>Rekonstruktionsfehler</a:t>
            </a:r>
          </a:p>
        </p:txBody>
      </p:sp>
      <p:sp>
        <p:nvSpPr>
          <p:cNvPr id="3" name="Foliennummernplatzhalter 2">
            <a:extLst>
              <a:ext uri="{FF2B5EF4-FFF2-40B4-BE49-F238E27FC236}">
                <a16:creationId xmlns:a16="http://schemas.microsoft.com/office/drawing/2014/main" id="{8D64D647-DD4D-91D2-1627-5BC45E9CD9D4}"/>
              </a:ext>
            </a:extLst>
          </p:cNvPr>
          <p:cNvSpPr>
            <a:spLocks noGrp="1"/>
          </p:cNvSpPr>
          <p:nvPr>
            <p:ph type="sldNum" sz="quarter" idx="10"/>
          </p:nvPr>
        </p:nvSpPr>
        <p:spPr/>
        <p:txBody>
          <a:bodyPr/>
          <a:lstStyle/>
          <a:p>
            <a:fld id="{80B4FCE6-DC73-4135-BC56-1F242D45A84C}" type="slidenum">
              <a:rPr lang="de-DE" smtClean="0"/>
              <a:t>16</a:t>
            </a:fld>
            <a:endParaRPr lang="de-DE"/>
          </a:p>
        </p:txBody>
      </p:sp>
      <p:sp>
        <p:nvSpPr>
          <p:cNvPr id="4" name="Fußzeilenplatzhalter 3">
            <a:extLst>
              <a:ext uri="{FF2B5EF4-FFF2-40B4-BE49-F238E27FC236}">
                <a16:creationId xmlns:a16="http://schemas.microsoft.com/office/drawing/2014/main" id="{26A69506-9B3E-7D71-5893-D0DC6E753E38}"/>
              </a:ext>
            </a:extLst>
          </p:cNvPr>
          <p:cNvSpPr>
            <a:spLocks noGrp="1"/>
          </p:cNvSpPr>
          <p:nvPr>
            <p:ph type="ftr" sz="quarter" idx="11"/>
          </p:nvPr>
        </p:nvSpPr>
        <p:spPr/>
        <p:txBody>
          <a:bodyPr/>
          <a:lstStyle/>
          <a:p>
            <a:r>
              <a:rPr lang="de-DE"/>
              <a:t>Materialdiagnostik: Task 4</a:t>
            </a:r>
          </a:p>
        </p:txBody>
      </p:sp>
      <p:sp>
        <p:nvSpPr>
          <p:cNvPr id="5" name="Datumsplatzhalter 4">
            <a:extLst>
              <a:ext uri="{FF2B5EF4-FFF2-40B4-BE49-F238E27FC236}">
                <a16:creationId xmlns:a16="http://schemas.microsoft.com/office/drawing/2014/main" id="{494DA9CB-9CB8-5597-4E72-4A4683E2D894}"/>
              </a:ext>
            </a:extLst>
          </p:cNvPr>
          <p:cNvSpPr>
            <a:spLocks noGrp="1"/>
          </p:cNvSpPr>
          <p:nvPr>
            <p:ph type="dt" sz="half" idx="12"/>
          </p:nvPr>
        </p:nvSpPr>
        <p:spPr/>
        <p:txBody>
          <a:bodyPr/>
          <a:lstStyle/>
          <a:p>
            <a:r>
              <a:rPr lang="de-DE"/>
              <a:t>23.07.2026</a:t>
            </a:r>
          </a:p>
        </p:txBody>
      </p:sp>
      <p:pic>
        <p:nvPicPr>
          <p:cNvPr id="9" name="Inhaltsplatzhalter 8">
            <a:extLst>
              <a:ext uri="{FF2B5EF4-FFF2-40B4-BE49-F238E27FC236}">
                <a16:creationId xmlns:a16="http://schemas.microsoft.com/office/drawing/2014/main" id="{1AC7FB36-DE6E-007A-4312-FA8EDFD31ADF}"/>
              </a:ext>
            </a:extLst>
          </p:cNvPr>
          <p:cNvPicPr>
            <a:picLocks noGrp="1" noChangeAspect="1"/>
          </p:cNvPicPr>
          <p:nvPr>
            <p:ph sz="quarter" idx="13"/>
          </p:nvPr>
        </p:nvPicPr>
        <p:blipFill>
          <a:blip r:embed="rId2"/>
          <a:stretch>
            <a:fillRect/>
          </a:stretch>
        </p:blipFill>
        <p:spPr>
          <a:xfrm>
            <a:off x="341313" y="2092722"/>
            <a:ext cx="5391150" cy="3369469"/>
          </a:xfrm>
          <a:prstGeom prst="rect">
            <a:avLst/>
          </a:prstGeom>
        </p:spPr>
      </p:pic>
      <p:pic>
        <p:nvPicPr>
          <p:cNvPr id="11" name="Inhaltsplatzhalter 10">
            <a:extLst>
              <a:ext uri="{FF2B5EF4-FFF2-40B4-BE49-F238E27FC236}">
                <a16:creationId xmlns:a16="http://schemas.microsoft.com/office/drawing/2014/main" id="{B0C8479F-FBF6-159F-47CB-34D27B45545C}"/>
              </a:ext>
            </a:extLst>
          </p:cNvPr>
          <p:cNvPicPr>
            <a:picLocks noGrp="1" noChangeAspect="1"/>
          </p:cNvPicPr>
          <p:nvPr>
            <p:ph sz="quarter" idx="14"/>
          </p:nvPr>
        </p:nvPicPr>
        <p:blipFill>
          <a:blip r:embed="rId3"/>
          <a:stretch>
            <a:fillRect/>
          </a:stretch>
        </p:blipFill>
        <p:spPr>
          <a:xfrm>
            <a:off x="6459538" y="2092722"/>
            <a:ext cx="5391150" cy="3369469"/>
          </a:xfrm>
          <a:prstGeom prst="rect">
            <a:avLst/>
          </a:prstGeom>
        </p:spPr>
      </p:pic>
    </p:spTree>
    <p:extLst>
      <p:ext uri="{BB962C8B-B14F-4D97-AF65-F5344CB8AC3E}">
        <p14:creationId xmlns:p14="http://schemas.microsoft.com/office/powerpoint/2010/main" val="3400250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AEF58-2125-4D08-AD0B-E3880D48646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B4AAB81-87D7-0FF4-7BF1-6AAAED5EC66D}"/>
              </a:ext>
            </a:extLst>
          </p:cNvPr>
          <p:cNvSpPr>
            <a:spLocks noGrp="1"/>
          </p:cNvSpPr>
          <p:nvPr>
            <p:ph type="title"/>
          </p:nvPr>
        </p:nvSpPr>
        <p:spPr/>
        <p:txBody>
          <a:bodyPr/>
          <a:lstStyle/>
          <a:p>
            <a:r>
              <a:rPr lang="de-DE" sz="3200" dirty="0"/>
              <a:t>ROC-Kurve</a:t>
            </a:r>
          </a:p>
        </p:txBody>
      </p:sp>
      <p:sp>
        <p:nvSpPr>
          <p:cNvPr id="8" name="Foliennummernplatzhalter 7">
            <a:extLst>
              <a:ext uri="{FF2B5EF4-FFF2-40B4-BE49-F238E27FC236}">
                <a16:creationId xmlns:a16="http://schemas.microsoft.com/office/drawing/2014/main" id="{FF8F33D0-988F-7EF7-B4B1-A3A839DD5E84}"/>
              </a:ext>
            </a:extLst>
          </p:cNvPr>
          <p:cNvSpPr>
            <a:spLocks noGrp="1"/>
          </p:cNvSpPr>
          <p:nvPr>
            <p:ph type="sldNum" sz="quarter" idx="10"/>
          </p:nvPr>
        </p:nvSpPr>
        <p:spPr/>
        <p:txBody>
          <a:bodyPr/>
          <a:lstStyle/>
          <a:p>
            <a:fld id="{80B4FCE6-DC73-4135-BC56-1F242D45A84C}" type="slidenum">
              <a:rPr lang="de-DE" smtClean="0"/>
              <a:t>17</a:t>
            </a:fld>
            <a:endParaRPr lang="de-DE"/>
          </a:p>
        </p:txBody>
      </p:sp>
      <p:sp>
        <p:nvSpPr>
          <p:cNvPr id="5" name="Fußzeilenplatzhalter 4">
            <a:extLst>
              <a:ext uri="{FF2B5EF4-FFF2-40B4-BE49-F238E27FC236}">
                <a16:creationId xmlns:a16="http://schemas.microsoft.com/office/drawing/2014/main" id="{CE31FBDB-E4F0-6CAF-93D9-EE31834FD099}"/>
              </a:ext>
            </a:extLst>
          </p:cNvPr>
          <p:cNvSpPr>
            <a:spLocks noGrp="1"/>
          </p:cNvSpPr>
          <p:nvPr>
            <p:ph type="ftr" sz="quarter" idx="11"/>
          </p:nvPr>
        </p:nvSpPr>
        <p:spPr/>
        <p:txBody>
          <a:bodyPr/>
          <a:lstStyle/>
          <a:p>
            <a:r>
              <a:rPr lang="de-DE"/>
              <a:t>Materialdiagnostik: Task 4</a:t>
            </a:r>
            <a:endParaRPr lang="de-DE" dirty="0"/>
          </a:p>
        </p:txBody>
      </p:sp>
      <p:sp>
        <p:nvSpPr>
          <p:cNvPr id="3" name="Datumsplatzhalter 2">
            <a:extLst>
              <a:ext uri="{FF2B5EF4-FFF2-40B4-BE49-F238E27FC236}">
                <a16:creationId xmlns:a16="http://schemas.microsoft.com/office/drawing/2014/main" id="{210A17B6-32AB-A500-2054-6CC058B5812B}"/>
              </a:ext>
            </a:extLst>
          </p:cNvPr>
          <p:cNvSpPr>
            <a:spLocks noGrp="1"/>
          </p:cNvSpPr>
          <p:nvPr>
            <p:ph type="dt" sz="half" idx="12"/>
          </p:nvPr>
        </p:nvSpPr>
        <p:spPr/>
        <p:txBody>
          <a:bodyPr/>
          <a:lstStyle/>
          <a:p>
            <a:r>
              <a:rPr lang="de-DE"/>
              <a:t>23.07.2026</a:t>
            </a:r>
          </a:p>
        </p:txBody>
      </p:sp>
      <p:pic>
        <p:nvPicPr>
          <p:cNvPr id="9" name="Inhaltsplatzhalter 8">
            <a:extLst>
              <a:ext uri="{FF2B5EF4-FFF2-40B4-BE49-F238E27FC236}">
                <a16:creationId xmlns:a16="http://schemas.microsoft.com/office/drawing/2014/main" id="{7606F433-01C5-6688-6F58-11400D50B7CA}"/>
              </a:ext>
            </a:extLst>
          </p:cNvPr>
          <p:cNvPicPr>
            <a:picLocks noGrp="1" noChangeAspect="1"/>
          </p:cNvPicPr>
          <p:nvPr>
            <p:ph sz="quarter" idx="13"/>
          </p:nvPr>
        </p:nvPicPr>
        <p:blipFill>
          <a:blip r:embed="rId3"/>
          <a:srcRect/>
          <a:stretch/>
        </p:blipFill>
        <p:spPr>
          <a:xfrm>
            <a:off x="380634" y="1619250"/>
            <a:ext cx="5312507" cy="4316413"/>
          </a:xfrm>
          <a:prstGeom prst="rect">
            <a:avLst/>
          </a:prstGeom>
        </p:spPr>
      </p:pic>
      <p:pic>
        <p:nvPicPr>
          <p:cNvPr id="11" name="Inhaltsplatzhalter 10">
            <a:extLst>
              <a:ext uri="{FF2B5EF4-FFF2-40B4-BE49-F238E27FC236}">
                <a16:creationId xmlns:a16="http://schemas.microsoft.com/office/drawing/2014/main" id="{B5A8FE23-C07E-236A-A02B-DDD4EF8DC173}"/>
              </a:ext>
            </a:extLst>
          </p:cNvPr>
          <p:cNvPicPr>
            <a:picLocks noGrp="1" noChangeAspect="1"/>
          </p:cNvPicPr>
          <p:nvPr>
            <p:ph sz="quarter" idx="14"/>
          </p:nvPr>
        </p:nvPicPr>
        <p:blipFill>
          <a:blip r:embed="rId4"/>
          <a:srcRect/>
          <a:stretch/>
        </p:blipFill>
        <p:spPr>
          <a:xfrm>
            <a:off x="6498859" y="1619250"/>
            <a:ext cx="5312507" cy="4316413"/>
          </a:xfrm>
          <a:prstGeom prst="rect">
            <a:avLst/>
          </a:prstGeom>
        </p:spPr>
      </p:pic>
    </p:spTree>
    <p:extLst>
      <p:ext uri="{BB962C8B-B14F-4D97-AF65-F5344CB8AC3E}">
        <p14:creationId xmlns:p14="http://schemas.microsoft.com/office/powerpoint/2010/main" val="2654329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029FF-3EE4-876E-44F7-6B9655DA95A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22FFDB3-4876-2EA4-F8D1-820319818718}"/>
              </a:ext>
            </a:extLst>
          </p:cNvPr>
          <p:cNvSpPr>
            <a:spLocks noGrp="1"/>
          </p:cNvSpPr>
          <p:nvPr>
            <p:ph type="title"/>
          </p:nvPr>
        </p:nvSpPr>
        <p:spPr/>
        <p:txBody>
          <a:bodyPr/>
          <a:lstStyle/>
          <a:p>
            <a:r>
              <a:rPr lang="de-DE" dirty="0"/>
              <a:t>Rekonstruktionsfehler</a:t>
            </a:r>
          </a:p>
        </p:txBody>
      </p:sp>
      <p:sp>
        <p:nvSpPr>
          <p:cNvPr id="3" name="Foliennummernplatzhalter 2">
            <a:extLst>
              <a:ext uri="{FF2B5EF4-FFF2-40B4-BE49-F238E27FC236}">
                <a16:creationId xmlns:a16="http://schemas.microsoft.com/office/drawing/2014/main" id="{3DEC6A11-F996-E0BE-C4B6-E4F0714B9FA8}"/>
              </a:ext>
            </a:extLst>
          </p:cNvPr>
          <p:cNvSpPr>
            <a:spLocks noGrp="1"/>
          </p:cNvSpPr>
          <p:nvPr>
            <p:ph type="sldNum" sz="quarter" idx="10"/>
          </p:nvPr>
        </p:nvSpPr>
        <p:spPr/>
        <p:txBody>
          <a:bodyPr/>
          <a:lstStyle/>
          <a:p>
            <a:fld id="{80B4FCE6-DC73-4135-BC56-1F242D45A84C}" type="slidenum">
              <a:rPr lang="de-DE" smtClean="0"/>
              <a:t>18</a:t>
            </a:fld>
            <a:endParaRPr lang="de-DE"/>
          </a:p>
        </p:txBody>
      </p:sp>
      <p:sp>
        <p:nvSpPr>
          <p:cNvPr id="4" name="Fußzeilenplatzhalter 3">
            <a:extLst>
              <a:ext uri="{FF2B5EF4-FFF2-40B4-BE49-F238E27FC236}">
                <a16:creationId xmlns:a16="http://schemas.microsoft.com/office/drawing/2014/main" id="{5535EC75-87CC-5119-1B8A-99E8A5609E22}"/>
              </a:ext>
            </a:extLst>
          </p:cNvPr>
          <p:cNvSpPr>
            <a:spLocks noGrp="1"/>
          </p:cNvSpPr>
          <p:nvPr>
            <p:ph type="ftr" sz="quarter" idx="11"/>
          </p:nvPr>
        </p:nvSpPr>
        <p:spPr/>
        <p:txBody>
          <a:bodyPr/>
          <a:lstStyle/>
          <a:p>
            <a:r>
              <a:rPr lang="de-DE"/>
              <a:t>Materialdiagnostik: Task 4</a:t>
            </a:r>
          </a:p>
        </p:txBody>
      </p:sp>
      <p:sp>
        <p:nvSpPr>
          <p:cNvPr id="5" name="Datumsplatzhalter 4">
            <a:extLst>
              <a:ext uri="{FF2B5EF4-FFF2-40B4-BE49-F238E27FC236}">
                <a16:creationId xmlns:a16="http://schemas.microsoft.com/office/drawing/2014/main" id="{97D79AC4-5A08-B095-E382-F2DD2528EE86}"/>
              </a:ext>
            </a:extLst>
          </p:cNvPr>
          <p:cNvSpPr>
            <a:spLocks noGrp="1"/>
          </p:cNvSpPr>
          <p:nvPr>
            <p:ph type="dt" sz="half" idx="12"/>
          </p:nvPr>
        </p:nvSpPr>
        <p:spPr/>
        <p:txBody>
          <a:bodyPr/>
          <a:lstStyle/>
          <a:p>
            <a:r>
              <a:rPr lang="de-DE"/>
              <a:t>23.07.2026</a:t>
            </a:r>
          </a:p>
        </p:txBody>
      </p:sp>
      <p:pic>
        <p:nvPicPr>
          <p:cNvPr id="9" name="Inhaltsplatzhalter 8">
            <a:extLst>
              <a:ext uri="{FF2B5EF4-FFF2-40B4-BE49-F238E27FC236}">
                <a16:creationId xmlns:a16="http://schemas.microsoft.com/office/drawing/2014/main" id="{0D25EEC0-8944-6DBF-EE75-B0C8CFBD7CC3}"/>
              </a:ext>
            </a:extLst>
          </p:cNvPr>
          <p:cNvPicPr>
            <a:picLocks noGrp="1" noChangeAspect="1"/>
          </p:cNvPicPr>
          <p:nvPr>
            <p:ph sz="quarter" idx="13"/>
          </p:nvPr>
        </p:nvPicPr>
        <p:blipFill>
          <a:blip r:embed="rId2"/>
          <a:srcRect/>
          <a:stretch/>
        </p:blipFill>
        <p:spPr>
          <a:xfrm>
            <a:off x="341313" y="2092722"/>
            <a:ext cx="5391150" cy="3369469"/>
          </a:xfrm>
          <a:prstGeom prst="rect">
            <a:avLst/>
          </a:prstGeom>
        </p:spPr>
      </p:pic>
      <p:pic>
        <p:nvPicPr>
          <p:cNvPr id="11" name="Inhaltsplatzhalter 10">
            <a:extLst>
              <a:ext uri="{FF2B5EF4-FFF2-40B4-BE49-F238E27FC236}">
                <a16:creationId xmlns:a16="http://schemas.microsoft.com/office/drawing/2014/main" id="{0D931ADF-F894-0F11-F0C3-362F564BC532}"/>
              </a:ext>
            </a:extLst>
          </p:cNvPr>
          <p:cNvPicPr>
            <a:picLocks noGrp="1" noChangeAspect="1"/>
          </p:cNvPicPr>
          <p:nvPr>
            <p:ph sz="quarter" idx="14"/>
          </p:nvPr>
        </p:nvPicPr>
        <p:blipFill>
          <a:blip r:embed="rId3"/>
          <a:srcRect/>
          <a:stretch/>
        </p:blipFill>
        <p:spPr>
          <a:xfrm>
            <a:off x="6459538" y="2092722"/>
            <a:ext cx="5391150" cy="3369469"/>
          </a:xfrm>
          <a:prstGeom prst="rect">
            <a:avLst/>
          </a:prstGeom>
        </p:spPr>
      </p:pic>
    </p:spTree>
    <p:extLst>
      <p:ext uri="{BB962C8B-B14F-4D97-AF65-F5344CB8AC3E}">
        <p14:creationId xmlns:p14="http://schemas.microsoft.com/office/powerpoint/2010/main" val="1405776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A22DC-F88E-99AF-A1B7-63C4E1E70CFE}"/>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58211961-23B0-E5D4-DD50-236DA340FDDE}"/>
              </a:ext>
            </a:extLst>
          </p:cNvPr>
          <p:cNvSpPr>
            <a:spLocks noGrp="1"/>
          </p:cNvSpPr>
          <p:nvPr>
            <p:ph type="sldNum" sz="quarter" idx="10"/>
          </p:nvPr>
        </p:nvSpPr>
        <p:spPr/>
        <p:txBody>
          <a:bodyPr/>
          <a:lstStyle/>
          <a:p>
            <a:fld id="{80B4FCE6-DC73-4135-BC56-1F242D45A84C}" type="slidenum">
              <a:rPr lang="de-DE" smtClean="0"/>
              <a:t>19</a:t>
            </a:fld>
            <a:endParaRPr lang="de-DE"/>
          </a:p>
        </p:txBody>
      </p:sp>
      <p:sp>
        <p:nvSpPr>
          <p:cNvPr id="7" name="Fußzeilenplatzhalter 6">
            <a:extLst>
              <a:ext uri="{FF2B5EF4-FFF2-40B4-BE49-F238E27FC236}">
                <a16:creationId xmlns:a16="http://schemas.microsoft.com/office/drawing/2014/main" id="{F90F7BFF-E634-F432-B716-E8CCB89A7606}"/>
              </a:ext>
            </a:extLst>
          </p:cNvPr>
          <p:cNvSpPr>
            <a:spLocks noGrp="1"/>
          </p:cNvSpPr>
          <p:nvPr>
            <p:ph type="ftr" sz="quarter" idx="11"/>
          </p:nvPr>
        </p:nvSpPr>
        <p:spPr/>
        <p:txBody>
          <a:bodyPr/>
          <a:lstStyle/>
          <a:p>
            <a:r>
              <a:rPr lang="de-DE"/>
              <a:t>Materialdiagnostik: Task 4</a:t>
            </a:r>
            <a:endParaRPr lang="de-DE" dirty="0"/>
          </a:p>
        </p:txBody>
      </p:sp>
      <p:sp>
        <p:nvSpPr>
          <p:cNvPr id="6" name="Datumsplatzhalter 5">
            <a:extLst>
              <a:ext uri="{FF2B5EF4-FFF2-40B4-BE49-F238E27FC236}">
                <a16:creationId xmlns:a16="http://schemas.microsoft.com/office/drawing/2014/main" id="{6285D009-B3CD-3F2A-D8EE-96546325CCDB}"/>
              </a:ext>
            </a:extLst>
          </p:cNvPr>
          <p:cNvSpPr>
            <a:spLocks noGrp="1"/>
          </p:cNvSpPr>
          <p:nvPr>
            <p:ph type="dt" sz="half" idx="12"/>
          </p:nvPr>
        </p:nvSpPr>
        <p:spPr/>
        <p:txBody>
          <a:bodyPr/>
          <a:lstStyle/>
          <a:p>
            <a:r>
              <a:rPr lang="de-DE"/>
              <a:t>23.07.2026</a:t>
            </a:r>
          </a:p>
        </p:txBody>
      </p:sp>
      <p:sp>
        <p:nvSpPr>
          <p:cNvPr id="11" name="Inhaltsplatzhalter 10">
            <a:extLst>
              <a:ext uri="{FF2B5EF4-FFF2-40B4-BE49-F238E27FC236}">
                <a16:creationId xmlns:a16="http://schemas.microsoft.com/office/drawing/2014/main" id="{32197734-3134-43BC-590B-CFFB46F37A9B}"/>
              </a:ext>
            </a:extLst>
          </p:cNvPr>
          <p:cNvSpPr>
            <a:spLocks noGrp="1"/>
          </p:cNvSpPr>
          <p:nvPr>
            <p:ph sz="quarter" idx="13"/>
          </p:nvPr>
        </p:nvSpPr>
        <p:spPr/>
        <p:txBody>
          <a:bodyPr/>
          <a:lstStyle/>
          <a:p>
            <a:pPr>
              <a:buFont typeface="Arial" panose="020B0604020202020204" pitchFamily="34" charset="0"/>
              <a:buChar char="•"/>
            </a:pPr>
            <a:r>
              <a:rPr lang="de-DE" b="1" dirty="0"/>
              <a:t>Hohe Sensitivität:</a:t>
            </a:r>
            <a:r>
              <a:rPr lang="de-DE" dirty="0"/>
              <a:t> beide Pipelines erreichen in jedem Fold eine TNR von </a:t>
            </a:r>
            <a:r>
              <a:rPr lang="de-DE" b="1" dirty="0"/>
              <a:t>1,000</a:t>
            </a:r>
            <a:endParaRPr lang="de-DE" dirty="0"/>
          </a:p>
          <a:p>
            <a:pPr>
              <a:buFont typeface="Arial" panose="020B0604020202020204" pitchFamily="34" charset="0"/>
              <a:buChar char="•"/>
            </a:pPr>
            <a:r>
              <a:rPr lang="de-DE" b="1" dirty="0"/>
              <a:t>Einzelmessung:</a:t>
            </a:r>
            <a:r>
              <a:rPr lang="de-DE" dirty="0"/>
              <a:t> bessere BA und deutlich robuster in Fold 3</a:t>
            </a:r>
          </a:p>
          <a:p>
            <a:pPr>
              <a:buFont typeface="Arial" panose="020B0604020202020204" pitchFamily="34" charset="0"/>
              <a:buChar char="•"/>
            </a:pPr>
            <a:r>
              <a:rPr lang="de-DE" b="1" dirty="0" err="1"/>
              <a:t>mID</a:t>
            </a:r>
            <a:r>
              <a:rPr lang="de-DE" b="1" dirty="0"/>
              <a:t>-Mittelung: </a:t>
            </a:r>
            <a:r>
              <a:rPr lang="de-DE" dirty="0"/>
              <a:t>Fold 1 kommt auf ähnliche Werte wie Fold 3 Einzelmessung hat aber weniger Daten für das Training durch die Mittelung</a:t>
            </a:r>
          </a:p>
          <a:p>
            <a:pPr>
              <a:buFont typeface="Arial" panose="020B0604020202020204" pitchFamily="34" charset="0"/>
              <a:buChar char="•"/>
            </a:pPr>
            <a:r>
              <a:rPr lang="de-DE" b="1" dirty="0"/>
              <a:t>Allgemein für Einzelmessung: </a:t>
            </a:r>
            <a:r>
              <a:rPr lang="de-DE" dirty="0"/>
              <a:t>in der Einzelmessung erkennen wir, dass Fold 1 und Fold 4 durch viele Testfälle und wenige Trainings Signale viele FN gefunden werden </a:t>
            </a:r>
          </a:p>
          <a:p>
            <a:pPr lvl="1">
              <a:buFont typeface="Arial" panose="020B0604020202020204" pitchFamily="34" charset="0"/>
              <a:buChar char="•"/>
            </a:pPr>
            <a:r>
              <a:rPr lang="de-DE" dirty="0"/>
              <a:t>Vor allem Fold 4 mit den sehr verteilten Messungen durch Z01 im Testfall erkennt sehr viele FN</a:t>
            </a:r>
          </a:p>
        </p:txBody>
      </p:sp>
      <p:sp>
        <p:nvSpPr>
          <p:cNvPr id="2" name="Titel 1">
            <a:extLst>
              <a:ext uri="{FF2B5EF4-FFF2-40B4-BE49-F238E27FC236}">
                <a16:creationId xmlns:a16="http://schemas.microsoft.com/office/drawing/2014/main" id="{6697FF2F-4ABD-DBF1-1A9F-CD59B441583D}"/>
              </a:ext>
            </a:extLst>
          </p:cNvPr>
          <p:cNvSpPr>
            <a:spLocks noGrp="1"/>
          </p:cNvSpPr>
          <p:nvPr>
            <p:ph type="title"/>
          </p:nvPr>
        </p:nvSpPr>
        <p:spPr/>
        <p:txBody>
          <a:bodyPr/>
          <a:lstStyle/>
          <a:p>
            <a:r>
              <a:rPr lang="de-DE" sz="3200" dirty="0"/>
              <a:t>Kritische Diskussion</a:t>
            </a:r>
            <a:endParaRPr lang="de-DE" dirty="0"/>
          </a:p>
        </p:txBody>
      </p:sp>
    </p:spTree>
    <p:extLst>
      <p:ext uri="{BB962C8B-B14F-4D97-AF65-F5344CB8AC3E}">
        <p14:creationId xmlns:p14="http://schemas.microsoft.com/office/powerpoint/2010/main" val="2865727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EC792880-C870-78F8-FD9F-3732660E48D9}"/>
              </a:ext>
            </a:extLst>
          </p:cNvPr>
          <p:cNvSpPr>
            <a:spLocks noGrp="1"/>
          </p:cNvSpPr>
          <p:nvPr>
            <p:ph sz="quarter" idx="13"/>
          </p:nvPr>
        </p:nvSpPr>
        <p:spPr/>
        <p:txBody>
          <a:bodyPr/>
          <a:lstStyle/>
          <a:p>
            <a:pPr>
              <a:buFont typeface="Arial" panose="020B0604020202020204" pitchFamily="34" charset="0"/>
              <a:buChar char="•"/>
            </a:pPr>
            <a:r>
              <a:rPr lang="de-DE" dirty="0"/>
              <a:t>Ch1 und Ch2 werden für die Bewertung je Fold gepoolt.</a:t>
            </a:r>
          </a:p>
          <a:p>
            <a:pPr>
              <a:buFont typeface="Arial" panose="020B0604020202020204" pitchFamily="34" charset="0"/>
              <a:buChar char="•"/>
            </a:pPr>
            <a:endParaRPr lang="de-DE" dirty="0"/>
          </a:p>
          <a:p>
            <a:pPr>
              <a:buFont typeface="Arial" panose="020B0604020202020204" pitchFamily="34" charset="0"/>
              <a:buChar char="•"/>
            </a:pPr>
            <a:endParaRPr lang="de-DE" dirty="0"/>
          </a:p>
          <a:p>
            <a:pPr>
              <a:buFont typeface="Arial" panose="020B0604020202020204" pitchFamily="34" charset="0"/>
              <a:buChar char="•"/>
            </a:pPr>
            <a:endParaRPr lang="de-DE" dirty="0"/>
          </a:p>
          <a:p>
            <a:pPr>
              <a:buFont typeface="Arial" panose="020B0604020202020204" pitchFamily="34" charset="0"/>
              <a:buChar char="•"/>
            </a:pPr>
            <a:endParaRPr lang="de-DE" dirty="0"/>
          </a:p>
          <a:p>
            <a:pPr>
              <a:buFont typeface="Arial" panose="020B0604020202020204" pitchFamily="34" charset="0"/>
              <a:buChar char="•"/>
            </a:pPr>
            <a:endParaRPr lang="de-DE" dirty="0"/>
          </a:p>
          <a:p>
            <a:pPr>
              <a:buFont typeface="Arial" panose="020B0604020202020204" pitchFamily="34" charset="0"/>
              <a:buChar char="•"/>
            </a:pPr>
            <a:endParaRPr lang="de-DE" dirty="0"/>
          </a:p>
          <a:p>
            <a:pPr>
              <a:buFont typeface="Arial" panose="020B0604020202020204" pitchFamily="34" charset="0"/>
              <a:buChar char="•"/>
            </a:pPr>
            <a:endParaRPr lang="de-DE" dirty="0"/>
          </a:p>
          <a:p>
            <a:pPr>
              <a:buFont typeface="Arial" panose="020B0604020202020204" pitchFamily="34" charset="0"/>
              <a:buChar char="•"/>
            </a:pPr>
            <a:r>
              <a:rPr lang="de-DE" b="1" dirty="0"/>
              <a:t>ROC-Hinweis:</a:t>
            </a:r>
            <a:r>
              <a:rPr lang="de-DE" dirty="0"/>
              <a:t> Fold 2 erreicht in Ch1 und Ch2 jeweils </a:t>
            </a:r>
            <a:r>
              <a:rPr lang="de-DE" b="1" dirty="0"/>
              <a:t>ROC-AUC 1,000</a:t>
            </a:r>
            <a:r>
              <a:rPr lang="de-DE" dirty="0"/>
              <a:t>.</a:t>
            </a:r>
          </a:p>
          <a:p>
            <a:pPr>
              <a:buFont typeface="Arial" panose="020B0604020202020204" pitchFamily="34" charset="0"/>
              <a:buChar char="•"/>
            </a:pPr>
            <a:endParaRPr lang="de-DE" dirty="0"/>
          </a:p>
        </p:txBody>
      </p:sp>
      <p:sp>
        <p:nvSpPr>
          <p:cNvPr id="2" name="Titel 1">
            <a:extLst>
              <a:ext uri="{FF2B5EF4-FFF2-40B4-BE49-F238E27FC236}">
                <a16:creationId xmlns:a16="http://schemas.microsoft.com/office/drawing/2014/main" id="{C254BBB6-51EB-B8DF-B124-F43AAB73DC5D}"/>
              </a:ext>
            </a:extLst>
          </p:cNvPr>
          <p:cNvSpPr>
            <a:spLocks noGrp="1"/>
          </p:cNvSpPr>
          <p:nvPr>
            <p:ph type="title"/>
          </p:nvPr>
        </p:nvSpPr>
        <p:spPr/>
        <p:txBody>
          <a:bodyPr/>
          <a:lstStyle/>
          <a:p>
            <a:r>
              <a:rPr lang="de-DE" sz="3200" dirty="0"/>
              <a:t>Fazit</a:t>
            </a:r>
          </a:p>
        </p:txBody>
      </p:sp>
      <p:sp>
        <p:nvSpPr>
          <p:cNvPr id="5" name="Datumsplatzhalter 4">
            <a:extLst>
              <a:ext uri="{FF2B5EF4-FFF2-40B4-BE49-F238E27FC236}">
                <a16:creationId xmlns:a16="http://schemas.microsoft.com/office/drawing/2014/main" id="{A1BB0821-ACF4-FAAA-FCFD-FE000BACD3BE}"/>
              </a:ext>
            </a:extLst>
          </p:cNvPr>
          <p:cNvSpPr>
            <a:spLocks noGrp="1"/>
          </p:cNvSpPr>
          <p:nvPr>
            <p:ph type="dt" sz="half" idx="12"/>
          </p:nvPr>
        </p:nvSpPr>
        <p:spPr/>
        <p:txBody>
          <a:bodyPr/>
          <a:lstStyle/>
          <a:p>
            <a:r>
              <a:rPr lang="de-DE"/>
              <a:t>23.07.2026</a:t>
            </a:r>
          </a:p>
        </p:txBody>
      </p:sp>
      <p:sp>
        <p:nvSpPr>
          <p:cNvPr id="6" name="Fußzeilenplatzhalter 5">
            <a:extLst>
              <a:ext uri="{FF2B5EF4-FFF2-40B4-BE49-F238E27FC236}">
                <a16:creationId xmlns:a16="http://schemas.microsoft.com/office/drawing/2014/main" id="{44504410-AB8A-471C-1D33-002F641A2C98}"/>
              </a:ext>
            </a:extLst>
          </p:cNvPr>
          <p:cNvSpPr>
            <a:spLocks noGrp="1"/>
          </p:cNvSpPr>
          <p:nvPr>
            <p:ph type="ftr" sz="quarter" idx="11"/>
          </p:nvPr>
        </p:nvSpPr>
        <p:spPr/>
        <p:txBody>
          <a:bodyPr/>
          <a:lstStyle/>
          <a:p>
            <a:r>
              <a:rPr lang="de-DE"/>
              <a:t>Materialdiagnostik: Task 4</a:t>
            </a:r>
            <a:endParaRPr lang="de-DE" dirty="0"/>
          </a:p>
        </p:txBody>
      </p:sp>
      <p:sp>
        <p:nvSpPr>
          <p:cNvPr id="7" name="Foliennummernplatzhalter 6">
            <a:extLst>
              <a:ext uri="{FF2B5EF4-FFF2-40B4-BE49-F238E27FC236}">
                <a16:creationId xmlns:a16="http://schemas.microsoft.com/office/drawing/2014/main" id="{A8EACD8A-4E1D-8443-CADB-49E8F22A8887}"/>
              </a:ext>
            </a:extLst>
          </p:cNvPr>
          <p:cNvSpPr>
            <a:spLocks noGrp="1"/>
          </p:cNvSpPr>
          <p:nvPr>
            <p:ph type="sldNum" sz="quarter" idx="10"/>
          </p:nvPr>
        </p:nvSpPr>
        <p:spPr/>
        <p:txBody>
          <a:bodyPr/>
          <a:lstStyle/>
          <a:p>
            <a:fld id="{80B4FCE6-DC73-4135-BC56-1F242D45A84C}" type="slidenum">
              <a:rPr lang="de-DE" smtClean="0"/>
              <a:t>20</a:t>
            </a:fld>
            <a:endParaRPr lang="de-DE"/>
          </a:p>
        </p:txBody>
      </p:sp>
      <p:graphicFrame>
        <p:nvGraphicFramePr>
          <p:cNvPr id="4" name="Tabelle 3">
            <a:extLst>
              <a:ext uri="{FF2B5EF4-FFF2-40B4-BE49-F238E27FC236}">
                <a16:creationId xmlns:a16="http://schemas.microsoft.com/office/drawing/2014/main" id="{629F289D-2D85-626C-314C-A0BDD66220C6}"/>
              </a:ext>
            </a:extLst>
          </p:cNvPr>
          <p:cNvGraphicFramePr>
            <a:graphicFrameLocks noGrp="1"/>
          </p:cNvGraphicFramePr>
          <p:nvPr>
            <p:extLst>
              <p:ext uri="{D42A27DB-BD31-4B8C-83A1-F6EECF244321}">
                <p14:modId xmlns:p14="http://schemas.microsoft.com/office/powerpoint/2010/main" val="1757277997"/>
              </p:ext>
            </p:extLst>
          </p:nvPr>
        </p:nvGraphicFramePr>
        <p:xfrm>
          <a:off x="338136" y="2226346"/>
          <a:ext cx="11244264" cy="2818620"/>
        </p:xfrm>
        <a:graphic>
          <a:graphicData uri="http://schemas.openxmlformats.org/drawingml/2006/table">
            <a:tbl>
              <a:tblPr firstRow="1" bandRow="1">
                <a:tableStyleId>{5C22544A-7EE6-4342-B048-85BDC9FD1C3A}</a:tableStyleId>
              </a:tblPr>
              <a:tblGrid>
                <a:gridCol w="2142305">
                  <a:extLst>
                    <a:ext uri="{9D8B030D-6E8A-4147-A177-3AD203B41FA5}">
                      <a16:colId xmlns:a16="http://schemas.microsoft.com/office/drawing/2014/main" val="2705374214"/>
                    </a:ext>
                  </a:extLst>
                </a:gridCol>
                <a:gridCol w="1605783">
                  <a:extLst>
                    <a:ext uri="{9D8B030D-6E8A-4147-A177-3AD203B41FA5}">
                      <a16:colId xmlns:a16="http://schemas.microsoft.com/office/drawing/2014/main" val="2785795376"/>
                    </a:ext>
                  </a:extLst>
                </a:gridCol>
                <a:gridCol w="1874044">
                  <a:extLst>
                    <a:ext uri="{9D8B030D-6E8A-4147-A177-3AD203B41FA5}">
                      <a16:colId xmlns:a16="http://schemas.microsoft.com/office/drawing/2014/main" val="171928383"/>
                    </a:ext>
                  </a:extLst>
                </a:gridCol>
                <a:gridCol w="1874044">
                  <a:extLst>
                    <a:ext uri="{9D8B030D-6E8A-4147-A177-3AD203B41FA5}">
                      <a16:colId xmlns:a16="http://schemas.microsoft.com/office/drawing/2014/main" val="3769601062"/>
                    </a:ext>
                  </a:extLst>
                </a:gridCol>
                <a:gridCol w="1874044">
                  <a:extLst>
                    <a:ext uri="{9D8B030D-6E8A-4147-A177-3AD203B41FA5}">
                      <a16:colId xmlns:a16="http://schemas.microsoft.com/office/drawing/2014/main" val="3807350254"/>
                    </a:ext>
                  </a:extLst>
                </a:gridCol>
                <a:gridCol w="1874044">
                  <a:extLst>
                    <a:ext uri="{9D8B030D-6E8A-4147-A177-3AD203B41FA5}">
                      <a16:colId xmlns:a16="http://schemas.microsoft.com/office/drawing/2014/main" val="3982025148"/>
                    </a:ext>
                  </a:extLst>
                </a:gridCol>
              </a:tblGrid>
              <a:tr h="563724">
                <a:tc>
                  <a:txBody>
                    <a:bodyPr/>
                    <a:lstStyle/>
                    <a:p>
                      <a:r>
                        <a:rPr lang="de-DE" dirty="0">
                          <a:solidFill>
                            <a:schemeClr val="tx1"/>
                          </a:solidFill>
                        </a:rPr>
                        <a:t>Fold (gesunder Test)</a:t>
                      </a:r>
                    </a:p>
                  </a:txBody>
                  <a:tcPr/>
                </a:tc>
                <a:tc>
                  <a:txBody>
                    <a:bodyPr/>
                    <a:lstStyle/>
                    <a:p>
                      <a:r>
                        <a:rPr lang="de-DE" dirty="0">
                          <a:solidFill>
                            <a:schemeClr val="tx1"/>
                          </a:solidFill>
                        </a:rPr>
                        <a:t>TPR</a:t>
                      </a:r>
                    </a:p>
                  </a:txBody>
                  <a:tcPr/>
                </a:tc>
                <a:tc>
                  <a:txBody>
                    <a:bodyPr/>
                    <a:lstStyle/>
                    <a:p>
                      <a:r>
                        <a:rPr lang="de-DE" dirty="0">
                          <a:solidFill>
                            <a:schemeClr val="tx1"/>
                          </a:solidFill>
                        </a:rPr>
                        <a:t>TNR</a:t>
                      </a:r>
                    </a:p>
                  </a:txBody>
                  <a:tcPr/>
                </a:tc>
                <a:tc>
                  <a:txBody>
                    <a:bodyPr/>
                    <a:lstStyle/>
                    <a:p>
                      <a:r>
                        <a:rPr lang="de-DE" dirty="0" err="1">
                          <a:solidFill>
                            <a:schemeClr val="tx1"/>
                          </a:solidFill>
                        </a:rPr>
                        <a:t>Accuracy</a:t>
                      </a:r>
                      <a:endParaRPr lang="de-DE" dirty="0">
                        <a:solidFill>
                          <a:schemeClr val="tx1"/>
                        </a:solidFill>
                      </a:endParaRPr>
                    </a:p>
                  </a:txBody>
                  <a:tcPr/>
                </a:tc>
                <a:tc>
                  <a:txBody>
                    <a:bodyPr/>
                    <a:lstStyle/>
                    <a:p>
                      <a:r>
                        <a:rPr lang="de-DE" dirty="0">
                          <a:solidFill>
                            <a:schemeClr val="tx1"/>
                          </a:solidFill>
                        </a:rPr>
                        <a:t>BA</a:t>
                      </a:r>
                    </a:p>
                  </a:txBody>
                  <a:tcPr/>
                </a:tc>
                <a:tc>
                  <a:txBody>
                    <a:bodyPr/>
                    <a:lstStyle/>
                    <a:p>
                      <a:r>
                        <a:rPr lang="de-DE" dirty="0">
                          <a:solidFill>
                            <a:schemeClr val="tx1"/>
                          </a:solidFill>
                        </a:rPr>
                        <a:t>F1</a:t>
                      </a:r>
                    </a:p>
                  </a:txBody>
                  <a:tcPr/>
                </a:tc>
                <a:extLst>
                  <a:ext uri="{0D108BD9-81ED-4DB2-BD59-A6C34878D82A}">
                    <a16:rowId xmlns:a16="http://schemas.microsoft.com/office/drawing/2014/main" val="175312995"/>
                  </a:ext>
                </a:extLst>
              </a:tr>
              <a:tr h="563724">
                <a:tc>
                  <a:txBody>
                    <a:bodyPr/>
                    <a:lstStyle/>
                    <a:p>
                      <a:r>
                        <a:rPr lang="de-DE" dirty="0"/>
                        <a:t>1 (Z04)</a:t>
                      </a:r>
                    </a:p>
                  </a:txBody>
                  <a:tcPr>
                    <a:solidFill>
                      <a:srgbClr val="FFC000"/>
                    </a:solidFill>
                  </a:tcPr>
                </a:tc>
                <a:tc>
                  <a:txBody>
                    <a:bodyPr/>
                    <a:lstStyle/>
                    <a:p>
                      <a:r>
                        <a:rPr lang="de-DE" dirty="0"/>
                        <a:t>0.875</a:t>
                      </a:r>
                    </a:p>
                  </a:txBody>
                  <a:tcPr>
                    <a:solidFill>
                      <a:srgbClr val="FFC000"/>
                    </a:solidFill>
                  </a:tcPr>
                </a:tc>
                <a:tc>
                  <a:txBody>
                    <a:bodyPr/>
                    <a:lstStyle/>
                    <a:p>
                      <a:r>
                        <a:rPr lang="de-DE" dirty="0"/>
                        <a:t>1.00</a:t>
                      </a:r>
                    </a:p>
                  </a:txBody>
                  <a:tcPr>
                    <a:solidFill>
                      <a:srgbClr val="FFC000"/>
                    </a:solidFill>
                  </a:tcPr>
                </a:tc>
                <a:tc>
                  <a:txBody>
                    <a:bodyPr/>
                    <a:lstStyle/>
                    <a:p>
                      <a:r>
                        <a:rPr lang="de-DE" dirty="0"/>
                        <a:t>0.906</a:t>
                      </a:r>
                    </a:p>
                  </a:txBody>
                  <a:tcPr>
                    <a:solidFill>
                      <a:srgbClr val="FFC000"/>
                    </a:solidFill>
                  </a:tcPr>
                </a:tc>
                <a:tc>
                  <a:txBody>
                    <a:bodyPr/>
                    <a:lstStyle/>
                    <a:p>
                      <a:r>
                        <a:rPr lang="de-DE" dirty="0"/>
                        <a:t>0.938</a:t>
                      </a:r>
                    </a:p>
                  </a:txBody>
                  <a:tcPr>
                    <a:solidFill>
                      <a:srgbClr val="FFC000"/>
                    </a:solidFill>
                  </a:tcPr>
                </a:tc>
                <a:tc>
                  <a:txBody>
                    <a:bodyPr/>
                    <a:lstStyle/>
                    <a:p>
                      <a:r>
                        <a:rPr lang="de-DE" dirty="0"/>
                        <a:t>0.842</a:t>
                      </a:r>
                    </a:p>
                  </a:txBody>
                  <a:tcPr>
                    <a:solidFill>
                      <a:srgbClr val="FFC000"/>
                    </a:solidFill>
                  </a:tcPr>
                </a:tc>
                <a:extLst>
                  <a:ext uri="{0D108BD9-81ED-4DB2-BD59-A6C34878D82A}">
                    <a16:rowId xmlns:a16="http://schemas.microsoft.com/office/drawing/2014/main" val="1396284393"/>
                  </a:ext>
                </a:extLst>
              </a:tr>
              <a:tr h="563724">
                <a:tc>
                  <a:txBody>
                    <a:bodyPr/>
                    <a:lstStyle/>
                    <a:p>
                      <a:r>
                        <a:rPr lang="de-DE" dirty="0"/>
                        <a:t>2 (Z03)</a:t>
                      </a:r>
                    </a:p>
                  </a:txBody>
                  <a:tcPr>
                    <a:solidFill>
                      <a:srgbClr val="93FF96"/>
                    </a:solidFill>
                  </a:tcPr>
                </a:tc>
                <a:tc>
                  <a:txBody>
                    <a:bodyPr/>
                    <a:lstStyle/>
                    <a:p>
                      <a:r>
                        <a:rPr lang="de-DE" dirty="0"/>
                        <a:t>0.875</a:t>
                      </a:r>
                    </a:p>
                  </a:txBody>
                  <a:tcPr>
                    <a:solidFill>
                      <a:srgbClr val="93FF96"/>
                    </a:solidFill>
                  </a:tcPr>
                </a:tc>
                <a:tc>
                  <a:txBody>
                    <a:bodyPr/>
                    <a:lstStyle/>
                    <a:p>
                      <a:r>
                        <a:rPr lang="de-DE" dirty="0"/>
                        <a:t>1.00</a:t>
                      </a:r>
                    </a:p>
                  </a:txBody>
                  <a:tcPr>
                    <a:solidFill>
                      <a:srgbClr val="93FF96"/>
                    </a:solidFill>
                  </a:tcPr>
                </a:tc>
                <a:tc>
                  <a:txBody>
                    <a:bodyPr/>
                    <a:lstStyle/>
                    <a:p>
                      <a:r>
                        <a:rPr lang="de-DE" dirty="0"/>
                        <a:t>0.938</a:t>
                      </a:r>
                    </a:p>
                  </a:txBody>
                  <a:tcPr>
                    <a:solidFill>
                      <a:srgbClr val="93FF96"/>
                    </a:solidFill>
                  </a:tcPr>
                </a:tc>
                <a:tc>
                  <a:txBody>
                    <a:bodyPr/>
                    <a:lstStyle/>
                    <a:p>
                      <a:r>
                        <a:rPr lang="de-DE" dirty="0"/>
                        <a:t>0.938</a:t>
                      </a:r>
                    </a:p>
                  </a:txBody>
                  <a:tcPr>
                    <a:solidFill>
                      <a:srgbClr val="93FF96"/>
                    </a:solidFill>
                  </a:tcPr>
                </a:tc>
                <a:tc>
                  <a:txBody>
                    <a:bodyPr/>
                    <a:lstStyle/>
                    <a:p>
                      <a:r>
                        <a:rPr lang="de-DE" dirty="0"/>
                        <a:t>0.941</a:t>
                      </a:r>
                    </a:p>
                  </a:txBody>
                  <a:tcPr>
                    <a:solidFill>
                      <a:srgbClr val="93FF96"/>
                    </a:solidFill>
                  </a:tcPr>
                </a:tc>
                <a:extLst>
                  <a:ext uri="{0D108BD9-81ED-4DB2-BD59-A6C34878D82A}">
                    <a16:rowId xmlns:a16="http://schemas.microsoft.com/office/drawing/2014/main" val="668171056"/>
                  </a:ext>
                </a:extLst>
              </a:tr>
              <a:tr h="563724">
                <a:tc>
                  <a:txBody>
                    <a:bodyPr/>
                    <a:lstStyle/>
                    <a:p>
                      <a:r>
                        <a:rPr lang="de-DE" dirty="0"/>
                        <a:t>3 (Z02)</a:t>
                      </a:r>
                    </a:p>
                  </a:txBody>
                  <a:tcPr>
                    <a:solidFill>
                      <a:srgbClr val="00B050"/>
                    </a:solidFill>
                  </a:tcPr>
                </a:tc>
                <a:tc>
                  <a:txBody>
                    <a:bodyPr/>
                    <a:lstStyle/>
                    <a:p>
                      <a:r>
                        <a:rPr lang="de-DE" dirty="0"/>
                        <a:t>0.950</a:t>
                      </a:r>
                    </a:p>
                  </a:txBody>
                  <a:tcPr>
                    <a:solidFill>
                      <a:srgbClr val="00B050"/>
                    </a:solidFill>
                  </a:tcPr>
                </a:tc>
                <a:tc>
                  <a:txBody>
                    <a:bodyPr/>
                    <a:lstStyle/>
                    <a:p>
                      <a:r>
                        <a:rPr lang="de-DE" dirty="0"/>
                        <a:t>1.00</a:t>
                      </a:r>
                    </a:p>
                  </a:txBody>
                  <a:tcPr>
                    <a:solidFill>
                      <a:srgbClr val="00B050"/>
                    </a:solidFill>
                  </a:tcPr>
                </a:tc>
                <a:tc>
                  <a:txBody>
                    <a:bodyPr/>
                    <a:lstStyle/>
                    <a:p>
                      <a:r>
                        <a:rPr lang="de-DE" dirty="0"/>
                        <a:t>0.975</a:t>
                      </a:r>
                    </a:p>
                  </a:txBody>
                  <a:tcPr>
                    <a:solidFill>
                      <a:srgbClr val="00B050"/>
                    </a:solidFill>
                  </a:tcPr>
                </a:tc>
                <a:tc>
                  <a:txBody>
                    <a:bodyPr/>
                    <a:lstStyle/>
                    <a:p>
                      <a:r>
                        <a:rPr lang="de-DE" dirty="0"/>
                        <a:t>0.975</a:t>
                      </a:r>
                    </a:p>
                  </a:txBody>
                  <a:tcPr>
                    <a:solidFill>
                      <a:srgbClr val="00B050"/>
                    </a:solidFill>
                  </a:tcPr>
                </a:tc>
                <a:tc>
                  <a:txBody>
                    <a:bodyPr/>
                    <a:lstStyle/>
                    <a:p>
                      <a:r>
                        <a:rPr lang="de-DE" dirty="0"/>
                        <a:t>0.976</a:t>
                      </a:r>
                    </a:p>
                  </a:txBody>
                  <a:tcPr>
                    <a:solidFill>
                      <a:srgbClr val="00B050"/>
                    </a:solidFill>
                  </a:tcPr>
                </a:tc>
                <a:extLst>
                  <a:ext uri="{0D108BD9-81ED-4DB2-BD59-A6C34878D82A}">
                    <a16:rowId xmlns:a16="http://schemas.microsoft.com/office/drawing/2014/main" val="1690458472"/>
                  </a:ext>
                </a:extLst>
              </a:tr>
              <a:tr h="563724">
                <a:tc>
                  <a:txBody>
                    <a:bodyPr/>
                    <a:lstStyle/>
                    <a:p>
                      <a:r>
                        <a:rPr lang="de-DE" dirty="0"/>
                        <a:t>4 (Z01)</a:t>
                      </a:r>
                    </a:p>
                  </a:txBody>
                  <a:tcPr>
                    <a:solidFill>
                      <a:srgbClr val="FF0000"/>
                    </a:solidFill>
                  </a:tcPr>
                </a:tc>
                <a:tc>
                  <a:txBody>
                    <a:bodyPr/>
                    <a:lstStyle/>
                    <a:p>
                      <a:r>
                        <a:rPr lang="de-DE" dirty="0"/>
                        <a:t>0.510</a:t>
                      </a:r>
                    </a:p>
                  </a:txBody>
                  <a:tcPr>
                    <a:solidFill>
                      <a:srgbClr val="FF0000"/>
                    </a:solidFill>
                  </a:tcPr>
                </a:tc>
                <a:tc>
                  <a:txBody>
                    <a:bodyPr/>
                    <a:lstStyle/>
                    <a:p>
                      <a:r>
                        <a:rPr lang="de-DE" dirty="0"/>
                        <a:t>1.00</a:t>
                      </a:r>
                    </a:p>
                  </a:txBody>
                  <a:tcPr>
                    <a:solidFill>
                      <a:srgbClr val="FF0000"/>
                    </a:solidFill>
                  </a:tcPr>
                </a:tc>
                <a:tc>
                  <a:txBody>
                    <a:bodyPr/>
                    <a:lstStyle/>
                    <a:p>
                      <a:r>
                        <a:rPr lang="de-DE" dirty="0"/>
                        <a:t>0.592</a:t>
                      </a:r>
                    </a:p>
                  </a:txBody>
                  <a:tcPr>
                    <a:solidFill>
                      <a:srgbClr val="FF0000"/>
                    </a:solidFill>
                  </a:tcPr>
                </a:tc>
                <a:tc>
                  <a:txBody>
                    <a:bodyPr/>
                    <a:lstStyle/>
                    <a:p>
                      <a:r>
                        <a:rPr lang="de-DE" dirty="0"/>
                        <a:t>0.755</a:t>
                      </a:r>
                    </a:p>
                  </a:txBody>
                  <a:tcPr>
                    <a:solidFill>
                      <a:srgbClr val="FF0000"/>
                    </a:solidFill>
                  </a:tcPr>
                </a:tc>
                <a:tc>
                  <a:txBody>
                    <a:bodyPr/>
                    <a:lstStyle/>
                    <a:p>
                      <a:r>
                        <a:rPr lang="de-DE" dirty="0"/>
                        <a:t>0.449</a:t>
                      </a:r>
                    </a:p>
                  </a:txBody>
                  <a:tcPr>
                    <a:solidFill>
                      <a:srgbClr val="FF0000"/>
                    </a:solidFill>
                  </a:tcPr>
                </a:tc>
                <a:extLst>
                  <a:ext uri="{0D108BD9-81ED-4DB2-BD59-A6C34878D82A}">
                    <a16:rowId xmlns:a16="http://schemas.microsoft.com/office/drawing/2014/main" val="1893996887"/>
                  </a:ext>
                </a:extLst>
              </a:tr>
            </a:tbl>
          </a:graphicData>
        </a:graphic>
      </p:graphicFrame>
    </p:spTree>
    <p:extLst>
      <p:ext uri="{BB962C8B-B14F-4D97-AF65-F5344CB8AC3E}">
        <p14:creationId xmlns:p14="http://schemas.microsoft.com/office/powerpoint/2010/main" val="176930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9BDB3-AF05-698B-206C-6C9919554531}"/>
              </a:ext>
            </a:extLst>
          </p:cNvPr>
          <p:cNvSpPr>
            <a:spLocks noGrp="1"/>
          </p:cNvSpPr>
          <p:nvPr>
            <p:ph type="title"/>
          </p:nvPr>
        </p:nvSpPr>
        <p:spPr/>
        <p:txBody>
          <a:bodyPr/>
          <a:lstStyle/>
          <a:p>
            <a:r>
              <a:rPr lang="de-DE" dirty="0"/>
              <a:t>Ende</a:t>
            </a:r>
          </a:p>
        </p:txBody>
      </p:sp>
    </p:spTree>
    <p:extLst>
      <p:ext uri="{BB962C8B-B14F-4D97-AF65-F5344CB8AC3E}">
        <p14:creationId xmlns:p14="http://schemas.microsoft.com/office/powerpoint/2010/main" val="467022224"/>
      </p:ext>
    </p:extLst>
  </p:cSld>
  <p:clrMapOvr>
    <a:masterClrMapping/>
  </p:clrMapOvr>
</p:sld>
</file>

<file path=ppt/theme/theme1.xml><?xml version="1.0" encoding="utf-8"?>
<a:theme xmlns:a="http://schemas.openxmlformats.org/drawingml/2006/main" name="B-TU_Design_new">
  <a:themeElements>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pitchFamily="-109" charset="0"/>
            <a:ea typeface="ヒラギノ角ゴ Pro W3" pitchFamily="-109" charset="-128"/>
            <a:cs typeface="ヒラギノ角ゴ Pro W3" pitchFamily="-109"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pitchFamily="-109" charset="0"/>
            <a:ea typeface="ヒラギノ角ゴ Pro W3" pitchFamily="-109" charset="-128"/>
            <a:cs typeface="ヒラギノ角ゴ Pro W3" pitchFamily="-109" charset="-128"/>
          </a:defRPr>
        </a:defPPr>
      </a:lstStyle>
    </a:lnDef>
  </a:objectDefaults>
  <a:extraClrSchemeLst>
    <a:extraClrScheme>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ere Prä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ere Prä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ere Prä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ere Prä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ere Prä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ere Prä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ere Prä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ere Prä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ere Prä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ere Prä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B-TU_Design_new" id="{646A7671-C426-4EDE-91D9-79A1794CE4D5}" vid="{0D282BB0-0299-4ACE-B272-414AB2767CE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B-TU_Design</Template>
  <TotalTime>0</TotalTime>
  <Words>1220</Words>
  <Application>Microsoft Office PowerPoint</Application>
  <PresentationFormat>Breitbild</PresentationFormat>
  <Paragraphs>305</Paragraphs>
  <Slides>21</Slides>
  <Notes>19</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21</vt:i4>
      </vt:variant>
    </vt:vector>
  </HeadingPairs>
  <TitlesOfParts>
    <vt:vector size="28" baseType="lpstr">
      <vt:lpstr>Aptos</vt:lpstr>
      <vt:lpstr>Arial</vt:lpstr>
      <vt:lpstr>Courier New</vt:lpstr>
      <vt:lpstr>Lucida Grande</vt:lpstr>
      <vt:lpstr>Wingdings</vt:lpstr>
      <vt:lpstr>ヒラギノ角ゴ Pro W3</vt:lpstr>
      <vt:lpstr>B-TU_Design_new</vt:lpstr>
      <vt:lpstr>Seminaraufgabe 4</vt:lpstr>
      <vt:lpstr>Gliederung</vt:lpstr>
      <vt:lpstr>Daten &amp; Pipelines</vt:lpstr>
      <vt:lpstr>Kreuzvalidierung</vt:lpstr>
      <vt:lpstr>Autoencoder</vt:lpstr>
      <vt:lpstr>Metriken &amp; Schwelle</vt:lpstr>
      <vt:lpstr>Einzelmessungen</vt:lpstr>
      <vt:lpstr>Pipelinevergleich</vt:lpstr>
      <vt:lpstr>Confusion-Matrix Vergleich Fold 1</vt:lpstr>
      <vt:lpstr>Confusion-Matrix Vergleich Fold 2</vt:lpstr>
      <vt:lpstr>Confusion-Matrix Vergleich Fold 3</vt:lpstr>
      <vt:lpstr>Confusion-Matrix Vergleich Fold 4</vt:lpstr>
      <vt:lpstr>ROC-Kurve</vt:lpstr>
      <vt:lpstr>ROC-Kurve</vt:lpstr>
      <vt:lpstr>ROC-Kurve</vt:lpstr>
      <vt:lpstr>Rekonstruktionsfehler</vt:lpstr>
      <vt:lpstr>ROC-Kurve</vt:lpstr>
      <vt:lpstr>Rekonstruktionsfehler</vt:lpstr>
      <vt:lpstr>Kritische Diskussion</vt:lpstr>
      <vt:lpstr>Fazit</vt:lpstr>
      <vt:lpstr>Ende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Tim Giese</dc:creator>
  <cp:lastModifiedBy>Benjamin Gielczynski</cp:lastModifiedBy>
  <cp:revision>70</cp:revision>
  <dcterms:created xsi:type="dcterms:W3CDTF">2026-06-13T09:02:33Z</dcterms:created>
  <dcterms:modified xsi:type="dcterms:W3CDTF">2026-07-23T11:35:34Z</dcterms:modified>
</cp:coreProperties>
</file>