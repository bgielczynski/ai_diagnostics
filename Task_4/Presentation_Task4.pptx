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saveSubsetFonts="1" autoCompressPictures="0">
  <p:sldMasterIdLst>
    <p:sldMasterId id="2147483744" r:id="rId1"/>
  </p:sldMasterIdLst>
  <p:notesMasterIdLst>
    <p:notesMasterId r:id="rId22"/>
  </p:notesMasterIdLst>
  <p:handoutMasterIdLst>
    <p:handoutMasterId r:id="rId23"/>
  </p:handoutMasterIdLst>
  <p:sldIdLst>
    <p:sldId id="256" r:id="rId2"/>
    <p:sldId id="257" r:id="rId3"/>
    <p:sldId id="266" r:id="rId4"/>
    <p:sldId id="258" r:id="rId5"/>
    <p:sldId id="263" r:id="rId6"/>
    <p:sldId id="267" r:id="rId7"/>
    <p:sldId id="264" r:id="rId8"/>
    <p:sldId id="269" r:id="rId9"/>
    <p:sldId id="268" r:id="rId10"/>
    <p:sldId id="265" r:id="rId11"/>
    <p:sldId id="270" r:id="rId12"/>
    <p:sldId id="271" r:id="rId13"/>
    <p:sldId id="278" r:id="rId14"/>
    <p:sldId id="272" r:id="rId15"/>
    <p:sldId id="279" r:id="rId16"/>
    <p:sldId id="280" r:id="rId17"/>
    <p:sldId id="273" r:id="rId18"/>
    <p:sldId id="274" r:id="rId19"/>
    <p:sldId id="275" r:id="rId20"/>
    <p:sldId id="277" r:id="rId21"/>
  </p:sldIdLst>
  <p:sldSz cx="12192000" cy="6858000"/>
  <p:notesSz cx="9144000" cy="6858000"/>
  <p:defaultTextStyle>
    <a:defPPr>
      <a:defRPr lang="de-DE"/>
    </a:defPPr>
    <a:lvl1pPr algn="l" rtl="0" eaLnBrk="0" fontAlgn="base" hangingPunct="0">
      <a:spcBef>
        <a:spcPct val="0"/>
      </a:spcBef>
      <a:spcAft>
        <a:spcPct val="0"/>
      </a:spcAft>
      <a:defRPr sz="2400" kern="1200">
        <a:solidFill>
          <a:schemeClr val="tx1"/>
        </a:solidFill>
        <a:latin typeface="Arial" panose="020B0604020202020204" pitchFamily="34" charset="0"/>
        <a:ea typeface="ヒラギノ角ゴ Pro W3" charset="-128"/>
        <a:cs typeface="+mn-cs"/>
      </a:defRPr>
    </a:lvl1pPr>
    <a:lvl2pPr marL="457200" algn="l" rtl="0" eaLnBrk="0" fontAlgn="base" hangingPunct="0">
      <a:spcBef>
        <a:spcPct val="0"/>
      </a:spcBef>
      <a:spcAft>
        <a:spcPct val="0"/>
      </a:spcAft>
      <a:defRPr sz="2400" kern="1200">
        <a:solidFill>
          <a:schemeClr val="tx1"/>
        </a:solidFill>
        <a:latin typeface="Arial" panose="020B0604020202020204" pitchFamily="34" charset="0"/>
        <a:ea typeface="ヒラギノ角ゴ Pro W3" charset="-128"/>
        <a:cs typeface="+mn-cs"/>
      </a:defRPr>
    </a:lvl2pPr>
    <a:lvl3pPr marL="914400" algn="l" rtl="0" eaLnBrk="0" fontAlgn="base" hangingPunct="0">
      <a:spcBef>
        <a:spcPct val="0"/>
      </a:spcBef>
      <a:spcAft>
        <a:spcPct val="0"/>
      </a:spcAft>
      <a:defRPr sz="2400" kern="1200">
        <a:solidFill>
          <a:schemeClr val="tx1"/>
        </a:solidFill>
        <a:latin typeface="Arial" panose="020B0604020202020204" pitchFamily="34" charset="0"/>
        <a:ea typeface="ヒラギノ角ゴ Pro W3" charset="-128"/>
        <a:cs typeface="+mn-cs"/>
      </a:defRPr>
    </a:lvl3pPr>
    <a:lvl4pPr marL="1371600" algn="l" rtl="0" eaLnBrk="0" fontAlgn="base" hangingPunct="0">
      <a:spcBef>
        <a:spcPct val="0"/>
      </a:spcBef>
      <a:spcAft>
        <a:spcPct val="0"/>
      </a:spcAft>
      <a:defRPr sz="2400" kern="1200">
        <a:solidFill>
          <a:schemeClr val="tx1"/>
        </a:solidFill>
        <a:latin typeface="Arial" panose="020B0604020202020204" pitchFamily="34" charset="0"/>
        <a:ea typeface="ヒラギノ角ゴ Pro W3" charset="-128"/>
        <a:cs typeface="+mn-cs"/>
      </a:defRPr>
    </a:lvl4pPr>
    <a:lvl5pPr marL="1828800" algn="l" rtl="0" eaLnBrk="0" fontAlgn="base" hangingPunct="0">
      <a:spcBef>
        <a:spcPct val="0"/>
      </a:spcBef>
      <a:spcAft>
        <a:spcPct val="0"/>
      </a:spcAft>
      <a:defRPr sz="2400" kern="1200">
        <a:solidFill>
          <a:schemeClr val="tx1"/>
        </a:solidFill>
        <a:latin typeface="Arial" panose="020B0604020202020204" pitchFamily="34" charset="0"/>
        <a:ea typeface="ヒラギノ角ゴ Pro W3" charset="-128"/>
        <a:cs typeface="+mn-cs"/>
      </a:defRPr>
    </a:lvl5pPr>
    <a:lvl6pPr marL="2286000" algn="l" defTabSz="914400" rtl="0" eaLnBrk="1" latinLnBrk="0" hangingPunct="1">
      <a:defRPr sz="2400" kern="1200">
        <a:solidFill>
          <a:schemeClr val="tx1"/>
        </a:solidFill>
        <a:latin typeface="Arial" panose="020B0604020202020204" pitchFamily="34" charset="0"/>
        <a:ea typeface="ヒラギノ角ゴ Pro W3" charset="-128"/>
        <a:cs typeface="+mn-cs"/>
      </a:defRPr>
    </a:lvl6pPr>
    <a:lvl7pPr marL="2743200" algn="l" defTabSz="914400" rtl="0" eaLnBrk="1" latinLnBrk="0" hangingPunct="1">
      <a:defRPr sz="2400" kern="1200">
        <a:solidFill>
          <a:schemeClr val="tx1"/>
        </a:solidFill>
        <a:latin typeface="Arial" panose="020B0604020202020204" pitchFamily="34" charset="0"/>
        <a:ea typeface="ヒラギノ角ゴ Pro W3" charset="-128"/>
        <a:cs typeface="+mn-cs"/>
      </a:defRPr>
    </a:lvl7pPr>
    <a:lvl8pPr marL="3200400" algn="l" defTabSz="914400" rtl="0" eaLnBrk="1" latinLnBrk="0" hangingPunct="1">
      <a:defRPr sz="2400" kern="1200">
        <a:solidFill>
          <a:schemeClr val="tx1"/>
        </a:solidFill>
        <a:latin typeface="Arial" panose="020B0604020202020204" pitchFamily="34" charset="0"/>
        <a:ea typeface="ヒラギノ角ゴ Pro W3" charset="-128"/>
        <a:cs typeface="+mn-cs"/>
      </a:defRPr>
    </a:lvl8pPr>
    <a:lvl9pPr marL="3657600" algn="l" defTabSz="914400" rtl="0" eaLnBrk="1" latinLnBrk="0" hangingPunct="1">
      <a:defRPr sz="2400" kern="1200">
        <a:solidFill>
          <a:schemeClr val="tx1"/>
        </a:solidFill>
        <a:latin typeface="Arial" panose="020B0604020202020204" pitchFamily="34" charset="0"/>
        <a:ea typeface="ヒラギノ角ゴ Pro W3" charset="-128"/>
        <a:cs typeface="+mn-cs"/>
      </a:defRPr>
    </a:lvl9pPr>
  </p:defaultTextStyle>
  <p:extLst>
    <p:ext uri="{EFAFB233-063F-42B5-8137-9DF3F51BA10A}">
      <p15:sldGuideLst xmlns:p15="http://schemas.microsoft.com/office/powerpoint/2012/main">
        <p15:guide id="1" orient="horz" pos="1296">
          <p15:clr>
            <a:srgbClr val="A4A3A4"/>
          </p15:clr>
        </p15:guide>
        <p15:guide id="2" pos="5952">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3323"/>
    <p:restoredTop sz="77175" autoAdjust="0"/>
  </p:normalViewPr>
  <p:slideViewPr>
    <p:cSldViewPr snapToGrid="0">
      <p:cViewPr varScale="1">
        <p:scale>
          <a:sx n="73" d="100"/>
          <a:sy n="73" d="100"/>
        </p:scale>
        <p:origin x="1147" y="72"/>
      </p:cViewPr>
      <p:guideLst>
        <p:guide orient="horz" pos="1296"/>
        <p:guide pos="5952"/>
      </p:guideLst>
    </p:cSldViewPr>
  </p:slideViewPr>
  <p:outlineViewPr>
    <p:cViewPr>
      <p:scale>
        <a:sx n="33" d="100"/>
        <a:sy n="33" d="100"/>
      </p:scale>
      <p:origin x="0" y="0"/>
    </p:cViewPr>
  </p:outlineViewPr>
  <p:notesTextViewPr>
    <p:cViewPr>
      <p:scale>
        <a:sx n="3" d="2"/>
        <a:sy n="3" d="2"/>
      </p:scale>
      <p:origin x="0" y="0"/>
    </p:cViewPr>
  </p:notesTextViewPr>
  <p:sorterViewPr>
    <p:cViewPr>
      <p:scale>
        <a:sx n="80" d="100"/>
        <a:sy n="80" d="100"/>
      </p:scale>
      <p:origin x="0" y="0"/>
    </p:cViewPr>
  </p:sorterViewPr>
  <p:notesViewPr>
    <p:cSldViewPr snapToGrid="0">
      <p:cViewPr varScale="1">
        <p:scale>
          <a:sx n="117" d="100"/>
          <a:sy n="117" d="100"/>
        </p:scale>
        <p:origin x="2736" y="77"/>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handoutMaster" Target="handoutMasters/handoutMaster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 Id="rId27"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a:extLst>
              <a:ext uri="{FF2B5EF4-FFF2-40B4-BE49-F238E27FC236}">
                <a16:creationId xmlns:a16="http://schemas.microsoft.com/office/drawing/2014/main" id="{3C424A38-A8B2-E0EC-7A28-AFD479539829}"/>
              </a:ext>
            </a:extLst>
          </p:cNvPr>
          <p:cNvSpPr>
            <a:spLocks noGrp="1"/>
          </p:cNvSpPr>
          <p:nvPr>
            <p:ph type="hdr" sz="quarter"/>
          </p:nvPr>
        </p:nvSpPr>
        <p:spPr>
          <a:xfrm>
            <a:off x="0" y="0"/>
            <a:ext cx="3962400" cy="344488"/>
          </a:xfrm>
          <a:prstGeom prst="rect">
            <a:avLst/>
          </a:prstGeom>
        </p:spPr>
        <p:txBody>
          <a:bodyPr vert="horz" lIns="91440" tIns="45720" rIns="91440" bIns="45720" rtlCol="0"/>
          <a:lstStyle>
            <a:lvl1pPr algn="l">
              <a:defRPr sz="1200"/>
            </a:lvl1pPr>
          </a:lstStyle>
          <a:p>
            <a:endParaRPr lang="de-DE"/>
          </a:p>
        </p:txBody>
      </p:sp>
      <p:sp>
        <p:nvSpPr>
          <p:cNvPr id="3" name="Datumsplatzhalter 2">
            <a:extLst>
              <a:ext uri="{FF2B5EF4-FFF2-40B4-BE49-F238E27FC236}">
                <a16:creationId xmlns:a16="http://schemas.microsoft.com/office/drawing/2014/main" id="{B4BC391B-27A7-FAAD-7DC7-CB36FE5A6E4A}"/>
              </a:ext>
            </a:extLst>
          </p:cNvPr>
          <p:cNvSpPr>
            <a:spLocks noGrp="1"/>
          </p:cNvSpPr>
          <p:nvPr>
            <p:ph type="dt" sz="quarter" idx="1"/>
          </p:nvPr>
        </p:nvSpPr>
        <p:spPr>
          <a:xfrm>
            <a:off x="5180013" y="0"/>
            <a:ext cx="3962400" cy="344488"/>
          </a:xfrm>
          <a:prstGeom prst="rect">
            <a:avLst/>
          </a:prstGeom>
        </p:spPr>
        <p:txBody>
          <a:bodyPr vert="horz" lIns="91440" tIns="45720" rIns="91440" bIns="45720" rtlCol="0"/>
          <a:lstStyle>
            <a:lvl1pPr algn="r">
              <a:defRPr sz="1200"/>
            </a:lvl1pPr>
          </a:lstStyle>
          <a:p>
            <a:fld id="{75AB4CA9-CCE6-4DE5-84AD-E1F7B6CB5CBB}" type="datetimeFigureOut">
              <a:rPr lang="de-DE" smtClean="0"/>
              <a:t>21.07.2026</a:t>
            </a:fld>
            <a:endParaRPr lang="de-DE"/>
          </a:p>
        </p:txBody>
      </p:sp>
      <p:sp>
        <p:nvSpPr>
          <p:cNvPr id="4" name="Fußzeilenplatzhalter 3">
            <a:extLst>
              <a:ext uri="{FF2B5EF4-FFF2-40B4-BE49-F238E27FC236}">
                <a16:creationId xmlns:a16="http://schemas.microsoft.com/office/drawing/2014/main" id="{C9044DCD-B54D-86BE-7F28-47D99C0553F4}"/>
              </a:ext>
            </a:extLst>
          </p:cNvPr>
          <p:cNvSpPr>
            <a:spLocks noGrp="1"/>
          </p:cNvSpPr>
          <p:nvPr>
            <p:ph type="ftr" sz="quarter" idx="2"/>
          </p:nvPr>
        </p:nvSpPr>
        <p:spPr>
          <a:xfrm>
            <a:off x="0" y="6513513"/>
            <a:ext cx="3962400" cy="344487"/>
          </a:xfrm>
          <a:prstGeom prst="rect">
            <a:avLst/>
          </a:prstGeom>
        </p:spPr>
        <p:txBody>
          <a:bodyPr vert="horz" lIns="91440" tIns="45720" rIns="91440" bIns="45720" rtlCol="0" anchor="b"/>
          <a:lstStyle>
            <a:lvl1pPr algn="l">
              <a:defRPr sz="1200"/>
            </a:lvl1pPr>
          </a:lstStyle>
          <a:p>
            <a:endParaRPr lang="de-DE" dirty="0"/>
          </a:p>
        </p:txBody>
      </p:sp>
      <p:sp>
        <p:nvSpPr>
          <p:cNvPr id="5" name="Foliennummernplatzhalter 4">
            <a:extLst>
              <a:ext uri="{FF2B5EF4-FFF2-40B4-BE49-F238E27FC236}">
                <a16:creationId xmlns:a16="http://schemas.microsoft.com/office/drawing/2014/main" id="{0420775E-50E3-8820-082D-219DAAE6487C}"/>
              </a:ext>
            </a:extLst>
          </p:cNvPr>
          <p:cNvSpPr>
            <a:spLocks noGrp="1"/>
          </p:cNvSpPr>
          <p:nvPr>
            <p:ph type="sldNum" sz="quarter" idx="3"/>
          </p:nvPr>
        </p:nvSpPr>
        <p:spPr>
          <a:xfrm>
            <a:off x="5180013" y="6513513"/>
            <a:ext cx="3962400" cy="344487"/>
          </a:xfrm>
          <a:prstGeom prst="rect">
            <a:avLst/>
          </a:prstGeom>
        </p:spPr>
        <p:txBody>
          <a:bodyPr vert="horz" lIns="91440" tIns="45720" rIns="91440" bIns="45720" rtlCol="0" anchor="b"/>
          <a:lstStyle>
            <a:lvl1pPr algn="r">
              <a:defRPr sz="1200"/>
            </a:lvl1pPr>
          </a:lstStyle>
          <a:p>
            <a:fld id="{6B6A8762-026B-44CD-B702-65A0748002CC}" type="slidenum">
              <a:rPr lang="de-DE" smtClean="0"/>
              <a:t>‹Nr.›</a:t>
            </a:fld>
            <a:endParaRPr lang="de-DE" dirty="0"/>
          </a:p>
        </p:txBody>
      </p:sp>
    </p:spTree>
    <p:extLst>
      <p:ext uri="{BB962C8B-B14F-4D97-AF65-F5344CB8AC3E}">
        <p14:creationId xmlns:p14="http://schemas.microsoft.com/office/powerpoint/2010/main" val="238000837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3962400" cy="344488"/>
          </a:xfrm>
          <a:prstGeom prst="rect">
            <a:avLst/>
          </a:prstGeom>
        </p:spPr>
        <p:txBody>
          <a:bodyPr vert="horz" lIns="91440" tIns="45720" rIns="91440" bIns="45720" rtlCol="0"/>
          <a:lstStyle>
            <a:lvl1pPr algn="l">
              <a:defRPr sz="1200"/>
            </a:lvl1pPr>
          </a:lstStyle>
          <a:p>
            <a:endParaRPr lang="de-DE"/>
          </a:p>
        </p:txBody>
      </p:sp>
      <p:sp>
        <p:nvSpPr>
          <p:cNvPr id="3" name="Datumsplatzhalter 2"/>
          <p:cNvSpPr>
            <a:spLocks noGrp="1"/>
          </p:cNvSpPr>
          <p:nvPr>
            <p:ph type="dt" idx="1"/>
          </p:nvPr>
        </p:nvSpPr>
        <p:spPr>
          <a:xfrm>
            <a:off x="5180013" y="0"/>
            <a:ext cx="3962400" cy="344488"/>
          </a:xfrm>
          <a:prstGeom prst="rect">
            <a:avLst/>
          </a:prstGeom>
        </p:spPr>
        <p:txBody>
          <a:bodyPr vert="horz" lIns="91440" tIns="45720" rIns="91440" bIns="45720" rtlCol="0"/>
          <a:lstStyle>
            <a:lvl1pPr algn="r">
              <a:defRPr sz="1200"/>
            </a:lvl1pPr>
          </a:lstStyle>
          <a:p>
            <a:fld id="{52D5829F-2F94-0B44-A96D-AE852A87AC61}" type="datetimeFigureOut">
              <a:rPr lang="de-DE" smtClean="0"/>
              <a:t>21.07.2026</a:t>
            </a:fld>
            <a:endParaRPr lang="de-DE"/>
          </a:p>
        </p:txBody>
      </p:sp>
      <p:sp>
        <p:nvSpPr>
          <p:cNvPr id="4" name="Folienbildplatzhalter 3"/>
          <p:cNvSpPr>
            <a:spLocks noGrp="1" noRot="1" noChangeAspect="1"/>
          </p:cNvSpPr>
          <p:nvPr>
            <p:ph type="sldImg" idx="2"/>
          </p:nvPr>
        </p:nvSpPr>
        <p:spPr>
          <a:xfrm>
            <a:off x="2514600" y="857250"/>
            <a:ext cx="4114800" cy="2314575"/>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914400" y="3300413"/>
            <a:ext cx="7315200" cy="2700337"/>
          </a:xfrm>
          <a:prstGeom prst="rect">
            <a:avLst/>
          </a:prstGeom>
        </p:spPr>
        <p:txBody>
          <a:bodyPr vert="horz" lIns="91440" tIns="45720" rIns="91440" bIns="45720" rtlCol="0"/>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5"/>
          <p:cNvSpPr>
            <a:spLocks noGrp="1"/>
          </p:cNvSpPr>
          <p:nvPr>
            <p:ph type="ftr" sz="quarter" idx="4"/>
          </p:nvPr>
        </p:nvSpPr>
        <p:spPr>
          <a:xfrm>
            <a:off x="0" y="6513513"/>
            <a:ext cx="3962400" cy="344487"/>
          </a:xfrm>
          <a:prstGeom prst="rect">
            <a:avLst/>
          </a:prstGeom>
        </p:spPr>
        <p:txBody>
          <a:bodyPr vert="horz" lIns="91440" tIns="45720" rIns="91440" bIns="45720" rtlCol="0" anchor="b"/>
          <a:lstStyle>
            <a:lvl1pPr algn="l">
              <a:defRPr sz="1200"/>
            </a:lvl1pPr>
          </a:lstStyle>
          <a:p>
            <a:endParaRPr lang="de-DE"/>
          </a:p>
        </p:txBody>
      </p:sp>
      <p:sp>
        <p:nvSpPr>
          <p:cNvPr id="7" name="Foliennummernplatzhalter 6"/>
          <p:cNvSpPr>
            <a:spLocks noGrp="1"/>
          </p:cNvSpPr>
          <p:nvPr>
            <p:ph type="sldNum" sz="quarter" idx="5"/>
          </p:nvPr>
        </p:nvSpPr>
        <p:spPr>
          <a:xfrm>
            <a:off x="5180013" y="6513513"/>
            <a:ext cx="3962400" cy="344487"/>
          </a:xfrm>
          <a:prstGeom prst="rect">
            <a:avLst/>
          </a:prstGeom>
        </p:spPr>
        <p:txBody>
          <a:bodyPr vert="horz" lIns="91440" tIns="45720" rIns="91440" bIns="45720" rtlCol="0" anchor="b"/>
          <a:lstStyle>
            <a:lvl1pPr algn="r">
              <a:defRPr sz="1200"/>
            </a:lvl1pPr>
          </a:lstStyle>
          <a:p>
            <a:fld id="{0492B7F2-6741-7346-B13A-366117EE2BBB}" type="slidenum">
              <a:rPr lang="de-DE" smtClean="0"/>
              <a:t>‹Nr.›</a:t>
            </a:fld>
            <a:endParaRPr lang="de-DE"/>
          </a:p>
        </p:txBody>
      </p:sp>
    </p:spTree>
    <p:extLst>
      <p:ext uri="{BB962C8B-B14F-4D97-AF65-F5344CB8AC3E}">
        <p14:creationId xmlns:p14="http://schemas.microsoft.com/office/powerpoint/2010/main" val="339255096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txBody>
          <a:bodyPr/>
          <a:lstStyle/>
          <a:p>
            <a:endParaRPr lang="de-DE"/>
          </a:p>
        </p:txBody>
      </p:sp>
      <p:sp>
        <p:nvSpPr>
          <p:cNvPr id="3" name="Notizenplatzhalter 2"/>
          <p:cNvSpPr>
            <a:spLocks noGrp="1"/>
          </p:cNvSpPr>
          <p:nvPr>
            <p:ph type="body" idx="1"/>
          </p:nvPr>
        </p:nvSpPr>
        <p:spPr/>
        <p:txBody>
          <a:bodyPr/>
          <a:lstStyle/>
          <a:p>
            <a:r>
              <a:rPr lang="de-DE" sz="1200" b="0" kern="1200" dirty="0">
                <a:solidFill>
                  <a:schemeClr val="tx1"/>
                </a:solidFill>
                <a:effectLst/>
                <a:latin typeface="+mn-lt"/>
                <a:ea typeface="+mn-ea"/>
                <a:cs typeface="+mn-cs"/>
              </a:rPr>
              <a:t>Victor</a:t>
            </a:r>
            <a:endParaRPr lang="de-DE" dirty="0"/>
          </a:p>
          <a:p>
            <a:endParaRPr lang="de-DE" dirty="0"/>
          </a:p>
        </p:txBody>
      </p:sp>
      <p:sp>
        <p:nvSpPr>
          <p:cNvPr id="4" name="Foliennummernplatzhalter 3"/>
          <p:cNvSpPr>
            <a:spLocks noGrp="1"/>
          </p:cNvSpPr>
          <p:nvPr>
            <p:ph type="sldNum" sz="quarter" idx="5"/>
          </p:nvPr>
        </p:nvSpPr>
        <p:spPr/>
        <p:txBody>
          <a:bodyPr/>
          <a:lstStyle/>
          <a:p>
            <a:fld id="{0492B7F2-6741-7346-B13A-366117EE2BBB}" type="slidenum">
              <a:rPr lang="de-DE" smtClean="0"/>
              <a:t>1</a:t>
            </a:fld>
            <a:endParaRPr lang="de-DE"/>
          </a:p>
        </p:txBody>
      </p:sp>
    </p:spTree>
    <p:extLst>
      <p:ext uri="{BB962C8B-B14F-4D97-AF65-F5344CB8AC3E}">
        <p14:creationId xmlns:p14="http://schemas.microsoft.com/office/powerpoint/2010/main" val="19292190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txBody>
          <a:bodyPr/>
          <a:lstStyle/>
          <a:p>
            <a:endParaRPr lang="de-DE"/>
          </a:p>
        </p:txBody>
      </p:sp>
      <p:sp>
        <p:nvSpPr>
          <p:cNvPr id="3" name="Notizenplatzhalter 2"/>
          <p:cNvSpPr>
            <a:spLocks noGrp="1"/>
          </p:cNvSpPr>
          <p:nvPr>
            <p:ph type="body" idx="1"/>
          </p:nvPr>
        </p:nvSpPr>
        <p:spPr/>
        <p:txBody>
          <a:bodyPr/>
          <a:lstStyle/>
          <a:p>
            <a:r>
              <a:rPr lang="de-DE" sz="1200" b="0" kern="1200" dirty="0">
                <a:solidFill>
                  <a:schemeClr val="tx1"/>
                </a:solidFill>
                <a:effectLst/>
                <a:latin typeface="+mn-lt"/>
                <a:ea typeface="+mn-ea"/>
                <a:cs typeface="+mn-cs"/>
              </a:rPr>
              <a:t>Victor</a:t>
            </a:r>
          </a:p>
          <a:p>
            <a:r>
              <a:rPr lang="de-DE" sz="1200" b="0" kern="1200" dirty="0">
                <a:solidFill>
                  <a:schemeClr val="tx1"/>
                </a:solidFill>
                <a:effectLst/>
                <a:latin typeface="+mn-lt"/>
                <a:ea typeface="+mn-ea"/>
                <a:cs typeface="+mn-cs"/>
              </a:rPr>
              <a:t>Zuerst stellen wir Daten und Versuchsaufbau vor. Danach erklären wir Modell und</a:t>
            </a:r>
          </a:p>
          <a:p>
            <a:r>
              <a:rPr lang="de-DE" sz="1200" b="0" kern="1200" dirty="0">
                <a:solidFill>
                  <a:schemeClr val="tx1"/>
                </a:solidFill>
                <a:effectLst/>
                <a:latin typeface="+mn-lt"/>
                <a:ea typeface="+mn-ea"/>
                <a:cs typeface="+mn-cs"/>
              </a:rPr>
              <a:t>Metriken, vergleichen beide Vorverarbeitungen und schließen mit der fachlichen</a:t>
            </a:r>
          </a:p>
          <a:p>
            <a:r>
              <a:rPr lang="de-DE" sz="1200" b="0" kern="1200" dirty="0">
                <a:solidFill>
                  <a:schemeClr val="tx1"/>
                </a:solidFill>
                <a:effectLst/>
                <a:latin typeface="+mn-lt"/>
                <a:ea typeface="+mn-ea"/>
                <a:cs typeface="+mn-cs"/>
              </a:rPr>
              <a:t>Einordnung. Der Vortrag ist auf etwa neun Minuten und zehn Sekunden ausgelegt.</a:t>
            </a:r>
          </a:p>
          <a:p>
            <a:endParaRPr lang="de-DE" sz="1200" b="0" kern="1200" dirty="0">
              <a:solidFill>
                <a:schemeClr val="tx1"/>
              </a:solidFill>
              <a:effectLst/>
              <a:latin typeface="+mn-lt"/>
              <a:ea typeface="+mn-ea"/>
              <a:cs typeface="+mn-cs"/>
            </a:endParaRPr>
          </a:p>
        </p:txBody>
      </p:sp>
      <p:sp>
        <p:nvSpPr>
          <p:cNvPr id="4" name="Foliennummernplatzhalter 3"/>
          <p:cNvSpPr>
            <a:spLocks noGrp="1"/>
          </p:cNvSpPr>
          <p:nvPr>
            <p:ph type="sldNum" sz="quarter" idx="5"/>
          </p:nvPr>
        </p:nvSpPr>
        <p:spPr/>
        <p:txBody>
          <a:bodyPr/>
          <a:lstStyle/>
          <a:p>
            <a:fld id="{0492B7F2-6741-7346-B13A-366117EE2BBB}" type="slidenum">
              <a:rPr lang="de-DE" smtClean="0"/>
              <a:t>2</a:t>
            </a:fld>
            <a:endParaRPr lang="de-DE"/>
          </a:p>
        </p:txBody>
      </p:sp>
    </p:spTree>
    <p:extLst>
      <p:ext uri="{BB962C8B-B14F-4D97-AF65-F5344CB8AC3E}">
        <p14:creationId xmlns:p14="http://schemas.microsoft.com/office/powerpoint/2010/main" val="259109316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txBody>
          <a:bodyPr/>
          <a:lstStyle/>
          <a:p>
            <a:endParaRPr lang="de-DE"/>
          </a:p>
        </p:txBody>
      </p:sp>
      <p:sp>
        <p:nvSpPr>
          <p:cNvPr id="3" name="Notizenplatzhalt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kern="1200" dirty="0">
                <a:solidFill>
                  <a:schemeClr val="tx1"/>
                </a:solidFill>
                <a:effectLst/>
                <a:latin typeface="+mn-lt"/>
                <a:ea typeface="+mn-ea"/>
                <a:cs typeface="+mn-cs"/>
              </a:rPr>
              <a:t>Victor</a:t>
            </a:r>
          </a:p>
          <a:p>
            <a:r>
              <a:rPr lang="de-DE" sz="1200" b="0" kern="1200" dirty="0">
                <a:solidFill>
                  <a:schemeClr val="tx1"/>
                </a:solidFill>
                <a:effectLst/>
                <a:latin typeface="+mn-lt"/>
                <a:ea typeface="+mn-ea"/>
                <a:cs typeface="+mn-cs"/>
              </a:rPr>
              <a:t>Die Feature-Extraktion wird immer vor der Mittelung ausgeführt. Dadurch mitteln wir Merkmalsvektoren und nicht Rohsignale. Die Mittelung verändert nur Z01 und Z04; die anderen Gruppen bleiben inhaltlich unverändert.</a:t>
            </a:r>
          </a:p>
          <a:p>
            <a:endParaRPr lang="de-DE" dirty="0"/>
          </a:p>
        </p:txBody>
      </p:sp>
      <p:sp>
        <p:nvSpPr>
          <p:cNvPr id="4" name="Foliennummernplatzhalter 3"/>
          <p:cNvSpPr>
            <a:spLocks noGrp="1"/>
          </p:cNvSpPr>
          <p:nvPr>
            <p:ph type="sldNum" sz="quarter" idx="5"/>
          </p:nvPr>
        </p:nvSpPr>
        <p:spPr/>
        <p:txBody>
          <a:bodyPr/>
          <a:lstStyle/>
          <a:p>
            <a:fld id="{0492B7F2-6741-7346-B13A-366117EE2BBB}" type="slidenum">
              <a:rPr lang="de-DE" smtClean="0"/>
              <a:t>3</a:t>
            </a:fld>
            <a:endParaRPr lang="de-DE"/>
          </a:p>
        </p:txBody>
      </p:sp>
    </p:spTree>
    <p:extLst>
      <p:ext uri="{BB962C8B-B14F-4D97-AF65-F5344CB8AC3E}">
        <p14:creationId xmlns:p14="http://schemas.microsoft.com/office/powerpoint/2010/main" val="407886914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txBody>
          <a:bodyPr/>
          <a:lstStyle/>
          <a:p>
            <a:endParaRPr lang="de-DE"/>
          </a:p>
        </p:txBody>
      </p:sp>
      <p:sp>
        <p:nvSpPr>
          <p:cNvPr id="3" name="Notizenplatzhalt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kern="1200" dirty="0">
                <a:solidFill>
                  <a:schemeClr val="tx1"/>
                </a:solidFill>
                <a:effectLst/>
                <a:latin typeface="+mn-lt"/>
                <a:ea typeface="+mn-ea"/>
                <a:cs typeface="+mn-cs"/>
              </a:rPr>
              <a:t>Victor</a:t>
            </a:r>
          </a:p>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kern="1200" dirty="0">
                <a:solidFill>
                  <a:schemeClr val="tx1"/>
                </a:solidFill>
                <a:effectLst/>
                <a:latin typeface="+mn-lt"/>
                <a:ea typeface="+mn-ea"/>
                <a:cs typeface="+mn-cs"/>
              </a:rPr>
              <a:t>Die Label-Zuordnung basiert auf den Ergebnissen aus Aufgabe 2. Dort wurde `Z05` als beschädigt betrachtet, während `Z01` bis `Z04` als gut verwendet werden. Wichtig ist, dass nur eine Probe die Klasse 0 bildet. Das ist für die spätere Diskussion relevant, weil das Modell dadurch nicht viele verschiedene beschädigte Zahnräder sieht.</a:t>
            </a:r>
          </a:p>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kern="1200" dirty="0">
                <a:solidFill>
                  <a:schemeClr val="tx1"/>
                </a:solidFill>
                <a:effectLst/>
                <a:latin typeface="+mn-lt"/>
                <a:ea typeface="+mn-ea"/>
                <a:cs typeface="+mn-cs"/>
              </a:rPr>
              <a:t>Deshalb in Dataframe-manager neue Spalte `</a:t>
            </a:r>
            <a:r>
              <a:rPr lang="de-DE" sz="1200" b="0" kern="1200" dirty="0" err="1">
                <a:solidFill>
                  <a:schemeClr val="tx1"/>
                </a:solidFill>
                <a:effectLst/>
                <a:latin typeface="+mn-lt"/>
                <a:ea typeface="+mn-ea"/>
                <a:cs typeface="+mn-cs"/>
              </a:rPr>
              <a:t>label</a:t>
            </a:r>
            <a:r>
              <a:rPr lang="de-DE" sz="1200" b="0" kern="1200" dirty="0">
                <a:solidFill>
                  <a:schemeClr val="tx1"/>
                </a:solidFill>
                <a:effectLst/>
                <a:latin typeface="+mn-lt"/>
                <a:ea typeface="+mn-ea"/>
                <a:cs typeface="+mn-cs"/>
              </a:rPr>
              <a:t>`</a:t>
            </a:r>
          </a:p>
          <a:p>
            <a:endParaRPr lang="de-DE" dirty="0"/>
          </a:p>
        </p:txBody>
      </p:sp>
      <p:sp>
        <p:nvSpPr>
          <p:cNvPr id="4" name="Foliennummernplatzhalter 3"/>
          <p:cNvSpPr>
            <a:spLocks noGrp="1"/>
          </p:cNvSpPr>
          <p:nvPr>
            <p:ph type="sldNum" sz="quarter" idx="5"/>
          </p:nvPr>
        </p:nvSpPr>
        <p:spPr/>
        <p:txBody>
          <a:bodyPr/>
          <a:lstStyle/>
          <a:p>
            <a:fld id="{0492B7F2-6741-7346-B13A-366117EE2BBB}" type="slidenum">
              <a:rPr lang="de-DE" smtClean="0"/>
              <a:t>4</a:t>
            </a:fld>
            <a:endParaRPr lang="de-DE"/>
          </a:p>
        </p:txBody>
      </p:sp>
    </p:spTree>
    <p:extLst>
      <p:ext uri="{BB962C8B-B14F-4D97-AF65-F5344CB8AC3E}">
        <p14:creationId xmlns:p14="http://schemas.microsoft.com/office/powerpoint/2010/main" val="101403109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txBody>
          <a:bodyPr/>
          <a:lstStyle/>
          <a:p>
            <a:endParaRPr lang="de-DE"/>
          </a:p>
        </p:txBody>
      </p:sp>
      <p:sp>
        <p:nvSpPr>
          <p:cNvPr id="3" name="Notizenplatzhalter 2"/>
          <p:cNvSpPr>
            <a:spLocks noGrp="1"/>
          </p:cNvSpPr>
          <p:nvPr>
            <p:ph type="body" idx="1"/>
          </p:nvPr>
        </p:nvSpPr>
        <p:spPr/>
        <p:txBody>
          <a:bodyPr/>
          <a:lstStyle/>
          <a:p>
            <a:r>
              <a:rPr lang="de-DE" sz="1200" b="0" kern="1200" dirty="0">
                <a:solidFill>
                  <a:schemeClr val="tx1"/>
                </a:solidFill>
                <a:effectLst/>
                <a:latin typeface="+mn-lt"/>
                <a:ea typeface="+mn-ea"/>
                <a:cs typeface="+mn-cs"/>
              </a:rPr>
              <a:t>Victor</a:t>
            </a:r>
          </a:p>
          <a:p>
            <a:r>
              <a:rPr lang="de-DE" sz="1200" b="0" kern="1200" dirty="0">
                <a:solidFill>
                  <a:schemeClr val="tx1"/>
                </a:solidFill>
                <a:effectLst/>
                <a:latin typeface="+mn-lt"/>
                <a:ea typeface="+mn-ea"/>
                <a:cs typeface="+mn-cs"/>
              </a:rPr>
              <a:t>Die äußeren Splits entsprechen exakt der Aufgabenstellung. </a:t>
            </a:r>
          </a:p>
          <a:p>
            <a:r>
              <a:rPr lang="de-DE" sz="1200" b="0" kern="1200" dirty="0">
                <a:solidFill>
                  <a:schemeClr val="tx1"/>
                </a:solidFill>
                <a:effectLst/>
                <a:latin typeface="+mn-lt"/>
                <a:ea typeface="+mn-ea"/>
                <a:cs typeface="+mn-cs"/>
              </a:rPr>
              <a:t>Jeder gesunde Zustand wird einmal als unbekannte gesunde Gruppe getestet. Z05 wird in jedem Fold erneut ausgewertet.</a:t>
            </a:r>
          </a:p>
        </p:txBody>
      </p:sp>
      <p:sp>
        <p:nvSpPr>
          <p:cNvPr id="4" name="Foliennummernplatzhalter 3"/>
          <p:cNvSpPr>
            <a:spLocks noGrp="1"/>
          </p:cNvSpPr>
          <p:nvPr>
            <p:ph type="sldNum" sz="quarter" idx="5"/>
          </p:nvPr>
        </p:nvSpPr>
        <p:spPr/>
        <p:txBody>
          <a:bodyPr/>
          <a:lstStyle/>
          <a:p>
            <a:fld id="{0492B7F2-6741-7346-B13A-366117EE2BBB}" type="slidenum">
              <a:rPr lang="de-DE" smtClean="0"/>
              <a:t>5</a:t>
            </a:fld>
            <a:endParaRPr lang="de-DE"/>
          </a:p>
        </p:txBody>
      </p:sp>
    </p:spTree>
    <p:extLst>
      <p:ext uri="{BB962C8B-B14F-4D97-AF65-F5344CB8AC3E}">
        <p14:creationId xmlns:p14="http://schemas.microsoft.com/office/powerpoint/2010/main" val="321199130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49F389-D4E0-D2D0-D0E3-FEDCB6012685}"/>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31C17418-FDE2-F315-1FCC-C0AE13826ED7}"/>
              </a:ext>
            </a:extLst>
          </p:cNvPr>
          <p:cNvSpPr>
            <a:spLocks noGrp="1" noRot="1" noChangeAspect="1"/>
          </p:cNvSpPr>
          <p:nvPr>
            <p:ph type="sldImg"/>
          </p:nvPr>
        </p:nvSpPr>
        <p:spPr/>
        <p:txBody>
          <a:bodyPr/>
          <a:lstStyle/>
          <a:p>
            <a:endParaRPr lang="de-DE"/>
          </a:p>
        </p:txBody>
      </p:sp>
      <p:sp>
        <p:nvSpPr>
          <p:cNvPr id="3" name="Notizenplatzhalter 2">
            <a:extLst>
              <a:ext uri="{FF2B5EF4-FFF2-40B4-BE49-F238E27FC236}">
                <a16:creationId xmlns:a16="http://schemas.microsoft.com/office/drawing/2014/main" id="{72DD5A0F-089C-81AB-670E-7E39A76EBC0D}"/>
              </a:ext>
            </a:extLst>
          </p:cNvPr>
          <p:cNvSpPr>
            <a:spLocks noGrp="1"/>
          </p:cNvSpPr>
          <p:nvPr>
            <p:ph type="body" idx="1"/>
          </p:nvPr>
        </p:nvSpPr>
        <p:spPr/>
        <p:txBody>
          <a:bodyPr/>
          <a:lstStyle/>
          <a:p>
            <a:r>
              <a:rPr lang="de-DE" sz="1200" b="0" kern="1200" dirty="0">
                <a:solidFill>
                  <a:schemeClr val="tx1"/>
                </a:solidFill>
                <a:effectLst/>
                <a:latin typeface="+mn-lt"/>
                <a:ea typeface="+mn-ea"/>
                <a:cs typeface="+mn-cs"/>
              </a:rPr>
              <a:t>Victor</a:t>
            </a:r>
            <a:br>
              <a:rPr lang="de-DE" sz="1200" b="0" kern="1200" dirty="0">
                <a:solidFill>
                  <a:schemeClr val="tx1"/>
                </a:solidFill>
                <a:effectLst/>
                <a:latin typeface="+mn-lt"/>
                <a:ea typeface="+mn-ea"/>
                <a:cs typeface="+mn-cs"/>
              </a:rPr>
            </a:br>
            <a:r>
              <a:rPr lang="de-DE" sz="1200" b="0" kern="1200" dirty="0">
                <a:solidFill>
                  <a:schemeClr val="tx1"/>
                </a:solidFill>
                <a:effectLst/>
                <a:latin typeface="+mn-lt"/>
                <a:ea typeface="+mn-ea"/>
                <a:cs typeface="+mn-cs"/>
              </a:rPr>
              <a:t>Aus dem Zahnrad-Signal entstehen 62 Audiofeatures. Der Encoder komprimiert diese über 32 auf 8 Werte; </a:t>
            </a:r>
          </a:p>
          <a:p>
            <a:r>
              <a:rPr lang="de-DE" sz="1200" b="0" kern="1200" dirty="0">
                <a:solidFill>
                  <a:schemeClr val="tx1"/>
                </a:solidFill>
                <a:effectLst/>
                <a:latin typeface="+mn-lt"/>
                <a:ea typeface="+mn-ea"/>
                <a:cs typeface="+mn-cs"/>
              </a:rPr>
              <a:t>der Decoder rekonstruiert den Merkmalsvektor. </a:t>
            </a:r>
          </a:p>
          <a:p>
            <a:r>
              <a:rPr lang="de-DE" sz="1200" b="0" kern="1200" dirty="0">
                <a:solidFill>
                  <a:schemeClr val="tx1"/>
                </a:solidFill>
                <a:effectLst/>
                <a:latin typeface="+mn-lt"/>
                <a:ea typeface="+mn-ea"/>
                <a:cs typeface="+mn-cs"/>
              </a:rPr>
              <a:t>Ein großer MSE weist auf eine Anomalie hin. </a:t>
            </a:r>
          </a:p>
          <a:p>
            <a:r>
              <a:rPr lang="de-DE" sz="1200" b="0" kern="1200" dirty="0">
                <a:solidFill>
                  <a:schemeClr val="tx1"/>
                </a:solidFill>
                <a:effectLst/>
                <a:latin typeface="+mn-lt"/>
                <a:ea typeface="+mn-ea"/>
                <a:cs typeface="+mn-cs"/>
              </a:rPr>
              <a:t>Alle Hyperparameter bleiben zwischen den Pipelines gleich, und die Skalierung wird je Trainings-Fold neu gelernt. </a:t>
            </a:r>
          </a:p>
          <a:p>
            <a:endParaRPr lang="de-DE" dirty="0"/>
          </a:p>
        </p:txBody>
      </p:sp>
      <p:sp>
        <p:nvSpPr>
          <p:cNvPr id="4" name="Foliennummernplatzhalter 3">
            <a:extLst>
              <a:ext uri="{FF2B5EF4-FFF2-40B4-BE49-F238E27FC236}">
                <a16:creationId xmlns:a16="http://schemas.microsoft.com/office/drawing/2014/main" id="{AA57F3D0-5F1F-FB96-9DEC-006699FAA684}"/>
              </a:ext>
            </a:extLst>
          </p:cNvPr>
          <p:cNvSpPr>
            <a:spLocks noGrp="1"/>
          </p:cNvSpPr>
          <p:nvPr>
            <p:ph type="sldNum" sz="quarter" idx="5"/>
          </p:nvPr>
        </p:nvSpPr>
        <p:spPr/>
        <p:txBody>
          <a:bodyPr/>
          <a:lstStyle/>
          <a:p>
            <a:fld id="{0492B7F2-6741-7346-B13A-366117EE2BBB}" type="slidenum">
              <a:rPr lang="de-DE" smtClean="0"/>
              <a:t>6</a:t>
            </a:fld>
            <a:endParaRPr lang="de-DE"/>
          </a:p>
        </p:txBody>
      </p:sp>
    </p:spTree>
    <p:extLst>
      <p:ext uri="{BB962C8B-B14F-4D97-AF65-F5344CB8AC3E}">
        <p14:creationId xmlns:p14="http://schemas.microsoft.com/office/powerpoint/2010/main" val="267845126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txBody>
          <a:bodyPr/>
          <a:lstStyle/>
          <a:p>
            <a:endParaRPr lang="de-DE"/>
          </a:p>
        </p:txBody>
      </p:sp>
      <p:sp>
        <p:nvSpPr>
          <p:cNvPr id="3" name="Notizenplatzhalt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kern="1200" dirty="0">
                <a:solidFill>
                  <a:schemeClr val="tx1"/>
                </a:solidFill>
                <a:effectLst/>
                <a:latin typeface="+mn-lt"/>
                <a:ea typeface="+mn-ea"/>
                <a:cs typeface="+mn-cs"/>
              </a:rPr>
              <a:t>Tim</a:t>
            </a:r>
          </a:p>
          <a:p>
            <a:r>
              <a:rPr lang="de-DE" sz="1200" b="0" kern="1200" dirty="0">
                <a:solidFill>
                  <a:schemeClr val="tx1"/>
                </a:solidFill>
                <a:effectLst/>
                <a:latin typeface="+mn-lt"/>
                <a:ea typeface="+mn-ea"/>
                <a:cs typeface="+mn-cs"/>
              </a:rPr>
              <a:t>Ein gepoolter Vergleich allein wäre unfair: Ohne Mittelung hat Fold 4 wegen</a:t>
            </a:r>
          </a:p>
          <a:p>
            <a:r>
              <a:rPr lang="de-DE" sz="1200" b="0" kern="1200" dirty="0">
                <a:solidFill>
                  <a:schemeClr val="tx1"/>
                </a:solidFill>
                <a:effectLst/>
                <a:latin typeface="+mn-lt"/>
                <a:ea typeface="+mn-ea"/>
                <a:cs typeface="+mn-cs"/>
              </a:rPr>
              <a:t>Z01 besonders viele Testzeilen. BAR gleicht Klassen aus; das Makromittel gibt</a:t>
            </a:r>
          </a:p>
          <a:p>
            <a:r>
              <a:rPr lang="de-DE" sz="1200" b="0" kern="1200" dirty="0">
                <a:solidFill>
                  <a:schemeClr val="tx1"/>
                </a:solidFill>
                <a:effectLst/>
                <a:latin typeface="+mn-lt"/>
                <a:ea typeface="+mn-ea"/>
                <a:cs typeface="+mn-cs"/>
              </a:rPr>
              <a:t>zusätzlich jedem der acht Modelle dasselbe Gewicht.</a:t>
            </a:r>
          </a:p>
          <a:p>
            <a:endParaRPr lang="de-DE" dirty="0"/>
          </a:p>
        </p:txBody>
      </p:sp>
      <p:sp>
        <p:nvSpPr>
          <p:cNvPr id="4" name="Foliennummernplatzhalter 3"/>
          <p:cNvSpPr>
            <a:spLocks noGrp="1"/>
          </p:cNvSpPr>
          <p:nvPr>
            <p:ph type="sldNum" sz="quarter" idx="5"/>
          </p:nvPr>
        </p:nvSpPr>
        <p:spPr/>
        <p:txBody>
          <a:bodyPr/>
          <a:lstStyle/>
          <a:p>
            <a:fld id="{0492B7F2-6741-7346-B13A-366117EE2BBB}" type="slidenum">
              <a:rPr lang="de-DE" smtClean="0"/>
              <a:t>7</a:t>
            </a:fld>
            <a:endParaRPr lang="de-DE"/>
          </a:p>
        </p:txBody>
      </p:sp>
    </p:spTree>
    <p:extLst>
      <p:ext uri="{BB962C8B-B14F-4D97-AF65-F5344CB8AC3E}">
        <p14:creationId xmlns:p14="http://schemas.microsoft.com/office/powerpoint/2010/main" val="178336553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txBody>
          <a:bodyPr/>
          <a:lstStyle/>
          <a:p>
            <a:endParaRPr lang="de-DE"/>
          </a:p>
        </p:txBody>
      </p:sp>
      <p:sp>
        <p:nvSpPr>
          <p:cNvPr id="3" name="Notizenplatzhalt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kern="1200" dirty="0">
                <a:solidFill>
                  <a:schemeClr val="tx1"/>
                </a:solidFill>
                <a:effectLst/>
                <a:latin typeface="+mn-lt"/>
                <a:ea typeface="+mn-ea"/>
                <a:cs typeface="+mn-cs"/>
              </a:rPr>
              <a:t>Tim</a:t>
            </a:r>
          </a:p>
          <a:p>
            <a:r>
              <a:rPr lang="de-DE" sz="1200" b="0" kern="1200" dirty="0">
                <a:solidFill>
                  <a:schemeClr val="tx1"/>
                </a:solidFill>
                <a:effectLst/>
                <a:latin typeface="+mn-lt"/>
                <a:ea typeface="+mn-ea"/>
                <a:cs typeface="+mn-cs"/>
              </a:rPr>
              <a:t>Alle Z05-Samples werden gefunden. Fold 1 bis 3 sind gut, Fold 4 scheitert an vielen gesunden Z01-Fehlalarmen. </a:t>
            </a:r>
          </a:p>
          <a:p>
            <a:r>
              <a:rPr lang="de-DE" sz="1200" b="0" kern="1200" dirty="0">
                <a:solidFill>
                  <a:schemeClr val="tx1"/>
                </a:solidFill>
                <a:effectLst/>
                <a:latin typeface="+mn-lt"/>
                <a:ea typeface="+mn-ea"/>
                <a:cs typeface="+mn-cs"/>
              </a:rPr>
              <a:t>Ohne Mittelung bleibt die Variation der fünf Z01-mIDs sichtbar.</a:t>
            </a:r>
          </a:p>
        </p:txBody>
      </p:sp>
      <p:sp>
        <p:nvSpPr>
          <p:cNvPr id="4" name="Foliennummernplatzhalter 3"/>
          <p:cNvSpPr>
            <a:spLocks noGrp="1"/>
          </p:cNvSpPr>
          <p:nvPr>
            <p:ph type="sldNum" sz="quarter" idx="5"/>
          </p:nvPr>
        </p:nvSpPr>
        <p:spPr/>
        <p:txBody>
          <a:bodyPr/>
          <a:lstStyle/>
          <a:p>
            <a:fld id="{0492B7F2-6741-7346-B13A-366117EE2BBB}" type="slidenum">
              <a:rPr lang="de-DE" smtClean="0"/>
              <a:t>8</a:t>
            </a:fld>
            <a:endParaRPr lang="de-DE"/>
          </a:p>
        </p:txBody>
      </p:sp>
    </p:spTree>
    <p:extLst>
      <p:ext uri="{BB962C8B-B14F-4D97-AF65-F5344CB8AC3E}">
        <p14:creationId xmlns:p14="http://schemas.microsoft.com/office/powerpoint/2010/main" val="322042703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3763EF-EA1A-0B8A-1379-0A6160E522A8}"/>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ED6D235D-AA7B-F048-6715-4D5C7A058148}"/>
              </a:ext>
            </a:extLst>
          </p:cNvPr>
          <p:cNvSpPr>
            <a:spLocks noGrp="1" noRot="1" noChangeAspect="1"/>
          </p:cNvSpPr>
          <p:nvPr>
            <p:ph type="sldImg"/>
          </p:nvPr>
        </p:nvSpPr>
        <p:spPr/>
        <p:txBody>
          <a:bodyPr/>
          <a:lstStyle/>
          <a:p>
            <a:endParaRPr lang="de-DE"/>
          </a:p>
        </p:txBody>
      </p:sp>
      <p:sp>
        <p:nvSpPr>
          <p:cNvPr id="3" name="Notizenplatzhalter 2">
            <a:extLst>
              <a:ext uri="{FF2B5EF4-FFF2-40B4-BE49-F238E27FC236}">
                <a16:creationId xmlns:a16="http://schemas.microsoft.com/office/drawing/2014/main" id="{42AAE592-F1C0-8F4D-517A-D2570ED297B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kern="1200" dirty="0">
                <a:solidFill>
                  <a:schemeClr val="tx1"/>
                </a:solidFill>
                <a:effectLst/>
                <a:latin typeface="+mn-lt"/>
                <a:ea typeface="+mn-ea"/>
                <a:cs typeface="+mn-cs"/>
              </a:rPr>
              <a:t>David</a:t>
            </a:r>
          </a:p>
          <a:p>
            <a:r>
              <a:rPr lang="de-DE" sz="1200" b="0" kern="1200" dirty="0">
                <a:solidFill>
                  <a:schemeClr val="tx1"/>
                </a:solidFill>
                <a:effectLst/>
                <a:latin typeface="+mn-lt"/>
                <a:ea typeface="+mn-ea"/>
                <a:cs typeface="+mn-cs"/>
              </a:rPr>
              <a:t>Vor dem MLP werden alle Features standardisiert. Das ist wichtig, weil die Merkmale unterschiedliche Wertebereiche besitzen. Pro Channel trainieren wir ein eigenes kleines Modell, da der Datensatz trotz Rohdateien klein bleibt. Ein zu großes Netz könnte leicht auswendig lernen.</a:t>
            </a:r>
          </a:p>
        </p:txBody>
      </p:sp>
      <p:sp>
        <p:nvSpPr>
          <p:cNvPr id="4" name="Foliennummernplatzhalter 3">
            <a:extLst>
              <a:ext uri="{FF2B5EF4-FFF2-40B4-BE49-F238E27FC236}">
                <a16:creationId xmlns:a16="http://schemas.microsoft.com/office/drawing/2014/main" id="{A438551F-788D-EDA4-E8B5-EFFC99D96854}"/>
              </a:ext>
            </a:extLst>
          </p:cNvPr>
          <p:cNvSpPr>
            <a:spLocks noGrp="1"/>
          </p:cNvSpPr>
          <p:nvPr>
            <p:ph type="sldNum" sz="quarter" idx="5"/>
          </p:nvPr>
        </p:nvSpPr>
        <p:spPr/>
        <p:txBody>
          <a:bodyPr/>
          <a:lstStyle/>
          <a:p>
            <a:fld id="{0492B7F2-6741-7346-B13A-366117EE2BBB}" type="slidenum">
              <a:rPr lang="de-DE" smtClean="0"/>
              <a:t>9</a:t>
            </a:fld>
            <a:endParaRPr lang="de-DE"/>
          </a:p>
        </p:txBody>
      </p:sp>
    </p:spTree>
    <p:extLst>
      <p:ext uri="{BB962C8B-B14F-4D97-AF65-F5344CB8AC3E}">
        <p14:creationId xmlns:p14="http://schemas.microsoft.com/office/powerpoint/2010/main" val="177063246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txBody>
          <a:bodyPr/>
          <a:lstStyle/>
          <a:p>
            <a:endParaRPr lang="de-DE"/>
          </a:p>
        </p:txBody>
      </p:sp>
      <p:sp>
        <p:nvSpPr>
          <p:cNvPr id="3" name="Notizenplatzhalter 2"/>
          <p:cNvSpPr>
            <a:spLocks noGrp="1"/>
          </p:cNvSpPr>
          <p:nvPr>
            <p:ph type="body" idx="1"/>
          </p:nvPr>
        </p:nvSpPr>
        <p:spPr/>
        <p:txBody>
          <a:bodyPr/>
          <a:lstStyle/>
          <a:p>
            <a:r>
              <a:rPr lang="de-DE" sz="1200" b="0" kern="1200" dirty="0">
                <a:solidFill>
                  <a:schemeClr val="tx1"/>
                </a:solidFill>
                <a:effectLst/>
                <a:latin typeface="+mn-lt"/>
                <a:ea typeface="+mn-ea"/>
                <a:cs typeface="+mn-cs"/>
              </a:rPr>
              <a:t>David</a:t>
            </a:r>
          </a:p>
          <a:p>
            <a:r>
              <a:rPr lang="de-DE" sz="1200" b="0" kern="1200" dirty="0">
                <a:solidFill>
                  <a:schemeClr val="tx1"/>
                </a:solidFill>
                <a:effectLst/>
                <a:latin typeface="+mn-lt"/>
                <a:ea typeface="+mn-ea"/>
                <a:cs typeface="+mn-cs"/>
              </a:rPr>
              <a:t>Die Hyperparameter werden nicht auf dem Testsatz ausgewählt. Für jede Kombination trainieren wir auf dem Trainingssatz und bewerten auf dem Entwicklungssatz. Das beste Modell wird anhand der Entwicklungs-Metriken ausgewählt. Danach wird das finale Modell mit Training plus Entwicklung neu trainiert und erst dann auf dem Testsatz bewertet.</a:t>
            </a:r>
          </a:p>
        </p:txBody>
      </p:sp>
      <p:sp>
        <p:nvSpPr>
          <p:cNvPr id="4" name="Foliennummernplatzhalter 3"/>
          <p:cNvSpPr>
            <a:spLocks noGrp="1"/>
          </p:cNvSpPr>
          <p:nvPr>
            <p:ph type="sldNum" sz="quarter" idx="5"/>
          </p:nvPr>
        </p:nvSpPr>
        <p:spPr/>
        <p:txBody>
          <a:bodyPr/>
          <a:lstStyle/>
          <a:p>
            <a:fld id="{0492B7F2-6741-7346-B13A-366117EE2BBB}" type="slidenum">
              <a:rPr lang="de-DE" smtClean="0"/>
              <a:t>10</a:t>
            </a:fld>
            <a:endParaRPr lang="de-DE"/>
          </a:p>
        </p:txBody>
      </p:sp>
    </p:spTree>
    <p:extLst>
      <p:ext uri="{BB962C8B-B14F-4D97-AF65-F5344CB8AC3E}">
        <p14:creationId xmlns:p14="http://schemas.microsoft.com/office/powerpoint/2010/main" val="420512250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txBody>
          <a:bodyPr/>
          <a:lstStyle/>
          <a:p>
            <a:endParaRPr lang="de-DE"/>
          </a:p>
        </p:txBody>
      </p:sp>
      <p:sp>
        <p:nvSpPr>
          <p:cNvPr id="3" name="Notizenplatzhalt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kern="1200" dirty="0">
                <a:solidFill>
                  <a:schemeClr val="tx1"/>
                </a:solidFill>
                <a:effectLst/>
                <a:latin typeface="+mn-lt"/>
                <a:ea typeface="+mn-ea"/>
                <a:cs typeface="+mn-cs"/>
              </a:rPr>
              <a:t>David</a:t>
            </a:r>
          </a:p>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kern="1200" dirty="0">
                <a:solidFill>
                  <a:schemeClr val="tx1"/>
                </a:solidFill>
                <a:effectLst/>
                <a:latin typeface="+mn-lt"/>
                <a:ea typeface="+mn-ea"/>
                <a:cs typeface="+mn-cs"/>
              </a:rPr>
              <a:t>Die Code-Vorstellung läuft am besten über `main.py`, weil dort alle Schritte sichtbar zusammenlaufen: Signale laden, Split anwenden, Features extrahieren, über `</a:t>
            </a:r>
            <a:r>
              <a:rPr lang="de-DE" sz="1200" b="0" kern="1200" dirty="0" err="1">
                <a:solidFill>
                  <a:schemeClr val="tx1"/>
                </a:solidFill>
                <a:effectLst/>
                <a:latin typeface="+mn-lt"/>
                <a:ea typeface="+mn-ea"/>
                <a:cs typeface="+mn-cs"/>
              </a:rPr>
              <a:t>mID</a:t>
            </a:r>
            <a:r>
              <a:rPr lang="de-DE" sz="1200" b="0" kern="1200" dirty="0">
                <a:solidFill>
                  <a:schemeClr val="tx1"/>
                </a:solidFill>
                <a:effectLst/>
                <a:latin typeface="+mn-lt"/>
                <a:ea typeface="+mn-ea"/>
                <a:cs typeface="+mn-cs"/>
              </a:rPr>
              <a:t>` mitteln, pro Channel ein Modell trainieren und am Ende Ergebnisse speichern. Die anderen Dateien erklären wir kurz nach ihrer Rolle. `dataframe_manager.py` baut den Rohdaten-Data-Frame aus den WAV-Dateien. `split.py` enthält die methodisch wichtige Aufteilung: `Z01` und `Z02` ins Training, `Z04` in den Entwicklungssatz, `Z03` in den Testsatz und `Z05` positionsbasiert in alle drei Splits. `extraction.py` berechnet die Merkmale wie MFCC, Spektralmerkmale, Chroma, Zero-Crossing-Rate und RMS. `model.py` muss nicht im Detail vorgestellt werden; wichtig ist nur, dass dort `</a:t>
            </a:r>
            <a:r>
              <a:rPr lang="de-DE" sz="1200" b="0" kern="1200" dirty="0" err="1">
                <a:solidFill>
                  <a:schemeClr val="tx1"/>
                </a:solidFill>
                <a:effectLst/>
                <a:latin typeface="+mn-lt"/>
                <a:ea typeface="+mn-ea"/>
                <a:cs typeface="+mn-cs"/>
              </a:rPr>
              <a:t>StandardScaler</a:t>
            </a:r>
            <a:r>
              <a:rPr lang="de-DE" sz="1200" b="0" kern="1200" dirty="0">
                <a:solidFill>
                  <a:schemeClr val="tx1"/>
                </a:solidFill>
                <a:effectLst/>
                <a:latin typeface="+mn-lt"/>
                <a:ea typeface="+mn-ea"/>
                <a:cs typeface="+mn-cs"/>
              </a:rPr>
              <a:t> -&gt; </a:t>
            </a:r>
            <a:r>
              <a:rPr lang="de-DE" sz="1200" b="0" kern="1200" dirty="0" err="1">
                <a:solidFill>
                  <a:schemeClr val="tx1"/>
                </a:solidFill>
                <a:effectLst/>
                <a:latin typeface="+mn-lt"/>
                <a:ea typeface="+mn-ea"/>
                <a:cs typeface="+mn-cs"/>
              </a:rPr>
              <a:t>MLPClassifier</a:t>
            </a:r>
            <a:r>
              <a:rPr lang="de-DE" sz="1200" b="0" kern="1200" dirty="0">
                <a:solidFill>
                  <a:schemeClr val="tx1"/>
                </a:solidFill>
                <a:effectLst/>
                <a:latin typeface="+mn-lt"/>
                <a:ea typeface="+mn-ea"/>
                <a:cs typeface="+mn-cs"/>
              </a:rPr>
              <a:t>`, Hyperparameter-Suche, finale Evaluation, ROC, </a:t>
            </a:r>
            <a:r>
              <a:rPr lang="de-DE" sz="1200" b="0" kern="1200" dirty="0" err="1">
                <a:solidFill>
                  <a:schemeClr val="tx1"/>
                </a:solidFill>
                <a:effectLst/>
                <a:latin typeface="+mn-lt"/>
                <a:ea typeface="+mn-ea"/>
                <a:cs typeface="+mn-cs"/>
              </a:rPr>
              <a:t>Confusion</a:t>
            </a:r>
            <a:r>
              <a:rPr lang="de-DE" sz="1200" b="0" kern="1200" dirty="0">
                <a:solidFill>
                  <a:schemeClr val="tx1"/>
                </a:solidFill>
                <a:effectLst/>
                <a:latin typeface="+mn-lt"/>
                <a:ea typeface="+mn-ea"/>
                <a:cs typeface="+mn-cs"/>
              </a:rPr>
              <a:t> Matrix, Learning </a:t>
            </a:r>
            <a:r>
              <a:rPr lang="de-DE" sz="1200" b="0" kern="1200" dirty="0" err="1">
                <a:solidFill>
                  <a:schemeClr val="tx1"/>
                </a:solidFill>
                <a:effectLst/>
                <a:latin typeface="+mn-lt"/>
                <a:ea typeface="+mn-ea"/>
                <a:cs typeface="+mn-cs"/>
              </a:rPr>
              <a:t>Curves</a:t>
            </a:r>
            <a:r>
              <a:rPr lang="de-DE" sz="1200" b="0" kern="1200" dirty="0">
                <a:solidFill>
                  <a:schemeClr val="tx1"/>
                </a:solidFill>
                <a:effectLst/>
                <a:latin typeface="+mn-lt"/>
                <a:ea typeface="+mn-ea"/>
                <a:cs typeface="+mn-cs"/>
              </a:rPr>
              <a:t> und Loss-Kurven umgesetzt sind.</a:t>
            </a:r>
          </a:p>
          <a:p>
            <a:endParaRPr lang="de-DE" dirty="0"/>
          </a:p>
        </p:txBody>
      </p:sp>
      <p:sp>
        <p:nvSpPr>
          <p:cNvPr id="4" name="Foliennummernplatzhalter 3"/>
          <p:cNvSpPr>
            <a:spLocks noGrp="1"/>
          </p:cNvSpPr>
          <p:nvPr>
            <p:ph type="sldNum" sz="quarter" idx="5"/>
          </p:nvPr>
        </p:nvSpPr>
        <p:spPr/>
        <p:txBody>
          <a:bodyPr/>
          <a:lstStyle/>
          <a:p>
            <a:fld id="{0492B7F2-6741-7346-B13A-366117EE2BBB}" type="slidenum">
              <a:rPr lang="de-DE" smtClean="0"/>
              <a:t>11</a:t>
            </a:fld>
            <a:endParaRPr lang="de-DE"/>
          </a:p>
        </p:txBody>
      </p:sp>
    </p:spTree>
    <p:extLst>
      <p:ext uri="{BB962C8B-B14F-4D97-AF65-F5344CB8AC3E}">
        <p14:creationId xmlns:p14="http://schemas.microsoft.com/office/powerpoint/2010/main" val="247111845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txBody>
          <a:bodyPr/>
          <a:lstStyle/>
          <a:p>
            <a:endParaRPr lang="de-DE"/>
          </a:p>
        </p:txBody>
      </p:sp>
      <p:sp>
        <p:nvSpPr>
          <p:cNvPr id="3" name="Notizenplatzhalter 2"/>
          <p:cNvSpPr>
            <a:spLocks noGrp="1"/>
          </p:cNvSpPr>
          <p:nvPr>
            <p:ph type="body" idx="1"/>
          </p:nvPr>
        </p:nvSpPr>
        <p:spPr/>
        <p:txBody>
          <a:bodyPr/>
          <a:lstStyle/>
          <a:p>
            <a:r>
              <a:rPr lang="de-DE" sz="1200" b="0" kern="1200" dirty="0">
                <a:solidFill>
                  <a:schemeClr val="tx1"/>
                </a:solidFill>
                <a:effectLst/>
                <a:latin typeface="+mn-lt"/>
                <a:ea typeface="+mn-ea"/>
                <a:cs typeface="+mn-cs"/>
              </a:rPr>
              <a:t>David</a:t>
            </a:r>
          </a:p>
          <a:p>
            <a:r>
              <a:rPr lang="de-DE" sz="1200" b="0" kern="1200" dirty="0">
                <a:solidFill>
                  <a:schemeClr val="tx1"/>
                </a:solidFill>
                <a:effectLst/>
                <a:latin typeface="+mn-lt"/>
                <a:ea typeface="+mn-ea"/>
                <a:cs typeface="+mn-cs"/>
              </a:rPr>
              <a:t>Die Training-Loss-Kurve zeigt, wie sich der Fehler während des Trainings entwickelt. Der Loss basiert auf den vorhergesagten Wahrscheinlichkeiten des MLP und den echten Labels. Wenn das Modell der richtigen Klasse eine hohe Wahrscheinlichkeit gibt, ist der Loss klein. Wenn es unsicher oder falsch liegt, steigt der Loss. In unseren Kurven sinkt der Loss deutlich ab, was zeigt, dass das Training funktioniert und das Modell die Trainingsdaten zunehmend besser beschreibt. Wichtig ist aber, dass ein niedriger Trainings-Loss allein nicht   ausreicht. Ein Modell kann auf Trainingsdaten sehr gut sein und trotzdem schlecht generalisieren. Deshalb bewerten wir zusätzlich mit Entwicklungssatz, Testsatz, ROC/AUC und Learning </a:t>
            </a:r>
            <a:r>
              <a:rPr lang="de-DE" sz="1200" b="0" kern="1200" dirty="0" err="1">
                <a:solidFill>
                  <a:schemeClr val="tx1"/>
                </a:solidFill>
                <a:effectLst/>
                <a:latin typeface="+mn-lt"/>
                <a:ea typeface="+mn-ea"/>
                <a:cs typeface="+mn-cs"/>
              </a:rPr>
              <a:t>Curves</a:t>
            </a:r>
            <a:r>
              <a:rPr lang="de-DE" sz="1200" b="0" kern="1200" dirty="0">
                <a:solidFill>
                  <a:schemeClr val="tx1"/>
                </a:solidFill>
                <a:effectLst/>
                <a:latin typeface="+mn-lt"/>
                <a:ea typeface="+mn-ea"/>
                <a:cs typeface="+mn-cs"/>
              </a:rPr>
              <a:t>.</a:t>
            </a:r>
          </a:p>
        </p:txBody>
      </p:sp>
      <p:sp>
        <p:nvSpPr>
          <p:cNvPr id="4" name="Foliennummernplatzhalter 3"/>
          <p:cNvSpPr>
            <a:spLocks noGrp="1"/>
          </p:cNvSpPr>
          <p:nvPr>
            <p:ph type="sldNum" sz="quarter" idx="5"/>
          </p:nvPr>
        </p:nvSpPr>
        <p:spPr/>
        <p:txBody>
          <a:bodyPr/>
          <a:lstStyle/>
          <a:p>
            <a:fld id="{0492B7F2-6741-7346-B13A-366117EE2BBB}" type="slidenum">
              <a:rPr lang="de-DE" smtClean="0"/>
              <a:t>12</a:t>
            </a:fld>
            <a:endParaRPr lang="de-DE"/>
          </a:p>
        </p:txBody>
      </p:sp>
    </p:spTree>
    <p:extLst>
      <p:ext uri="{BB962C8B-B14F-4D97-AF65-F5344CB8AC3E}">
        <p14:creationId xmlns:p14="http://schemas.microsoft.com/office/powerpoint/2010/main" val="156802516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F32459-7450-A094-EFE4-A5719BBE60A5}"/>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10A727EB-4506-57C5-94F3-6703BF0E0E89}"/>
              </a:ext>
            </a:extLst>
          </p:cNvPr>
          <p:cNvSpPr>
            <a:spLocks noGrp="1" noRot="1" noChangeAspect="1"/>
          </p:cNvSpPr>
          <p:nvPr>
            <p:ph type="sldImg"/>
          </p:nvPr>
        </p:nvSpPr>
        <p:spPr/>
        <p:txBody>
          <a:bodyPr/>
          <a:lstStyle/>
          <a:p>
            <a:endParaRPr lang="de-DE"/>
          </a:p>
        </p:txBody>
      </p:sp>
      <p:sp>
        <p:nvSpPr>
          <p:cNvPr id="3" name="Notizenplatzhalter 2">
            <a:extLst>
              <a:ext uri="{FF2B5EF4-FFF2-40B4-BE49-F238E27FC236}">
                <a16:creationId xmlns:a16="http://schemas.microsoft.com/office/drawing/2014/main" id="{80DF9377-D63B-B215-1E30-95489284FCD2}"/>
              </a:ext>
            </a:extLst>
          </p:cNvPr>
          <p:cNvSpPr>
            <a:spLocks noGrp="1"/>
          </p:cNvSpPr>
          <p:nvPr>
            <p:ph type="body" idx="1"/>
          </p:nvPr>
        </p:nvSpPr>
        <p:spPr/>
        <p:txBody>
          <a:bodyPr/>
          <a:lstStyle/>
          <a:p>
            <a:r>
              <a:rPr lang="de-DE" sz="1200" b="0" kern="1200" dirty="0">
                <a:solidFill>
                  <a:schemeClr val="tx1"/>
                </a:solidFill>
                <a:effectLst/>
                <a:latin typeface="+mn-lt"/>
                <a:ea typeface="+mn-ea"/>
                <a:cs typeface="+mn-cs"/>
              </a:rPr>
              <a:t>Benjamin</a:t>
            </a:r>
          </a:p>
          <a:p>
            <a:r>
              <a:rPr lang="de-DE" sz="1200" b="0" kern="1200" dirty="0">
                <a:solidFill>
                  <a:schemeClr val="tx1"/>
                </a:solidFill>
                <a:effectLst/>
                <a:latin typeface="+mn-lt"/>
                <a:ea typeface="+mn-ea"/>
                <a:cs typeface="+mn-cs"/>
              </a:rPr>
              <a:t>Die Learning </a:t>
            </a:r>
            <a:r>
              <a:rPr lang="de-DE" sz="1200" b="0" kern="1200" dirty="0" err="1">
                <a:solidFill>
                  <a:schemeClr val="tx1"/>
                </a:solidFill>
                <a:effectLst/>
                <a:latin typeface="+mn-lt"/>
                <a:ea typeface="+mn-ea"/>
                <a:cs typeface="+mn-cs"/>
              </a:rPr>
              <a:t>Curves</a:t>
            </a:r>
            <a:r>
              <a:rPr lang="de-DE" sz="1200" b="0" kern="1200" dirty="0">
                <a:solidFill>
                  <a:schemeClr val="tx1"/>
                </a:solidFill>
                <a:effectLst/>
                <a:latin typeface="+mn-lt"/>
                <a:ea typeface="+mn-ea"/>
                <a:cs typeface="+mn-cs"/>
              </a:rPr>
              <a:t> zeigen, wie gut das Modell mit wachsender Trainingsmenge wird. </a:t>
            </a:r>
          </a:p>
          <a:p>
            <a:r>
              <a:rPr lang="de-DE" sz="1200" b="0" kern="1200" dirty="0">
                <a:solidFill>
                  <a:schemeClr val="tx1"/>
                </a:solidFill>
                <a:effectLst/>
                <a:latin typeface="+mn-lt"/>
                <a:ea typeface="+mn-ea"/>
                <a:cs typeface="+mn-cs"/>
              </a:rPr>
              <a:t>Im aktuellen Split erreicht `Ch1` schon mit kleinen Trainingsmengen perfekte Entwicklungswerte. </a:t>
            </a:r>
          </a:p>
          <a:p>
            <a:r>
              <a:rPr lang="de-DE" sz="1200" b="0" kern="1200" dirty="0">
                <a:solidFill>
                  <a:schemeClr val="tx1"/>
                </a:solidFill>
                <a:effectLst/>
                <a:latin typeface="+mn-lt"/>
                <a:ea typeface="+mn-ea"/>
                <a:cs typeface="+mn-cs"/>
              </a:rPr>
              <a:t>`Ch2` verbessert sich schrittweise und erreicht die perfekten Entwicklungswerte erst mit der gesamten Trainingsmenge.</a:t>
            </a:r>
          </a:p>
        </p:txBody>
      </p:sp>
      <p:sp>
        <p:nvSpPr>
          <p:cNvPr id="4" name="Foliennummernplatzhalter 3">
            <a:extLst>
              <a:ext uri="{FF2B5EF4-FFF2-40B4-BE49-F238E27FC236}">
                <a16:creationId xmlns:a16="http://schemas.microsoft.com/office/drawing/2014/main" id="{5714CD32-AC14-F66C-2FDB-9965745FDDFE}"/>
              </a:ext>
            </a:extLst>
          </p:cNvPr>
          <p:cNvSpPr>
            <a:spLocks noGrp="1"/>
          </p:cNvSpPr>
          <p:nvPr>
            <p:ph type="sldNum" sz="quarter" idx="5"/>
          </p:nvPr>
        </p:nvSpPr>
        <p:spPr/>
        <p:txBody>
          <a:bodyPr/>
          <a:lstStyle/>
          <a:p>
            <a:fld id="{0492B7F2-6741-7346-B13A-366117EE2BBB}" type="slidenum">
              <a:rPr lang="de-DE" smtClean="0"/>
              <a:t>13</a:t>
            </a:fld>
            <a:endParaRPr lang="de-DE"/>
          </a:p>
        </p:txBody>
      </p:sp>
    </p:spTree>
    <p:extLst>
      <p:ext uri="{BB962C8B-B14F-4D97-AF65-F5344CB8AC3E}">
        <p14:creationId xmlns:p14="http://schemas.microsoft.com/office/powerpoint/2010/main" val="358387784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txBody>
          <a:bodyPr/>
          <a:lstStyle/>
          <a:p>
            <a:endParaRPr lang="de-DE"/>
          </a:p>
        </p:txBody>
      </p:sp>
      <p:sp>
        <p:nvSpPr>
          <p:cNvPr id="3" name="Notizenplatzhalter 2"/>
          <p:cNvSpPr>
            <a:spLocks noGrp="1"/>
          </p:cNvSpPr>
          <p:nvPr>
            <p:ph type="body" idx="1"/>
          </p:nvPr>
        </p:nvSpPr>
        <p:spPr/>
        <p:txBody>
          <a:bodyPr/>
          <a:lstStyle/>
          <a:p>
            <a:r>
              <a:rPr lang="de-DE" sz="1200" b="0" kern="1200" dirty="0">
                <a:solidFill>
                  <a:schemeClr val="tx1"/>
                </a:solidFill>
                <a:effectLst/>
                <a:latin typeface="+mn-lt"/>
                <a:ea typeface="+mn-ea"/>
                <a:cs typeface="+mn-cs"/>
              </a:rPr>
              <a:t>Benjamin</a:t>
            </a:r>
            <a:endParaRPr lang="de-DE" dirty="0"/>
          </a:p>
        </p:txBody>
      </p:sp>
      <p:sp>
        <p:nvSpPr>
          <p:cNvPr id="4" name="Foliennummernplatzhalter 3"/>
          <p:cNvSpPr>
            <a:spLocks noGrp="1"/>
          </p:cNvSpPr>
          <p:nvPr>
            <p:ph type="sldNum" sz="quarter" idx="5"/>
          </p:nvPr>
        </p:nvSpPr>
        <p:spPr/>
        <p:txBody>
          <a:bodyPr/>
          <a:lstStyle/>
          <a:p>
            <a:fld id="{0492B7F2-6741-7346-B13A-366117EE2BBB}" type="slidenum">
              <a:rPr lang="de-DE" smtClean="0"/>
              <a:t>14</a:t>
            </a:fld>
            <a:endParaRPr lang="de-DE"/>
          </a:p>
        </p:txBody>
      </p:sp>
    </p:spTree>
    <p:extLst>
      <p:ext uri="{BB962C8B-B14F-4D97-AF65-F5344CB8AC3E}">
        <p14:creationId xmlns:p14="http://schemas.microsoft.com/office/powerpoint/2010/main" val="213391075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DFF985-53AC-E751-BA8C-BC7DEA5F3C7B}"/>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7D88C51C-D20F-5D3F-AFB8-301D93D8137F}"/>
              </a:ext>
            </a:extLst>
          </p:cNvPr>
          <p:cNvSpPr>
            <a:spLocks noGrp="1" noRot="1" noChangeAspect="1"/>
          </p:cNvSpPr>
          <p:nvPr>
            <p:ph type="sldImg"/>
          </p:nvPr>
        </p:nvSpPr>
        <p:spPr/>
        <p:txBody>
          <a:bodyPr/>
          <a:lstStyle/>
          <a:p>
            <a:endParaRPr lang="de-DE"/>
          </a:p>
        </p:txBody>
      </p:sp>
      <p:sp>
        <p:nvSpPr>
          <p:cNvPr id="3" name="Notizenplatzhalter 2">
            <a:extLst>
              <a:ext uri="{FF2B5EF4-FFF2-40B4-BE49-F238E27FC236}">
                <a16:creationId xmlns:a16="http://schemas.microsoft.com/office/drawing/2014/main" id="{20285DFC-E835-86B2-BB91-E156E3F0C14C}"/>
              </a:ext>
            </a:extLst>
          </p:cNvPr>
          <p:cNvSpPr>
            <a:spLocks noGrp="1"/>
          </p:cNvSpPr>
          <p:nvPr>
            <p:ph type="body" idx="1"/>
          </p:nvPr>
        </p:nvSpPr>
        <p:spPr/>
        <p:txBody>
          <a:bodyPr/>
          <a:lstStyle/>
          <a:p>
            <a:r>
              <a:rPr lang="de-DE" sz="1200" b="0" kern="1200" dirty="0">
                <a:solidFill>
                  <a:schemeClr val="tx1"/>
                </a:solidFill>
                <a:effectLst/>
                <a:latin typeface="+mn-lt"/>
                <a:ea typeface="+mn-ea"/>
                <a:cs typeface="+mn-cs"/>
              </a:rPr>
              <a:t>Benjamin</a:t>
            </a:r>
            <a:endParaRPr lang="de-DE" dirty="0"/>
          </a:p>
        </p:txBody>
      </p:sp>
      <p:sp>
        <p:nvSpPr>
          <p:cNvPr id="4" name="Foliennummernplatzhalter 3">
            <a:extLst>
              <a:ext uri="{FF2B5EF4-FFF2-40B4-BE49-F238E27FC236}">
                <a16:creationId xmlns:a16="http://schemas.microsoft.com/office/drawing/2014/main" id="{A4A929B9-3971-4019-B480-8B92AE76D090}"/>
              </a:ext>
            </a:extLst>
          </p:cNvPr>
          <p:cNvSpPr>
            <a:spLocks noGrp="1"/>
          </p:cNvSpPr>
          <p:nvPr>
            <p:ph type="sldNum" sz="quarter" idx="5"/>
          </p:nvPr>
        </p:nvSpPr>
        <p:spPr/>
        <p:txBody>
          <a:bodyPr/>
          <a:lstStyle/>
          <a:p>
            <a:fld id="{0492B7F2-6741-7346-B13A-366117EE2BBB}" type="slidenum">
              <a:rPr lang="de-DE" smtClean="0"/>
              <a:t>15</a:t>
            </a:fld>
            <a:endParaRPr lang="de-DE"/>
          </a:p>
        </p:txBody>
      </p:sp>
    </p:spTree>
    <p:extLst>
      <p:ext uri="{BB962C8B-B14F-4D97-AF65-F5344CB8AC3E}">
        <p14:creationId xmlns:p14="http://schemas.microsoft.com/office/powerpoint/2010/main" val="43441132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96223C-46EC-F132-120C-79DCC285922F}"/>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B31AB49A-A181-E6C4-52A9-32F54132F86C}"/>
              </a:ext>
            </a:extLst>
          </p:cNvPr>
          <p:cNvSpPr>
            <a:spLocks noGrp="1" noRot="1" noChangeAspect="1"/>
          </p:cNvSpPr>
          <p:nvPr>
            <p:ph type="sldImg"/>
          </p:nvPr>
        </p:nvSpPr>
        <p:spPr/>
        <p:txBody>
          <a:bodyPr/>
          <a:lstStyle/>
          <a:p>
            <a:endParaRPr lang="de-DE"/>
          </a:p>
        </p:txBody>
      </p:sp>
      <p:sp>
        <p:nvSpPr>
          <p:cNvPr id="3" name="Notizenplatzhalter 2">
            <a:extLst>
              <a:ext uri="{FF2B5EF4-FFF2-40B4-BE49-F238E27FC236}">
                <a16:creationId xmlns:a16="http://schemas.microsoft.com/office/drawing/2014/main" id="{1A1B5407-2556-B13C-8BA6-1F2CF5FC46B8}"/>
              </a:ext>
            </a:extLst>
          </p:cNvPr>
          <p:cNvSpPr>
            <a:spLocks noGrp="1"/>
          </p:cNvSpPr>
          <p:nvPr>
            <p:ph type="body" idx="1"/>
          </p:nvPr>
        </p:nvSpPr>
        <p:spPr/>
        <p:txBody>
          <a:bodyPr/>
          <a:lstStyle/>
          <a:p>
            <a:r>
              <a:rPr lang="de-DE" sz="1200" b="0" kern="1200" dirty="0">
                <a:solidFill>
                  <a:schemeClr val="tx1"/>
                </a:solidFill>
                <a:effectLst/>
                <a:latin typeface="+mn-lt"/>
                <a:ea typeface="+mn-ea"/>
                <a:cs typeface="+mn-cs"/>
              </a:rPr>
              <a:t>Benjamin</a:t>
            </a:r>
          </a:p>
          <a:p>
            <a:r>
              <a:rPr lang="de-DE" sz="1200" b="0" kern="1200" dirty="0">
                <a:solidFill>
                  <a:schemeClr val="tx1"/>
                </a:solidFill>
                <a:effectLst/>
                <a:latin typeface="+mn-lt"/>
                <a:ea typeface="+mn-ea"/>
                <a:cs typeface="+mn-cs"/>
              </a:rPr>
              <a:t>Die </a:t>
            </a:r>
            <a:r>
              <a:rPr lang="de-DE" sz="1200" b="0" kern="1200" dirty="0" err="1">
                <a:solidFill>
                  <a:schemeClr val="tx1"/>
                </a:solidFill>
                <a:effectLst/>
                <a:latin typeface="+mn-lt"/>
                <a:ea typeface="+mn-ea"/>
                <a:cs typeface="+mn-cs"/>
              </a:rPr>
              <a:t>Confusion</a:t>
            </a:r>
            <a:r>
              <a:rPr lang="de-DE" sz="1200" b="0" kern="1200" dirty="0">
                <a:solidFill>
                  <a:schemeClr val="tx1"/>
                </a:solidFill>
                <a:effectLst/>
                <a:latin typeface="+mn-lt"/>
                <a:ea typeface="+mn-ea"/>
                <a:cs typeface="+mn-cs"/>
              </a:rPr>
              <a:t> Matrix zeigt, dass im aktuellen Testsatz alle Beispiele korrekt klassifiziert wurden. </a:t>
            </a:r>
          </a:p>
          <a:p>
            <a:r>
              <a:rPr lang="de-DE" sz="1200" b="0" kern="1200" dirty="0">
                <a:solidFill>
                  <a:schemeClr val="tx1"/>
                </a:solidFill>
                <a:effectLst/>
                <a:latin typeface="+mn-lt"/>
                <a:ea typeface="+mn-ea"/>
                <a:cs typeface="+mn-cs"/>
              </a:rPr>
              <a:t>Besonders wichtig ist der  für Klasse 0</a:t>
            </a:r>
            <a:br>
              <a:rPr lang="de-DE" sz="1200" b="0" kern="1200" dirty="0">
                <a:solidFill>
                  <a:schemeClr val="tx1"/>
                </a:solidFill>
                <a:effectLst/>
                <a:latin typeface="+mn-lt"/>
                <a:ea typeface="+mn-ea"/>
                <a:cs typeface="+mn-cs"/>
              </a:rPr>
            </a:br>
            <a:r>
              <a:rPr lang="de-DE" sz="1200" b="0" kern="1200" dirty="0" err="1">
                <a:solidFill>
                  <a:schemeClr val="tx1"/>
                </a:solidFill>
                <a:effectLst/>
                <a:latin typeface="+mn-lt"/>
                <a:ea typeface="+mn-ea"/>
                <a:cs typeface="+mn-cs"/>
              </a:rPr>
              <a:t>Accuracy</a:t>
            </a:r>
            <a:r>
              <a:rPr lang="de-DE" sz="1200" b="0" kern="1200" dirty="0">
                <a:solidFill>
                  <a:schemeClr val="tx1"/>
                </a:solidFill>
                <a:effectLst/>
                <a:latin typeface="+mn-lt"/>
                <a:ea typeface="+mn-ea"/>
                <a:cs typeface="+mn-cs"/>
              </a:rPr>
              <a:t>: Wie viele Vorhersagen waren insgesamt richtig?</a:t>
            </a:r>
            <a:br>
              <a:rPr lang="de-DE" sz="1200" b="0" kern="1200" dirty="0">
                <a:solidFill>
                  <a:schemeClr val="tx1"/>
                </a:solidFill>
                <a:effectLst/>
                <a:latin typeface="+mn-lt"/>
                <a:ea typeface="+mn-ea"/>
                <a:cs typeface="+mn-cs"/>
              </a:rPr>
            </a:br>
            <a:r>
              <a:rPr lang="de-DE" sz="1200" b="0" kern="1200" dirty="0" err="1">
                <a:solidFill>
                  <a:schemeClr val="tx1"/>
                </a:solidFill>
                <a:effectLst/>
                <a:latin typeface="+mn-lt"/>
                <a:ea typeface="+mn-ea"/>
                <a:cs typeface="+mn-cs"/>
              </a:rPr>
              <a:t>Balanced</a:t>
            </a:r>
            <a:r>
              <a:rPr lang="de-DE" sz="1200" b="0" kern="1200" dirty="0">
                <a:solidFill>
                  <a:schemeClr val="tx1"/>
                </a:solidFill>
                <a:effectLst/>
                <a:latin typeface="+mn-lt"/>
                <a:ea typeface="+mn-ea"/>
                <a:cs typeface="+mn-cs"/>
              </a:rPr>
              <a:t> </a:t>
            </a:r>
            <a:r>
              <a:rPr lang="de-DE" sz="1200" b="0" kern="1200" dirty="0" err="1">
                <a:solidFill>
                  <a:schemeClr val="tx1"/>
                </a:solidFill>
                <a:effectLst/>
                <a:latin typeface="+mn-lt"/>
                <a:ea typeface="+mn-ea"/>
                <a:cs typeface="+mn-cs"/>
              </a:rPr>
              <a:t>Accuracy</a:t>
            </a:r>
            <a:r>
              <a:rPr lang="de-DE" sz="1200" b="0" kern="1200" dirty="0">
                <a:solidFill>
                  <a:schemeClr val="tx1"/>
                </a:solidFill>
                <a:effectLst/>
                <a:latin typeface="+mn-lt"/>
                <a:ea typeface="+mn-ea"/>
                <a:cs typeface="+mn-cs"/>
              </a:rPr>
              <a:t>: Wie gut funktioniert das Modell durchschnittlich für beide Klassen?</a:t>
            </a:r>
            <a:br>
              <a:rPr lang="de-DE" sz="1200" b="0" kern="1200" dirty="0">
                <a:solidFill>
                  <a:schemeClr val="tx1"/>
                </a:solidFill>
                <a:effectLst/>
                <a:latin typeface="+mn-lt"/>
                <a:ea typeface="+mn-ea"/>
                <a:cs typeface="+mn-cs"/>
              </a:rPr>
            </a:br>
            <a:r>
              <a:rPr lang="de-DE" sz="1200" b="0" kern="1200" dirty="0">
                <a:solidFill>
                  <a:schemeClr val="tx1"/>
                </a:solidFill>
                <a:effectLst/>
                <a:latin typeface="+mn-lt"/>
                <a:ea typeface="+mn-ea"/>
                <a:cs typeface="+mn-cs"/>
              </a:rPr>
              <a:t>F1: Wie gut ist der Kompromiss zwischen TPR und TNR</a:t>
            </a:r>
          </a:p>
        </p:txBody>
      </p:sp>
      <p:sp>
        <p:nvSpPr>
          <p:cNvPr id="4" name="Foliennummernplatzhalter 3">
            <a:extLst>
              <a:ext uri="{FF2B5EF4-FFF2-40B4-BE49-F238E27FC236}">
                <a16:creationId xmlns:a16="http://schemas.microsoft.com/office/drawing/2014/main" id="{71FC3C16-880E-E124-F68B-73B6A73B0C69}"/>
              </a:ext>
            </a:extLst>
          </p:cNvPr>
          <p:cNvSpPr>
            <a:spLocks noGrp="1"/>
          </p:cNvSpPr>
          <p:nvPr>
            <p:ph type="sldNum" sz="quarter" idx="5"/>
          </p:nvPr>
        </p:nvSpPr>
        <p:spPr/>
        <p:txBody>
          <a:bodyPr/>
          <a:lstStyle/>
          <a:p>
            <a:fld id="{0492B7F2-6741-7346-B13A-366117EE2BBB}" type="slidenum">
              <a:rPr lang="de-DE" smtClean="0"/>
              <a:t>16</a:t>
            </a:fld>
            <a:endParaRPr lang="de-DE"/>
          </a:p>
        </p:txBody>
      </p:sp>
    </p:spTree>
    <p:extLst>
      <p:ext uri="{BB962C8B-B14F-4D97-AF65-F5344CB8AC3E}">
        <p14:creationId xmlns:p14="http://schemas.microsoft.com/office/powerpoint/2010/main" val="206658566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txBody>
          <a:bodyPr/>
          <a:lstStyle/>
          <a:p>
            <a:endParaRPr lang="de-DE"/>
          </a:p>
        </p:txBody>
      </p:sp>
      <p:sp>
        <p:nvSpPr>
          <p:cNvPr id="3" name="Notizenplatzhalter 2"/>
          <p:cNvSpPr>
            <a:spLocks noGrp="1"/>
          </p:cNvSpPr>
          <p:nvPr>
            <p:ph type="body" idx="1"/>
          </p:nvPr>
        </p:nvSpPr>
        <p:spPr/>
        <p:txBody>
          <a:bodyPr/>
          <a:lstStyle/>
          <a:p>
            <a:r>
              <a:rPr lang="de-DE" sz="1200" b="0" kern="1200" dirty="0">
                <a:solidFill>
                  <a:schemeClr val="tx1"/>
                </a:solidFill>
                <a:effectLst/>
                <a:latin typeface="+mn-lt"/>
                <a:ea typeface="+mn-ea"/>
                <a:cs typeface="+mn-cs"/>
              </a:rPr>
              <a:t>Benjamin</a:t>
            </a:r>
          </a:p>
          <a:p>
            <a:r>
              <a:rPr lang="de-DE" sz="1200" b="0" kern="1200" dirty="0">
                <a:solidFill>
                  <a:schemeClr val="tx1"/>
                </a:solidFill>
                <a:effectLst/>
                <a:latin typeface="+mn-lt"/>
                <a:ea typeface="+mn-ea"/>
                <a:cs typeface="+mn-cs"/>
              </a:rPr>
              <a:t>ROC: </a:t>
            </a:r>
            <a:r>
              <a:rPr lang="de-DE" dirty="0"/>
              <a:t>Receiver Operating </a:t>
            </a:r>
            <a:r>
              <a:rPr lang="de-DE" dirty="0" err="1"/>
              <a:t>Characteristic</a:t>
            </a:r>
            <a:br>
              <a:rPr lang="de-DE" dirty="0"/>
            </a:br>
            <a:r>
              <a:rPr lang="de-DE" dirty="0"/>
              <a:t>AUC: Area Under </a:t>
            </a:r>
            <a:r>
              <a:rPr lang="de-DE" dirty="0" err="1"/>
              <a:t>the</a:t>
            </a:r>
            <a:r>
              <a:rPr lang="de-DE" dirty="0"/>
              <a:t> </a:t>
            </a:r>
            <a:r>
              <a:rPr lang="de-DE" dirty="0" err="1"/>
              <a:t>Curve</a:t>
            </a:r>
            <a:endParaRPr lang="de-DE" sz="1200" b="0" kern="1200" dirty="0">
              <a:solidFill>
                <a:schemeClr val="tx1"/>
              </a:solidFill>
              <a:effectLst/>
              <a:latin typeface="+mn-lt"/>
              <a:ea typeface="+mn-ea"/>
              <a:cs typeface="+mn-cs"/>
            </a:endParaRPr>
          </a:p>
          <a:p>
            <a:r>
              <a:rPr lang="de-DE" sz="1200" b="0" kern="1200" dirty="0">
                <a:solidFill>
                  <a:schemeClr val="tx1"/>
                </a:solidFill>
                <a:effectLst/>
                <a:latin typeface="+mn-lt"/>
                <a:ea typeface="+mn-ea"/>
                <a:cs typeface="+mn-cs"/>
              </a:rPr>
              <a:t>Die ROC-Kurve zeigt, wie gut das Modell zwischen </a:t>
            </a:r>
            <a:r>
              <a:rPr lang="de-DE" sz="1200" b="0" kern="1200" dirty="0" err="1">
                <a:solidFill>
                  <a:schemeClr val="tx1"/>
                </a:solidFill>
                <a:effectLst/>
                <a:latin typeface="+mn-lt"/>
                <a:ea typeface="+mn-ea"/>
                <a:cs typeface="+mn-cs"/>
              </a:rPr>
              <a:t>beschaedigt</a:t>
            </a:r>
            <a:r>
              <a:rPr lang="de-DE" sz="1200" b="0" kern="1200" dirty="0">
                <a:solidFill>
                  <a:schemeClr val="tx1"/>
                </a:solidFill>
                <a:effectLst/>
                <a:latin typeface="+mn-lt"/>
                <a:ea typeface="+mn-ea"/>
                <a:cs typeface="+mn-cs"/>
              </a:rPr>
              <a:t> und gut trennt, wenn man den Entscheidungsschwellwert </a:t>
            </a:r>
            <a:r>
              <a:rPr lang="de-DE" sz="1200" b="0" kern="1200" dirty="0" err="1">
                <a:solidFill>
                  <a:schemeClr val="tx1"/>
                </a:solidFill>
                <a:effectLst/>
                <a:latin typeface="+mn-lt"/>
                <a:ea typeface="+mn-ea"/>
                <a:cs typeface="+mn-cs"/>
              </a:rPr>
              <a:t>veraendert</a:t>
            </a:r>
            <a:r>
              <a:rPr lang="de-DE" sz="1200" b="0" kern="1200" dirty="0">
                <a:solidFill>
                  <a:schemeClr val="tx1"/>
                </a:solidFill>
                <a:effectLst/>
                <a:latin typeface="+mn-lt"/>
                <a:ea typeface="+mn-ea"/>
                <a:cs typeface="+mn-cs"/>
              </a:rPr>
              <a:t>. Eine AUC von 1.0 bedeutet perfekte Trennung im aktuellen Testsatz. Auch hier gilt: Das ist ein starkes Ergebnis, aber wegen der Datenlage vorsichtig zu interpretieren.</a:t>
            </a:r>
          </a:p>
        </p:txBody>
      </p:sp>
      <p:sp>
        <p:nvSpPr>
          <p:cNvPr id="4" name="Foliennummernplatzhalter 3"/>
          <p:cNvSpPr>
            <a:spLocks noGrp="1"/>
          </p:cNvSpPr>
          <p:nvPr>
            <p:ph type="sldNum" sz="quarter" idx="5"/>
          </p:nvPr>
        </p:nvSpPr>
        <p:spPr/>
        <p:txBody>
          <a:bodyPr/>
          <a:lstStyle/>
          <a:p>
            <a:fld id="{0492B7F2-6741-7346-B13A-366117EE2BBB}" type="slidenum">
              <a:rPr lang="de-DE" smtClean="0"/>
              <a:t>17</a:t>
            </a:fld>
            <a:endParaRPr lang="de-DE"/>
          </a:p>
        </p:txBody>
      </p:sp>
    </p:spTree>
    <p:extLst>
      <p:ext uri="{BB962C8B-B14F-4D97-AF65-F5344CB8AC3E}">
        <p14:creationId xmlns:p14="http://schemas.microsoft.com/office/powerpoint/2010/main" val="395431388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txBody>
          <a:bodyPr/>
          <a:lstStyle/>
          <a:p>
            <a:endParaRPr lang="de-DE"/>
          </a:p>
        </p:txBody>
      </p:sp>
      <p:sp>
        <p:nvSpPr>
          <p:cNvPr id="3" name="Notizenplatzhalt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kern="1200" dirty="0">
                <a:solidFill>
                  <a:schemeClr val="tx1"/>
                </a:solidFill>
                <a:effectLst/>
                <a:latin typeface="+mn-lt"/>
                <a:ea typeface="+mn-ea"/>
                <a:cs typeface="+mn-cs"/>
              </a:rPr>
              <a:t>Tim</a:t>
            </a:r>
          </a:p>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kern="1200" dirty="0">
                <a:solidFill>
                  <a:schemeClr val="tx1"/>
                </a:solidFill>
                <a:effectLst/>
                <a:latin typeface="+mn-lt"/>
                <a:ea typeface="+mn-ea"/>
                <a:cs typeface="+mn-cs"/>
              </a:rPr>
              <a:t>Der wichtigste Diskussionsteil ist die Einordnung. Der neue Split prüft die guten Zahnräder strenger, weil `Z03` im Test nicht im Training vorkommt. Für die beschädigte Klasse bleibt die Aussage begrenzt, weil alle beschädigten Signale aus `Z05` stammen. Für eine robuste Aussage bräuchte man weitere beschädigte Zahnräder.</a:t>
            </a:r>
          </a:p>
          <a:p>
            <a:endParaRPr lang="de-DE" dirty="0"/>
          </a:p>
        </p:txBody>
      </p:sp>
      <p:sp>
        <p:nvSpPr>
          <p:cNvPr id="4" name="Foliennummernplatzhalter 3"/>
          <p:cNvSpPr>
            <a:spLocks noGrp="1"/>
          </p:cNvSpPr>
          <p:nvPr>
            <p:ph type="sldNum" sz="quarter" idx="5"/>
          </p:nvPr>
        </p:nvSpPr>
        <p:spPr/>
        <p:txBody>
          <a:bodyPr/>
          <a:lstStyle/>
          <a:p>
            <a:fld id="{0492B7F2-6741-7346-B13A-366117EE2BBB}" type="slidenum">
              <a:rPr lang="de-DE" smtClean="0"/>
              <a:t>18</a:t>
            </a:fld>
            <a:endParaRPr lang="de-DE"/>
          </a:p>
        </p:txBody>
      </p:sp>
    </p:spTree>
    <p:extLst>
      <p:ext uri="{BB962C8B-B14F-4D97-AF65-F5344CB8AC3E}">
        <p14:creationId xmlns:p14="http://schemas.microsoft.com/office/powerpoint/2010/main" val="226572682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txBody>
          <a:bodyPr/>
          <a:lstStyle/>
          <a:p>
            <a:endParaRPr lang="de-DE"/>
          </a:p>
        </p:txBody>
      </p:sp>
      <p:sp>
        <p:nvSpPr>
          <p:cNvPr id="3" name="Notizenplatzhalt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kern="1200" dirty="0">
                <a:solidFill>
                  <a:schemeClr val="tx1"/>
                </a:solidFill>
                <a:effectLst/>
                <a:latin typeface="+mn-lt"/>
                <a:ea typeface="+mn-ea"/>
                <a:cs typeface="+mn-cs"/>
              </a:rPr>
              <a:t>Tim</a:t>
            </a:r>
          </a:p>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kern="1200" dirty="0">
                <a:solidFill>
                  <a:schemeClr val="tx1"/>
                </a:solidFill>
                <a:effectLst/>
                <a:latin typeface="+mn-lt"/>
                <a:ea typeface="+mn-ea"/>
                <a:cs typeface="+mn-cs"/>
              </a:rPr>
              <a:t>Zusammenfassend haben wir eine vollständige Klassifikationspipeline aufgebaut. Die wichtigsten methodischen Entscheidungen waren die Feature-Mittelung über `</a:t>
            </a:r>
            <a:r>
              <a:rPr lang="de-DE" sz="1200" b="0" kern="1200" dirty="0" err="1">
                <a:solidFill>
                  <a:schemeClr val="tx1"/>
                </a:solidFill>
                <a:effectLst/>
                <a:latin typeface="+mn-lt"/>
                <a:ea typeface="+mn-ea"/>
                <a:cs typeface="+mn-cs"/>
              </a:rPr>
              <a:t>mID</a:t>
            </a:r>
            <a:r>
              <a:rPr lang="de-DE" sz="1200" b="0" kern="1200" dirty="0">
                <a:solidFill>
                  <a:schemeClr val="tx1"/>
                </a:solidFill>
                <a:effectLst/>
                <a:latin typeface="+mn-lt"/>
                <a:ea typeface="+mn-ea"/>
                <a:cs typeface="+mn-cs"/>
              </a:rPr>
              <a:t>`, der zahnradbasierte Split und zwei getrennte Modelle für `Ch1` und `Ch2`. Das Ergebnis ist sehr gut, muss aber wegen der begrenzten Datenbasis kritisch diskutiert werden. Für eine robustere Aussage wären weitere beschädigte Zahnräder notwendig.</a:t>
            </a:r>
          </a:p>
          <a:p>
            <a:endParaRPr lang="de-DE" dirty="0"/>
          </a:p>
        </p:txBody>
      </p:sp>
      <p:sp>
        <p:nvSpPr>
          <p:cNvPr id="4" name="Foliennummernplatzhalter 3"/>
          <p:cNvSpPr>
            <a:spLocks noGrp="1"/>
          </p:cNvSpPr>
          <p:nvPr>
            <p:ph type="sldNum" sz="quarter" idx="5"/>
          </p:nvPr>
        </p:nvSpPr>
        <p:spPr/>
        <p:txBody>
          <a:bodyPr/>
          <a:lstStyle/>
          <a:p>
            <a:fld id="{0492B7F2-6741-7346-B13A-366117EE2BBB}" type="slidenum">
              <a:rPr lang="de-DE" smtClean="0"/>
              <a:t>19</a:t>
            </a:fld>
            <a:endParaRPr lang="de-DE"/>
          </a:p>
        </p:txBody>
      </p:sp>
    </p:spTree>
    <p:extLst>
      <p:ext uri="{BB962C8B-B14F-4D97-AF65-F5344CB8AC3E}">
        <p14:creationId xmlns:p14="http://schemas.microsoft.com/office/powerpoint/2010/main" val="300126669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txBody>
          <a:bodyPr/>
          <a:lstStyle/>
          <a:p>
            <a:endParaRPr lang="de-DE"/>
          </a:p>
        </p:txBody>
      </p:sp>
      <p:sp>
        <p:nvSpPr>
          <p:cNvPr id="3" name="Notizenplatzhalt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a:t>Tim</a:t>
            </a:r>
            <a:endParaRPr lang="de-DE" dirty="0"/>
          </a:p>
          <a:p>
            <a:endParaRPr lang="de-DE" dirty="0"/>
          </a:p>
        </p:txBody>
      </p:sp>
      <p:sp>
        <p:nvSpPr>
          <p:cNvPr id="4" name="Foliennummernplatzhalter 3"/>
          <p:cNvSpPr>
            <a:spLocks noGrp="1"/>
          </p:cNvSpPr>
          <p:nvPr>
            <p:ph type="sldNum" sz="quarter" idx="5"/>
          </p:nvPr>
        </p:nvSpPr>
        <p:spPr/>
        <p:txBody>
          <a:bodyPr/>
          <a:lstStyle/>
          <a:p>
            <a:fld id="{0492B7F2-6741-7346-B13A-366117EE2BBB}" type="slidenum">
              <a:rPr lang="de-DE" smtClean="0"/>
              <a:t>20</a:t>
            </a:fld>
            <a:endParaRPr lang="de-DE"/>
          </a:p>
        </p:txBody>
      </p:sp>
    </p:spTree>
    <p:extLst>
      <p:ext uri="{BB962C8B-B14F-4D97-AF65-F5344CB8AC3E}">
        <p14:creationId xmlns:p14="http://schemas.microsoft.com/office/powerpoint/2010/main" val="177677867"/>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1_Benutzerdefiniertes Layout">
    <p:spTree>
      <p:nvGrpSpPr>
        <p:cNvPr id="1" name=""/>
        <p:cNvGrpSpPr/>
        <p:nvPr/>
      </p:nvGrpSpPr>
      <p:grpSpPr>
        <a:xfrm>
          <a:off x="0" y="0"/>
          <a:ext cx="0" cy="0"/>
          <a:chOff x="0" y="0"/>
          <a:chExt cx="0" cy="0"/>
        </a:xfrm>
      </p:grpSpPr>
      <p:pic>
        <p:nvPicPr>
          <p:cNvPr id="2" name="Picture 7">
            <a:extLst>
              <a:ext uri="{FF2B5EF4-FFF2-40B4-BE49-F238E27FC236}">
                <a16:creationId xmlns:a16="http://schemas.microsoft.com/office/drawing/2014/main" id="{B444426F-EB14-AE2B-DE0F-A801F4F81953}"/>
              </a:ext>
            </a:extLst>
          </p:cNvPr>
          <p:cNvPicPr/>
          <p:nvPr/>
        </p:nvPicPr>
        <p:blipFill rotWithShape="1">
          <a:blip r:embed="rId2">
            <a:extLst>
              <a:ext uri="{28A0092B-C50C-407E-A947-70E740481C1C}">
                <a14:useLocalDpi xmlns:a14="http://schemas.microsoft.com/office/drawing/2010/main" val="0"/>
              </a:ext>
            </a:extLst>
          </a:blip>
          <a:srcRect t="24768" b="62769"/>
          <a:stretch>
            <a:fillRect/>
          </a:stretch>
        </p:blipFill>
        <p:spPr bwMode="auto">
          <a:xfrm>
            <a:off x="0" y="1656000"/>
            <a:ext cx="4038600" cy="3589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Foliennummernplatzhalter 2">
            <a:extLst>
              <a:ext uri="{FF2B5EF4-FFF2-40B4-BE49-F238E27FC236}">
                <a16:creationId xmlns:a16="http://schemas.microsoft.com/office/drawing/2014/main" id="{2B340968-F14F-B3B0-6A1A-48445E11A325}"/>
              </a:ext>
            </a:extLst>
          </p:cNvPr>
          <p:cNvSpPr>
            <a:spLocks noGrp="1"/>
          </p:cNvSpPr>
          <p:nvPr>
            <p:ph type="sldNum" sz="quarter" idx="10"/>
          </p:nvPr>
        </p:nvSpPr>
        <p:spPr/>
        <p:txBody>
          <a:bodyPr/>
          <a:lstStyle/>
          <a:p>
            <a:fld id="{80B4FCE6-DC73-4135-BC56-1F242D45A84C}" type="slidenum">
              <a:rPr lang="de-DE" smtClean="0"/>
              <a:t>‹Nr.›</a:t>
            </a:fld>
            <a:endParaRPr lang="de-DE"/>
          </a:p>
        </p:txBody>
      </p:sp>
      <p:sp>
        <p:nvSpPr>
          <p:cNvPr id="4" name="Fußzeilenplatzhalter 3">
            <a:extLst>
              <a:ext uri="{FF2B5EF4-FFF2-40B4-BE49-F238E27FC236}">
                <a16:creationId xmlns:a16="http://schemas.microsoft.com/office/drawing/2014/main" id="{C79F848B-CD57-204F-C247-E348D52A37ED}"/>
              </a:ext>
            </a:extLst>
          </p:cNvPr>
          <p:cNvSpPr>
            <a:spLocks noGrp="1"/>
          </p:cNvSpPr>
          <p:nvPr>
            <p:ph type="ftr" sz="quarter" idx="11"/>
          </p:nvPr>
        </p:nvSpPr>
        <p:spPr/>
        <p:txBody>
          <a:bodyPr/>
          <a:lstStyle/>
          <a:p>
            <a:r>
              <a:rPr lang="de-DE"/>
              <a:t>Materialdiagnostik: Task 4</a:t>
            </a:r>
            <a:endParaRPr lang="de-DE" dirty="0"/>
          </a:p>
        </p:txBody>
      </p:sp>
      <p:sp>
        <p:nvSpPr>
          <p:cNvPr id="5" name="Datumsplatzhalter 4">
            <a:extLst>
              <a:ext uri="{FF2B5EF4-FFF2-40B4-BE49-F238E27FC236}">
                <a16:creationId xmlns:a16="http://schemas.microsoft.com/office/drawing/2014/main" id="{135CA77C-97B0-DC89-DE46-9C01C1B748F9}"/>
              </a:ext>
            </a:extLst>
          </p:cNvPr>
          <p:cNvSpPr>
            <a:spLocks noGrp="1"/>
          </p:cNvSpPr>
          <p:nvPr>
            <p:ph type="dt" sz="half" idx="12"/>
          </p:nvPr>
        </p:nvSpPr>
        <p:spPr/>
        <p:txBody>
          <a:bodyPr/>
          <a:lstStyle/>
          <a:p>
            <a:r>
              <a:rPr lang="de-DE"/>
              <a:t>23.07.2026</a:t>
            </a:r>
          </a:p>
        </p:txBody>
      </p:sp>
      <p:sp>
        <p:nvSpPr>
          <p:cNvPr id="8" name="Titel 1">
            <a:extLst>
              <a:ext uri="{FF2B5EF4-FFF2-40B4-BE49-F238E27FC236}">
                <a16:creationId xmlns:a16="http://schemas.microsoft.com/office/drawing/2014/main" id="{0E28AB7D-ACDC-B820-A518-4C9D6ED03C67}"/>
              </a:ext>
            </a:extLst>
          </p:cNvPr>
          <p:cNvSpPr>
            <a:spLocks noGrp="1"/>
          </p:cNvSpPr>
          <p:nvPr>
            <p:ph type="title"/>
          </p:nvPr>
        </p:nvSpPr>
        <p:spPr>
          <a:xfrm>
            <a:off x="4665616" y="2716438"/>
            <a:ext cx="3590109" cy="1444082"/>
          </a:xfrm>
          <a:prstGeom prst="rect">
            <a:avLst/>
          </a:prstGeom>
        </p:spPr>
        <p:txBody>
          <a:bodyPr anchor="ctr"/>
          <a:lstStyle>
            <a:lvl1pPr algn="l">
              <a:defRPr sz="3200"/>
            </a:lvl1pPr>
          </a:lstStyle>
          <a:p>
            <a:r>
              <a:rPr lang="de-DE"/>
              <a:t>Mastertitelformat bearbeiten</a:t>
            </a:r>
          </a:p>
        </p:txBody>
      </p:sp>
    </p:spTree>
    <p:extLst>
      <p:ext uri="{BB962C8B-B14F-4D97-AF65-F5344CB8AC3E}">
        <p14:creationId xmlns:p14="http://schemas.microsoft.com/office/powerpoint/2010/main" val="240850166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2_Benutzerdefiniertes Layout">
    <p:spTree>
      <p:nvGrpSpPr>
        <p:cNvPr id="1" name=""/>
        <p:cNvGrpSpPr/>
        <p:nvPr/>
      </p:nvGrpSpPr>
      <p:grpSpPr>
        <a:xfrm>
          <a:off x="0" y="0"/>
          <a:ext cx="0" cy="0"/>
          <a:chOff x="0" y="0"/>
          <a:chExt cx="0" cy="0"/>
        </a:xfrm>
      </p:grpSpPr>
      <p:pic>
        <p:nvPicPr>
          <p:cNvPr id="6" name="Picture 7">
            <a:extLst>
              <a:ext uri="{FF2B5EF4-FFF2-40B4-BE49-F238E27FC236}">
                <a16:creationId xmlns:a16="http://schemas.microsoft.com/office/drawing/2014/main" id="{2222C908-A429-7650-ECA8-11037E79FC19}"/>
              </a:ext>
            </a:extLst>
          </p:cNvPr>
          <p:cNvPicPr/>
          <p:nvPr/>
        </p:nvPicPr>
        <p:blipFill rotWithShape="1">
          <a:blip r:embed="rId2">
            <a:extLst>
              <a:ext uri="{28A0092B-C50C-407E-A947-70E740481C1C}">
                <a14:useLocalDpi xmlns:a14="http://schemas.microsoft.com/office/drawing/2010/main" val="0"/>
              </a:ext>
            </a:extLst>
          </a:blip>
          <a:srcRect t="74770" b="12767"/>
          <a:stretch>
            <a:fillRect/>
          </a:stretch>
        </p:blipFill>
        <p:spPr bwMode="auto">
          <a:xfrm>
            <a:off x="0" y="1656000"/>
            <a:ext cx="4038600" cy="3589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Titel 1">
            <a:extLst>
              <a:ext uri="{FF2B5EF4-FFF2-40B4-BE49-F238E27FC236}">
                <a16:creationId xmlns:a16="http://schemas.microsoft.com/office/drawing/2014/main" id="{EDCA2648-E994-E6D3-AF41-D6F53E8D59C0}"/>
              </a:ext>
            </a:extLst>
          </p:cNvPr>
          <p:cNvSpPr>
            <a:spLocks noGrp="1"/>
          </p:cNvSpPr>
          <p:nvPr>
            <p:ph type="title"/>
          </p:nvPr>
        </p:nvSpPr>
        <p:spPr>
          <a:xfrm>
            <a:off x="348342" y="561068"/>
            <a:ext cx="3590109" cy="712561"/>
          </a:xfrm>
          <a:prstGeom prst="rect">
            <a:avLst/>
          </a:prstGeom>
        </p:spPr>
        <p:txBody>
          <a:bodyPr anchor="ctr"/>
          <a:lstStyle>
            <a:lvl1pPr algn="l">
              <a:defRPr sz="3200"/>
            </a:lvl1pPr>
          </a:lstStyle>
          <a:p>
            <a:r>
              <a:rPr lang="de-DE"/>
              <a:t>Mastertitelformat bearbeiten</a:t>
            </a:r>
          </a:p>
        </p:txBody>
      </p:sp>
      <p:sp>
        <p:nvSpPr>
          <p:cNvPr id="3" name="Foliennummernplatzhalter 2">
            <a:extLst>
              <a:ext uri="{FF2B5EF4-FFF2-40B4-BE49-F238E27FC236}">
                <a16:creationId xmlns:a16="http://schemas.microsoft.com/office/drawing/2014/main" id="{BC4125B1-FB93-0A54-C1FC-012CFB2AD8A6}"/>
              </a:ext>
            </a:extLst>
          </p:cNvPr>
          <p:cNvSpPr>
            <a:spLocks noGrp="1"/>
          </p:cNvSpPr>
          <p:nvPr>
            <p:ph type="sldNum" sz="quarter" idx="10"/>
          </p:nvPr>
        </p:nvSpPr>
        <p:spPr/>
        <p:txBody>
          <a:bodyPr/>
          <a:lstStyle/>
          <a:p>
            <a:fld id="{80B4FCE6-DC73-4135-BC56-1F242D45A84C}" type="slidenum">
              <a:rPr lang="de-DE" smtClean="0"/>
              <a:t>‹Nr.›</a:t>
            </a:fld>
            <a:endParaRPr lang="de-DE"/>
          </a:p>
        </p:txBody>
      </p:sp>
      <p:sp>
        <p:nvSpPr>
          <p:cNvPr id="4" name="Fußzeilenplatzhalter 3">
            <a:extLst>
              <a:ext uri="{FF2B5EF4-FFF2-40B4-BE49-F238E27FC236}">
                <a16:creationId xmlns:a16="http://schemas.microsoft.com/office/drawing/2014/main" id="{C59775D2-5919-D9B2-1D19-B697C0DC8CFE}"/>
              </a:ext>
            </a:extLst>
          </p:cNvPr>
          <p:cNvSpPr>
            <a:spLocks noGrp="1"/>
          </p:cNvSpPr>
          <p:nvPr>
            <p:ph type="ftr" sz="quarter" idx="11"/>
          </p:nvPr>
        </p:nvSpPr>
        <p:spPr/>
        <p:txBody>
          <a:bodyPr/>
          <a:lstStyle/>
          <a:p>
            <a:r>
              <a:rPr lang="de-DE"/>
              <a:t>Materialdiagnostik: Task 4</a:t>
            </a:r>
          </a:p>
        </p:txBody>
      </p:sp>
      <p:sp>
        <p:nvSpPr>
          <p:cNvPr id="5" name="Datumsplatzhalter 4">
            <a:extLst>
              <a:ext uri="{FF2B5EF4-FFF2-40B4-BE49-F238E27FC236}">
                <a16:creationId xmlns:a16="http://schemas.microsoft.com/office/drawing/2014/main" id="{1AE38025-E921-C3E6-B686-C475F88CE870}"/>
              </a:ext>
            </a:extLst>
          </p:cNvPr>
          <p:cNvSpPr>
            <a:spLocks noGrp="1"/>
          </p:cNvSpPr>
          <p:nvPr>
            <p:ph type="dt" sz="half" idx="12"/>
          </p:nvPr>
        </p:nvSpPr>
        <p:spPr/>
        <p:txBody>
          <a:bodyPr/>
          <a:lstStyle/>
          <a:p>
            <a:r>
              <a:rPr lang="de-DE"/>
              <a:t>23.07.2026</a:t>
            </a:r>
          </a:p>
        </p:txBody>
      </p:sp>
      <p:sp>
        <p:nvSpPr>
          <p:cNvPr id="11" name="Textplatzhalter 10">
            <a:extLst>
              <a:ext uri="{FF2B5EF4-FFF2-40B4-BE49-F238E27FC236}">
                <a16:creationId xmlns:a16="http://schemas.microsoft.com/office/drawing/2014/main" id="{7BE556C1-D820-A75A-539E-EEDFD22CDD64}"/>
              </a:ext>
            </a:extLst>
          </p:cNvPr>
          <p:cNvSpPr>
            <a:spLocks noGrp="1"/>
          </p:cNvSpPr>
          <p:nvPr>
            <p:ph type="body" sz="quarter" idx="13"/>
          </p:nvPr>
        </p:nvSpPr>
        <p:spPr>
          <a:xfrm>
            <a:off x="4672148" y="1620000"/>
            <a:ext cx="5747658" cy="4330337"/>
          </a:xfrm>
          <a:prstGeom prst="rect">
            <a:avLst/>
          </a:prstGeo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Tree>
    <p:extLst>
      <p:ext uri="{BB962C8B-B14F-4D97-AF65-F5344CB8AC3E}">
        <p14:creationId xmlns:p14="http://schemas.microsoft.com/office/powerpoint/2010/main" val="239654632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3_Benutzerdefiniertes Layou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68E03C5-7BDA-A77F-7DB0-658C45A5E0C4}"/>
              </a:ext>
            </a:extLst>
          </p:cNvPr>
          <p:cNvSpPr>
            <a:spLocks noGrp="1"/>
          </p:cNvSpPr>
          <p:nvPr>
            <p:ph type="title"/>
          </p:nvPr>
        </p:nvSpPr>
        <p:spPr>
          <a:xfrm>
            <a:off x="341811" y="567600"/>
            <a:ext cx="4315098" cy="706030"/>
          </a:xfrm>
          <a:prstGeom prst="rect">
            <a:avLst/>
          </a:prstGeom>
        </p:spPr>
        <p:txBody>
          <a:bodyPr anchor="ctr"/>
          <a:lstStyle>
            <a:lvl1pPr>
              <a:defRPr sz="2400"/>
            </a:lvl1pPr>
          </a:lstStyle>
          <a:p>
            <a:r>
              <a:rPr lang="de-DE"/>
              <a:t>Mastertitelformat bearbeiten</a:t>
            </a:r>
          </a:p>
        </p:txBody>
      </p:sp>
      <p:sp>
        <p:nvSpPr>
          <p:cNvPr id="3" name="Foliennummernplatzhalter 2">
            <a:extLst>
              <a:ext uri="{FF2B5EF4-FFF2-40B4-BE49-F238E27FC236}">
                <a16:creationId xmlns:a16="http://schemas.microsoft.com/office/drawing/2014/main" id="{2F163DC2-8D97-BB7D-E638-8BCDF8587551}"/>
              </a:ext>
            </a:extLst>
          </p:cNvPr>
          <p:cNvSpPr>
            <a:spLocks noGrp="1"/>
          </p:cNvSpPr>
          <p:nvPr>
            <p:ph type="sldNum" sz="quarter" idx="10"/>
          </p:nvPr>
        </p:nvSpPr>
        <p:spPr/>
        <p:txBody>
          <a:bodyPr/>
          <a:lstStyle/>
          <a:p>
            <a:fld id="{80B4FCE6-DC73-4135-BC56-1F242D45A84C}" type="slidenum">
              <a:rPr lang="de-DE" smtClean="0"/>
              <a:t>‹Nr.›</a:t>
            </a:fld>
            <a:endParaRPr lang="de-DE"/>
          </a:p>
        </p:txBody>
      </p:sp>
      <p:sp>
        <p:nvSpPr>
          <p:cNvPr id="4" name="Fußzeilenplatzhalter 3">
            <a:extLst>
              <a:ext uri="{FF2B5EF4-FFF2-40B4-BE49-F238E27FC236}">
                <a16:creationId xmlns:a16="http://schemas.microsoft.com/office/drawing/2014/main" id="{74427F6E-DEF6-9732-439A-15C1079AC98E}"/>
              </a:ext>
            </a:extLst>
          </p:cNvPr>
          <p:cNvSpPr>
            <a:spLocks noGrp="1"/>
          </p:cNvSpPr>
          <p:nvPr>
            <p:ph type="ftr" sz="quarter" idx="11"/>
          </p:nvPr>
        </p:nvSpPr>
        <p:spPr/>
        <p:txBody>
          <a:bodyPr/>
          <a:lstStyle/>
          <a:p>
            <a:r>
              <a:rPr lang="de-DE"/>
              <a:t>Materialdiagnostik: Task 4</a:t>
            </a:r>
          </a:p>
        </p:txBody>
      </p:sp>
      <p:sp>
        <p:nvSpPr>
          <p:cNvPr id="5" name="Datumsplatzhalter 4">
            <a:extLst>
              <a:ext uri="{FF2B5EF4-FFF2-40B4-BE49-F238E27FC236}">
                <a16:creationId xmlns:a16="http://schemas.microsoft.com/office/drawing/2014/main" id="{9833FDA4-3C0A-D485-A83B-E93F011A19E7}"/>
              </a:ext>
            </a:extLst>
          </p:cNvPr>
          <p:cNvSpPr>
            <a:spLocks noGrp="1"/>
          </p:cNvSpPr>
          <p:nvPr>
            <p:ph type="dt" sz="half" idx="12"/>
          </p:nvPr>
        </p:nvSpPr>
        <p:spPr/>
        <p:txBody>
          <a:bodyPr/>
          <a:lstStyle/>
          <a:p>
            <a:r>
              <a:rPr lang="de-DE"/>
              <a:t>23.07.2026</a:t>
            </a:r>
          </a:p>
        </p:txBody>
      </p:sp>
      <p:sp>
        <p:nvSpPr>
          <p:cNvPr id="7" name="Inhaltsplatzhalter 6">
            <a:extLst>
              <a:ext uri="{FF2B5EF4-FFF2-40B4-BE49-F238E27FC236}">
                <a16:creationId xmlns:a16="http://schemas.microsoft.com/office/drawing/2014/main" id="{48C9B890-E4BD-AF52-A4AD-7A4FFFB1C674}"/>
              </a:ext>
            </a:extLst>
          </p:cNvPr>
          <p:cNvSpPr>
            <a:spLocks noGrp="1"/>
          </p:cNvSpPr>
          <p:nvPr>
            <p:ph sz="quarter" idx="13"/>
          </p:nvPr>
        </p:nvSpPr>
        <p:spPr>
          <a:xfrm>
            <a:off x="341313" y="1620000"/>
            <a:ext cx="5391104" cy="4316412"/>
          </a:xfrm>
          <a:prstGeom prst="rect">
            <a:avLst/>
          </a:prstGeo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8" name="Inhaltsplatzhalter 6">
            <a:extLst>
              <a:ext uri="{FF2B5EF4-FFF2-40B4-BE49-F238E27FC236}">
                <a16:creationId xmlns:a16="http://schemas.microsoft.com/office/drawing/2014/main" id="{9A74469E-8B25-F402-08AE-D6E8658AC6B1}"/>
              </a:ext>
            </a:extLst>
          </p:cNvPr>
          <p:cNvSpPr>
            <a:spLocks noGrp="1"/>
          </p:cNvSpPr>
          <p:nvPr>
            <p:ph sz="quarter" idx="14"/>
          </p:nvPr>
        </p:nvSpPr>
        <p:spPr>
          <a:xfrm>
            <a:off x="6459584" y="1620000"/>
            <a:ext cx="5391104" cy="4316412"/>
          </a:xfrm>
          <a:prstGeom prst="rect">
            <a:avLst/>
          </a:prstGeo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Tree>
    <p:extLst>
      <p:ext uri="{BB962C8B-B14F-4D97-AF65-F5344CB8AC3E}">
        <p14:creationId xmlns:p14="http://schemas.microsoft.com/office/powerpoint/2010/main" val="271887484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4_Benutzerdefiniertes Layout">
    <p:spTree>
      <p:nvGrpSpPr>
        <p:cNvPr id="1" name=""/>
        <p:cNvGrpSpPr/>
        <p:nvPr/>
      </p:nvGrpSpPr>
      <p:grpSpPr>
        <a:xfrm>
          <a:off x="0" y="0"/>
          <a:ext cx="0" cy="0"/>
          <a:chOff x="0" y="0"/>
          <a:chExt cx="0" cy="0"/>
        </a:xfrm>
      </p:grpSpPr>
      <p:sp>
        <p:nvSpPr>
          <p:cNvPr id="3" name="Foliennummernplatzhalter 2">
            <a:extLst>
              <a:ext uri="{FF2B5EF4-FFF2-40B4-BE49-F238E27FC236}">
                <a16:creationId xmlns:a16="http://schemas.microsoft.com/office/drawing/2014/main" id="{C6044954-ED93-46FB-83FB-4A733E86723E}"/>
              </a:ext>
            </a:extLst>
          </p:cNvPr>
          <p:cNvSpPr>
            <a:spLocks noGrp="1"/>
          </p:cNvSpPr>
          <p:nvPr>
            <p:ph type="sldNum" sz="quarter" idx="10"/>
          </p:nvPr>
        </p:nvSpPr>
        <p:spPr/>
        <p:txBody>
          <a:bodyPr/>
          <a:lstStyle/>
          <a:p>
            <a:fld id="{80B4FCE6-DC73-4135-BC56-1F242D45A84C}" type="slidenum">
              <a:rPr lang="de-DE" smtClean="0"/>
              <a:t>‹Nr.›</a:t>
            </a:fld>
            <a:endParaRPr lang="de-DE"/>
          </a:p>
        </p:txBody>
      </p:sp>
      <p:sp>
        <p:nvSpPr>
          <p:cNvPr id="4" name="Fußzeilenplatzhalter 3">
            <a:extLst>
              <a:ext uri="{FF2B5EF4-FFF2-40B4-BE49-F238E27FC236}">
                <a16:creationId xmlns:a16="http://schemas.microsoft.com/office/drawing/2014/main" id="{C6CC6F70-1A0A-8538-A145-259BBA1B332E}"/>
              </a:ext>
            </a:extLst>
          </p:cNvPr>
          <p:cNvSpPr>
            <a:spLocks noGrp="1"/>
          </p:cNvSpPr>
          <p:nvPr>
            <p:ph type="ftr" sz="quarter" idx="11"/>
          </p:nvPr>
        </p:nvSpPr>
        <p:spPr/>
        <p:txBody>
          <a:bodyPr/>
          <a:lstStyle/>
          <a:p>
            <a:r>
              <a:rPr lang="de-DE"/>
              <a:t>Materialdiagnostik: Task 4</a:t>
            </a:r>
          </a:p>
        </p:txBody>
      </p:sp>
      <p:sp>
        <p:nvSpPr>
          <p:cNvPr id="5" name="Datumsplatzhalter 4">
            <a:extLst>
              <a:ext uri="{FF2B5EF4-FFF2-40B4-BE49-F238E27FC236}">
                <a16:creationId xmlns:a16="http://schemas.microsoft.com/office/drawing/2014/main" id="{4BC4B84F-E88D-95C9-4F2A-678239DD52D5}"/>
              </a:ext>
            </a:extLst>
          </p:cNvPr>
          <p:cNvSpPr>
            <a:spLocks noGrp="1"/>
          </p:cNvSpPr>
          <p:nvPr>
            <p:ph type="dt" sz="half" idx="12"/>
          </p:nvPr>
        </p:nvSpPr>
        <p:spPr/>
        <p:txBody>
          <a:bodyPr/>
          <a:lstStyle/>
          <a:p>
            <a:r>
              <a:rPr lang="de-DE"/>
              <a:t>23.07.2026</a:t>
            </a:r>
          </a:p>
        </p:txBody>
      </p:sp>
      <p:sp>
        <p:nvSpPr>
          <p:cNvPr id="6" name="Titel 1">
            <a:extLst>
              <a:ext uri="{FF2B5EF4-FFF2-40B4-BE49-F238E27FC236}">
                <a16:creationId xmlns:a16="http://schemas.microsoft.com/office/drawing/2014/main" id="{84ECAC2C-EA91-2538-AA1B-D131492BAE74}"/>
              </a:ext>
            </a:extLst>
          </p:cNvPr>
          <p:cNvSpPr>
            <a:spLocks noGrp="1"/>
          </p:cNvSpPr>
          <p:nvPr>
            <p:ph type="title"/>
          </p:nvPr>
        </p:nvSpPr>
        <p:spPr>
          <a:xfrm>
            <a:off x="341811" y="567600"/>
            <a:ext cx="4315098" cy="706030"/>
          </a:xfrm>
          <a:prstGeom prst="rect">
            <a:avLst/>
          </a:prstGeom>
        </p:spPr>
        <p:txBody>
          <a:bodyPr anchor="ctr"/>
          <a:lstStyle>
            <a:lvl1pPr>
              <a:defRPr sz="2400"/>
            </a:lvl1pPr>
          </a:lstStyle>
          <a:p>
            <a:r>
              <a:rPr lang="de-DE"/>
              <a:t>Mastertitelformat bearbeiten</a:t>
            </a:r>
          </a:p>
        </p:txBody>
      </p:sp>
      <p:sp>
        <p:nvSpPr>
          <p:cNvPr id="8" name="Diagrammplatzhalter 7">
            <a:extLst>
              <a:ext uri="{FF2B5EF4-FFF2-40B4-BE49-F238E27FC236}">
                <a16:creationId xmlns:a16="http://schemas.microsoft.com/office/drawing/2014/main" id="{8F665CA4-B29F-61A8-C1F7-805E9C9E2AAD}"/>
              </a:ext>
            </a:extLst>
          </p:cNvPr>
          <p:cNvSpPr>
            <a:spLocks noGrp="1"/>
          </p:cNvSpPr>
          <p:nvPr>
            <p:ph type="chart" sz="quarter" idx="13"/>
          </p:nvPr>
        </p:nvSpPr>
        <p:spPr>
          <a:xfrm>
            <a:off x="342000" y="1620000"/>
            <a:ext cx="6464300" cy="4357688"/>
          </a:xfrm>
          <a:prstGeom prst="rect">
            <a:avLst/>
          </a:prstGeom>
        </p:spPr>
        <p:txBody>
          <a:bodyPr/>
          <a:lstStyle/>
          <a:p>
            <a:r>
              <a:rPr lang="de-DE"/>
              <a:t>Diagramm durch Klicken auf Symbol hinzufügen</a:t>
            </a:r>
          </a:p>
        </p:txBody>
      </p:sp>
      <p:sp>
        <p:nvSpPr>
          <p:cNvPr id="10" name="Textplatzhalter 9">
            <a:extLst>
              <a:ext uri="{FF2B5EF4-FFF2-40B4-BE49-F238E27FC236}">
                <a16:creationId xmlns:a16="http://schemas.microsoft.com/office/drawing/2014/main" id="{968CD71D-F381-DDC3-57C8-6E2E31AE9B70}"/>
              </a:ext>
            </a:extLst>
          </p:cNvPr>
          <p:cNvSpPr>
            <a:spLocks noGrp="1"/>
          </p:cNvSpPr>
          <p:nvPr>
            <p:ph type="body" sz="quarter" idx="14"/>
          </p:nvPr>
        </p:nvSpPr>
        <p:spPr>
          <a:xfrm>
            <a:off x="7537450" y="1619250"/>
            <a:ext cx="4313238" cy="4357688"/>
          </a:xfrm>
          <a:prstGeom prst="rect">
            <a:avLst/>
          </a:prstGeo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Tree>
    <p:extLst>
      <p:ext uri="{BB962C8B-B14F-4D97-AF65-F5344CB8AC3E}">
        <p14:creationId xmlns:p14="http://schemas.microsoft.com/office/powerpoint/2010/main" val="150471551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5_Benutzerdefiniertes Layout">
    <p:spTree>
      <p:nvGrpSpPr>
        <p:cNvPr id="1" name=""/>
        <p:cNvGrpSpPr/>
        <p:nvPr/>
      </p:nvGrpSpPr>
      <p:grpSpPr>
        <a:xfrm>
          <a:off x="0" y="0"/>
          <a:ext cx="0" cy="0"/>
          <a:chOff x="0" y="0"/>
          <a:chExt cx="0" cy="0"/>
        </a:xfrm>
      </p:grpSpPr>
      <p:sp>
        <p:nvSpPr>
          <p:cNvPr id="3" name="Foliennummernplatzhalter 2">
            <a:extLst>
              <a:ext uri="{FF2B5EF4-FFF2-40B4-BE49-F238E27FC236}">
                <a16:creationId xmlns:a16="http://schemas.microsoft.com/office/drawing/2014/main" id="{298C56F7-04DC-07E6-E754-FAEBDCAFD6E5}"/>
              </a:ext>
            </a:extLst>
          </p:cNvPr>
          <p:cNvSpPr>
            <a:spLocks noGrp="1"/>
          </p:cNvSpPr>
          <p:nvPr>
            <p:ph type="sldNum" sz="quarter" idx="10"/>
          </p:nvPr>
        </p:nvSpPr>
        <p:spPr/>
        <p:txBody>
          <a:bodyPr/>
          <a:lstStyle/>
          <a:p>
            <a:fld id="{80B4FCE6-DC73-4135-BC56-1F242D45A84C}" type="slidenum">
              <a:rPr lang="de-DE" smtClean="0"/>
              <a:t>‹Nr.›</a:t>
            </a:fld>
            <a:endParaRPr lang="de-DE"/>
          </a:p>
        </p:txBody>
      </p:sp>
      <p:sp>
        <p:nvSpPr>
          <p:cNvPr id="4" name="Fußzeilenplatzhalter 3">
            <a:extLst>
              <a:ext uri="{FF2B5EF4-FFF2-40B4-BE49-F238E27FC236}">
                <a16:creationId xmlns:a16="http://schemas.microsoft.com/office/drawing/2014/main" id="{E5B3395E-75D0-0881-9E63-D45B3C890C78}"/>
              </a:ext>
            </a:extLst>
          </p:cNvPr>
          <p:cNvSpPr>
            <a:spLocks noGrp="1"/>
          </p:cNvSpPr>
          <p:nvPr>
            <p:ph type="ftr" sz="quarter" idx="11"/>
          </p:nvPr>
        </p:nvSpPr>
        <p:spPr/>
        <p:txBody>
          <a:bodyPr/>
          <a:lstStyle/>
          <a:p>
            <a:r>
              <a:rPr lang="de-DE"/>
              <a:t>Materialdiagnostik: Task 4</a:t>
            </a:r>
          </a:p>
        </p:txBody>
      </p:sp>
      <p:sp>
        <p:nvSpPr>
          <p:cNvPr id="5" name="Datumsplatzhalter 4">
            <a:extLst>
              <a:ext uri="{FF2B5EF4-FFF2-40B4-BE49-F238E27FC236}">
                <a16:creationId xmlns:a16="http://schemas.microsoft.com/office/drawing/2014/main" id="{D388320E-D078-EA6A-9A8C-DD57443F9308}"/>
              </a:ext>
            </a:extLst>
          </p:cNvPr>
          <p:cNvSpPr>
            <a:spLocks noGrp="1"/>
          </p:cNvSpPr>
          <p:nvPr>
            <p:ph type="dt" sz="half" idx="12"/>
          </p:nvPr>
        </p:nvSpPr>
        <p:spPr/>
        <p:txBody>
          <a:bodyPr/>
          <a:lstStyle/>
          <a:p>
            <a:r>
              <a:rPr lang="de-DE"/>
              <a:t>23.07.2026</a:t>
            </a:r>
          </a:p>
        </p:txBody>
      </p:sp>
      <p:sp>
        <p:nvSpPr>
          <p:cNvPr id="6" name="Titel 1">
            <a:extLst>
              <a:ext uri="{FF2B5EF4-FFF2-40B4-BE49-F238E27FC236}">
                <a16:creationId xmlns:a16="http://schemas.microsoft.com/office/drawing/2014/main" id="{6501B65D-DEB8-9B99-668F-C2A8BA5977E3}"/>
              </a:ext>
            </a:extLst>
          </p:cNvPr>
          <p:cNvSpPr>
            <a:spLocks noGrp="1"/>
          </p:cNvSpPr>
          <p:nvPr>
            <p:ph type="title"/>
          </p:nvPr>
        </p:nvSpPr>
        <p:spPr>
          <a:xfrm>
            <a:off x="341811" y="567600"/>
            <a:ext cx="4315098" cy="706030"/>
          </a:xfrm>
          <a:prstGeom prst="rect">
            <a:avLst/>
          </a:prstGeom>
        </p:spPr>
        <p:txBody>
          <a:bodyPr anchor="ctr"/>
          <a:lstStyle>
            <a:lvl1pPr>
              <a:defRPr sz="2400"/>
            </a:lvl1pPr>
          </a:lstStyle>
          <a:p>
            <a:r>
              <a:rPr lang="de-DE"/>
              <a:t>Mastertitelformat bearbeiten</a:t>
            </a:r>
          </a:p>
        </p:txBody>
      </p:sp>
      <p:sp>
        <p:nvSpPr>
          <p:cNvPr id="8" name="Tabellenplatzhalter 7">
            <a:extLst>
              <a:ext uri="{FF2B5EF4-FFF2-40B4-BE49-F238E27FC236}">
                <a16:creationId xmlns:a16="http://schemas.microsoft.com/office/drawing/2014/main" id="{77EC83A4-CD88-BEBE-32B4-1CB0630E0C25}"/>
              </a:ext>
            </a:extLst>
          </p:cNvPr>
          <p:cNvSpPr>
            <a:spLocks noGrp="1"/>
          </p:cNvSpPr>
          <p:nvPr>
            <p:ph type="tbl" sz="quarter" idx="13"/>
          </p:nvPr>
        </p:nvSpPr>
        <p:spPr>
          <a:xfrm>
            <a:off x="341313" y="1620000"/>
            <a:ext cx="11509374" cy="4329112"/>
          </a:xfrm>
          <a:prstGeom prst="rect">
            <a:avLst/>
          </a:prstGeom>
        </p:spPr>
        <p:txBody>
          <a:bodyPr/>
          <a:lstStyle/>
          <a:p>
            <a:r>
              <a:rPr lang="de-DE"/>
              <a:t>Tabelle durch Klicken auf Symbol hinzufügen</a:t>
            </a:r>
          </a:p>
        </p:txBody>
      </p:sp>
    </p:spTree>
    <p:extLst>
      <p:ext uri="{BB962C8B-B14F-4D97-AF65-F5344CB8AC3E}">
        <p14:creationId xmlns:p14="http://schemas.microsoft.com/office/powerpoint/2010/main" val="236538826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6_Benutzerdefiniertes Layout">
    <p:spTree>
      <p:nvGrpSpPr>
        <p:cNvPr id="1" name=""/>
        <p:cNvGrpSpPr/>
        <p:nvPr/>
      </p:nvGrpSpPr>
      <p:grpSpPr>
        <a:xfrm>
          <a:off x="0" y="0"/>
          <a:ext cx="0" cy="0"/>
          <a:chOff x="0" y="0"/>
          <a:chExt cx="0" cy="0"/>
        </a:xfrm>
      </p:grpSpPr>
      <p:sp>
        <p:nvSpPr>
          <p:cNvPr id="3" name="Foliennummernplatzhalter 2">
            <a:extLst>
              <a:ext uri="{FF2B5EF4-FFF2-40B4-BE49-F238E27FC236}">
                <a16:creationId xmlns:a16="http://schemas.microsoft.com/office/drawing/2014/main" id="{A4C0288E-0BC3-A2B2-6635-8CA0B598348C}"/>
              </a:ext>
            </a:extLst>
          </p:cNvPr>
          <p:cNvSpPr>
            <a:spLocks noGrp="1"/>
          </p:cNvSpPr>
          <p:nvPr>
            <p:ph type="sldNum" sz="quarter" idx="10"/>
          </p:nvPr>
        </p:nvSpPr>
        <p:spPr/>
        <p:txBody>
          <a:bodyPr/>
          <a:lstStyle/>
          <a:p>
            <a:fld id="{80B4FCE6-DC73-4135-BC56-1F242D45A84C}" type="slidenum">
              <a:rPr lang="de-DE" smtClean="0"/>
              <a:t>‹Nr.›</a:t>
            </a:fld>
            <a:endParaRPr lang="de-DE"/>
          </a:p>
        </p:txBody>
      </p:sp>
      <p:sp>
        <p:nvSpPr>
          <p:cNvPr id="4" name="Fußzeilenplatzhalter 3">
            <a:extLst>
              <a:ext uri="{FF2B5EF4-FFF2-40B4-BE49-F238E27FC236}">
                <a16:creationId xmlns:a16="http://schemas.microsoft.com/office/drawing/2014/main" id="{DE378F51-1F21-2A9E-140B-3E85C6EDA68C}"/>
              </a:ext>
            </a:extLst>
          </p:cNvPr>
          <p:cNvSpPr>
            <a:spLocks noGrp="1"/>
          </p:cNvSpPr>
          <p:nvPr>
            <p:ph type="ftr" sz="quarter" idx="11"/>
          </p:nvPr>
        </p:nvSpPr>
        <p:spPr/>
        <p:txBody>
          <a:bodyPr/>
          <a:lstStyle/>
          <a:p>
            <a:r>
              <a:rPr lang="de-DE"/>
              <a:t>Materialdiagnostik: Task 4</a:t>
            </a:r>
          </a:p>
        </p:txBody>
      </p:sp>
      <p:sp>
        <p:nvSpPr>
          <p:cNvPr id="5" name="Datumsplatzhalter 4">
            <a:extLst>
              <a:ext uri="{FF2B5EF4-FFF2-40B4-BE49-F238E27FC236}">
                <a16:creationId xmlns:a16="http://schemas.microsoft.com/office/drawing/2014/main" id="{5995910A-7460-9DA2-7D0D-21EA392FA163}"/>
              </a:ext>
            </a:extLst>
          </p:cNvPr>
          <p:cNvSpPr>
            <a:spLocks noGrp="1"/>
          </p:cNvSpPr>
          <p:nvPr>
            <p:ph type="dt" sz="half" idx="12"/>
          </p:nvPr>
        </p:nvSpPr>
        <p:spPr/>
        <p:txBody>
          <a:bodyPr/>
          <a:lstStyle/>
          <a:p>
            <a:r>
              <a:rPr lang="de-DE"/>
              <a:t>23.07.2026</a:t>
            </a:r>
          </a:p>
        </p:txBody>
      </p:sp>
      <p:sp>
        <p:nvSpPr>
          <p:cNvPr id="6" name="Titel 1">
            <a:extLst>
              <a:ext uri="{FF2B5EF4-FFF2-40B4-BE49-F238E27FC236}">
                <a16:creationId xmlns:a16="http://schemas.microsoft.com/office/drawing/2014/main" id="{18B7627B-6839-36FA-8BDF-10F29038E6C1}"/>
              </a:ext>
            </a:extLst>
          </p:cNvPr>
          <p:cNvSpPr>
            <a:spLocks noGrp="1"/>
          </p:cNvSpPr>
          <p:nvPr>
            <p:ph type="title"/>
          </p:nvPr>
        </p:nvSpPr>
        <p:spPr>
          <a:xfrm>
            <a:off x="341811" y="567600"/>
            <a:ext cx="4315098" cy="706030"/>
          </a:xfrm>
          <a:prstGeom prst="rect">
            <a:avLst/>
          </a:prstGeom>
        </p:spPr>
        <p:txBody>
          <a:bodyPr anchor="ctr"/>
          <a:lstStyle>
            <a:lvl1pPr>
              <a:defRPr sz="2400"/>
            </a:lvl1pPr>
          </a:lstStyle>
          <a:p>
            <a:r>
              <a:rPr lang="de-DE"/>
              <a:t>Mastertitelformat bearbeiten</a:t>
            </a:r>
          </a:p>
        </p:txBody>
      </p:sp>
      <p:sp>
        <p:nvSpPr>
          <p:cNvPr id="8" name="Medienplatzhalter 7">
            <a:extLst>
              <a:ext uri="{FF2B5EF4-FFF2-40B4-BE49-F238E27FC236}">
                <a16:creationId xmlns:a16="http://schemas.microsoft.com/office/drawing/2014/main" id="{8A710AA4-AAF2-4B75-C3F3-871BBE9241F8}"/>
              </a:ext>
            </a:extLst>
          </p:cNvPr>
          <p:cNvSpPr>
            <a:spLocks noGrp="1"/>
          </p:cNvSpPr>
          <p:nvPr>
            <p:ph type="media" sz="quarter" idx="13"/>
          </p:nvPr>
        </p:nvSpPr>
        <p:spPr>
          <a:xfrm>
            <a:off x="342900" y="1620000"/>
            <a:ext cx="11506200" cy="4364038"/>
          </a:xfrm>
          <a:prstGeom prst="rect">
            <a:avLst/>
          </a:prstGeom>
        </p:spPr>
        <p:txBody>
          <a:bodyPr/>
          <a:lstStyle/>
          <a:p>
            <a:r>
              <a:rPr lang="de-DE"/>
              <a:t>Mediaclip durch Klicken auf Symbol hinzufügen</a:t>
            </a:r>
          </a:p>
        </p:txBody>
      </p:sp>
    </p:spTree>
    <p:extLst>
      <p:ext uri="{BB962C8B-B14F-4D97-AF65-F5344CB8AC3E}">
        <p14:creationId xmlns:p14="http://schemas.microsoft.com/office/powerpoint/2010/main" val="105312107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7_Benutzerdefiniertes Layout">
    <p:spTree>
      <p:nvGrpSpPr>
        <p:cNvPr id="1" name=""/>
        <p:cNvGrpSpPr/>
        <p:nvPr/>
      </p:nvGrpSpPr>
      <p:grpSpPr>
        <a:xfrm>
          <a:off x="0" y="0"/>
          <a:ext cx="0" cy="0"/>
          <a:chOff x="0" y="0"/>
          <a:chExt cx="0" cy="0"/>
        </a:xfrm>
      </p:grpSpPr>
      <p:sp>
        <p:nvSpPr>
          <p:cNvPr id="3" name="Foliennummernplatzhalter 2">
            <a:extLst>
              <a:ext uri="{FF2B5EF4-FFF2-40B4-BE49-F238E27FC236}">
                <a16:creationId xmlns:a16="http://schemas.microsoft.com/office/drawing/2014/main" id="{F33115BF-78EF-27BB-F487-EADE5934B133}"/>
              </a:ext>
            </a:extLst>
          </p:cNvPr>
          <p:cNvSpPr>
            <a:spLocks noGrp="1"/>
          </p:cNvSpPr>
          <p:nvPr>
            <p:ph type="sldNum" sz="quarter" idx="10"/>
          </p:nvPr>
        </p:nvSpPr>
        <p:spPr/>
        <p:txBody>
          <a:bodyPr/>
          <a:lstStyle/>
          <a:p>
            <a:fld id="{80B4FCE6-DC73-4135-BC56-1F242D45A84C}" type="slidenum">
              <a:rPr lang="de-DE" smtClean="0"/>
              <a:t>‹Nr.›</a:t>
            </a:fld>
            <a:endParaRPr lang="de-DE"/>
          </a:p>
        </p:txBody>
      </p:sp>
      <p:sp>
        <p:nvSpPr>
          <p:cNvPr id="4" name="Fußzeilenplatzhalter 3">
            <a:extLst>
              <a:ext uri="{FF2B5EF4-FFF2-40B4-BE49-F238E27FC236}">
                <a16:creationId xmlns:a16="http://schemas.microsoft.com/office/drawing/2014/main" id="{77968A7B-1911-8BE6-C669-DC5B4D85D1D4}"/>
              </a:ext>
            </a:extLst>
          </p:cNvPr>
          <p:cNvSpPr>
            <a:spLocks noGrp="1"/>
          </p:cNvSpPr>
          <p:nvPr>
            <p:ph type="ftr" sz="quarter" idx="11"/>
          </p:nvPr>
        </p:nvSpPr>
        <p:spPr/>
        <p:txBody>
          <a:bodyPr/>
          <a:lstStyle/>
          <a:p>
            <a:r>
              <a:rPr lang="de-DE"/>
              <a:t>Materialdiagnostik: Task 4</a:t>
            </a:r>
            <a:endParaRPr lang="de-DE" dirty="0"/>
          </a:p>
        </p:txBody>
      </p:sp>
      <p:sp>
        <p:nvSpPr>
          <p:cNvPr id="5" name="Datumsplatzhalter 4">
            <a:extLst>
              <a:ext uri="{FF2B5EF4-FFF2-40B4-BE49-F238E27FC236}">
                <a16:creationId xmlns:a16="http://schemas.microsoft.com/office/drawing/2014/main" id="{51324397-1ED7-8CF8-6036-BBCE91679937}"/>
              </a:ext>
            </a:extLst>
          </p:cNvPr>
          <p:cNvSpPr>
            <a:spLocks noGrp="1"/>
          </p:cNvSpPr>
          <p:nvPr>
            <p:ph type="dt" sz="half" idx="12"/>
          </p:nvPr>
        </p:nvSpPr>
        <p:spPr/>
        <p:txBody>
          <a:bodyPr/>
          <a:lstStyle/>
          <a:p>
            <a:r>
              <a:rPr lang="de-DE"/>
              <a:t>23.07.2026</a:t>
            </a:r>
          </a:p>
        </p:txBody>
      </p:sp>
      <p:sp>
        <p:nvSpPr>
          <p:cNvPr id="7" name="Inhaltsplatzhalter 6">
            <a:extLst>
              <a:ext uri="{FF2B5EF4-FFF2-40B4-BE49-F238E27FC236}">
                <a16:creationId xmlns:a16="http://schemas.microsoft.com/office/drawing/2014/main" id="{7E6FF748-506D-DF48-0CE6-B5937A97C3BD}"/>
              </a:ext>
            </a:extLst>
          </p:cNvPr>
          <p:cNvSpPr>
            <a:spLocks noGrp="1"/>
          </p:cNvSpPr>
          <p:nvPr>
            <p:ph sz="quarter" idx="13"/>
          </p:nvPr>
        </p:nvSpPr>
        <p:spPr>
          <a:xfrm>
            <a:off x="341811" y="1620000"/>
            <a:ext cx="11512052" cy="4395788"/>
          </a:xfrm>
          <a:prstGeom prst="rect">
            <a:avLst/>
          </a:prstGeo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8" name="Titel 1">
            <a:extLst>
              <a:ext uri="{FF2B5EF4-FFF2-40B4-BE49-F238E27FC236}">
                <a16:creationId xmlns:a16="http://schemas.microsoft.com/office/drawing/2014/main" id="{21AF7B95-D724-2667-6A8F-48BC1B491D0E}"/>
              </a:ext>
            </a:extLst>
          </p:cNvPr>
          <p:cNvSpPr>
            <a:spLocks noGrp="1"/>
          </p:cNvSpPr>
          <p:nvPr>
            <p:ph type="title"/>
          </p:nvPr>
        </p:nvSpPr>
        <p:spPr>
          <a:xfrm>
            <a:off x="341811" y="567600"/>
            <a:ext cx="4315098" cy="706030"/>
          </a:xfrm>
          <a:prstGeom prst="rect">
            <a:avLst/>
          </a:prstGeom>
        </p:spPr>
        <p:txBody>
          <a:bodyPr anchor="ctr"/>
          <a:lstStyle>
            <a:lvl1pPr>
              <a:defRPr sz="2400"/>
            </a:lvl1pPr>
          </a:lstStyle>
          <a:p>
            <a:r>
              <a:rPr lang="de-DE"/>
              <a:t>Mastertitelformat bearbeiten</a:t>
            </a:r>
          </a:p>
        </p:txBody>
      </p:sp>
    </p:spTree>
    <p:extLst>
      <p:ext uri="{BB962C8B-B14F-4D97-AF65-F5344CB8AC3E}">
        <p14:creationId xmlns:p14="http://schemas.microsoft.com/office/powerpoint/2010/main" val="41577984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9"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tileRect/>
        </a:gradFill>
        <a:effectLst/>
      </p:bgPr>
    </p:bg>
    <p:spTree>
      <p:nvGrpSpPr>
        <p:cNvPr id="1" name=""/>
        <p:cNvGrpSpPr/>
        <p:nvPr/>
      </p:nvGrpSpPr>
      <p:grpSpPr>
        <a:xfrm>
          <a:off x="0" y="0"/>
          <a:ext cx="0" cy="0"/>
          <a:chOff x="0" y="0"/>
          <a:chExt cx="0" cy="0"/>
        </a:xfrm>
      </p:grpSpPr>
      <p:pic>
        <p:nvPicPr>
          <p:cNvPr id="1029" name="Picture 8">
            <a:extLst>
              <a:ext uri="{FF2B5EF4-FFF2-40B4-BE49-F238E27FC236}">
                <a16:creationId xmlns:a16="http://schemas.microsoft.com/office/drawing/2014/main" id="{24F5A3AF-D943-BD2A-8943-FC6AD197ADB6}"/>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p:blipFill>
        <p:spPr bwMode="auto">
          <a:xfrm>
            <a:off x="7937576" y="609600"/>
            <a:ext cx="3644824" cy="62265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Foliennummernplatzhalter 2">
            <a:extLst>
              <a:ext uri="{FF2B5EF4-FFF2-40B4-BE49-F238E27FC236}">
                <a16:creationId xmlns:a16="http://schemas.microsoft.com/office/drawing/2014/main" id="{C4F520D8-5DD0-8AC6-5A23-456771581E55}"/>
              </a:ext>
            </a:extLst>
          </p:cNvPr>
          <p:cNvSpPr>
            <a:spLocks noGrp="1" noRot="1" noMove="1" noResize="1" noEditPoints="1" noAdjustHandles="1" noChangeArrowheads="1" noChangeShapeType="1"/>
          </p:cNvSpPr>
          <p:nvPr>
            <p:ph type="sldNum" sz="quarter" idx="4"/>
          </p:nvPr>
        </p:nvSpPr>
        <p:spPr>
          <a:xfrm>
            <a:off x="11582400" y="6447859"/>
            <a:ext cx="496388" cy="365125"/>
          </a:xfrm>
          <a:prstGeom prst="rect">
            <a:avLst/>
          </a:prstGeom>
        </p:spPr>
        <p:txBody>
          <a:bodyPr vert="horz" lIns="91440" tIns="45720" rIns="91440" bIns="45720" rtlCol="0" anchor="ctr"/>
          <a:lstStyle>
            <a:lvl1pPr algn="r">
              <a:defRPr sz="1200" b="1">
                <a:solidFill>
                  <a:srgbClr val="A8CC2F"/>
                </a:solidFill>
              </a:defRPr>
            </a:lvl1pPr>
          </a:lstStyle>
          <a:p>
            <a:pPr>
              <a:defRPr/>
            </a:pPr>
            <a:fld id="{AF7B6FBB-3871-4A64-9491-1B11EE455FFC}" type="slidenum">
              <a:rPr lang="de-DE" altLang="de-DE" smtClean="0"/>
              <a:pPr>
                <a:defRPr/>
              </a:pPr>
              <a:t>‹Nr.›</a:t>
            </a:fld>
            <a:endParaRPr lang="de-DE" altLang="de-DE" dirty="0"/>
          </a:p>
        </p:txBody>
      </p:sp>
      <p:sp>
        <p:nvSpPr>
          <p:cNvPr id="4" name="Fußzeilenplatzhalter 3">
            <a:extLst>
              <a:ext uri="{FF2B5EF4-FFF2-40B4-BE49-F238E27FC236}">
                <a16:creationId xmlns:a16="http://schemas.microsoft.com/office/drawing/2014/main" id="{0CA301AD-975A-4725-14C1-3B11D71EE0DE}"/>
              </a:ext>
            </a:extLst>
          </p:cNvPr>
          <p:cNvSpPr>
            <a:spLocks noGrp="1" noRot="1" noMove="1" noResize="1" noEditPoints="1" noAdjustHandles="1" noChangeArrowheads="1" noChangeShapeType="1"/>
          </p:cNvSpPr>
          <p:nvPr>
            <p:ph type="ftr" sz="quarter" idx="3"/>
          </p:nvPr>
        </p:nvSpPr>
        <p:spPr>
          <a:xfrm>
            <a:off x="4038600" y="6447858"/>
            <a:ext cx="4114800" cy="365125"/>
          </a:xfrm>
          <a:prstGeom prst="rect">
            <a:avLst/>
          </a:prstGeom>
        </p:spPr>
        <p:txBody>
          <a:bodyPr vert="horz" lIns="91440" tIns="45720" rIns="91440" bIns="45720" rtlCol="0" anchor="ctr"/>
          <a:lstStyle>
            <a:lvl1pPr algn="ctr">
              <a:defRPr sz="1200" b="1">
                <a:solidFill>
                  <a:srgbClr val="A8CC2F"/>
                </a:solidFill>
              </a:defRPr>
            </a:lvl1pPr>
          </a:lstStyle>
          <a:p>
            <a:r>
              <a:rPr lang="de-DE"/>
              <a:t>Materialdiagnostik: Task 4</a:t>
            </a:r>
            <a:endParaRPr lang="de-DE" dirty="0"/>
          </a:p>
        </p:txBody>
      </p:sp>
      <p:sp>
        <p:nvSpPr>
          <p:cNvPr id="5" name="Datumsplatzhalter 4">
            <a:extLst>
              <a:ext uri="{FF2B5EF4-FFF2-40B4-BE49-F238E27FC236}">
                <a16:creationId xmlns:a16="http://schemas.microsoft.com/office/drawing/2014/main" id="{41824E65-93DD-275C-14CB-0DD245806FD8}"/>
              </a:ext>
            </a:extLst>
          </p:cNvPr>
          <p:cNvSpPr>
            <a:spLocks noGrp="1" noRot="1" noMove="1" noResize="1" noEditPoints="1" noAdjustHandles="1" noChangeArrowheads="1" noChangeShapeType="1"/>
          </p:cNvSpPr>
          <p:nvPr>
            <p:ph type="dt" sz="half" idx="2"/>
          </p:nvPr>
        </p:nvSpPr>
        <p:spPr>
          <a:xfrm>
            <a:off x="113212" y="6447857"/>
            <a:ext cx="951411" cy="365125"/>
          </a:xfrm>
          <a:prstGeom prst="rect">
            <a:avLst/>
          </a:prstGeom>
        </p:spPr>
        <p:txBody>
          <a:bodyPr vert="horz" lIns="91440" tIns="45720" rIns="91440" bIns="45720" rtlCol="0" anchor="ctr"/>
          <a:lstStyle>
            <a:lvl1pPr algn="l">
              <a:defRPr sz="1200">
                <a:solidFill>
                  <a:schemeClr val="tx1">
                    <a:tint val="82000"/>
                  </a:schemeClr>
                </a:solidFill>
              </a:defRPr>
            </a:lvl1pPr>
          </a:lstStyle>
          <a:p>
            <a:r>
              <a:rPr lang="de-DE"/>
              <a:t>23.07.2026</a:t>
            </a:r>
          </a:p>
        </p:txBody>
      </p:sp>
    </p:spTree>
    <p:extLst>
      <p:ext uri="{BB962C8B-B14F-4D97-AF65-F5344CB8AC3E}">
        <p14:creationId xmlns:p14="http://schemas.microsoft.com/office/powerpoint/2010/main" val="1599670847"/>
      </p:ext>
    </p:extLst>
  </p:cSld>
  <p:clrMap bg1="lt1" tx1="dk1" bg2="lt2" tx2="dk2" accent1="accent1" accent2="accent2" accent3="accent3" accent4="accent4" accent5="accent5" accent6="accent6" hlink="hlink" folHlink="folHlink"/>
  <p:sldLayoutIdLst>
    <p:sldLayoutId id="2147483745" r:id="rId1"/>
    <p:sldLayoutId id="2147483746" r:id="rId2"/>
    <p:sldLayoutId id="2147483747" r:id="rId3"/>
    <p:sldLayoutId id="2147483748" r:id="rId4"/>
    <p:sldLayoutId id="2147483749" r:id="rId5"/>
    <p:sldLayoutId id="2147483750" r:id="rId6"/>
    <p:sldLayoutId id="2147483751" r:id="rId7"/>
  </p:sldLayoutIdLst>
  <p:hf hdr="0"/>
  <p:txStyles>
    <p:titleStyle>
      <a:lvl1pPr algn="l" rtl="0" eaLnBrk="1" fontAlgn="base" hangingPunct="1">
        <a:spcBef>
          <a:spcPct val="0"/>
        </a:spcBef>
        <a:spcAft>
          <a:spcPct val="0"/>
        </a:spcAft>
        <a:defRPr b="1">
          <a:solidFill>
            <a:srgbClr val="A8CC2F"/>
          </a:solidFill>
          <a:latin typeface="+mj-lt"/>
          <a:ea typeface="+mj-ea"/>
          <a:cs typeface="+mj-cs"/>
        </a:defRPr>
      </a:lvl1pPr>
      <a:lvl2pPr algn="l" rtl="0" eaLnBrk="1" fontAlgn="base" hangingPunct="1">
        <a:spcBef>
          <a:spcPct val="0"/>
        </a:spcBef>
        <a:spcAft>
          <a:spcPct val="0"/>
        </a:spcAft>
        <a:defRPr b="1">
          <a:solidFill>
            <a:srgbClr val="A8CC2F"/>
          </a:solidFill>
          <a:latin typeface="Arial" pitchFamily="-109" charset="0"/>
          <a:ea typeface="ヒラギノ角ゴ Pro W3" pitchFamily="-109" charset="-128"/>
          <a:cs typeface="ヒラギノ角ゴ Pro W3" pitchFamily="-109" charset="-128"/>
        </a:defRPr>
      </a:lvl2pPr>
      <a:lvl3pPr algn="l" rtl="0" eaLnBrk="1" fontAlgn="base" hangingPunct="1">
        <a:spcBef>
          <a:spcPct val="0"/>
        </a:spcBef>
        <a:spcAft>
          <a:spcPct val="0"/>
        </a:spcAft>
        <a:defRPr b="1">
          <a:solidFill>
            <a:srgbClr val="A8CC2F"/>
          </a:solidFill>
          <a:latin typeface="Arial" pitchFamily="-109" charset="0"/>
          <a:ea typeface="ヒラギノ角ゴ Pro W3" pitchFamily="-109" charset="-128"/>
          <a:cs typeface="ヒラギノ角ゴ Pro W3" pitchFamily="-109" charset="-128"/>
        </a:defRPr>
      </a:lvl3pPr>
      <a:lvl4pPr algn="l" rtl="0" eaLnBrk="1" fontAlgn="base" hangingPunct="1">
        <a:spcBef>
          <a:spcPct val="0"/>
        </a:spcBef>
        <a:spcAft>
          <a:spcPct val="0"/>
        </a:spcAft>
        <a:defRPr b="1">
          <a:solidFill>
            <a:srgbClr val="A8CC2F"/>
          </a:solidFill>
          <a:latin typeface="Arial" pitchFamily="-109" charset="0"/>
          <a:ea typeface="ヒラギノ角ゴ Pro W3" pitchFamily="-109" charset="-128"/>
          <a:cs typeface="ヒラギノ角ゴ Pro W3" pitchFamily="-109" charset="-128"/>
        </a:defRPr>
      </a:lvl4pPr>
      <a:lvl5pPr algn="l" rtl="0" eaLnBrk="1" fontAlgn="base" hangingPunct="1">
        <a:spcBef>
          <a:spcPct val="0"/>
        </a:spcBef>
        <a:spcAft>
          <a:spcPct val="0"/>
        </a:spcAft>
        <a:defRPr b="1">
          <a:solidFill>
            <a:srgbClr val="A8CC2F"/>
          </a:solidFill>
          <a:latin typeface="Arial" pitchFamily="-109" charset="0"/>
          <a:ea typeface="ヒラギノ角ゴ Pro W3" pitchFamily="-109" charset="-128"/>
          <a:cs typeface="ヒラギノ角ゴ Pro W3" pitchFamily="-109" charset="-128"/>
        </a:defRPr>
      </a:lvl5pPr>
      <a:lvl6pPr marL="457200" algn="l" rtl="0" eaLnBrk="1" fontAlgn="base" hangingPunct="1">
        <a:spcBef>
          <a:spcPct val="0"/>
        </a:spcBef>
        <a:spcAft>
          <a:spcPct val="0"/>
        </a:spcAft>
        <a:defRPr b="1">
          <a:solidFill>
            <a:srgbClr val="A8CC2F"/>
          </a:solidFill>
          <a:latin typeface="Arial" pitchFamily="-109" charset="0"/>
          <a:ea typeface="ヒラギノ角ゴ Pro W3" pitchFamily="-109" charset="-128"/>
          <a:cs typeface="ヒラギノ角ゴ Pro W3" pitchFamily="-109" charset="-128"/>
        </a:defRPr>
      </a:lvl6pPr>
      <a:lvl7pPr marL="914400" algn="l" rtl="0" eaLnBrk="1" fontAlgn="base" hangingPunct="1">
        <a:spcBef>
          <a:spcPct val="0"/>
        </a:spcBef>
        <a:spcAft>
          <a:spcPct val="0"/>
        </a:spcAft>
        <a:defRPr b="1">
          <a:solidFill>
            <a:srgbClr val="A8CC2F"/>
          </a:solidFill>
          <a:latin typeface="Arial" pitchFamily="-109" charset="0"/>
          <a:ea typeface="ヒラギノ角ゴ Pro W3" pitchFamily="-109" charset="-128"/>
          <a:cs typeface="ヒラギノ角ゴ Pro W3" pitchFamily="-109" charset="-128"/>
        </a:defRPr>
      </a:lvl7pPr>
      <a:lvl8pPr marL="1371600" algn="l" rtl="0" eaLnBrk="1" fontAlgn="base" hangingPunct="1">
        <a:spcBef>
          <a:spcPct val="0"/>
        </a:spcBef>
        <a:spcAft>
          <a:spcPct val="0"/>
        </a:spcAft>
        <a:defRPr b="1">
          <a:solidFill>
            <a:srgbClr val="A8CC2F"/>
          </a:solidFill>
          <a:latin typeface="Arial" pitchFamily="-109" charset="0"/>
          <a:ea typeface="ヒラギノ角ゴ Pro W3" pitchFamily="-109" charset="-128"/>
          <a:cs typeface="ヒラギノ角ゴ Pro W3" pitchFamily="-109" charset="-128"/>
        </a:defRPr>
      </a:lvl8pPr>
      <a:lvl9pPr marL="1828800" algn="l" rtl="0" eaLnBrk="1" fontAlgn="base" hangingPunct="1">
        <a:spcBef>
          <a:spcPct val="0"/>
        </a:spcBef>
        <a:spcAft>
          <a:spcPct val="0"/>
        </a:spcAft>
        <a:defRPr b="1">
          <a:solidFill>
            <a:srgbClr val="A8CC2F"/>
          </a:solidFill>
          <a:latin typeface="Arial" pitchFamily="-109" charset="0"/>
          <a:ea typeface="ヒラギノ角ゴ Pro W3" pitchFamily="-109" charset="-128"/>
          <a:cs typeface="ヒラギノ角ゴ Pro W3" pitchFamily="-109" charset="-128"/>
        </a:defRPr>
      </a:lvl9pPr>
    </p:titleStyle>
    <p:bodyStyle>
      <a:lvl1pPr marL="342900" indent="-342900" algn="l" rtl="0" eaLnBrk="1" fontAlgn="base" hangingPunct="1">
        <a:spcBef>
          <a:spcPct val="20000"/>
        </a:spcBef>
        <a:spcAft>
          <a:spcPct val="0"/>
        </a:spcAft>
        <a:buFont typeface="Lucida Grande" charset="0"/>
        <a:buChar char="·"/>
        <a:defRPr sz="2400">
          <a:solidFill>
            <a:srgbClr val="414141"/>
          </a:solidFill>
          <a:latin typeface="+mn-lt"/>
          <a:ea typeface="+mn-ea"/>
          <a:cs typeface="+mn-cs"/>
        </a:defRPr>
      </a:lvl1pPr>
      <a:lvl2pPr marL="742950" indent="-285750" algn="l" rtl="0" eaLnBrk="1" fontAlgn="base" hangingPunct="1">
        <a:spcBef>
          <a:spcPct val="20000"/>
        </a:spcBef>
        <a:spcAft>
          <a:spcPct val="0"/>
        </a:spcAft>
        <a:buFont typeface="Lucida Grande" charset="0"/>
        <a:buChar char="·"/>
        <a:defRPr sz="2000">
          <a:solidFill>
            <a:srgbClr val="414141"/>
          </a:solidFill>
          <a:latin typeface="+mn-lt"/>
          <a:ea typeface="+mn-ea"/>
          <a:cs typeface="+mn-cs"/>
        </a:defRPr>
      </a:lvl2pPr>
      <a:lvl3pPr marL="1143000" indent="-228600" algn="l" rtl="0" eaLnBrk="1" fontAlgn="base" hangingPunct="1">
        <a:spcBef>
          <a:spcPct val="20000"/>
        </a:spcBef>
        <a:spcAft>
          <a:spcPct val="0"/>
        </a:spcAft>
        <a:buFont typeface="Lucida Grande" charset="0"/>
        <a:buChar char="·"/>
        <a:defRPr>
          <a:solidFill>
            <a:srgbClr val="414141"/>
          </a:solidFill>
          <a:latin typeface="+mn-lt"/>
          <a:ea typeface="+mn-ea"/>
          <a:cs typeface="+mn-cs"/>
        </a:defRPr>
      </a:lvl3pPr>
      <a:lvl4pPr marL="1144588" algn="l" rtl="0" eaLnBrk="1" fontAlgn="base" hangingPunct="1">
        <a:spcBef>
          <a:spcPct val="20000"/>
        </a:spcBef>
        <a:spcAft>
          <a:spcPct val="0"/>
        </a:spcAft>
        <a:buClr>
          <a:srgbClr val="414141"/>
        </a:buClr>
        <a:defRPr>
          <a:solidFill>
            <a:srgbClr val="414141"/>
          </a:solidFill>
          <a:latin typeface="Courier New"/>
          <a:ea typeface="+mn-ea"/>
          <a:cs typeface="+mn-cs"/>
        </a:defRPr>
      </a:lvl4pPr>
      <a:lvl5pPr marL="1144588" indent="-228600" algn="l" rtl="0" eaLnBrk="1" fontAlgn="base" hangingPunct="1">
        <a:spcBef>
          <a:spcPct val="20000"/>
        </a:spcBef>
        <a:spcAft>
          <a:spcPct val="0"/>
        </a:spcAft>
        <a:buFont typeface="Lucida Grande" charset="0"/>
        <a:buChar char="·"/>
        <a:defRPr>
          <a:solidFill>
            <a:srgbClr val="A8CC2F"/>
          </a:solidFill>
          <a:latin typeface="+mn-lt"/>
          <a:ea typeface="+mn-ea"/>
          <a:cs typeface="+mn-cs"/>
        </a:defRPr>
      </a:lvl5pPr>
      <a:lvl6pPr marL="2438400" indent="-228600" algn="l" rtl="0" eaLnBrk="1" fontAlgn="base" hangingPunct="1">
        <a:spcBef>
          <a:spcPct val="20000"/>
        </a:spcBef>
        <a:spcAft>
          <a:spcPct val="0"/>
        </a:spcAft>
        <a:defRPr sz="1600">
          <a:solidFill>
            <a:srgbClr val="414141"/>
          </a:solidFill>
          <a:latin typeface="+mn-lt"/>
          <a:ea typeface="+mn-ea"/>
          <a:cs typeface="+mn-cs"/>
        </a:defRPr>
      </a:lvl6pPr>
      <a:lvl7pPr marL="2895600" indent="-228600" algn="l" rtl="0" eaLnBrk="1" fontAlgn="base" hangingPunct="1">
        <a:spcBef>
          <a:spcPct val="20000"/>
        </a:spcBef>
        <a:spcAft>
          <a:spcPct val="0"/>
        </a:spcAft>
        <a:defRPr sz="1600">
          <a:solidFill>
            <a:srgbClr val="414141"/>
          </a:solidFill>
          <a:latin typeface="+mn-lt"/>
          <a:ea typeface="+mn-ea"/>
          <a:cs typeface="+mn-cs"/>
        </a:defRPr>
      </a:lvl7pPr>
      <a:lvl8pPr marL="3352800" indent="-228600" algn="l" rtl="0" eaLnBrk="1" fontAlgn="base" hangingPunct="1">
        <a:spcBef>
          <a:spcPct val="20000"/>
        </a:spcBef>
        <a:spcAft>
          <a:spcPct val="0"/>
        </a:spcAft>
        <a:defRPr sz="1600">
          <a:solidFill>
            <a:srgbClr val="414141"/>
          </a:solidFill>
          <a:latin typeface="+mn-lt"/>
          <a:ea typeface="+mn-ea"/>
          <a:cs typeface="+mn-cs"/>
        </a:defRPr>
      </a:lvl8pPr>
      <a:lvl9pPr marL="3810000" indent="-228600" algn="l" rtl="0" eaLnBrk="1" fontAlgn="base" hangingPunct="1">
        <a:spcBef>
          <a:spcPct val="20000"/>
        </a:spcBef>
        <a:spcAft>
          <a:spcPct val="0"/>
        </a:spcAft>
        <a:defRPr sz="1600">
          <a:solidFill>
            <a:srgbClr val="414141"/>
          </a:solidFill>
          <a:latin typeface="+mn-lt"/>
          <a:ea typeface="+mn-ea"/>
          <a:cs typeface="+mn-cs"/>
        </a:defRPr>
      </a:lvl9pPr>
    </p:bodyStyle>
    <p:otherStyle>
      <a:defPPr>
        <a:defRPr lang="de-DE"/>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2.xml"/><Relationship Id="rId1" Type="http://schemas.openxmlformats.org/officeDocument/2006/relationships/slideLayout" Target="../slideLayouts/slideLayout3.xml"/><Relationship Id="rId4" Type="http://schemas.openxmlformats.org/officeDocument/2006/relationships/image" Target="../media/image8.png"/></Relationships>
</file>

<file path=ppt/slides/_rels/slide1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3.xml"/><Relationship Id="rId1" Type="http://schemas.openxmlformats.org/officeDocument/2006/relationships/slideLayout" Target="../slideLayouts/slideLayout3.xml"/><Relationship Id="rId4" Type="http://schemas.openxmlformats.org/officeDocument/2006/relationships/image" Target="../media/image10.png"/></Relationships>
</file>

<file path=ppt/slides/_rels/slide14.xml.rels><?xml version="1.0" encoding="UTF-8" standalone="yes"?>
<Relationships xmlns="http://schemas.openxmlformats.org/package/2006/relationships"><Relationship Id="rId3" Type="http://schemas.openxmlformats.org/officeDocument/2006/relationships/image" Target="../media/image11.gif"/><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3" Type="http://schemas.openxmlformats.org/officeDocument/2006/relationships/image" Target="../media/image12.gif"/><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el 2">
            <a:extLst>
              <a:ext uri="{FF2B5EF4-FFF2-40B4-BE49-F238E27FC236}">
                <a16:creationId xmlns:a16="http://schemas.microsoft.com/office/drawing/2014/main" id="{CB476EBB-4D93-C7B4-2E1A-4A6262020142}"/>
              </a:ext>
            </a:extLst>
          </p:cNvPr>
          <p:cNvSpPr>
            <a:spLocks noGrp="1"/>
          </p:cNvSpPr>
          <p:nvPr>
            <p:ph type="title"/>
          </p:nvPr>
        </p:nvSpPr>
        <p:spPr>
          <a:xfrm>
            <a:off x="4470883" y="2288322"/>
            <a:ext cx="5392784" cy="1444082"/>
          </a:xfrm>
        </p:spPr>
        <p:txBody>
          <a:bodyPr/>
          <a:lstStyle/>
          <a:p>
            <a:r>
              <a:rPr lang="de-DE" sz="4800" dirty="0"/>
              <a:t>Seminaraufgabe 4</a:t>
            </a:r>
          </a:p>
        </p:txBody>
      </p:sp>
      <p:sp>
        <p:nvSpPr>
          <p:cNvPr id="2" name="Untertitel 1">
            <a:extLst>
              <a:ext uri="{FF2B5EF4-FFF2-40B4-BE49-F238E27FC236}">
                <a16:creationId xmlns:a16="http://schemas.microsoft.com/office/drawing/2014/main" id="{B127D0AE-943F-5B24-AF1D-9467215FE8B7}"/>
              </a:ext>
            </a:extLst>
          </p:cNvPr>
          <p:cNvSpPr>
            <a:spLocks noGrp="1"/>
          </p:cNvSpPr>
          <p:nvPr>
            <p:ph type="subTitle" idx="4294967295"/>
          </p:nvPr>
        </p:nvSpPr>
        <p:spPr>
          <a:xfrm>
            <a:off x="4470883" y="3732404"/>
            <a:ext cx="4063517" cy="1752600"/>
          </a:xfrm>
          <a:prstGeom prst="rect">
            <a:avLst/>
          </a:prstGeom>
        </p:spPr>
        <p:txBody>
          <a:bodyPr/>
          <a:lstStyle/>
          <a:p>
            <a:pPr marL="0" indent="0">
              <a:buNone/>
            </a:pPr>
            <a:r>
              <a:rPr lang="de-DE" sz="2000" b="1" dirty="0">
                <a:solidFill>
                  <a:schemeClr val="bg1">
                    <a:lumMod val="50000"/>
                  </a:schemeClr>
                </a:solidFill>
                <a:effectLst/>
              </a:rPr>
              <a:t>Benjamin Gielczynski, </a:t>
            </a:r>
            <a:br>
              <a:rPr lang="de-DE" sz="2000" b="1" dirty="0">
                <a:solidFill>
                  <a:schemeClr val="bg1">
                    <a:lumMod val="50000"/>
                  </a:schemeClr>
                </a:solidFill>
                <a:effectLst/>
              </a:rPr>
            </a:br>
            <a:r>
              <a:rPr lang="de-DE" sz="2000" b="1" dirty="0">
                <a:solidFill>
                  <a:schemeClr val="bg1">
                    <a:lumMod val="50000"/>
                  </a:schemeClr>
                </a:solidFill>
                <a:effectLst/>
              </a:rPr>
              <a:t>David von Rüden, </a:t>
            </a:r>
            <a:br>
              <a:rPr lang="de-DE" sz="2000" b="1" dirty="0">
                <a:solidFill>
                  <a:schemeClr val="bg1">
                    <a:lumMod val="50000"/>
                  </a:schemeClr>
                </a:solidFill>
                <a:effectLst/>
              </a:rPr>
            </a:br>
            <a:r>
              <a:rPr lang="de-DE" sz="2000" b="1" dirty="0">
                <a:solidFill>
                  <a:schemeClr val="bg1">
                    <a:lumMod val="50000"/>
                  </a:schemeClr>
                </a:solidFill>
                <a:effectLst/>
              </a:rPr>
              <a:t>Tim Giese, </a:t>
            </a:r>
            <a:br>
              <a:rPr lang="de-DE" sz="2000" b="1" dirty="0">
                <a:solidFill>
                  <a:schemeClr val="bg1">
                    <a:lumMod val="50000"/>
                  </a:schemeClr>
                </a:solidFill>
                <a:effectLst/>
              </a:rPr>
            </a:br>
            <a:r>
              <a:rPr lang="de-DE" sz="2000" b="1" dirty="0">
                <a:solidFill>
                  <a:schemeClr val="bg1">
                    <a:lumMod val="50000"/>
                  </a:schemeClr>
                </a:solidFill>
                <a:effectLst/>
              </a:rPr>
              <a:t>Victor Domke, </a:t>
            </a:r>
            <a:br>
              <a:rPr lang="de-DE" sz="2000" b="1" dirty="0">
                <a:solidFill>
                  <a:schemeClr val="bg1">
                    <a:lumMod val="50000"/>
                  </a:schemeClr>
                </a:solidFill>
                <a:effectLst/>
              </a:rPr>
            </a:br>
            <a:r>
              <a:rPr lang="de-DE" sz="2000" b="1" dirty="0">
                <a:solidFill>
                  <a:schemeClr val="bg1">
                    <a:lumMod val="50000"/>
                  </a:schemeClr>
                </a:solidFill>
                <a:effectLst/>
              </a:rPr>
              <a:t>Simon Brockhoff</a:t>
            </a:r>
            <a:endParaRPr lang="de-DE" sz="2000" b="0" dirty="0">
              <a:solidFill>
                <a:schemeClr val="bg1">
                  <a:lumMod val="50000"/>
                </a:schemeClr>
              </a:solidFill>
              <a:effectLst/>
            </a:endParaRPr>
          </a:p>
        </p:txBody>
      </p:sp>
    </p:spTree>
    <p:extLst>
      <p:ext uri="{BB962C8B-B14F-4D97-AF65-F5344CB8AC3E}">
        <p14:creationId xmlns:p14="http://schemas.microsoft.com/office/powerpoint/2010/main" val="187507524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728E74-1723-4026-C41F-72C0E5F4B37F}"/>
            </a:ext>
          </a:extLst>
        </p:cNvPr>
        <p:cNvGrpSpPr/>
        <p:nvPr/>
      </p:nvGrpSpPr>
      <p:grpSpPr>
        <a:xfrm>
          <a:off x="0" y="0"/>
          <a:ext cx="0" cy="0"/>
          <a:chOff x="0" y="0"/>
          <a:chExt cx="0" cy="0"/>
        </a:xfrm>
      </p:grpSpPr>
      <p:sp>
        <p:nvSpPr>
          <p:cNvPr id="3" name="Titel 2">
            <a:extLst>
              <a:ext uri="{FF2B5EF4-FFF2-40B4-BE49-F238E27FC236}">
                <a16:creationId xmlns:a16="http://schemas.microsoft.com/office/drawing/2014/main" id="{16BDFD0D-1F3F-671D-BE21-271B3E00F8BC}"/>
              </a:ext>
            </a:extLst>
          </p:cNvPr>
          <p:cNvSpPr>
            <a:spLocks noGrp="1"/>
          </p:cNvSpPr>
          <p:nvPr>
            <p:ph type="title"/>
          </p:nvPr>
        </p:nvSpPr>
        <p:spPr/>
        <p:txBody>
          <a:bodyPr/>
          <a:lstStyle/>
          <a:p>
            <a:r>
              <a:rPr lang="de-DE" sz="3200" dirty="0"/>
              <a:t>Gliederung</a:t>
            </a:r>
            <a:endParaRPr lang="de-DE" dirty="0"/>
          </a:p>
        </p:txBody>
      </p:sp>
      <p:sp>
        <p:nvSpPr>
          <p:cNvPr id="2" name="Foliennummernplatzhalter 1">
            <a:extLst>
              <a:ext uri="{FF2B5EF4-FFF2-40B4-BE49-F238E27FC236}">
                <a16:creationId xmlns:a16="http://schemas.microsoft.com/office/drawing/2014/main" id="{4A95B1DA-C9BF-39EB-E4C5-A5750A2C5C28}"/>
              </a:ext>
            </a:extLst>
          </p:cNvPr>
          <p:cNvSpPr>
            <a:spLocks noGrp="1"/>
          </p:cNvSpPr>
          <p:nvPr>
            <p:ph type="sldNum" sz="quarter" idx="10"/>
          </p:nvPr>
        </p:nvSpPr>
        <p:spPr/>
        <p:txBody>
          <a:bodyPr/>
          <a:lstStyle/>
          <a:p>
            <a:fld id="{80B4FCE6-DC73-4135-BC56-1F242D45A84C}" type="slidenum">
              <a:rPr lang="de-DE" smtClean="0"/>
              <a:t>2</a:t>
            </a:fld>
            <a:endParaRPr lang="de-DE"/>
          </a:p>
        </p:txBody>
      </p:sp>
      <p:sp>
        <p:nvSpPr>
          <p:cNvPr id="7" name="Fußzeilenplatzhalter 6">
            <a:extLst>
              <a:ext uri="{FF2B5EF4-FFF2-40B4-BE49-F238E27FC236}">
                <a16:creationId xmlns:a16="http://schemas.microsoft.com/office/drawing/2014/main" id="{9D942951-2681-5B98-DB4E-AACA25F87A2D}"/>
              </a:ext>
            </a:extLst>
          </p:cNvPr>
          <p:cNvSpPr>
            <a:spLocks noGrp="1"/>
          </p:cNvSpPr>
          <p:nvPr>
            <p:ph type="ftr" sz="quarter" idx="11"/>
          </p:nvPr>
        </p:nvSpPr>
        <p:spPr/>
        <p:txBody>
          <a:bodyPr/>
          <a:lstStyle/>
          <a:p>
            <a:r>
              <a:rPr lang="de-DE"/>
              <a:t>Materialdiagnostik: Task 4</a:t>
            </a:r>
          </a:p>
        </p:txBody>
      </p:sp>
      <p:sp>
        <p:nvSpPr>
          <p:cNvPr id="6" name="Datumsplatzhalter 5">
            <a:extLst>
              <a:ext uri="{FF2B5EF4-FFF2-40B4-BE49-F238E27FC236}">
                <a16:creationId xmlns:a16="http://schemas.microsoft.com/office/drawing/2014/main" id="{2ADE982B-BFE5-5848-F763-33D2FC31C6DC}"/>
              </a:ext>
            </a:extLst>
          </p:cNvPr>
          <p:cNvSpPr>
            <a:spLocks noGrp="1"/>
          </p:cNvSpPr>
          <p:nvPr>
            <p:ph type="dt" sz="half" idx="12"/>
          </p:nvPr>
        </p:nvSpPr>
        <p:spPr/>
        <p:txBody>
          <a:bodyPr/>
          <a:lstStyle/>
          <a:p>
            <a:r>
              <a:rPr lang="de-DE"/>
              <a:t>23.07.2026</a:t>
            </a:r>
          </a:p>
        </p:txBody>
      </p:sp>
      <p:sp>
        <p:nvSpPr>
          <p:cNvPr id="4" name="Textplatzhalter 3">
            <a:extLst>
              <a:ext uri="{FF2B5EF4-FFF2-40B4-BE49-F238E27FC236}">
                <a16:creationId xmlns:a16="http://schemas.microsoft.com/office/drawing/2014/main" id="{1356FFF4-95A7-CF81-6FBE-506C8F181C81}"/>
              </a:ext>
            </a:extLst>
          </p:cNvPr>
          <p:cNvSpPr>
            <a:spLocks noGrp="1"/>
          </p:cNvSpPr>
          <p:nvPr>
            <p:ph type="body" sz="quarter" idx="13"/>
          </p:nvPr>
        </p:nvSpPr>
        <p:spPr/>
        <p:txBody>
          <a:bodyPr/>
          <a:lstStyle/>
          <a:p>
            <a:pPr>
              <a:buFont typeface="Arial" panose="020B0604020202020204" pitchFamily="34" charset="0"/>
              <a:buChar char="•"/>
            </a:pPr>
            <a:endParaRPr lang="de-DE" dirty="0"/>
          </a:p>
          <a:p>
            <a:pPr>
              <a:buFont typeface="Arial" panose="020B0604020202020204" pitchFamily="34" charset="0"/>
              <a:buChar char="•"/>
            </a:pPr>
            <a:r>
              <a:rPr lang="de-DE" dirty="0"/>
              <a:t>Daten und zwei Vorverarbeitungen</a:t>
            </a:r>
          </a:p>
          <a:p>
            <a:pPr>
              <a:buFont typeface="Arial" panose="020B0604020202020204" pitchFamily="34" charset="0"/>
              <a:buChar char="•"/>
            </a:pPr>
            <a:r>
              <a:rPr lang="de-DE" dirty="0"/>
              <a:t>Kreuzvalidierung und Autoencoder</a:t>
            </a:r>
          </a:p>
          <a:p>
            <a:pPr>
              <a:buFont typeface="Arial" panose="020B0604020202020204" pitchFamily="34" charset="0"/>
              <a:buChar char="•"/>
            </a:pPr>
            <a:r>
              <a:rPr lang="de-DE" dirty="0"/>
              <a:t>Entscheidung und Metriken</a:t>
            </a:r>
          </a:p>
          <a:p>
            <a:pPr>
              <a:buFont typeface="Arial" panose="020B0604020202020204" pitchFamily="34" charset="0"/>
              <a:buChar char="•"/>
            </a:pPr>
            <a:r>
              <a:rPr lang="de-DE" dirty="0"/>
              <a:t>Ergebnisse und Pipelinevergleich</a:t>
            </a:r>
          </a:p>
          <a:p>
            <a:pPr>
              <a:buFont typeface="Arial" panose="020B0604020202020204" pitchFamily="34" charset="0"/>
              <a:buChar char="•"/>
            </a:pPr>
            <a:r>
              <a:rPr lang="de-DE" dirty="0"/>
              <a:t>Diskussion und Fazit</a:t>
            </a:r>
          </a:p>
          <a:p>
            <a:endParaRPr lang="de-DE" dirty="0"/>
          </a:p>
        </p:txBody>
      </p:sp>
    </p:spTree>
    <p:extLst>
      <p:ext uri="{BB962C8B-B14F-4D97-AF65-F5344CB8AC3E}">
        <p14:creationId xmlns:p14="http://schemas.microsoft.com/office/powerpoint/2010/main" val="160618038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EDBBAAD-698E-2BBD-EFF1-ADB56162D5C1}"/>
              </a:ext>
            </a:extLst>
          </p:cNvPr>
          <p:cNvSpPr>
            <a:spLocks noGrp="1"/>
          </p:cNvSpPr>
          <p:nvPr>
            <p:ph type="title"/>
          </p:nvPr>
        </p:nvSpPr>
        <p:spPr/>
        <p:txBody>
          <a:bodyPr/>
          <a:lstStyle/>
          <a:p>
            <a:r>
              <a:rPr lang="de-DE" sz="3200" dirty="0">
                <a:latin typeface="Arial" panose="020B0604020202020204" pitchFamily="34" charset="0"/>
                <a:cs typeface="Arial" panose="020B0604020202020204" pitchFamily="34" charset="0"/>
              </a:rPr>
              <a:t>Daten &amp; Pipelines</a:t>
            </a:r>
          </a:p>
        </p:txBody>
      </p:sp>
      <p:sp>
        <p:nvSpPr>
          <p:cNvPr id="5" name="Foliennummernplatzhalter 4">
            <a:extLst>
              <a:ext uri="{FF2B5EF4-FFF2-40B4-BE49-F238E27FC236}">
                <a16:creationId xmlns:a16="http://schemas.microsoft.com/office/drawing/2014/main" id="{F8958667-57AC-BE1E-6BEA-1C93A1AE3BF9}"/>
              </a:ext>
            </a:extLst>
          </p:cNvPr>
          <p:cNvSpPr>
            <a:spLocks noGrp="1"/>
          </p:cNvSpPr>
          <p:nvPr>
            <p:ph type="sldNum" sz="quarter" idx="10"/>
          </p:nvPr>
        </p:nvSpPr>
        <p:spPr/>
        <p:txBody>
          <a:bodyPr/>
          <a:lstStyle/>
          <a:p>
            <a:fld id="{80B4FCE6-DC73-4135-BC56-1F242D45A84C}" type="slidenum">
              <a:rPr lang="de-DE" smtClean="0"/>
              <a:t>3</a:t>
            </a:fld>
            <a:endParaRPr lang="de-DE"/>
          </a:p>
        </p:txBody>
      </p:sp>
      <p:sp>
        <p:nvSpPr>
          <p:cNvPr id="9" name="Fußzeilenplatzhalter 8">
            <a:extLst>
              <a:ext uri="{FF2B5EF4-FFF2-40B4-BE49-F238E27FC236}">
                <a16:creationId xmlns:a16="http://schemas.microsoft.com/office/drawing/2014/main" id="{F03726B5-E16A-44C4-B810-6AFDF6B91428}"/>
              </a:ext>
            </a:extLst>
          </p:cNvPr>
          <p:cNvSpPr>
            <a:spLocks noGrp="1"/>
          </p:cNvSpPr>
          <p:nvPr>
            <p:ph type="ftr" sz="quarter" idx="11"/>
          </p:nvPr>
        </p:nvSpPr>
        <p:spPr/>
        <p:txBody>
          <a:bodyPr/>
          <a:lstStyle/>
          <a:p>
            <a:r>
              <a:rPr lang="de-DE"/>
              <a:t>Materialdiagnostik: Task 4</a:t>
            </a:r>
            <a:endParaRPr lang="de-DE" dirty="0"/>
          </a:p>
        </p:txBody>
      </p:sp>
      <p:sp>
        <p:nvSpPr>
          <p:cNvPr id="8" name="Datumsplatzhalter 7">
            <a:extLst>
              <a:ext uri="{FF2B5EF4-FFF2-40B4-BE49-F238E27FC236}">
                <a16:creationId xmlns:a16="http://schemas.microsoft.com/office/drawing/2014/main" id="{EC3D51E1-5F7F-CC79-B190-7E596C240B7F}"/>
              </a:ext>
            </a:extLst>
          </p:cNvPr>
          <p:cNvSpPr>
            <a:spLocks noGrp="1"/>
          </p:cNvSpPr>
          <p:nvPr>
            <p:ph type="dt" sz="half" idx="12"/>
          </p:nvPr>
        </p:nvSpPr>
        <p:spPr/>
        <p:txBody>
          <a:bodyPr/>
          <a:lstStyle/>
          <a:p>
            <a:r>
              <a:rPr lang="de-DE"/>
              <a:t>23.07.2026</a:t>
            </a:r>
          </a:p>
        </p:txBody>
      </p:sp>
      <p:sp>
        <p:nvSpPr>
          <p:cNvPr id="3" name="Inhaltsplatzhalter 2">
            <a:extLst>
              <a:ext uri="{FF2B5EF4-FFF2-40B4-BE49-F238E27FC236}">
                <a16:creationId xmlns:a16="http://schemas.microsoft.com/office/drawing/2014/main" id="{9C68DE30-D93E-3C7A-A549-46E39921BF6A}"/>
              </a:ext>
            </a:extLst>
          </p:cNvPr>
          <p:cNvSpPr>
            <a:spLocks noGrp="1"/>
          </p:cNvSpPr>
          <p:nvPr>
            <p:ph sz="quarter" idx="13"/>
          </p:nvPr>
        </p:nvSpPr>
        <p:spPr>
          <a:prstGeom prst="rect">
            <a:avLst/>
          </a:prstGeom>
        </p:spPr>
        <p:txBody>
          <a:bodyPr/>
          <a:lstStyle/>
          <a:p>
            <a:pPr>
              <a:buFont typeface="Arial" panose="020B0604020202020204" pitchFamily="34" charset="0"/>
              <a:buChar char="•"/>
            </a:pPr>
            <a:r>
              <a:rPr lang="de-DE" dirty="0"/>
              <a:t>Z01-Z04: </a:t>
            </a:r>
            <a:r>
              <a:rPr lang="de-DE" b="1" dirty="0"/>
              <a:t>gesund (Label 1)</a:t>
            </a:r>
            <a:r>
              <a:rPr lang="de-DE" dirty="0"/>
              <a:t>; </a:t>
            </a:r>
            <a:br>
              <a:rPr lang="de-DE" dirty="0"/>
            </a:br>
            <a:r>
              <a:rPr lang="de-DE" dirty="0"/>
              <a:t>Z05: </a:t>
            </a:r>
            <a:r>
              <a:rPr lang="de-DE" b="1" dirty="0"/>
              <a:t>anomal (Label 0)</a:t>
            </a:r>
            <a:endParaRPr lang="de-DE" dirty="0"/>
          </a:p>
          <a:p>
            <a:pPr>
              <a:buFont typeface="Arial" panose="020B0604020202020204" pitchFamily="34" charset="0"/>
              <a:buChar char="•"/>
            </a:pPr>
            <a:r>
              <a:rPr lang="de-DE" dirty="0"/>
              <a:t>440 WAV-Dateien, </a:t>
            </a:r>
            <a:br>
              <a:rPr lang="de-DE" dirty="0"/>
            </a:br>
            <a:r>
              <a:rPr lang="de-DE" dirty="0"/>
              <a:t>62 Audiofeatures je Datei</a:t>
            </a:r>
          </a:p>
          <a:p>
            <a:pPr>
              <a:buFont typeface="Arial" panose="020B0604020202020204" pitchFamily="34" charset="0"/>
              <a:buChar char="•"/>
            </a:pPr>
            <a:r>
              <a:rPr lang="de-DE" dirty="0"/>
              <a:t>Ch1 und Ch2 werden getrennt modelliert</a:t>
            </a:r>
          </a:p>
          <a:p>
            <a:pPr>
              <a:buFont typeface="Arial" panose="020B0604020202020204" pitchFamily="34" charset="0"/>
              <a:buChar char="•"/>
            </a:pPr>
            <a:endParaRPr lang="de-DE" dirty="0"/>
          </a:p>
          <a:p>
            <a:pPr marL="0" indent="0">
              <a:buNone/>
            </a:pPr>
            <a:r>
              <a:rPr lang="de-DE" sz="2000" dirty="0"/>
              <a:t>Nach Mittelung besitzt jede Z-Gruppe genau 20 Samples je Kanal.</a:t>
            </a:r>
          </a:p>
          <a:p>
            <a:pPr marL="0" indent="0">
              <a:buNone/>
            </a:pPr>
            <a:endParaRPr lang="de-DE" dirty="0"/>
          </a:p>
        </p:txBody>
      </p:sp>
      <p:graphicFrame>
        <p:nvGraphicFramePr>
          <p:cNvPr id="6" name="Inhaltsplatzhalter 5">
            <a:extLst>
              <a:ext uri="{FF2B5EF4-FFF2-40B4-BE49-F238E27FC236}">
                <a16:creationId xmlns:a16="http://schemas.microsoft.com/office/drawing/2014/main" id="{497B2769-3C0B-7C18-B2D9-CD0FDEF66794}"/>
              </a:ext>
            </a:extLst>
          </p:cNvPr>
          <p:cNvGraphicFramePr>
            <a:graphicFrameLocks noGrp="1"/>
          </p:cNvGraphicFramePr>
          <p:nvPr>
            <p:ph sz="quarter" idx="14"/>
            <p:extLst>
              <p:ext uri="{D42A27DB-BD31-4B8C-83A1-F6EECF244321}">
                <p14:modId xmlns:p14="http://schemas.microsoft.com/office/powerpoint/2010/main" val="1964912950"/>
              </p:ext>
            </p:extLst>
          </p:nvPr>
        </p:nvGraphicFramePr>
        <p:xfrm>
          <a:off x="5732417" y="1815152"/>
          <a:ext cx="6118271" cy="2429301"/>
        </p:xfrm>
        <a:graphic>
          <a:graphicData uri="http://schemas.openxmlformats.org/drawingml/2006/table">
            <a:tbl>
              <a:tblPr firstRow="1" bandRow="1">
                <a:tableStyleId>{5C22544A-7EE6-4342-B048-85BDC9FD1C3A}</a:tableStyleId>
              </a:tblPr>
              <a:tblGrid>
                <a:gridCol w="1569135">
                  <a:extLst>
                    <a:ext uri="{9D8B030D-6E8A-4147-A177-3AD203B41FA5}">
                      <a16:colId xmlns:a16="http://schemas.microsoft.com/office/drawing/2014/main" val="3971024240"/>
                    </a:ext>
                  </a:extLst>
                </a:gridCol>
                <a:gridCol w="3480179">
                  <a:extLst>
                    <a:ext uri="{9D8B030D-6E8A-4147-A177-3AD203B41FA5}">
                      <a16:colId xmlns:a16="http://schemas.microsoft.com/office/drawing/2014/main" val="1741228516"/>
                    </a:ext>
                  </a:extLst>
                </a:gridCol>
                <a:gridCol w="1068957">
                  <a:extLst>
                    <a:ext uri="{9D8B030D-6E8A-4147-A177-3AD203B41FA5}">
                      <a16:colId xmlns:a16="http://schemas.microsoft.com/office/drawing/2014/main" val="1235261121"/>
                    </a:ext>
                  </a:extLst>
                </a:gridCol>
              </a:tblGrid>
              <a:tr h="809767">
                <a:tc>
                  <a:txBody>
                    <a:bodyPr/>
                    <a:lstStyle/>
                    <a:p>
                      <a:r>
                        <a:rPr lang="de-DE" dirty="0"/>
                        <a:t>Pipeline</a:t>
                      </a:r>
                    </a:p>
                  </a:txBody>
                  <a:tcPr/>
                </a:tc>
                <a:tc>
                  <a:txBody>
                    <a:bodyPr/>
                    <a:lstStyle/>
                    <a:p>
                      <a:r>
                        <a:rPr lang="de-DE" dirty="0"/>
                        <a:t>Verarbeitung nach Feature-Extraktion</a:t>
                      </a:r>
                    </a:p>
                  </a:txBody>
                  <a:tcPr/>
                </a:tc>
                <a:tc>
                  <a:txBody>
                    <a:bodyPr/>
                    <a:lstStyle/>
                    <a:p>
                      <a:r>
                        <a:rPr lang="de-DE" dirty="0"/>
                        <a:t>Samples</a:t>
                      </a:r>
                    </a:p>
                  </a:txBody>
                  <a:tcPr/>
                </a:tc>
                <a:extLst>
                  <a:ext uri="{0D108BD9-81ED-4DB2-BD59-A6C34878D82A}">
                    <a16:rowId xmlns:a16="http://schemas.microsoft.com/office/drawing/2014/main" val="3113023202"/>
                  </a:ext>
                </a:extLst>
              </a:tr>
              <a:tr h="809767">
                <a:tc>
                  <a:txBody>
                    <a:bodyPr/>
                    <a:lstStyle/>
                    <a:p>
                      <a:r>
                        <a:rPr lang="de-DE" dirty="0"/>
                        <a:t>Einzelmessung</a:t>
                      </a:r>
                    </a:p>
                  </a:txBody>
                  <a:tcPr/>
                </a:tc>
                <a:tc>
                  <a:txBody>
                    <a:bodyPr/>
                    <a:lstStyle/>
                    <a:p>
                      <a:r>
                        <a:rPr lang="de-DE" dirty="0"/>
                        <a:t>Keine Mittelung</a:t>
                      </a:r>
                    </a:p>
                  </a:txBody>
                  <a:tcPr/>
                </a:tc>
                <a:tc>
                  <a:txBody>
                    <a:bodyPr/>
                    <a:lstStyle/>
                    <a:p>
                      <a:r>
                        <a:rPr lang="de-DE" dirty="0"/>
                        <a:t>440</a:t>
                      </a:r>
                    </a:p>
                  </a:txBody>
                  <a:tcPr/>
                </a:tc>
                <a:extLst>
                  <a:ext uri="{0D108BD9-81ED-4DB2-BD59-A6C34878D82A}">
                    <a16:rowId xmlns:a16="http://schemas.microsoft.com/office/drawing/2014/main" val="283340712"/>
                  </a:ext>
                </a:extLst>
              </a:tr>
              <a:tr h="809767">
                <a:tc>
                  <a:txBody>
                    <a:bodyPr/>
                    <a:lstStyle/>
                    <a:p>
                      <a:r>
                        <a:rPr lang="de-DE" dirty="0" err="1"/>
                        <a:t>mID</a:t>
                      </a:r>
                      <a:r>
                        <a:rPr lang="de-DE" dirty="0"/>
                        <a:t>-gemittelt</a:t>
                      </a:r>
                    </a:p>
                  </a:txBody>
                  <a:tcPr/>
                </a:tc>
                <a:tc>
                  <a:txBody>
                    <a:bodyPr/>
                    <a:lstStyle/>
                    <a:p>
                      <a:r>
                        <a:rPr lang="de-DE" dirty="0"/>
                        <a:t>Mittel je `</a:t>
                      </a:r>
                      <a:r>
                        <a:rPr lang="de-DE" dirty="0" err="1"/>
                        <a:t>spec</a:t>
                      </a:r>
                      <a:r>
                        <a:rPr lang="de-DE" dirty="0"/>
                        <a:t>`, `</a:t>
                      </a:r>
                      <a:r>
                        <a:rPr lang="de-DE" dirty="0" err="1"/>
                        <a:t>pos</a:t>
                      </a:r>
                      <a:r>
                        <a:rPr lang="de-DE" dirty="0"/>
                        <a:t>`, `</a:t>
                      </a:r>
                      <a:r>
                        <a:rPr lang="de-DE" dirty="0" err="1"/>
                        <a:t>rID</a:t>
                      </a:r>
                      <a:r>
                        <a:rPr lang="de-DE" dirty="0"/>
                        <a:t>`, Kanal</a:t>
                      </a:r>
                    </a:p>
                  </a:txBody>
                  <a:tcPr/>
                </a:tc>
                <a:tc>
                  <a:txBody>
                    <a:bodyPr/>
                    <a:lstStyle/>
                    <a:p>
                      <a:r>
                        <a:rPr lang="de-DE" dirty="0"/>
                        <a:t>200</a:t>
                      </a:r>
                    </a:p>
                  </a:txBody>
                  <a:tcPr/>
                </a:tc>
                <a:extLst>
                  <a:ext uri="{0D108BD9-81ED-4DB2-BD59-A6C34878D82A}">
                    <a16:rowId xmlns:a16="http://schemas.microsoft.com/office/drawing/2014/main" val="1333412803"/>
                  </a:ext>
                </a:extLst>
              </a:tr>
            </a:tbl>
          </a:graphicData>
        </a:graphic>
      </p:graphicFrame>
    </p:spTree>
    <p:extLst>
      <p:ext uri="{BB962C8B-B14F-4D97-AF65-F5344CB8AC3E}">
        <p14:creationId xmlns:p14="http://schemas.microsoft.com/office/powerpoint/2010/main" val="230430566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Inhaltsplatzhalter 9">
            <a:extLst>
              <a:ext uri="{FF2B5EF4-FFF2-40B4-BE49-F238E27FC236}">
                <a16:creationId xmlns:a16="http://schemas.microsoft.com/office/drawing/2014/main" id="{7B8D0937-7521-B2D4-9DC6-F495F659D7E3}"/>
              </a:ext>
            </a:extLst>
          </p:cNvPr>
          <p:cNvSpPr>
            <a:spLocks noGrp="1"/>
          </p:cNvSpPr>
          <p:nvPr>
            <p:ph sz="quarter" idx="13"/>
          </p:nvPr>
        </p:nvSpPr>
        <p:spPr/>
        <p:txBody>
          <a:bodyPr/>
          <a:lstStyle/>
          <a:p>
            <a:pPr>
              <a:buFont typeface="Arial" panose="020B0604020202020204" pitchFamily="34" charset="0"/>
              <a:buChar char="•"/>
            </a:pPr>
            <a:r>
              <a:rPr lang="de-DE" dirty="0"/>
              <a:t>Datenquelle: selbe wie Task_2</a:t>
            </a:r>
          </a:p>
          <a:p>
            <a:pPr>
              <a:buFont typeface="Arial" panose="020B0604020202020204" pitchFamily="34" charset="0"/>
              <a:buChar char="•"/>
            </a:pPr>
            <a:r>
              <a:rPr lang="de-DE" dirty="0"/>
              <a:t>Proben: Z01 bis Z05</a:t>
            </a:r>
          </a:p>
          <a:p>
            <a:pPr>
              <a:buFont typeface="Arial" panose="020B0604020202020204" pitchFamily="34" charset="0"/>
              <a:buChar char="•"/>
            </a:pPr>
            <a:r>
              <a:rPr lang="de-DE" dirty="0"/>
              <a:t>Label-Zuordnung:</a:t>
            </a:r>
          </a:p>
          <a:p>
            <a:pPr lvl="1">
              <a:buFont typeface="Arial" panose="020B0604020202020204" pitchFamily="34" charset="0"/>
              <a:buChar char="•"/>
            </a:pPr>
            <a:r>
              <a:rPr lang="de-DE" dirty="0"/>
              <a:t>Z01, Z02, Z03, Z04 = gut</a:t>
            </a:r>
          </a:p>
          <a:p>
            <a:pPr lvl="1">
              <a:buFont typeface="Arial" panose="020B0604020202020204" pitchFamily="34" charset="0"/>
              <a:buChar char="•"/>
            </a:pPr>
            <a:r>
              <a:rPr lang="de-DE" dirty="0"/>
              <a:t>Z05 = beschädigt</a:t>
            </a:r>
          </a:p>
          <a:p>
            <a:pPr>
              <a:buFont typeface="Arial" panose="020B0604020202020204" pitchFamily="34" charset="0"/>
              <a:buChar char="•"/>
            </a:pPr>
            <a:r>
              <a:rPr lang="de-DE" dirty="0"/>
              <a:t>Kanäle: Ch1, Ch2</a:t>
            </a:r>
          </a:p>
        </p:txBody>
      </p:sp>
      <p:sp>
        <p:nvSpPr>
          <p:cNvPr id="5" name="Titel 4">
            <a:extLst>
              <a:ext uri="{FF2B5EF4-FFF2-40B4-BE49-F238E27FC236}">
                <a16:creationId xmlns:a16="http://schemas.microsoft.com/office/drawing/2014/main" id="{FF548E49-692C-4BBE-8063-A0FA8DCFE074}"/>
              </a:ext>
            </a:extLst>
          </p:cNvPr>
          <p:cNvSpPr>
            <a:spLocks noGrp="1"/>
          </p:cNvSpPr>
          <p:nvPr>
            <p:ph type="title"/>
          </p:nvPr>
        </p:nvSpPr>
        <p:spPr>
          <a:xfrm>
            <a:off x="341810" y="567600"/>
            <a:ext cx="5586023" cy="706030"/>
          </a:xfrm>
        </p:spPr>
        <p:txBody>
          <a:bodyPr/>
          <a:lstStyle/>
          <a:p>
            <a:r>
              <a:rPr lang="de-DE" sz="3200" dirty="0">
                <a:ea typeface="ヒラギノ角ゴ Pro W3"/>
              </a:rPr>
              <a:t>Datensatz und Label-Zuordnung</a:t>
            </a:r>
            <a:endParaRPr lang="de-DE" dirty="0"/>
          </a:p>
        </p:txBody>
      </p:sp>
      <p:sp>
        <p:nvSpPr>
          <p:cNvPr id="6" name="Datumsplatzhalter 5">
            <a:extLst>
              <a:ext uri="{FF2B5EF4-FFF2-40B4-BE49-F238E27FC236}">
                <a16:creationId xmlns:a16="http://schemas.microsoft.com/office/drawing/2014/main" id="{AD575DA6-9507-24A3-D823-ACF99B904417}"/>
              </a:ext>
            </a:extLst>
          </p:cNvPr>
          <p:cNvSpPr>
            <a:spLocks noGrp="1"/>
          </p:cNvSpPr>
          <p:nvPr>
            <p:ph type="dt" sz="half" idx="12"/>
          </p:nvPr>
        </p:nvSpPr>
        <p:spPr/>
        <p:txBody>
          <a:bodyPr/>
          <a:lstStyle/>
          <a:p>
            <a:r>
              <a:rPr lang="de-DE"/>
              <a:t>23.07.2026</a:t>
            </a:r>
          </a:p>
        </p:txBody>
      </p:sp>
      <p:sp>
        <p:nvSpPr>
          <p:cNvPr id="7" name="Fußzeilenplatzhalter 6">
            <a:extLst>
              <a:ext uri="{FF2B5EF4-FFF2-40B4-BE49-F238E27FC236}">
                <a16:creationId xmlns:a16="http://schemas.microsoft.com/office/drawing/2014/main" id="{B06C2A5A-D44E-21C3-8924-01BF5842EAE8}"/>
              </a:ext>
            </a:extLst>
          </p:cNvPr>
          <p:cNvSpPr>
            <a:spLocks noGrp="1"/>
          </p:cNvSpPr>
          <p:nvPr>
            <p:ph type="ftr" sz="quarter" idx="11"/>
          </p:nvPr>
        </p:nvSpPr>
        <p:spPr/>
        <p:txBody>
          <a:bodyPr/>
          <a:lstStyle/>
          <a:p>
            <a:r>
              <a:rPr lang="de-DE"/>
              <a:t>Materialdiagnostik: Task 4</a:t>
            </a:r>
            <a:endParaRPr lang="de-DE" dirty="0"/>
          </a:p>
        </p:txBody>
      </p:sp>
      <p:pic>
        <p:nvPicPr>
          <p:cNvPr id="3" name="Grafik 2">
            <a:extLst>
              <a:ext uri="{FF2B5EF4-FFF2-40B4-BE49-F238E27FC236}">
                <a16:creationId xmlns:a16="http://schemas.microsoft.com/office/drawing/2014/main" id="{2481C4C0-FA67-CF38-BE6F-A06F2535F1CE}"/>
              </a:ext>
            </a:extLst>
          </p:cNvPr>
          <p:cNvPicPr>
            <a:picLocks noChangeAspect="1"/>
          </p:cNvPicPr>
          <p:nvPr/>
        </p:nvPicPr>
        <p:blipFill>
          <a:blip r:embed="rId3"/>
          <a:stretch>
            <a:fillRect/>
          </a:stretch>
        </p:blipFill>
        <p:spPr>
          <a:xfrm>
            <a:off x="7290086" y="1620000"/>
            <a:ext cx="4054191" cy="2766300"/>
          </a:xfrm>
          <a:prstGeom prst="rect">
            <a:avLst/>
          </a:prstGeom>
        </p:spPr>
      </p:pic>
      <p:sp>
        <p:nvSpPr>
          <p:cNvPr id="2" name="Foliennummernplatzhalter 1">
            <a:extLst>
              <a:ext uri="{FF2B5EF4-FFF2-40B4-BE49-F238E27FC236}">
                <a16:creationId xmlns:a16="http://schemas.microsoft.com/office/drawing/2014/main" id="{604D00BA-4E18-605F-D34D-D84794623B18}"/>
              </a:ext>
            </a:extLst>
          </p:cNvPr>
          <p:cNvSpPr>
            <a:spLocks noGrp="1"/>
          </p:cNvSpPr>
          <p:nvPr>
            <p:ph type="sldNum" sz="quarter" idx="10"/>
          </p:nvPr>
        </p:nvSpPr>
        <p:spPr/>
        <p:txBody>
          <a:bodyPr/>
          <a:lstStyle/>
          <a:p>
            <a:fld id="{80B4FCE6-DC73-4135-BC56-1F242D45A84C}" type="slidenum">
              <a:rPr lang="de-DE" smtClean="0"/>
              <a:t>4</a:t>
            </a:fld>
            <a:endParaRPr lang="de-DE"/>
          </a:p>
        </p:txBody>
      </p:sp>
    </p:spTree>
    <p:extLst>
      <p:ext uri="{BB962C8B-B14F-4D97-AF65-F5344CB8AC3E}">
        <p14:creationId xmlns:p14="http://schemas.microsoft.com/office/powerpoint/2010/main" val="284584350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0FC91D-551D-3A12-3B4F-FD19284DCF06}"/>
            </a:ext>
          </a:extLst>
        </p:cNvPr>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A01E9335-BE43-12DC-80C0-D25BC6A0C1D7}"/>
              </a:ext>
            </a:extLst>
          </p:cNvPr>
          <p:cNvSpPr>
            <a:spLocks noGrp="1"/>
          </p:cNvSpPr>
          <p:nvPr>
            <p:ph type="sldNum" sz="quarter" idx="10"/>
          </p:nvPr>
        </p:nvSpPr>
        <p:spPr/>
        <p:txBody>
          <a:bodyPr/>
          <a:lstStyle/>
          <a:p>
            <a:fld id="{80B4FCE6-DC73-4135-BC56-1F242D45A84C}" type="slidenum">
              <a:rPr lang="de-DE" smtClean="0"/>
              <a:t>5</a:t>
            </a:fld>
            <a:endParaRPr lang="de-DE"/>
          </a:p>
        </p:txBody>
      </p:sp>
      <p:sp>
        <p:nvSpPr>
          <p:cNvPr id="6" name="Fußzeilenplatzhalter 5">
            <a:extLst>
              <a:ext uri="{FF2B5EF4-FFF2-40B4-BE49-F238E27FC236}">
                <a16:creationId xmlns:a16="http://schemas.microsoft.com/office/drawing/2014/main" id="{43258A7A-FB46-C9EE-27DB-D5BFD61A3880}"/>
              </a:ext>
            </a:extLst>
          </p:cNvPr>
          <p:cNvSpPr>
            <a:spLocks noGrp="1"/>
          </p:cNvSpPr>
          <p:nvPr>
            <p:ph type="ftr" sz="quarter" idx="11"/>
          </p:nvPr>
        </p:nvSpPr>
        <p:spPr/>
        <p:txBody>
          <a:bodyPr/>
          <a:lstStyle/>
          <a:p>
            <a:r>
              <a:rPr lang="de-DE"/>
              <a:t>Materialdiagnostik: Task 4</a:t>
            </a:r>
          </a:p>
        </p:txBody>
      </p:sp>
      <p:sp>
        <p:nvSpPr>
          <p:cNvPr id="3" name="Datumsplatzhalter 2">
            <a:extLst>
              <a:ext uri="{FF2B5EF4-FFF2-40B4-BE49-F238E27FC236}">
                <a16:creationId xmlns:a16="http://schemas.microsoft.com/office/drawing/2014/main" id="{B976C4FB-8771-9C12-EC14-FF917FA91936}"/>
              </a:ext>
            </a:extLst>
          </p:cNvPr>
          <p:cNvSpPr>
            <a:spLocks noGrp="1"/>
          </p:cNvSpPr>
          <p:nvPr>
            <p:ph type="dt" sz="half" idx="12"/>
          </p:nvPr>
        </p:nvSpPr>
        <p:spPr/>
        <p:txBody>
          <a:bodyPr/>
          <a:lstStyle/>
          <a:p>
            <a:r>
              <a:rPr lang="de-DE"/>
              <a:t>23.07.2026</a:t>
            </a:r>
          </a:p>
        </p:txBody>
      </p:sp>
      <p:graphicFrame>
        <p:nvGraphicFramePr>
          <p:cNvPr id="4" name="Inhaltsplatzhalter 3">
            <a:extLst>
              <a:ext uri="{FF2B5EF4-FFF2-40B4-BE49-F238E27FC236}">
                <a16:creationId xmlns:a16="http://schemas.microsoft.com/office/drawing/2014/main" id="{B96CECF4-A07F-900E-453E-F6C3301C3D8D}"/>
              </a:ext>
            </a:extLst>
          </p:cNvPr>
          <p:cNvGraphicFramePr>
            <a:graphicFrameLocks noGrp="1"/>
          </p:cNvGraphicFramePr>
          <p:nvPr>
            <p:ph sz="quarter" idx="13"/>
            <p:extLst>
              <p:ext uri="{D42A27DB-BD31-4B8C-83A1-F6EECF244321}">
                <p14:modId xmlns:p14="http://schemas.microsoft.com/office/powerpoint/2010/main" val="905040028"/>
              </p:ext>
            </p:extLst>
          </p:nvPr>
        </p:nvGraphicFramePr>
        <p:xfrm>
          <a:off x="341313" y="1619250"/>
          <a:ext cx="11512548" cy="1854200"/>
        </p:xfrm>
        <a:graphic>
          <a:graphicData uri="http://schemas.openxmlformats.org/drawingml/2006/table">
            <a:tbl>
              <a:tblPr firstRow="1" bandRow="1">
                <a:tableStyleId>{5C22544A-7EE6-4342-B048-85BDC9FD1C3A}</a:tableStyleId>
              </a:tblPr>
              <a:tblGrid>
                <a:gridCol w="2878137">
                  <a:extLst>
                    <a:ext uri="{9D8B030D-6E8A-4147-A177-3AD203B41FA5}">
                      <a16:colId xmlns:a16="http://schemas.microsoft.com/office/drawing/2014/main" val="1615416613"/>
                    </a:ext>
                  </a:extLst>
                </a:gridCol>
                <a:gridCol w="2878137">
                  <a:extLst>
                    <a:ext uri="{9D8B030D-6E8A-4147-A177-3AD203B41FA5}">
                      <a16:colId xmlns:a16="http://schemas.microsoft.com/office/drawing/2014/main" val="2145862400"/>
                    </a:ext>
                  </a:extLst>
                </a:gridCol>
                <a:gridCol w="2878137">
                  <a:extLst>
                    <a:ext uri="{9D8B030D-6E8A-4147-A177-3AD203B41FA5}">
                      <a16:colId xmlns:a16="http://schemas.microsoft.com/office/drawing/2014/main" val="3897919594"/>
                    </a:ext>
                  </a:extLst>
                </a:gridCol>
                <a:gridCol w="2878137">
                  <a:extLst>
                    <a:ext uri="{9D8B030D-6E8A-4147-A177-3AD203B41FA5}">
                      <a16:colId xmlns:a16="http://schemas.microsoft.com/office/drawing/2014/main" val="145885246"/>
                    </a:ext>
                  </a:extLst>
                </a:gridCol>
              </a:tblGrid>
              <a:tr h="370840">
                <a:tc>
                  <a:txBody>
                    <a:bodyPr/>
                    <a:lstStyle/>
                    <a:p>
                      <a:r>
                        <a:rPr lang="de-DE" dirty="0"/>
                        <a:t>Fold</a:t>
                      </a:r>
                    </a:p>
                  </a:txBody>
                  <a:tcPr/>
                </a:tc>
                <a:tc>
                  <a:txBody>
                    <a:bodyPr/>
                    <a:lstStyle/>
                    <a:p>
                      <a:r>
                        <a:rPr lang="de-DE" dirty="0"/>
                        <a:t>Gesundes Training</a:t>
                      </a:r>
                    </a:p>
                  </a:txBody>
                  <a:tcPr/>
                </a:tc>
                <a:tc>
                  <a:txBody>
                    <a:bodyPr/>
                    <a:lstStyle/>
                    <a:p>
                      <a:r>
                        <a:rPr lang="de-DE" dirty="0"/>
                        <a:t>Test: gesund</a:t>
                      </a:r>
                    </a:p>
                  </a:txBody>
                  <a:tcPr/>
                </a:tc>
                <a:tc>
                  <a:txBody>
                    <a:bodyPr/>
                    <a:lstStyle/>
                    <a:p>
                      <a:r>
                        <a:rPr lang="de-DE" dirty="0"/>
                        <a:t>Test: anomal</a:t>
                      </a:r>
                    </a:p>
                  </a:txBody>
                  <a:tcPr/>
                </a:tc>
                <a:extLst>
                  <a:ext uri="{0D108BD9-81ED-4DB2-BD59-A6C34878D82A}">
                    <a16:rowId xmlns:a16="http://schemas.microsoft.com/office/drawing/2014/main" val="3144091381"/>
                  </a:ext>
                </a:extLst>
              </a:tr>
              <a:tr h="370840">
                <a:tc>
                  <a:txBody>
                    <a:bodyPr/>
                    <a:lstStyle/>
                    <a:p>
                      <a:r>
                        <a:rPr lang="de-DE" dirty="0"/>
                        <a:t>1</a:t>
                      </a:r>
                    </a:p>
                  </a:txBody>
                  <a:tcPr/>
                </a:tc>
                <a:tc>
                  <a:txBody>
                    <a:bodyPr/>
                    <a:lstStyle/>
                    <a:p>
                      <a:r>
                        <a:rPr lang="de-DE" dirty="0"/>
                        <a:t>Z01, Z02, Z03</a:t>
                      </a:r>
                    </a:p>
                  </a:txBody>
                  <a:tcPr/>
                </a:tc>
                <a:tc>
                  <a:txBody>
                    <a:bodyPr/>
                    <a:lstStyle/>
                    <a:p>
                      <a:r>
                        <a:rPr lang="de-DE" dirty="0"/>
                        <a:t>Z04</a:t>
                      </a:r>
                    </a:p>
                  </a:txBody>
                  <a:tcPr/>
                </a:tc>
                <a:tc>
                  <a:txBody>
                    <a:bodyPr/>
                    <a:lstStyle/>
                    <a:p>
                      <a:r>
                        <a:rPr lang="de-DE" dirty="0"/>
                        <a:t>Z05</a:t>
                      </a:r>
                    </a:p>
                  </a:txBody>
                  <a:tcPr/>
                </a:tc>
                <a:extLst>
                  <a:ext uri="{0D108BD9-81ED-4DB2-BD59-A6C34878D82A}">
                    <a16:rowId xmlns:a16="http://schemas.microsoft.com/office/drawing/2014/main" val="593744031"/>
                  </a:ext>
                </a:extLst>
              </a:tr>
              <a:tr h="370840">
                <a:tc>
                  <a:txBody>
                    <a:bodyPr/>
                    <a:lstStyle/>
                    <a:p>
                      <a:r>
                        <a:rPr lang="de-DE" dirty="0"/>
                        <a:t>2</a:t>
                      </a:r>
                    </a:p>
                  </a:txBody>
                  <a:tcPr/>
                </a:tc>
                <a:tc>
                  <a:txBody>
                    <a:bodyPr/>
                    <a:lstStyle/>
                    <a:p>
                      <a:r>
                        <a:rPr lang="de-DE" dirty="0"/>
                        <a:t>Z01, Z02, Z04</a:t>
                      </a:r>
                    </a:p>
                  </a:txBody>
                  <a:tcPr/>
                </a:tc>
                <a:tc>
                  <a:txBody>
                    <a:bodyPr/>
                    <a:lstStyle/>
                    <a:p>
                      <a:r>
                        <a:rPr lang="de-DE" dirty="0"/>
                        <a:t>Z03</a:t>
                      </a:r>
                    </a:p>
                  </a:txBody>
                  <a:tcPr/>
                </a:tc>
                <a:tc>
                  <a:txBody>
                    <a:bodyPr/>
                    <a:lstStyle/>
                    <a:p>
                      <a:r>
                        <a:rPr lang="de-DE" dirty="0"/>
                        <a:t>Z05</a:t>
                      </a:r>
                    </a:p>
                  </a:txBody>
                  <a:tcPr/>
                </a:tc>
                <a:extLst>
                  <a:ext uri="{0D108BD9-81ED-4DB2-BD59-A6C34878D82A}">
                    <a16:rowId xmlns:a16="http://schemas.microsoft.com/office/drawing/2014/main" val="556200018"/>
                  </a:ext>
                </a:extLst>
              </a:tr>
              <a:tr h="370840">
                <a:tc>
                  <a:txBody>
                    <a:bodyPr/>
                    <a:lstStyle/>
                    <a:p>
                      <a:r>
                        <a:rPr lang="de-DE" dirty="0"/>
                        <a:t>3</a:t>
                      </a:r>
                    </a:p>
                  </a:txBody>
                  <a:tcPr/>
                </a:tc>
                <a:tc>
                  <a:txBody>
                    <a:bodyPr/>
                    <a:lstStyle/>
                    <a:p>
                      <a:r>
                        <a:rPr lang="de-DE" dirty="0"/>
                        <a:t>Z01, Z03, Z04</a:t>
                      </a:r>
                    </a:p>
                  </a:txBody>
                  <a:tcPr/>
                </a:tc>
                <a:tc>
                  <a:txBody>
                    <a:bodyPr/>
                    <a:lstStyle/>
                    <a:p>
                      <a:r>
                        <a:rPr lang="de-DE" dirty="0"/>
                        <a:t>Z02</a:t>
                      </a:r>
                    </a:p>
                  </a:txBody>
                  <a:tcPr/>
                </a:tc>
                <a:tc>
                  <a:txBody>
                    <a:bodyPr/>
                    <a:lstStyle/>
                    <a:p>
                      <a:r>
                        <a:rPr lang="de-DE" dirty="0"/>
                        <a:t>Z05</a:t>
                      </a:r>
                    </a:p>
                  </a:txBody>
                  <a:tcPr/>
                </a:tc>
                <a:extLst>
                  <a:ext uri="{0D108BD9-81ED-4DB2-BD59-A6C34878D82A}">
                    <a16:rowId xmlns:a16="http://schemas.microsoft.com/office/drawing/2014/main" val="1390168549"/>
                  </a:ext>
                </a:extLst>
              </a:tr>
              <a:tr h="370840">
                <a:tc>
                  <a:txBody>
                    <a:bodyPr/>
                    <a:lstStyle/>
                    <a:p>
                      <a:r>
                        <a:rPr lang="de-DE" dirty="0"/>
                        <a:t>4</a:t>
                      </a:r>
                    </a:p>
                  </a:txBody>
                  <a:tcPr/>
                </a:tc>
                <a:tc>
                  <a:txBody>
                    <a:bodyPr/>
                    <a:lstStyle/>
                    <a:p>
                      <a:r>
                        <a:rPr lang="de-DE" dirty="0"/>
                        <a:t>Z02, Z03, Z04</a:t>
                      </a:r>
                    </a:p>
                  </a:txBody>
                  <a:tcPr/>
                </a:tc>
                <a:tc>
                  <a:txBody>
                    <a:bodyPr/>
                    <a:lstStyle/>
                    <a:p>
                      <a:r>
                        <a:rPr lang="de-DE" dirty="0"/>
                        <a:t>Z01</a:t>
                      </a:r>
                    </a:p>
                  </a:txBody>
                  <a:tcPr/>
                </a:tc>
                <a:tc>
                  <a:txBody>
                    <a:bodyPr/>
                    <a:lstStyle/>
                    <a:p>
                      <a:r>
                        <a:rPr lang="de-DE" dirty="0"/>
                        <a:t>Z05</a:t>
                      </a:r>
                    </a:p>
                  </a:txBody>
                  <a:tcPr/>
                </a:tc>
                <a:extLst>
                  <a:ext uri="{0D108BD9-81ED-4DB2-BD59-A6C34878D82A}">
                    <a16:rowId xmlns:a16="http://schemas.microsoft.com/office/drawing/2014/main" val="2065931416"/>
                  </a:ext>
                </a:extLst>
              </a:tr>
            </a:tbl>
          </a:graphicData>
        </a:graphic>
      </p:graphicFrame>
      <p:sp>
        <p:nvSpPr>
          <p:cNvPr id="5" name="Titel 4">
            <a:extLst>
              <a:ext uri="{FF2B5EF4-FFF2-40B4-BE49-F238E27FC236}">
                <a16:creationId xmlns:a16="http://schemas.microsoft.com/office/drawing/2014/main" id="{90B690C3-0EC0-B10F-E8C5-83DB6885A9A5}"/>
              </a:ext>
            </a:extLst>
          </p:cNvPr>
          <p:cNvSpPr>
            <a:spLocks noGrp="1"/>
          </p:cNvSpPr>
          <p:nvPr>
            <p:ph type="title"/>
          </p:nvPr>
        </p:nvSpPr>
        <p:spPr/>
        <p:txBody>
          <a:bodyPr anchor="ctr">
            <a:normAutofit/>
          </a:bodyPr>
          <a:lstStyle/>
          <a:p>
            <a:pPr>
              <a:lnSpc>
                <a:spcPct val="90000"/>
              </a:lnSpc>
            </a:pPr>
            <a:r>
              <a:rPr lang="de-DE" sz="3200" dirty="0"/>
              <a:t>Kreuzvalidierung</a:t>
            </a:r>
            <a:endParaRPr lang="de-DE" sz="2200" dirty="0"/>
          </a:p>
        </p:txBody>
      </p:sp>
      <p:sp>
        <p:nvSpPr>
          <p:cNvPr id="7" name="Textfeld 6">
            <a:extLst>
              <a:ext uri="{FF2B5EF4-FFF2-40B4-BE49-F238E27FC236}">
                <a16:creationId xmlns:a16="http://schemas.microsoft.com/office/drawing/2014/main" id="{B94A0F76-0EC5-C91B-A10C-7CEABF725746}"/>
              </a:ext>
            </a:extLst>
          </p:cNvPr>
          <p:cNvSpPr txBox="1"/>
          <p:nvPr/>
        </p:nvSpPr>
        <p:spPr>
          <a:xfrm>
            <a:off x="341311" y="4175823"/>
            <a:ext cx="11512549" cy="1446550"/>
          </a:xfrm>
          <a:prstGeom prst="rect">
            <a:avLst/>
          </a:prstGeom>
          <a:noFill/>
        </p:spPr>
        <p:txBody>
          <a:bodyPr wrap="square" rtlCol="0">
            <a:spAutoFit/>
          </a:bodyPr>
          <a:lstStyle/>
          <a:p>
            <a:pPr marL="342900" indent="-342900">
              <a:buFont typeface="Arial" panose="020B0604020202020204" pitchFamily="34" charset="0"/>
              <a:buChar char="•"/>
            </a:pPr>
            <a:r>
              <a:rPr lang="de-DE" dirty="0">
                <a:latin typeface="+mn-lt"/>
              </a:rPr>
              <a:t>Pro Pipeline und Fold werden zwei Modelle trainiert: Ch1 und Ch2. </a:t>
            </a:r>
          </a:p>
          <a:p>
            <a:pPr marL="800100" lvl="1" indent="-342900">
              <a:buFont typeface="Arial" panose="020B0604020202020204" pitchFamily="34" charset="0"/>
              <a:buChar char="•"/>
            </a:pPr>
            <a:r>
              <a:rPr lang="de-DE" sz="2000" dirty="0">
                <a:latin typeface="+mn-lt"/>
              </a:rPr>
              <a:t>Z05 und die jeweils ausgelassene gesunde Gruppe beeinflussen weder Skalierung noch Training oder Schwellenwert.</a:t>
            </a:r>
          </a:p>
          <a:p>
            <a:endParaRPr lang="de-DE" dirty="0">
              <a:latin typeface="+mn-lt"/>
            </a:endParaRPr>
          </a:p>
        </p:txBody>
      </p:sp>
    </p:spTree>
    <p:extLst>
      <p:ext uri="{BB962C8B-B14F-4D97-AF65-F5344CB8AC3E}">
        <p14:creationId xmlns:p14="http://schemas.microsoft.com/office/powerpoint/2010/main" val="100016248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417B61-8CE5-3B97-6F85-3C618D6BECFE}"/>
            </a:ext>
          </a:extLst>
        </p:cNvPr>
        <p:cNvGrpSpPr/>
        <p:nvPr/>
      </p:nvGrpSpPr>
      <p:grpSpPr>
        <a:xfrm>
          <a:off x="0" y="0"/>
          <a:ext cx="0" cy="0"/>
          <a:chOff x="0" y="0"/>
          <a:chExt cx="0" cy="0"/>
        </a:xfrm>
      </p:grpSpPr>
      <p:sp>
        <p:nvSpPr>
          <p:cNvPr id="5" name="Titel 4">
            <a:extLst>
              <a:ext uri="{FF2B5EF4-FFF2-40B4-BE49-F238E27FC236}">
                <a16:creationId xmlns:a16="http://schemas.microsoft.com/office/drawing/2014/main" id="{898D85CC-7045-19F5-6B89-A95D6A5F2312}"/>
              </a:ext>
            </a:extLst>
          </p:cNvPr>
          <p:cNvSpPr>
            <a:spLocks noGrp="1"/>
          </p:cNvSpPr>
          <p:nvPr>
            <p:ph type="title"/>
          </p:nvPr>
        </p:nvSpPr>
        <p:spPr/>
        <p:txBody>
          <a:bodyPr/>
          <a:lstStyle/>
          <a:p>
            <a:r>
              <a:rPr kumimoji="0" lang="de-DE" sz="3200" b="1" i="0" u="none" strike="noStrike" kern="0" cap="none" spc="0" normalizeH="0" baseline="0" noProof="0" dirty="0">
                <a:ln>
                  <a:noFill/>
                </a:ln>
                <a:solidFill>
                  <a:srgbClr val="A8CC2F"/>
                </a:solidFill>
                <a:effectLst/>
                <a:uLnTx/>
                <a:uFillTx/>
                <a:ea typeface="ヒラギノ角ゴ Pro W3"/>
              </a:rPr>
              <a:t>Autoencoder</a:t>
            </a:r>
            <a:endParaRPr lang="de-DE" dirty="0"/>
          </a:p>
        </p:txBody>
      </p:sp>
      <p:sp>
        <p:nvSpPr>
          <p:cNvPr id="2" name="Foliennummernplatzhalter 1">
            <a:extLst>
              <a:ext uri="{FF2B5EF4-FFF2-40B4-BE49-F238E27FC236}">
                <a16:creationId xmlns:a16="http://schemas.microsoft.com/office/drawing/2014/main" id="{384EE6BD-0A8A-C35A-ACE5-8487FF073395}"/>
              </a:ext>
            </a:extLst>
          </p:cNvPr>
          <p:cNvSpPr>
            <a:spLocks noGrp="1"/>
          </p:cNvSpPr>
          <p:nvPr>
            <p:ph type="sldNum" sz="quarter" idx="10"/>
          </p:nvPr>
        </p:nvSpPr>
        <p:spPr/>
        <p:txBody>
          <a:bodyPr/>
          <a:lstStyle/>
          <a:p>
            <a:fld id="{80B4FCE6-DC73-4135-BC56-1F242D45A84C}" type="slidenum">
              <a:rPr lang="de-DE" smtClean="0"/>
              <a:t>6</a:t>
            </a:fld>
            <a:endParaRPr lang="de-DE"/>
          </a:p>
        </p:txBody>
      </p:sp>
      <p:sp>
        <p:nvSpPr>
          <p:cNvPr id="7" name="Fußzeilenplatzhalter 6">
            <a:extLst>
              <a:ext uri="{FF2B5EF4-FFF2-40B4-BE49-F238E27FC236}">
                <a16:creationId xmlns:a16="http://schemas.microsoft.com/office/drawing/2014/main" id="{F0CF3568-ABC8-8799-4537-678150D7687D}"/>
              </a:ext>
            </a:extLst>
          </p:cNvPr>
          <p:cNvSpPr>
            <a:spLocks noGrp="1"/>
          </p:cNvSpPr>
          <p:nvPr>
            <p:ph type="ftr" sz="quarter" idx="11"/>
          </p:nvPr>
        </p:nvSpPr>
        <p:spPr/>
        <p:txBody>
          <a:bodyPr/>
          <a:lstStyle/>
          <a:p>
            <a:r>
              <a:rPr lang="de-DE"/>
              <a:t>Materialdiagnostik: Task 4</a:t>
            </a:r>
            <a:endParaRPr lang="de-DE" dirty="0"/>
          </a:p>
        </p:txBody>
      </p:sp>
      <p:sp>
        <p:nvSpPr>
          <p:cNvPr id="6" name="Datumsplatzhalter 5">
            <a:extLst>
              <a:ext uri="{FF2B5EF4-FFF2-40B4-BE49-F238E27FC236}">
                <a16:creationId xmlns:a16="http://schemas.microsoft.com/office/drawing/2014/main" id="{38EAA6FE-52E8-2872-6AAC-AF23B87F158D}"/>
              </a:ext>
            </a:extLst>
          </p:cNvPr>
          <p:cNvSpPr>
            <a:spLocks noGrp="1"/>
          </p:cNvSpPr>
          <p:nvPr>
            <p:ph type="dt" sz="half" idx="12"/>
          </p:nvPr>
        </p:nvSpPr>
        <p:spPr/>
        <p:txBody>
          <a:bodyPr/>
          <a:lstStyle/>
          <a:p>
            <a:r>
              <a:rPr lang="de-DE"/>
              <a:t>23.07.2026</a:t>
            </a:r>
          </a:p>
        </p:txBody>
      </p:sp>
      <p:sp>
        <p:nvSpPr>
          <p:cNvPr id="10" name="Inhaltsplatzhalter 9">
            <a:extLst>
              <a:ext uri="{FF2B5EF4-FFF2-40B4-BE49-F238E27FC236}">
                <a16:creationId xmlns:a16="http://schemas.microsoft.com/office/drawing/2014/main" id="{3CFC55D7-9A46-28B7-DCDC-9006970AADA8}"/>
              </a:ext>
            </a:extLst>
          </p:cNvPr>
          <p:cNvSpPr>
            <a:spLocks noGrp="1"/>
          </p:cNvSpPr>
          <p:nvPr>
            <p:ph sz="quarter" idx="13"/>
          </p:nvPr>
        </p:nvSpPr>
        <p:spPr/>
        <p:txBody>
          <a:bodyPr/>
          <a:lstStyle/>
          <a:p>
            <a:pPr>
              <a:buFont typeface="Arial" panose="020B0604020202020204" pitchFamily="34" charset="0"/>
              <a:buChar char="•"/>
            </a:pPr>
            <a:r>
              <a:rPr lang="de-DE" dirty="0"/>
              <a:t>dichter Autoencoder (`</a:t>
            </a:r>
            <a:r>
              <a:rPr lang="de-DE" dirty="0" err="1"/>
              <a:t>MLPRegressor</a:t>
            </a:r>
            <a:r>
              <a:rPr lang="de-DE" dirty="0"/>
              <a:t>`), </a:t>
            </a:r>
            <a:r>
              <a:rPr lang="de-DE" dirty="0" err="1"/>
              <a:t>ReLU</a:t>
            </a:r>
            <a:r>
              <a:rPr lang="de-DE" dirty="0"/>
              <a:t> und Adam</a:t>
            </a:r>
          </a:p>
          <a:p>
            <a:pPr>
              <a:buFont typeface="Arial" panose="020B0604020202020204" pitchFamily="34" charset="0"/>
              <a:buChar char="•"/>
            </a:pPr>
            <a:r>
              <a:rPr lang="de-DE" dirty="0"/>
              <a:t>Lernrate 0,001; L2-Regularisierung 0,0001</a:t>
            </a:r>
          </a:p>
          <a:p>
            <a:pPr>
              <a:buFont typeface="Arial" panose="020B0604020202020204" pitchFamily="34" charset="0"/>
              <a:buChar char="•"/>
            </a:pPr>
            <a:r>
              <a:rPr lang="de-DE" dirty="0"/>
              <a:t>maximal 2.000 Epochen, Early </a:t>
            </a:r>
            <a:r>
              <a:rPr lang="de-DE" dirty="0" err="1"/>
              <a:t>Stopping</a:t>
            </a:r>
            <a:r>
              <a:rPr lang="de-DE" dirty="0"/>
              <a:t> mit 15 %</a:t>
            </a:r>
          </a:p>
          <a:p>
            <a:pPr>
              <a:buFont typeface="Arial" panose="020B0604020202020204" pitchFamily="34" charset="0"/>
              <a:buChar char="•"/>
            </a:pPr>
            <a:r>
              <a:rPr lang="de-DE" dirty="0"/>
              <a:t>feste Architektur und Seed 42</a:t>
            </a:r>
          </a:p>
          <a:p>
            <a:pPr>
              <a:buFont typeface="Arial" panose="020B0604020202020204" pitchFamily="34" charset="0"/>
              <a:buChar char="•"/>
            </a:pPr>
            <a:r>
              <a:rPr lang="de-DE" dirty="0"/>
              <a:t>Training ausschließlich mit Label 1</a:t>
            </a:r>
          </a:p>
        </p:txBody>
      </p:sp>
      <p:pic>
        <p:nvPicPr>
          <p:cNvPr id="8" name="Inhaltsplatzhalter 7">
            <a:extLst>
              <a:ext uri="{FF2B5EF4-FFF2-40B4-BE49-F238E27FC236}">
                <a16:creationId xmlns:a16="http://schemas.microsoft.com/office/drawing/2014/main" id="{2EA8FBC2-B3AE-5857-0E7C-EB1455065677}"/>
              </a:ext>
            </a:extLst>
          </p:cNvPr>
          <p:cNvPicPr>
            <a:picLocks noGrp="1" noChangeAspect="1"/>
          </p:cNvPicPr>
          <p:nvPr>
            <p:ph sz="quarter" idx="14"/>
          </p:nvPr>
        </p:nvPicPr>
        <p:blipFill>
          <a:blip r:embed="rId3"/>
          <a:stretch>
            <a:fillRect/>
          </a:stretch>
        </p:blipFill>
        <p:spPr>
          <a:xfrm>
            <a:off x="6096000" y="1745182"/>
            <a:ext cx="5754688" cy="3606136"/>
          </a:xfrm>
          <a:prstGeom prst="rect">
            <a:avLst/>
          </a:prstGeom>
        </p:spPr>
      </p:pic>
    </p:spTree>
    <p:extLst>
      <p:ext uri="{BB962C8B-B14F-4D97-AF65-F5344CB8AC3E}">
        <p14:creationId xmlns:p14="http://schemas.microsoft.com/office/powerpoint/2010/main" val="87036311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4DC8C5-6B84-38F9-328D-9E6B4534A4D9}"/>
            </a:ext>
          </a:extLst>
        </p:cNvPr>
        <p:cNvGrpSpPr/>
        <p:nvPr/>
      </p:nvGrpSpPr>
      <p:grpSpPr>
        <a:xfrm>
          <a:off x="0" y="0"/>
          <a:ext cx="0" cy="0"/>
          <a:chOff x="0" y="0"/>
          <a:chExt cx="0" cy="0"/>
        </a:xfrm>
      </p:grpSpPr>
      <p:sp>
        <p:nvSpPr>
          <p:cNvPr id="5" name="Titel 4">
            <a:extLst>
              <a:ext uri="{FF2B5EF4-FFF2-40B4-BE49-F238E27FC236}">
                <a16:creationId xmlns:a16="http://schemas.microsoft.com/office/drawing/2014/main" id="{A45EFF85-64A8-E302-6981-1B6B7F7F8DDD}"/>
              </a:ext>
            </a:extLst>
          </p:cNvPr>
          <p:cNvSpPr>
            <a:spLocks noGrp="1"/>
          </p:cNvSpPr>
          <p:nvPr>
            <p:ph type="title"/>
          </p:nvPr>
        </p:nvSpPr>
        <p:spPr>
          <a:xfrm>
            <a:off x="341811" y="567600"/>
            <a:ext cx="5470410" cy="706030"/>
          </a:xfrm>
        </p:spPr>
        <p:txBody>
          <a:bodyPr/>
          <a:lstStyle/>
          <a:p>
            <a:r>
              <a:rPr lang="de-DE" sz="3200" dirty="0"/>
              <a:t>Metriken &amp; Schwelle</a:t>
            </a:r>
          </a:p>
        </p:txBody>
      </p:sp>
      <p:sp>
        <p:nvSpPr>
          <p:cNvPr id="6" name="Fußzeilenplatzhalter 5">
            <a:extLst>
              <a:ext uri="{FF2B5EF4-FFF2-40B4-BE49-F238E27FC236}">
                <a16:creationId xmlns:a16="http://schemas.microsoft.com/office/drawing/2014/main" id="{C652A9E7-E0BD-8249-90D0-97B3A7CD27DF}"/>
              </a:ext>
            </a:extLst>
          </p:cNvPr>
          <p:cNvSpPr>
            <a:spLocks noGrp="1"/>
          </p:cNvSpPr>
          <p:nvPr>
            <p:ph type="ftr" sz="quarter" idx="11"/>
          </p:nvPr>
        </p:nvSpPr>
        <p:spPr/>
        <p:txBody>
          <a:bodyPr/>
          <a:lstStyle/>
          <a:p>
            <a:r>
              <a:rPr lang="de-DE"/>
              <a:t>Materialdiagnostik: Task 4</a:t>
            </a:r>
            <a:endParaRPr lang="de-DE" dirty="0"/>
          </a:p>
        </p:txBody>
      </p:sp>
      <p:sp>
        <p:nvSpPr>
          <p:cNvPr id="2" name="Datumsplatzhalter 1">
            <a:extLst>
              <a:ext uri="{FF2B5EF4-FFF2-40B4-BE49-F238E27FC236}">
                <a16:creationId xmlns:a16="http://schemas.microsoft.com/office/drawing/2014/main" id="{CEF0FCFB-49D3-B0D3-1565-3799B0181601}"/>
              </a:ext>
            </a:extLst>
          </p:cNvPr>
          <p:cNvSpPr>
            <a:spLocks noGrp="1"/>
          </p:cNvSpPr>
          <p:nvPr>
            <p:ph type="dt" sz="half" idx="12"/>
          </p:nvPr>
        </p:nvSpPr>
        <p:spPr/>
        <p:txBody>
          <a:bodyPr/>
          <a:lstStyle/>
          <a:p>
            <a:r>
              <a:rPr lang="de-DE"/>
              <a:t>23.07.2026</a:t>
            </a:r>
          </a:p>
        </p:txBody>
      </p:sp>
      <p:sp>
        <p:nvSpPr>
          <p:cNvPr id="8" name="Inhaltsplatzhalter 7">
            <a:extLst>
              <a:ext uri="{FF2B5EF4-FFF2-40B4-BE49-F238E27FC236}">
                <a16:creationId xmlns:a16="http://schemas.microsoft.com/office/drawing/2014/main" id="{A1313EF0-A9CF-8B6D-B55B-1752680076A4}"/>
              </a:ext>
            </a:extLst>
          </p:cNvPr>
          <p:cNvSpPr>
            <a:spLocks noGrp="1"/>
          </p:cNvSpPr>
          <p:nvPr>
            <p:ph sz="quarter" idx="13"/>
          </p:nvPr>
        </p:nvSpPr>
        <p:spPr>
          <a:xfrm>
            <a:off x="341312" y="1620000"/>
            <a:ext cx="9748619" cy="4316412"/>
          </a:xfrm>
        </p:spPr>
        <p:txBody>
          <a:bodyPr/>
          <a:lstStyle/>
          <a:p>
            <a:pPr>
              <a:buFont typeface="Arial" panose="020B0604020202020204" pitchFamily="34" charset="0"/>
              <a:buChar char="•"/>
            </a:pPr>
            <a:r>
              <a:rPr lang="de-DE" b="1" dirty="0" err="1"/>
              <a:t>Anomaliescore</a:t>
            </a:r>
            <a:r>
              <a:rPr lang="de-DE" b="1" dirty="0"/>
              <a:t>:</a:t>
            </a:r>
            <a:r>
              <a:rPr lang="de-DE" dirty="0"/>
              <a:t> </a:t>
            </a:r>
          </a:p>
          <a:p>
            <a:pPr lvl="1">
              <a:buFont typeface="Arial" panose="020B0604020202020204" pitchFamily="34" charset="0"/>
              <a:buChar char="•"/>
            </a:pPr>
            <a:r>
              <a:rPr lang="de-DE" dirty="0"/>
              <a:t>mittlerer quadratischer Rekonstruktionsfehler im standardisierten Merkmalsraum</a:t>
            </a:r>
          </a:p>
          <a:p>
            <a:pPr>
              <a:buFont typeface="Arial" panose="020B0604020202020204" pitchFamily="34" charset="0"/>
              <a:buChar char="•"/>
            </a:pPr>
            <a:r>
              <a:rPr lang="de-DE" b="1" dirty="0"/>
              <a:t>Schwelle:</a:t>
            </a:r>
            <a:r>
              <a:rPr lang="de-DE" dirty="0"/>
              <a:t> </a:t>
            </a:r>
          </a:p>
          <a:p>
            <a:pPr lvl="1">
              <a:buFont typeface="Arial" panose="020B0604020202020204" pitchFamily="34" charset="0"/>
              <a:buChar char="•"/>
            </a:pPr>
            <a:r>
              <a:rPr lang="de-DE" dirty="0"/>
              <a:t>95%-Quantil der Fehler im gesunden Training</a:t>
            </a:r>
          </a:p>
          <a:p>
            <a:pPr lvl="1">
              <a:buFont typeface="Arial" panose="020B0604020202020204" pitchFamily="34" charset="0"/>
              <a:buChar char="•"/>
            </a:pPr>
            <a:r>
              <a:rPr lang="de-DE" dirty="0"/>
              <a:t>oberhalb der Schwelle: anomal (Label 0)</a:t>
            </a:r>
          </a:p>
          <a:p>
            <a:pPr lvl="1">
              <a:buFont typeface="Arial" panose="020B0604020202020204" pitchFamily="34" charset="0"/>
              <a:buChar char="•"/>
            </a:pPr>
            <a:r>
              <a:rPr lang="de-DE" dirty="0"/>
              <a:t>keine Verwendung von Z05 zur Schwellenoptimierung</a:t>
            </a:r>
          </a:p>
          <a:p>
            <a:pPr lvl="1">
              <a:buFont typeface="Arial" panose="020B0604020202020204" pitchFamily="34" charset="0"/>
              <a:buChar char="•"/>
            </a:pPr>
            <a:r>
              <a:rPr lang="de-DE" dirty="0"/>
              <a:t>Sensitivität für Z05 und Spezifität für gesunde Testgruppen</a:t>
            </a:r>
          </a:p>
          <a:p>
            <a:pPr lvl="1">
              <a:buFont typeface="Arial" panose="020B0604020202020204" pitchFamily="34" charset="0"/>
              <a:buChar char="•"/>
            </a:pPr>
            <a:r>
              <a:rPr lang="de-DE" dirty="0" err="1"/>
              <a:t>Accuracy</a:t>
            </a:r>
            <a:r>
              <a:rPr lang="de-DE" dirty="0"/>
              <a:t>, </a:t>
            </a:r>
            <a:r>
              <a:rPr lang="de-DE" dirty="0" err="1"/>
              <a:t>Balanced</a:t>
            </a:r>
            <a:r>
              <a:rPr lang="de-DE" dirty="0"/>
              <a:t> </a:t>
            </a:r>
            <a:r>
              <a:rPr lang="de-DE" dirty="0" err="1"/>
              <a:t>Accuracy</a:t>
            </a:r>
            <a:r>
              <a:rPr lang="de-DE" dirty="0"/>
              <a:t> (BAR), F1 und ROC-AUC</a:t>
            </a:r>
          </a:p>
          <a:p>
            <a:pPr>
              <a:buFont typeface="Arial" panose="020B0604020202020204" pitchFamily="34" charset="0"/>
              <a:buChar char="•"/>
            </a:pPr>
            <a:r>
              <a:rPr lang="de-DE" b="1" dirty="0"/>
              <a:t>Primärer Vergleich:</a:t>
            </a:r>
            <a:r>
              <a:rPr lang="de-DE" dirty="0"/>
              <a:t> </a:t>
            </a:r>
          </a:p>
          <a:p>
            <a:pPr lvl="1">
              <a:buFont typeface="Arial" panose="020B0604020202020204" pitchFamily="34" charset="0"/>
              <a:buChar char="•"/>
            </a:pPr>
            <a:r>
              <a:rPr lang="de-DE" dirty="0"/>
              <a:t>Makromittel der BAR über alle acht Modelle, weil die ungefilterte Pipeline ungleiche Testgruppengrößen besitzt.</a:t>
            </a:r>
          </a:p>
        </p:txBody>
      </p:sp>
      <p:sp>
        <p:nvSpPr>
          <p:cNvPr id="10" name="Foliennummernplatzhalter 9">
            <a:extLst>
              <a:ext uri="{FF2B5EF4-FFF2-40B4-BE49-F238E27FC236}">
                <a16:creationId xmlns:a16="http://schemas.microsoft.com/office/drawing/2014/main" id="{6165C6EB-C140-CDAA-785E-DDE0FB76E230}"/>
              </a:ext>
            </a:extLst>
          </p:cNvPr>
          <p:cNvSpPr>
            <a:spLocks noGrp="1"/>
          </p:cNvSpPr>
          <p:nvPr>
            <p:ph type="sldNum" sz="quarter" idx="10"/>
          </p:nvPr>
        </p:nvSpPr>
        <p:spPr/>
        <p:txBody>
          <a:bodyPr/>
          <a:lstStyle/>
          <a:p>
            <a:fld id="{80B4FCE6-DC73-4135-BC56-1F242D45A84C}" type="slidenum">
              <a:rPr lang="de-DE" smtClean="0"/>
              <a:t>7</a:t>
            </a:fld>
            <a:endParaRPr lang="de-DE"/>
          </a:p>
        </p:txBody>
      </p:sp>
    </p:spTree>
    <p:extLst>
      <p:ext uri="{BB962C8B-B14F-4D97-AF65-F5344CB8AC3E}">
        <p14:creationId xmlns:p14="http://schemas.microsoft.com/office/powerpoint/2010/main" val="305603592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62A3BB-CCD8-3885-6A02-EE175FE1CB1B}"/>
            </a:ext>
          </a:extLst>
        </p:cNvPr>
        <p:cNvGrpSpPr/>
        <p:nvPr/>
      </p:nvGrpSpPr>
      <p:grpSpPr>
        <a:xfrm>
          <a:off x="0" y="0"/>
          <a:ext cx="0" cy="0"/>
          <a:chOff x="0" y="0"/>
          <a:chExt cx="0" cy="0"/>
        </a:xfrm>
      </p:grpSpPr>
      <p:sp>
        <p:nvSpPr>
          <p:cNvPr id="5" name="Titel 4">
            <a:extLst>
              <a:ext uri="{FF2B5EF4-FFF2-40B4-BE49-F238E27FC236}">
                <a16:creationId xmlns:a16="http://schemas.microsoft.com/office/drawing/2014/main" id="{23FF9676-A75A-6AB8-50C5-C4EED7B6A7C1}"/>
              </a:ext>
            </a:extLst>
          </p:cNvPr>
          <p:cNvSpPr>
            <a:spLocks noGrp="1"/>
          </p:cNvSpPr>
          <p:nvPr>
            <p:ph type="title"/>
          </p:nvPr>
        </p:nvSpPr>
        <p:spPr/>
        <p:txBody>
          <a:bodyPr/>
          <a:lstStyle/>
          <a:p>
            <a:r>
              <a:rPr lang="de-DE" sz="3200" dirty="0"/>
              <a:t>Einzelmessungen</a:t>
            </a:r>
            <a:endParaRPr lang="de-DE" dirty="0"/>
          </a:p>
        </p:txBody>
      </p:sp>
      <p:sp>
        <p:nvSpPr>
          <p:cNvPr id="11" name="Foliennummernplatzhalter 10">
            <a:extLst>
              <a:ext uri="{FF2B5EF4-FFF2-40B4-BE49-F238E27FC236}">
                <a16:creationId xmlns:a16="http://schemas.microsoft.com/office/drawing/2014/main" id="{156E314E-BF1C-F73F-2354-4146EF630ABE}"/>
              </a:ext>
            </a:extLst>
          </p:cNvPr>
          <p:cNvSpPr>
            <a:spLocks noGrp="1"/>
          </p:cNvSpPr>
          <p:nvPr>
            <p:ph type="sldNum" sz="quarter" idx="10"/>
          </p:nvPr>
        </p:nvSpPr>
        <p:spPr/>
        <p:txBody>
          <a:bodyPr/>
          <a:lstStyle/>
          <a:p>
            <a:fld id="{80B4FCE6-DC73-4135-BC56-1F242D45A84C}" type="slidenum">
              <a:rPr lang="de-DE" smtClean="0"/>
              <a:t>8</a:t>
            </a:fld>
            <a:endParaRPr lang="de-DE"/>
          </a:p>
        </p:txBody>
      </p:sp>
      <p:sp>
        <p:nvSpPr>
          <p:cNvPr id="7" name="Fußzeilenplatzhalter 6">
            <a:extLst>
              <a:ext uri="{FF2B5EF4-FFF2-40B4-BE49-F238E27FC236}">
                <a16:creationId xmlns:a16="http://schemas.microsoft.com/office/drawing/2014/main" id="{6F3361E2-F2B2-2257-211E-2EC99788AC7F}"/>
              </a:ext>
            </a:extLst>
          </p:cNvPr>
          <p:cNvSpPr>
            <a:spLocks noGrp="1"/>
          </p:cNvSpPr>
          <p:nvPr>
            <p:ph type="ftr" sz="quarter" idx="11"/>
          </p:nvPr>
        </p:nvSpPr>
        <p:spPr/>
        <p:txBody>
          <a:bodyPr/>
          <a:lstStyle/>
          <a:p>
            <a:r>
              <a:rPr lang="de-DE"/>
              <a:t>Materialdiagnostik: Task 4</a:t>
            </a:r>
            <a:endParaRPr lang="de-DE" dirty="0"/>
          </a:p>
        </p:txBody>
      </p:sp>
      <p:sp>
        <p:nvSpPr>
          <p:cNvPr id="2" name="Datumsplatzhalter 1">
            <a:extLst>
              <a:ext uri="{FF2B5EF4-FFF2-40B4-BE49-F238E27FC236}">
                <a16:creationId xmlns:a16="http://schemas.microsoft.com/office/drawing/2014/main" id="{BE9FD257-CB15-1E41-8906-263322E6C4EE}"/>
              </a:ext>
            </a:extLst>
          </p:cNvPr>
          <p:cNvSpPr>
            <a:spLocks noGrp="1"/>
          </p:cNvSpPr>
          <p:nvPr>
            <p:ph type="dt" sz="half" idx="12"/>
          </p:nvPr>
        </p:nvSpPr>
        <p:spPr/>
        <p:txBody>
          <a:bodyPr/>
          <a:lstStyle/>
          <a:p>
            <a:r>
              <a:rPr lang="de-DE"/>
              <a:t>23.07.2026</a:t>
            </a:r>
          </a:p>
        </p:txBody>
      </p:sp>
      <p:pic>
        <p:nvPicPr>
          <p:cNvPr id="13" name="Inhaltsplatzhalter 12">
            <a:extLst>
              <a:ext uri="{FF2B5EF4-FFF2-40B4-BE49-F238E27FC236}">
                <a16:creationId xmlns:a16="http://schemas.microsoft.com/office/drawing/2014/main" id="{2782142D-C61F-00CC-FA4D-ADBFDFA20C07}"/>
              </a:ext>
            </a:extLst>
          </p:cNvPr>
          <p:cNvPicPr>
            <a:picLocks noGrp="1" noChangeAspect="1"/>
          </p:cNvPicPr>
          <p:nvPr>
            <p:ph sz="quarter" idx="13"/>
          </p:nvPr>
        </p:nvPicPr>
        <p:blipFill>
          <a:blip r:embed="rId3"/>
          <a:stretch>
            <a:fillRect/>
          </a:stretch>
        </p:blipFill>
        <p:spPr>
          <a:xfrm>
            <a:off x="113212" y="1935586"/>
            <a:ext cx="5754686" cy="3382649"/>
          </a:xfrm>
          <a:prstGeom prst="rect">
            <a:avLst/>
          </a:prstGeom>
        </p:spPr>
      </p:pic>
      <p:graphicFrame>
        <p:nvGraphicFramePr>
          <p:cNvPr id="8" name="Inhaltsplatzhalter 7">
            <a:extLst>
              <a:ext uri="{FF2B5EF4-FFF2-40B4-BE49-F238E27FC236}">
                <a16:creationId xmlns:a16="http://schemas.microsoft.com/office/drawing/2014/main" id="{E865B96F-7D07-5129-864C-8AE5D6202899}"/>
              </a:ext>
            </a:extLst>
          </p:cNvPr>
          <p:cNvGraphicFramePr>
            <a:graphicFrameLocks noGrp="1"/>
          </p:cNvGraphicFramePr>
          <p:nvPr>
            <p:ph sz="quarter" idx="14"/>
            <p:extLst>
              <p:ext uri="{D42A27DB-BD31-4B8C-83A1-F6EECF244321}">
                <p14:modId xmlns:p14="http://schemas.microsoft.com/office/powerpoint/2010/main" val="404537205"/>
              </p:ext>
            </p:extLst>
          </p:nvPr>
        </p:nvGraphicFramePr>
        <p:xfrm>
          <a:off x="6324102" y="1935584"/>
          <a:ext cx="5754689" cy="3382650"/>
        </p:xfrm>
        <a:graphic>
          <a:graphicData uri="http://schemas.openxmlformats.org/drawingml/2006/table">
            <a:tbl>
              <a:tblPr firstRow="1" bandRow="1">
                <a:tableStyleId>{5C22544A-7EE6-4342-B048-85BDC9FD1C3A}</a:tableStyleId>
              </a:tblPr>
              <a:tblGrid>
                <a:gridCol w="654766">
                  <a:extLst>
                    <a:ext uri="{9D8B030D-6E8A-4147-A177-3AD203B41FA5}">
                      <a16:colId xmlns:a16="http://schemas.microsoft.com/office/drawing/2014/main" val="1298068458"/>
                    </a:ext>
                  </a:extLst>
                </a:gridCol>
                <a:gridCol w="1271753">
                  <a:extLst>
                    <a:ext uri="{9D8B030D-6E8A-4147-A177-3AD203B41FA5}">
                      <a16:colId xmlns:a16="http://schemas.microsoft.com/office/drawing/2014/main" val="3738618844"/>
                    </a:ext>
                  </a:extLst>
                </a:gridCol>
                <a:gridCol w="924911">
                  <a:extLst>
                    <a:ext uri="{9D8B030D-6E8A-4147-A177-3AD203B41FA5}">
                      <a16:colId xmlns:a16="http://schemas.microsoft.com/office/drawing/2014/main" val="3642665571"/>
                    </a:ext>
                  </a:extLst>
                </a:gridCol>
                <a:gridCol w="924911">
                  <a:extLst>
                    <a:ext uri="{9D8B030D-6E8A-4147-A177-3AD203B41FA5}">
                      <a16:colId xmlns:a16="http://schemas.microsoft.com/office/drawing/2014/main" val="3313767678"/>
                    </a:ext>
                  </a:extLst>
                </a:gridCol>
                <a:gridCol w="994429">
                  <a:extLst>
                    <a:ext uri="{9D8B030D-6E8A-4147-A177-3AD203B41FA5}">
                      <a16:colId xmlns:a16="http://schemas.microsoft.com/office/drawing/2014/main" val="679683412"/>
                    </a:ext>
                  </a:extLst>
                </a:gridCol>
                <a:gridCol w="983919">
                  <a:extLst>
                    <a:ext uri="{9D8B030D-6E8A-4147-A177-3AD203B41FA5}">
                      <a16:colId xmlns:a16="http://schemas.microsoft.com/office/drawing/2014/main" val="72820997"/>
                    </a:ext>
                  </a:extLst>
                </a:gridCol>
              </a:tblGrid>
              <a:tr h="427161">
                <a:tc rowSpan="2">
                  <a:txBody>
                    <a:bodyPr/>
                    <a:lstStyle/>
                    <a:p>
                      <a:r>
                        <a:rPr lang="de-DE" dirty="0"/>
                        <a:t>Fold</a:t>
                      </a:r>
                    </a:p>
                  </a:txBody>
                  <a:tcPr/>
                </a:tc>
                <a:tc rowSpan="2">
                  <a:txBody>
                    <a:bodyPr/>
                    <a:lstStyle/>
                    <a:p>
                      <a:r>
                        <a:rPr lang="de-DE" dirty="0"/>
                        <a:t>Sensitivität / TPR</a:t>
                      </a:r>
                    </a:p>
                  </a:txBody>
                  <a:tcPr/>
                </a:tc>
                <a:tc gridSpan="2">
                  <a:txBody>
                    <a:bodyPr/>
                    <a:lstStyle/>
                    <a:p>
                      <a:r>
                        <a:rPr lang="de-DE" dirty="0"/>
                        <a:t>Spezifität / TNR</a:t>
                      </a:r>
                    </a:p>
                  </a:txBody>
                  <a:tcPr/>
                </a:tc>
                <a:tc hMerge="1">
                  <a:txBody>
                    <a:bodyPr/>
                    <a:lstStyle/>
                    <a:p>
                      <a:endParaRPr lang="de-DE" dirty="0"/>
                    </a:p>
                  </a:txBody>
                  <a:tcPr/>
                </a:tc>
                <a:tc gridSpan="2">
                  <a:txBody>
                    <a:bodyPr/>
                    <a:lstStyle/>
                    <a:p>
                      <a:r>
                        <a:rPr lang="de-DE" dirty="0"/>
                        <a:t>BAR</a:t>
                      </a:r>
                    </a:p>
                  </a:txBody>
                  <a:tcPr/>
                </a:tc>
                <a:tc hMerge="1">
                  <a:txBody>
                    <a:bodyPr/>
                    <a:lstStyle/>
                    <a:p>
                      <a:endParaRPr lang="de-DE" dirty="0"/>
                    </a:p>
                  </a:txBody>
                  <a:tcPr/>
                </a:tc>
                <a:extLst>
                  <a:ext uri="{0D108BD9-81ED-4DB2-BD59-A6C34878D82A}">
                    <a16:rowId xmlns:a16="http://schemas.microsoft.com/office/drawing/2014/main" val="3315992242"/>
                  </a:ext>
                </a:extLst>
              </a:tr>
              <a:tr h="427161">
                <a:tc vMerge="1">
                  <a:txBody>
                    <a:bodyPr/>
                    <a:lstStyle/>
                    <a:p>
                      <a:endParaRPr lang="de-DE"/>
                    </a:p>
                  </a:txBody>
                  <a:tcPr/>
                </a:tc>
                <a:tc vMerge="1">
                  <a:txBody>
                    <a:bodyPr/>
                    <a:lstStyle/>
                    <a:p>
                      <a:endParaRPr lang="de-DE"/>
                    </a:p>
                  </a:txBody>
                  <a:tcPr/>
                </a:tc>
                <a:tc>
                  <a:txBody>
                    <a:bodyPr/>
                    <a:lstStyle/>
                    <a:p>
                      <a:r>
                        <a:rPr lang="de-DE" dirty="0" err="1"/>
                        <a:t>Ch</a:t>
                      </a:r>
                      <a:r>
                        <a:rPr lang="de-DE" dirty="0"/>
                        <a:t> 1</a:t>
                      </a:r>
                    </a:p>
                  </a:txBody>
                  <a:tcPr/>
                </a:tc>
                <a:tc>
                  <a:txBody>
                    <a:bodyPr/>
                    <a:lstStyle/>
                    <a:p>
                      <a:r>
                        <a:rPr lang="de-DE" dirty="0" err="1"/>
                        <a:t>Ch</a:t>
                      </a:r>
                      <a:r>
                        <a:rPr lang="de-DE" dirty="0"/>
                        <a:t> 2</a:t>
                      </a:r>
                    </a:p>
                  </a:txBody>
                  <a:tcPr/>
                </a:tc>
                <a:tc>
                  <a:txBody>
                    <a:bodyPr/>
                    <a:lstStyle/>
                    <a:p>
                      <a:r>
                        <a:rPr lang="de-DE" dirty="0" err="1"/>
                        <a:t>Ch</a:t>
                      </a:r>
                      <a:r>
                        <a:rPr lang="de-DE" dirty="0"/>
                        <a:t> 1</a:t>
                      </a:r>
                    </a:p>
                  </a:txBody>
                  <a:tcPr/>
                </a:tc>
                <a:tc>
                  <a:txBody>
                    <a:bodyPr/>
                    <a:lstStyle/>
                    <a:p>
                      <a:r>
                        <a:rPr lang="de-DE" dirty="0" err="1"/>
                        <a:t>Ch</a:t>
                      </a:r>
                      <a:r>
                        <a:rPr lang="de-DE" dirty="0"/>
                        <a:t> 2</a:t>
                      </a:r>
                    </a:p>
                  </a:txBody>
                  <a:tcPr/>
                </a:tc>
                <a:extLst>
                  <a:ext uri="{0D108BD9-81ED-4DB2-BD59-A6C34878D82A}">
                    <a16:rowId xmlns:a16="http://schemas.microsoft.com/office/drawing/2014/main" val="1933422198"/>
                  </a:ext>
                </a:extLst>
              </a:tr>
              <a:tr h="632082">
                <a:tc>
                  <a:txBody>
                    <a:bodyPr/>
                    <a:lstStyle/>
                    <a:p>
                      <a:r>
                        <a:rPr lang="de-DE" dirty="0"/>
                        <a:t>1</a:t>
                      </a:r>
                    </a:p>
                  </a:txBody>
                  <a:tcPr/>
                </a:tc>
                <a:tc>
                  <a:txBody>
                    <a:bodyPr/>
                    <a:lstStyle/>
                    <a:p>
                      <a:r>
                        <a:rPr lang="de-DE" dirty="0"/>
                        <a:t>1.00</a:t>
                      </a:r>
                    </a:p>
                  </a:txBody>
                  <a:tcPr/>
                </a:tc>
                <a:tc>
                  <a:txBody>
                    <a:bodyPr/>
                    <a:lstStyle/>
                    <a:p>
                      <a:r>
                        <a:rPr lang="de-DE" dirty="0"/>
                        <a:t>0.717</a:t>
                      </a:r>
                    </a:p>
                  </a:txBody>
                  <a:tcPr/>
                </a:tc>
                <a:tc>
                  <a:txBody>
                    <a:bodyPr/>
                    <a:lstStyle/>
                    <a:p>
                      <a:r>
                        <a:rPr lang="de-DE" dirty="0"/>
                        <a:t>0.733</a:t>
                      </a:r>
                    </a:p>
                  </a:txBody>
                  <a:tcPr/>
                </a:tc>
                <a:tc>
                  <a:txBody>
                    <a:bodyPr/>
                    <a:lstStyle/>
                    <a:p>
                      <a:r>
                        <a:rPr lang="de-DE" dirty="0"/>
                        <a:t>0.858</a:t>
                      </a:r>
                    </a:p>
                  </a:txBody>
                  <a:tcPr/>
                </a:tc>
                <a:tc>
                  <a:txBody>
                    <a:bodyPr/>
                    <a:lstStyle/>
                    <a:p>
                      <a:r>
                        <a:rPr lang="de-DE" dirty="0"/>
                        <a:t>0.867</a:t>
                      </a:r>
                    </a:p>
                  </a:txBody>
                  <a:tcPr/>
                </a:tc>
                <a:extLst>
                  <a:ext uri="{0D108BD9-81ED-4DB2-BD59-A6C34878D82A}">
                    <a16:rowId xmlns:a16="http://schemas.microsoft.com/office/drawing/2014/main" val="153320546"/>
                  </a:ext>
                </a:extLst>
              </a:tr>
              <a:tr h="632082">
                <a:tc>
                  <a:txBody>
                    <a:bodyPr/>
                    <a:lstStyle/>
                    <a:p>
                      <a:r>
                        <a:rPr lang="de-DE" dirty="0"/>
                        <a:t>2</a:t>
                      </a:r>
                    </a:p>
                  </a:txBody>
                  <a:tcPr/>
                </a:tc>
                <a:tc>
                  <a:txBody>
                    <a:bodyPr/>
                    <a:lstStyle/>
                    <a:p>
                      <a:r>
                        <a:rPr lang="de-DE" dirty="0"/>
                        <a:t>1.00</a:t>
                      </a:r>
                    </a:p>
                  </a:txBody>
                  <a:tcPr/>
                </a:tc>
                <a:tc>
                  <a:txBody>
                    <a:bodyPr/>
                    <a:lstStyle/>
                    <a:p>
                      <a:r>
                        <a:rPr lang="de-DE" dirty="0"/>
                        <a:t>0.750</a:t>
                      </a:r>
                    </a:p>
                  </a:txBody>
                  <a:tcPr/>
                </a:tc>
                <a:tc>
                  <a:txBody>
                    <a:bodyPr/>
                    <a:lstStyle/>
                    <a:p>
                      <a:r>
                        <a:rPr lang="de-DE" dirty="0"/>
                        <a:t>0.750</a:t>
                      </a:r>
                    </a:p>
                  </a:txBody>
                  <a:tcPr/>
                </a:tc>
                <a:tc>
                  <a:txBody>
                    <a:bodyPr/>
                    <a:lstStyle/>
                    <a:p>
                      <a:r>
                        <a:rPr lang="de-DE" dirty="0"/>
                        <a:t>0.875</a:t>
                      </a:r>
                    </a:p>
                  </a:txBody>
                  <a:tcPr/>
                </a:tc>
                <a:tc>
                  <a:txBody>
                    <a:bodyPr/>
                    <a:lstStyle/>
                    <a:p>
                      <a:r>
                        <a:rPr lang="de-DE" dirty="0"/>
                        <a:t>0.875</a:t>
                      </a:r>
                    </a:p>
                  </a:txBody>
                  <a:tcPr/>
                </a:tc>
                <a:extLst>
                  <a:ext uri="{0D108BD9-81ED-4DB2-BD59-A6C34878D82A}">
                    <a16:rowId xmlns:a16="http://schemas.microsoft.com/office/drawing/2014/main" val="3984959788"/>
                  </a:ext>
                </a:extLst>
              </a:tr>
              <a:tr h="632082">
                <a:tc>
                  <a:txBody>
                    <a:bodyPr/>
                    <a:lstStyle/>
                    <a:p>
                      <a:r>
                        <a:rPr lang="de-DE" dirty="0"/>
                        <a:t>3</a:t>
                      </a:r>
                    </a:p>
                  </a:txBody>
                  <a:tcPr/>
                </a:tc>
                <a:tc>
                  <a:txBody>
                    <a:bodyPr/>
                    <a:lstStyle/>
                    <a:p>
                      <a:r>
                        <a:rPr lang="de-DE" dirty="0"/>
                        <a:t>1.00</a:t>
                      </a:r>
                    </a:p>
                  </a:txBody>
                  <a:tcPr/>
                </a:tc>
                <a:tc>
                  <a:txBody>
                    <a:bodyPr/>
                    <a:lstStyle/>
                    <a:p>
                      <a:r>
                        <a:rPr lang="de-DE" dirty="0"/>
                        <a:t>0.850</a:t>
                      </a:r>
                    </a:p>
                  </a:txBody>
                  <a:tcPr/>
                </a:tc>
                <a:tc>
                  <a:txBody>
                    <a:bodyPr/>
                    <a:lstStyle/>
                    <a:p>
                      <a:r>
                        <a:rPr lang="de-DE" dirty="0"/>
                        <a:t>0.750</a:t>
                      </a:r>
                    </a:p>
                  </a:txBody>
                  <a:tcPr/>
                </a:tc>
                <a:tc>
                  <a:txBody>
                    <a:bodyPr/>
                    <a:lstStyle/>
                    <a:p>
                      <a:r>
                        <a:rPr lang="de-DE" dirty="0"/>
                        <a:t>0.925</a:t>
                      </a:r>
                    </a:p>
                  </a:txBody>
                  <a:tcPr/>
                </a:tc>
                <a:tc>
                  <a:txBody>
                    <a:bodyPr/>
                    <a:lstStyle/>
                    <a:p>
                      <a:r>
                        <a:rPr lang="de-DE" dirty="0"/>
                        <a:t>0.875</a:t>
                      </a:r>
                    </a:p>
                  </a:txBody>
                  <a:tcPr/>
                </a:tc>
                <a:extLst>
                  <a:ext uri="{0D108BD9-81ED-4DB2-BD59-A6C34878D82A}">
                    <a16:rowId xmlns:a16="http://schemas.microsoft.com/office/drawing/2014/main" val="2891050433"/>
                  </a:ext>
                </a:extLst>
              </a:tr>
              <a:tr h="632082">
                <a:tc>
                  <a:txBody>
                    <a:bodyPr/>
                    <a:lstStyle/>
                    <a:p>
                      <a:r>
                        <a:rPr lang="de-DE" dirty="0"/>
                        <a:t>4</a:t>
                      </a:r>
                    </a:p>
                  </a:txBody>
                  <a:tcPr/>
                </a:tc>
                <a:tc>
                  <a:txBody>
                    <a:bodyPr/>
                    <a:lstStyle/>
                    <a:p>
                      <a:r>
                        <a:rPr lang="de-DE" dirty="0"/>
                        <a:t>1.00</a:t>
                      </a:r>
                    </a:p>
                  </a:txBody>
                  <a:tcPr/>
                </a:tc>
                <a:tc>
                  <a:txBody>
                    <a:bodyPr/>
                    <a:lstStyle/>
                    <a:p>
                      <a:r>
                        <a:rPr lang="de-DE" dirty="0"/>
                        <a:t>0.190</a:t>
                      </a:r>
                    </a:p>
                  </a:txBody>
                  <a:tcPr/>
                </a:tc>
                <a:tc>
                  <a:txBody>
                    <a:bodyPr/>
                    <a:lstStyle/>
                    <a:p>
                      <a:r>
                        <a:rPr lang="de-DE" dirty="0"/>
                        <a:t>0.280</a:t>
                      </a:r>
                    </a:p>
                  </a:txBody>
                  <a:tcPr/>
                </a:tc>
                <a:tc>
                  <a:txBody>
                    <a:bodyPr/>
                    <a:lstStyle/>
                    <a:p>
                      <a:r>
                        <a:rPr lang="de-DE" dirty="0"/>
                        <a:t>0.595</a:t>
                      </a:r>
                    </a:p>
                  </a:txBody>
                  <a:tcPr/>
                </a:tc>
                <a:tc>
                  <a:txBody>
                    <a:bodyPr/>
                    <a:lstStyle/>
                    <a:p>
                      <a:r>
                        <a:rPr lang="de-DE" dirty="0"/>
                        <a:t>0.640</a:t>
                      </a:r>
                    </a:p>
                  </a:txBody>
                  <a:tcPr/>
                </a:tc>
                <a:extLst>
                  <a:ext uri="{0D108BD9-81ED-4DB2-BD59-A6C34878D82A}">
                    <a16:rowId xmlns:a16="http://schemas.microsoft.com/office/drawing/2014/main" val="1307856940"/>
                  </a:ext>
                </a:extLst>
              </a:tr>
            </a:tbl>
          </a:graphicData>
        </a:graphic>
      </p:graphicFrame>
    </p:spTree>
    <p:extLst>
      <p:ext uri="{BB962C8B-B14F-4D97-AF65-F5344CB8AC3E}">
        <p14:creationId xmlns:p14="http://schemas.microsoft.com/office/powerpoint/2010/main" val="285393834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701B9E-346B-3528-8989-0CC87ABBC468}"/>
            </a:ext>
          </a:extLst>
        </p:cNvPr>
        <p:cNvGrpSpPr/>
        <p:nvPr/>
      </p:nvGrpSpPr>
      <p:grpSpPr>
        <a:xfrm>
          <a:off x="0" y="0"/>
          <a:ext cx="0" cy="0"/>
          <a:chOff x="0" y="0"/>
          <a:chExt cx="0" cy="0"/>
        </a:xfrm>
      </p:grpSpPr>
      <p:sp>
        <p:nvSpPr>
          <p:cNvPr id="5" name="Titel 4">
            <a:extLst>
              <a:ext uri="{FF2B5EF4-FFF2-40B4-BE49-F238E27FC236}">
                <a16:creationId xmlns:a16="http://schemas.microsoft.com/office/drawing/2014/main" id="{0C57D15E-CCA8-224B-43C2-BF840F74E7FD}"/>
              </a:ext>
            </a:extLst>
          </p:cNvPr>
          <p:cNvSpPr>
            <a:spLocks noGrp="1"/>
          </p:cNvSpPr>
          <p:nvPr>
            <p:ph type="title"/>
          </p:nvPr>
        </p:nvSpPr>
        <p:spPr>
          <a:xfrm>
            <a:off x="341810" y="567600"/>
            <a:ext cx="5646759" cy="706030"/>
          </a:xfrm>
        </p:spPr>
        <p:txBody>
          <a:bodyPr/>
          <a:lstStyle/>
          <a:p>
            <a:r>
              <a:rPr lang="de-DE" sz="3200" dirty="0">
                <a:ea typeface="ヒラギノ角ゴ Pro W3"/>
              </a:rPr>
              <a:t>MLP-Modell</a:t>
            </a:r>
            <a:endParaRPr lang="de-DE" dirty="0"/>
          </a:p>
        </p:txBody>
      </p:sp>
      <p:sp>
        <p:nvSpPr>
          <p:cNvPr id="6" name="Inhaltsplatzhalter 9">
            <a:extLst>
              <a:ext uri="{FF2B5EF4-FFF2-40B4-BE49-F238E27FC236}">
                <a16:creationId xmlns:a16="http://schemas.microsoft.com/office/drawing/2014/main" id="{7AFC9A66-8356-7CE3-2D1D-54900DD9AADA}"/>
              </a:ext>
            </a:extLst>
          </p:cNvPr>
          <p:cNvSpPr txBox="1">
            <a:spLocks/>
          </p:cNvSpPr>
          <p:nvPr/>
        </p:nvSpPr>
        <p:spPr bwMode="auto">
          <a:xfrm>
            <a:off x="341811" y="1509009"/>
            <a:ext cx="8203099" cy="42506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lvl1pPr marL="342900" indent="-342900" algn="l" rtl="0" eaLnBrk="1" fontAlgn="base" hangingPunct="1">
              <a:spcBef>
                <a:spcPct val="20000"/>
              </a:spcBef>
              <a:spcAft>
                <a:spcPct val="0"/>
              </a:spcAft>
              <a:buFont typeface="Lucida Grande" charset="0"/>
              <a:buChar char="·"/>
              <a:defRPr sz="2400">
                <a:solidFill>
                  <a:srgbClr val="414141"/>
                </a:solidFill>
                <a:latin typeface="+mn-lt"/>
                <a:ea typeface="+mn-ea"/>
                <a:cs typeface="+mn-cs"/>
              </a:defRPr>
            </a:lvl1pPr>
            <a:lvl2pPr marL="742950" indent="-285750" algn="l" rtl="0" eaLnBrk="1" fontAlgn="base" hangingPunct="1">
              <a:spcBef>
                <a:spcPct val="20000"/>
              </a:spcBef>
              <a:spcAft>
                <a:spcPct val="0"/>
              </a:spcAft>
              <a:buFont typeface="Lucida Grande" charset="0"/>
              <a:buChar char="·"/>
              <a:defRPr sz="2000">
                <a:solidFill>
                  <a:srgbClr val="414141"/>
                </a:solidFill>
                <a:latin typeface="+mn-lt"/>
                <a:ea typeface="+mn-ea"/>
                <a:cs typeface="+mn-cs"/>
              </a:defRPr>
            </a:lvl2pPr>
            <a:lvl3pPr marL="1143000" indent="-228600" algn="l" rtl="0" eaLnBrk="1" fontAlgn="base" hangingPunct="1">
              <a:spcBef>
                <a:spcPct val="20000"/>
              </a:spcBef>
              <a:spcAft>
                <a:spcPct val="0"/>
              </a:spcAft>
              <a:buFont typeface="Lucida Grande" charset="0"/>
              <a:buChar char="·"/>
              <a:defRPr>
                <a:solidFill>
                  <a:srgbClr val="414141"/>
                </a:solidFill>
                <a:latin typeface="+mn-lt"/>
                <a:ea typeface="+mn-ea"/>
                <a:cs typeface="+mn-cs"/>
              </a:defRPr>
            </a:lvl3pPr>
            <a:lvl4pPr marL="1144588" algn="l" rtl="0" eaLnBrk="1" fontAlgn="base" hangingPunct="1">
              <a:spcBef>
                <a:spcPct val="20000"/>
              </a:spcBef>
              <a:spcAft>
                <a:spcPct val="0"/>
              </a:spcAft>
              <a:buClr>
                <a:srgbClr val="414141"/>
              </a:buClr>
              <a:defRPr>
                <a:solidFill>
                  <a:srgbClr val="414141"/>
                </a:solidFill>
                <a:latin typeface="Courier New"/>
                <a:ea typeface="+mn-ea"/>
                <a:cs typeface="+mn-cs"/>
              </a:defRPr>
            </a:lvl4pPr>
            <a:lvl5pPr marL="1144588" indent="-228600" algn="l" rtl="0" eaLnBrk="1" fontAlgn="base" hangingPunct="1">
              <a:spcBef>
                <a:spcPct val="20000"/>
              </a:spcBef>
              <a:spcAft>
                <a:spcPct val="0"/>
              </a:spcAft>
              <a:buFont typeface="Lucida Grande" charset="0"/>
              <a:buChar char="·"/>
              <a:defRPr>
                <a:solidFill>
                  <a:srgbClr val="A8CC2F"/>
                </a:solidFill>
                <a:latin typeface="+mn-lt"/>
                <a:ea typeface="+mn-ea"/>
                <a:cs typeface="+mn-cs"/>
              </a:defRPr>
            </a:lvl5pPr>
            <a:lvl6pPr marL="2438400" indent="-228600" algn="l" rtl="0" eaLnBrk="1" fontAlgn="base" hangingPunct="1">
              <a:spcBef>
                <a:spcPct val="20000"/>
              </a:spcBef>
              <a:spcAft>
                <a:spcPct val="0"/>
              </a:spcAft>
              <a:defRPr sz="1600">
                <a:solidFill>
                  <a:srgbClr val="414141"/>
                </a:solidFill>
                <a:latin typeface="+mn-lt"/>
                <a:ea typeface="+mn-ea"/>
                <a:cs typeface="+mn-cs"/>
              </a:defRPr>
            </a:lvl6pPr>
            <a:lvl7pPr marL="2895600" indent="-228600" algn="l" rtl="0" eaLnBrk="1" fontAlgn="base" hangingPunct="1">
              <a:spcBef>
                <a:spcPct val="20000"/>
              </a:spcBef>
              <a:spcAft>
                <a:spcPct val="0"/>
              </a:spcAft>
              <a:defRPr sz="1600">
                <a:solidFill>
                  <a:srgbClr val="414141"/>
                </a:solidFill>
                <a:latin typeface="+mn-lt"/>
                <a:ea typeface="+mn-ea"/>
                <a:cs typeface="+mn-cs"/>
              </a:defRPr>
            </a:lvl7pPr>
            <a:lvl8pPr marL="3352800" indent="-228600" algn="l" rtl="0" eaLnBrk="1" fontAlgn="base" hangingPunct="1">
              <a:spcBef>
                <a:spcPct val="20000"/>
              </a:spcBef>
              <a:spcAft>
                <a:spcPct val="0"/>
              </a:spcAft>
              <a:defRPr sz="1600">
                <a:solidFill>
                  <a:srgbClr val="414141"/>
                </a:solidFill>
                <a:latin typeface="+mn-lt"/>
                <a:ea typeface="+mn-ea"/>
                <a:cs typeface="+mn-cs"/>
              </a:defRPr>
            </a:lvl8pPr>
            <a:lvl9pPr marL="3810000" indent="-228600" algn="l" rtl="0" eaLnBrk="1" fontAlgn="base" hangingPunct="1">
              <a:spcBef>
                <a:spcPct val="20000"/>
              </a:spcBef>
              <a:spcAft>
                <a:spcPct val="0"/>
              </a:spcAft>
              <a:defRPr sz="1600">
                <a:solidFill>
                  <a:srgbClr val="414141"/>
                </a:solidFill>
                <a:latin typeface="+mn-lt"/>
                <a:ea typeface="+mn-ea"/>
                <a:cs typeface="+mn-cs"/>
              </a:defRPr>
            </a:lvl9pPr>
          </a:lstStyle>
          <a:p>
            <a:pPr>
              <a:buFont typeface="Arial" panose="020B0604020202020204" pitchFamily="34" charset="0"/>
              <a:buChar char="•"/>
            </a:pPr>
            <a:r>
              <a:rPr lang="de-DE" dirty="0"/>
              <a:t>Pipeline je Channel:</a:t>
            </a:r>
          </a:p>
          <a:p>
            <a:pPr lvl="1">
              <a:buFont typeface="Arial" panose="020B0604020202020204" pitchFamily="34" charset="0"/>
              <a:buChar char="•"/>
            </a:pPr>
            <a:r>
              <a:rPr lang="de-DE" dirty="0" err="1"/>
              <a:t>StandardScaler</a:t>
            </a:r>
            <a:r>
              <a:rPr lang="de-DE" dirty="0"/>
              <a:t> -&gt; </a:t>
            </a:r>
            <a:r>
              <a:rPr lang="de-DE" dirty="0" err="1"/>
              <a:t>MLPClassifier</a:t>
            </a:r>
            <a:endParaRPr lang="de-DE" dirty="0"/>
          </a:p>
          <a:p>
            <a:pPr>
              <a:buFont typeface="Arial" panose="020B0604020202020204" pitchFamily="34" charset="0"/>
              <a:buChar char="•"/>
            </a:pPr>
            <a:r>
              <a:rPr lang="de-DE" dirty="0"/>
              <a:t>Skalierung nur auf Training fitten</a:t>
            </a:r>
          </a:p>
          <a:p>
            <a:pPr>
              <a:buFont typeface="Arial" panose="020B0604020202020204" pitchFamily="34" charset="0"/>
              <a:buChar char="•"/>
            </a:pPr>
            <a:r>
              <a:rPr lang="de-DE" dirty="0"/>
              <a:t>Finale Features: nur Signalmerkmale des jeweiligen Channels</a:t>
            </a:r>
          </a:p>
          <a:p>
            <a:pPr>
              <a:buFont typeface="Arial" panose="020B0604020202020204" pitchFamily="34" charset="0"/>
              <a:buChar char="•"/>
            </a:pPr>
            <a:r>
              <a:rPr lang="de-DE" dirty="0"/>
              <a:t>Kleine Netze wegen kleinem Datensatz</a:t>
            </a:r>
          </a:p>
        </p:txBody>
      </p:sp>
      <p:sp>
        <p:nvSpPr>
          <p:cNvPr id="2" name="Datumsplatzhalter 1">
            <a:extLst>
              <a:ext uri="{FF2B5EF4-FFF2-40B4-BE49-F238E27FC236}">
                <a16:creationId xmlns:a16="http://schemas.microsoft.com/office/drawing/2014/main" id="{D3CA445C-F940-E013-1AC9-1A366EEA3614}"/>
              </a:ext>
            </a:extLst>
          </p:cNvPr>
          <p:cNvSpPr>
            <a:spLocks noGrp="1"/>
          </p:cNvSpPr>
          <p:nvPr>
            <p:ph type="dt" sz="half" idx="12"/>
          </p:nvPr>
        </p:nvSpPr>
        <p:spPr/>
        <p:txBody>
          <a:bodyPr/>
          <a:lstStyle/>
          <a:p>
            <a:r>
              <a:rPr lang="de-DE"/>
              <a:t>23.07.2026</a:t>
            </a:r>
          </a:p>
        </p:txBody>
      </p:sp>
      <p:sp>
        <p:nvSpPr>
          <p:cNvPr id="7" name="Fußzeilenplatzhalter 6">
            <a:extLst>
              <a:ext uri="{FF2B5EF4-FFF2-40B4-BE49-F238E27FC236}">
                <a16:creationId xmlns:a16="http://schemas.microsoft.com/office/drawing/2014/main" id="{6ABEE24C-37F3-78D2-21C6-88F44D571121}"/>
              </a:ext>
            </a:extLst>
          </p:cNvPr>
          <p:cNvSpPr>
            <a:spLocks noGrp="1"/>
          </p:cNvSpPr>
          <p:nvPr>
            <p:ph type="ftr" sz="quarter" idx="11"/>
          </p:nvPr>
        </p:nvSpPr>
        <p:spPr/>
        <p:txBody>
          <a:bodyPr/>
          <a:lstStyle/>
          <a:p>
            <a:r>
              <a:rPr lang="de-DE"/>
              <a:t>Materialdiagnostik: Task 4</a:t>
            </a:r>
            <a:endParaRPr lang="de-DE" dirty="0"/>
          </a:p>
        </p:txBody>
      </p:sp>
      <p:sp>
        <p:nvSpPr>
          <p:cNvPr id="10" name="Foliennummernplatzhalter 9">
            <a:extLst>
              <a:ext uri="{FF2B5EF4-FFF2-40B4-BE49-F238E27FC236}">
                <a16:creationId xmlns:a16="http://schemas.microsoft.com/office/drawing/2014/main" id="{774AB4C3-4602-6C57-8EB1-7749D74FE5AF}"/>
              </a:ext>
            </a:extLst>
          </p:cNvPr>
          <p:cNvSpPr>
            <a:spLocks noGrp="1"/>
          </p:cNvSpPr>
          <p:nvPr>
            <p:ph type="sldNum" sz="quarter" idx="10"/>
          </p:nvPr>
        </p:nvSpPr>
        <p:spPr/>
        <p:txBody>
          <a:bodyPr/>
          <a:lstStyle/>
          <a:p>
            <a:fld id="{80B4FCE6-DC73-4135-BC56-1F242D45A84C}" type="slidenum">
              <a:rPr lang="de-DE" smtClean="0"/>
              <a:t>9</a:t>
            </a:fld>
            <a:endParaRPr lang="de-DE"/>
          </a:p>
        </p:txBody>
      </p:sp>
    </p:spTree>
    <p:extLst>
      <p:ext uri="{BB962C8B-B14F-4D97-AF65-F5344CB8AC3E}">
        <p14:creationId xmlns:p14="http://schemas.microsoft.com/office/powerpoint/2010/main" val="320075354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1A0095-53C7-3F5E-182B-1605E00E0FC0}"/>
            </a:ext>
          </a:extLst>
        </p:cNvPr>
        <p:cNvGrpSpPr/>
        <p:nvPr/>
      </p:nvGrpSpPr>
      <p:grpSpPr>
        <a:xfrm>
          <a:off x="0" y="0"/>
          <a:ext cx="0" cy="0"/>
          <a:chOff x="0" y="0"/>
          <a:chExt cx="0" cy="0"/>
        </a:xfrm>
      </p:grpSpPr>
      <p:sp>
        <p:nvSpPr>
          <p:cNvPr id="5" name="Titel 4">
            <a:extLst>
              <a:ext uri="{FF2B5EF4-FFF2-40B4-BE49-F238E27FC236}">
                <a16:creationId xmlns:a16="http://schemas.microsoft.com/office/drawing/2014/main" id="{D757B5A5-6051-FFCC-0340-6B2A2309AADC}"/>
              </a:ext>
            </a:extLst>
          </p:cNvPr>
          <p:cNvSpPr>
            <a:spLocks noGrp="1"/>
          </p:cNvSpPr>
          <p:nvPr>
            <p:ph type="title"/>
          </p:nvPr>
        </p:nvSpPr>
        <p:spPr/>
        <p:txBody>
          <a:bodyPr/>
          <a:lstStyle/>
          <a:p>
            <a:r>
              <a:rPr lang="de-DE" sz="3200" dirty="0"/>
              <a:t>Hyperparameter-Suche</a:t>
            </a:r>
          </a:p>
        </p:txBody>
      </p:sp>
      <p:sp>
        <p:nvSpPr>
          <p:cNvPr id="6" name="Fußzeilenplatzhalter 5">
            <a:extLst>
              <a:ext uri="{FF2B5EF4-FFF2-40B4-BE49-F238E27FC236}">
                <a16:creationId xmlns:a16="http://schemas.microsoft.com/office/drawing/2014/main" id="{8AEF4587-D828-91EE-B123-AA8CB8A7F45A}"/>
              </a:ext>
            </a:extLst>
          </p:cNvPr>
          <p:cNvSpPr>
            <a:spLocks noGrp="1"/>
          </p:cNvSpPr>
          <p:nvPr>
            <p:ph type="ftr" sz="quarter" idx="11"/>
          </p:nvPr>
        </p:nvSpPr>
        <p:spPr/>
        <p:txBody>
          <a:bodyPr/>
          <a:lstStyle/>
          <a:p>
            <a:r>
              <a:rPr lang="de-DE"/>
              <a:t>Materialdiagnostik: Task 4</a:t>
            </a:r>
            <a:endParaRPr lang="de-DE" dirty="0"/>
          </a:p>
        </p:txBody>
      </p:sp>
      <p:sp>
        <p:nvSpPr>
          <p:cNvPr id="2" name="Datumsplatzhalter 1">
            <a:extLst>
              <a:ext uri="{FF2B5EF4-FFF2-40B4-BE49-F238E27FC236}">
                <a16:creationId xmlns:a16="http://schemas.microsoft.com/office/drawing/2014/main" id="{CE98F3A7-4DE5-447B-E8E2-5AA1A1F5B2C0}"/>
              </a:ext>
            </a:extLst>
          </p:cNvPr>
          <p:cNvSpPr>
            <a:spLocks noGrp="1"/>
          </p:cNvSpPr>
          <p:nvPr>
            <p:ph type="dt" sz="half" idx="12"/>
          </p:nvPr>
        </p:nvSpPr>
        <p:spPr/>
        <p:txBody>
          <a:bodyPr/>
          <a:lstStyle/>
          <a:p>
            <a:r>
              <a:rPr lang="de-DE"/>
              <a:t>23.07.2026</a:t>
            </a:r>
          </a:p>
        </p:txBody>
      </p:sp>
      <p:sp>
        <p:nvSpPr>
          <p:cNvPr id="10" name="Inhaltsplatzhalter 9">
            <a:extLst>
              <a:ext uri="{FF2B5EF4-FFF2-40B4-BE49-F238E27FC236}">
                <a16:creationId xmlns:a16="http://schemas.microsoft.com/office/drawing/2014/main" id="{20B76E1B-945A-5A48-7E66-249178791166}"/>
              </a:ext>
            </a:extLst>
          </p:cNvPr>
          <p:cNvSpPr>
            <a:spLocks noGrp="1"/>
          </p:cNvSpPr>
          <p:nvPr>
            <p:ph sz="quarter" idx="13"/>
          </p:nvPr>
        </p:nvSpPr>
        <p:spPr>
          <a:xfrm>
            <a:off x="341312" y="1620000"/>
            <a:ext cx="8476867" cy="965545"/>
          </a:xfrm>
        </p:spPr>
        <p:txBody>
          <a:bodyPr/>
          <a:lstStyle/>
          <a:p>
            <a:pPr>
              <a:buFont typeface="Arial" panose="020B0604020202020204" pitchFamily="34" charset="0"/>
              <a:buChar char="•"/>
            </a:pPr>
            <a:r>
              <a:rPr lang="de-DE" dirty="0"/>
              <a:t>Optimierung auf Entwicklungssatz</a:t>
            </a:r>
          </a:p>
          <a:p>
            <a:pPr>
              <a:buFont typeface="Arial" panose="020B0604020202020204" pitchFamily="34" charset="0"/>
              <a:buChar char="•"/>
            </a:pPr>
            <a:r>
              <a:rPr lang="de-DE" dirty="0"/>
              <a:t>Hidden Layer, Lernrate, Batchgröße, Regularisierung </a:t>
            </a:r>
            <a:r>
              <a:rPr lang="de-DE" dirty="0" err="1"/>
              <a:t>alpha</a:t>
            </a:r>
            <a:endParaRPr lang="de-DE" dirty="0"/>
          </a:p>
          <a:p>
            <a:endParaRPr lang="de-DE" dirty="0"/>
          </a:p>
        </p:txBody>
      </p:sp>
      <p:pic>
        <p:nvPicPr>
          <p:cNvPr id="13" name="Inhaltsplatzhalter 12">
            <a:extLst>
              <a:ext uri="{FF2B5EF4-FFF2-40B4-BE49-F238E27FC236}">
                <a16:creationId xmlns:a16="http://schemas.microsoft.com/office/drawing/2014/main" id="{3A09BFB8-89AB-C482-3A0A-A8AB1AA7F62E}"/>
              </a:ext>
            </a:extLst>
          </p:cNvPr>
          <p:cNvPicPr>
            <a:picLocks noGrp="1" noChangeAspect="1"/>
          </p:cNvPicPr>
          <p:nvPr>
            <p:ph sz="quarter" idx="14"/>
          </p:nvPr>
        </p:nvPicPr>
        <p:blipFill>
          <a:blip r:embed="rId3"/>
          <a:srcRect/>
          <a:stretch/>
        </p:blipFill>
        <p:spPr>
          <a:xfrm>
            <a:off x="1857566" y="2631831"/>
            <a:ext cx="8476867" cy="3816026"/>
          </a:xfrm>
          <a:prstGeom prst="rect">
            <a:avLst/>
          </a:prstGeom>
        </p:spPr>
      </p:pic>
      <p:sp>
        <p:nvSpPr>
          <p:cNvPr id="14" name="Foliennummernplatzhalter 13">
            <a:extLst>
              <a:ext uri="{FF2B5EF4-FFF2-40B4-BE49-F238E27FC236}">
                <a16:creationId xmlns:a16="http://schemas.microsoft.com/office/drawing/2014/main" id="{F5D0BE65-A2B4-48E0-17C8-1A3BCBA53756}"/>
              </a:ext>
            </a:extLst>
          </p:cNvPr>
          <p:cNvSpPr>
            <a:spLocks noGrp="1"/>
          </p:cNvSpPr>
          <p:nvPr>
            <p:ph type="sldNum" sz="quarter" idx="10"/>
          </p:nvPr>
        </p:nvSpPr>
        <p:spPr/>
        <p:txBody>
          <a:bodyPr/>
          <a:lstStyle/>
          <a:p>
            <a:fld id="{80B4FCE6-DC73-4135-BC56-1F242D45A84C}" type="slidenum">
              <a:rPr lang="de-DE" smtClean="0"/>
              <a:t>10</a:t>
            </a:fld>
            <a:endParaRPr lang="de-DE"/>
          </a:p>
        </p:txBody>
      </p:sp>
    </p:spTree>
    <p:extLst>
      <p:ext uri="{BB962C8B-B14F-4D97-AF65-F5344CB8AC3E}">
        <p14:creationId xmlns:p14="http://schemas.microsoft.com/office/powerpoint/2010/main" val="102688650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F324D3E-0F2F-AB0F-B173-23CAC68258D5}"/>
              </a:ext>
            </a:extLst>
          </p:cNvPr>
          <p:cNvSpPr>
            <a:spLocks noGrp="1"/>
          </p:cNvSpPr>
          <p:nvPr>
            <p:ph type="title"/>
          </p:nvPr>
        </p:nvSpPr>
        <p:spPr>
          <a:xfrm>
            <a:off x="341811" y="567600"/>
            <a:ext cx="6328812" cy="706030"/>
          </a:xfrm>
        </p:spPr>
        <p:txBody>
          <a:bodyPr/>
          <a:lstStyle/>
          <a:p>
            <a:r>
              <a:rPr lang="de-DE" sz="3200" dirty="0"/>
              <a:t>Code-Überblick</a:t>
            </a:r>
          </a:p>
        </p:txBody>
      </p:sp>
      <p:sp>
        <p:nvSpPr>
          <p:cNvPr id="3" name="Datumsplatzhalter 2">
            <a:extLst>
              <a:ext uri="{FF2B5EF4-FFF2-40B4-BE49-F238E27FC236}">
                <a16:creationId xmlns:a16="http://schemas.microsoft.com/office/drawing/2014/main" id="{10DEE32E-D555-A5C0-5E56-51A5968FB217}"/>
              </a:ext>
            </a:extLst>
          </p:cNvPr>
          <p:cNvSpPr>
            <a:spLocks noGrp="1"/>
          </p:cNvSpPr>
          <p:nvPr>
            <p:ph type="dt" sz="half" idx="12"/>
          </p:nvPr>
        </p:nvSpPr>
        <p:spPr/>
        <p:txBody>
          <a:bodyPr/>
          <a:lstStyle/>
          <a:p>
            <a:r>
              <a:rPr lang="de-DE"/>
              <a:t>23.07.2026</a:t>
            </a:r>
          </a:p>
        </p:txBody>
      </p:sp>
      <p:sp>
        <p:nvSpPr>
          <p:cNvPr id="5" name="Fußzeilenplatzhalter 4">
            <a:extLst>
              <a:ext uri="{FF2B5EF4-FFF2-40B4-BE49-F238E27FC236}">
                <a16:creationId xmlns:a16="http://schemas.microsoft.com/office/drawing/2014/main" id="{769D6D17-25F8-CC0D-9807-336DAF75B7C5}"/>
              </a:ext>
            </a:extLst>
          </p:cNvPr>
          <p:cNvSpPr>
            <a:spLocks noGrp="1"/>
          </p:cNvSpPr>
          <p:nvPr>
            <p:ph type="ftr" sz="quarter" idx="11"/>
          </p:nvPr>
        </p:nvSpPr>
        <p:spPr/>
        <p:txBody>
          <a:bodyPr/>
          <a:lstStyle/>
          <a:p>
            <a:r>
              <a:rPr lang="de-DE"/>
              <a:t>Materialdiagnostik: Task 4</a:t>
            </a:r>
            <a:endParaRPr lang="de-DE" dirty="0"/>
          </a:p>
        </p:txBody>
      </p:sp>
      <p:sp>
        <p:nvSpPr>
          <p:cNvPr id="7" name="Inhaltsplatzhalter 6">
            <a:extLst>
              <a:ext uri="{FF2B5EF4-FFF2-40B4-BE49-F238E27FC236}">
                <a16:creationId xmlns:a16="http://schemas.microsoft.com/office/drawing/2014/main" id="{D292BAE9-0055-7A55-987D-2D8376847BEA}"/>
              </a:ext>
            </a:extLst>
          </p:cNvPr>
          <p:cNvSpPr>
            <a:spLocks noGrp="1"/>
          </p:cNvSpPr>
          <p:nvPr>
            <p:ph sz="quarter" idx="13"/>
          </p:nvPr>
        </p:nvSpPr>
        <p:spPr>
          <a:xfrm>
            <a:off x="341811" y="1696595"/>
            <a:ext cx="11512052" cy="4395788"/>
          </a:xfrm>
        </p:spPr>
        <p:txBody>
          <a:bodyPr/>
          <a:lstStyle/>
          <a:p>
            <a:pPr>
              <a:buFont typeface="Arial" panose="020B0604020202020204" pitchFamily="34" charset="0"/>
              <a:buChar char="•"/>
            </a:pPr>
            <a:r>
              <a:rPr lang="de-DE" dirty="0"/>
              <a:t>main.py: </a:t>
            </a:r>
          </a:p>
          <a:p>
            <a:pPr lvl="1">
              <a:buFont typeface="Arial" panose="020B0604020202020204" pitchFamily="34" charset="0"/>
              <a:buChar char="•"/>
            </a:pPr>
            <a:r>
              <a:rPr lang="de-DE" dirty="0"/>
              <a:t>steuert die komplette Pipeline</a:t>
            </a:r>
          </a:p>
          <a:p>
            <a:pPr>
              <a:buFont typeface="Arial" panose="020B0604020202020204" pitchFamily="34" charset="0"/>
              <a:buChar char="•"/>
            </a:pPr>
            <a:r>
              <a:rPr lang="de-DE" dirty="0"/>
              <a:t>dataframe_manager.py: </a:t>
            </a:r>
          </a:p>
          <a:p>
            <a:pPr lvl="1">
              <a:buFont typeface="Arial" panose="020B0604020202020204" pitchFamily="34" charset="0"/>
              <a:buChar char="•"/>
            </a:pPr>
            <a:r>
              <a:rPr lang="de-DE" dirty="0"/>
              <a:t>lädt WAV-Dateien und Metadaten</a:t>
            </a:r>
          </a:p>
          <a:p>
            <a:pPr>
              <a:buFont typeface="Arial" panose="020B0604020202020204" pitchFamily="34" charset="0"/>
              <a:buChar char="•"/>
            </a:pPr>
            <a:r>
              <a:rPr lang="de-DE" dirty="0"/>
              <a:t>split.py: </a:t>
            </a:r>
          </a:p>
          <a:p>
            <a:pPr lvl="1">
              <a:buFont typeface="Arial" panose="020B0604020202020204" pitchFamily="34" charset="0"/>
              <a:buChar char="•"/>
            </a:pPr>
            <a:r>
              <a:rPr lang="de-DE" dirty="0"/>
              <a:t>ordnet Rohsignale Train, Dev und Test zu</a:t>
            </a:r>
          </a:p>
          <a:p>
            <a:pPr>
              <a:buFont typeface="Arial" panose="020B0604020202020204" pitchFamily="34" charset="0"/>
              <a:buChar char="•"/>
            </a:pPr>
            <a:r>
              <a:rPr lang="de-DE" dirty="0"/>
              <a:t>extraction.py: </a:t>
            </a:r>
          </a:p>
          <a:p>
            <a:pPr lvl="1">
              <a:buFont typeface="Arial" panose="020B0604020202020204" pitchFamily="34" charset="0"/>
              <a:buChar char="•"/>
            </a:pPr>
            <a:r>
              <a:rPr lang="de-DE" dirty="0"/>
              <a:t>berechnet Signalmerkmale pro Datei</a:t>
            </a:r>
          </a:p>
          <a:p>
            <a:pPr>
              <a:buFont typeface="Arial" panose="020B0604020202020204" pitchFamily="34" charset="0"/>
              <a:buChar char="•"/>
            </a:pPr>
            <a:r>
              <a:rPr lang="de-DE" dirty="0"/>
              <a:t>model.py: </a:t>
            </a:r>
          </a:p>
          <a:p>
            <a:pPr lvl="1">
              <a:buFont typeface="Arial" panose="020B0604020202020204" pitchFamily="34" charset="0"/>
              <a:buChar char="•"/>
            </a:pPr>
            <a:r>
              <a:rPr lang="de-DE" dirty="0"/>
              <a:t>trainiert, optimiert und bewertet die MLP-Modelle</a:t>
            </a:r>
          </a:p>
          <a:p>
            <a:endParaRPr lang="de-DE" dirty="0"/>
          </a:p>
        </p:txBody>
      </p:sp>
      <p:sp>
        <p:nvSpPr>
          <p:cNvPr id="8" name="Foliennummernplatzhalter 7">
            <a:extLst>
              <a:ext uri="{FF2B5EF4-FFF2-40B4-BE49-F238E27FC236}">
                <a16:creationId xmlns:a16="http://schemas.microsoft.com/office/drawing/2014/main" id="{2F72B419-304B-ACE9-A0CD-B2C1E713F427}"/>
              </a:ext>
            </a:extLst>
          </p:cNvPr>
          <p:cNvSpPr>
            <a:spLocks noGrp="1"/>
          </p:cNvSpPr>
          <p:nvPr>
            <p:ph type="sldNum" sz="quarter" idx="10"/>
          </p:nvPr>
        </p:nvSpPr>
        <p:spPr/>
        <p:txBody>
          <a:bodyPr/>
          <a:lstStyle/>
          <a:p>
            <a:fld id="{80B4FCE6-DC73-4135-BC56-1F242D45A84C}" type="slidenum">
              <a:rPr lang="de-DE" smtClean="0"/>
              <a:t>11</a:t>
            </a:fld>
            <a:endParaRPr lang="de-DE"/>
          </a:p>
        </p:txBody>
      </p:sp>
    </p:spTree>
    <p:extLst>
      <p:ext uri="{BB962C8B-B14F-4D97-AF65-F5344CB8AC3E}">
        <p14:creationId xmlns:p14="http://schemas.microsoft.com/office/powerpoint/2010/main" val="410625116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CF3C4D-956F-CF44-1DA8-88DDD2237ABF}"/>
            </a:ext>
          </a:extLst>
        </p:cNvPr>
        <p:cNvGrpSpPr/>
        <p:nvPr/>
      </p:nvGrpSpPr>
      <p:grpSpPr>
        <a:xfrm>
          <a:off x="0" y="0"/>
          <a:ext cx="0" cy="0"/>
          <a:chOff x="0" y="0"/>
          <a:chExt cx="0" cy="0"/>
        </a:xfrm>
      </p:grpSpPr>
      <p:sp>
        <p:nvSpPr>
          <p:cNvPr id="13" name="Rechteck: eine Ecke abgerundet 12">
            <a:extLst>
              <a:ext uri="{FF2B5EF4-FFF2-40B4-BE49-F238E27FC236}">
                <a16:creationId xmlns:a16="http://schemas.microsoft.com/office/drawing/2014/main" id="{C084ADCD-CF21-F408-4472-3372DC76ABC1}"/>
              </a:ext>
            </a:extLst>
          </p:cNvPr>
          <p:cNvSpPr/>
          <p:nvPr/>
        </p:nvSpPr>
        <p:spPr bwMode="auto">
          <a:xfrm>
            <a:off x="6459536" y="1740625"/>
            <a:ext cx="750559" cy="704193"/>
          </a:xfrm>
          <a:prstGeom prst="round1Rect">
            <a:avLst/>
          </a:prstGeom>
          <a:solidFill>
            <a:schemeClr val="bg2">
              <a:lumMod val="40000"/>
              <a:lumOff val="60000"/>
            </a:schemeClr>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r>
              <a:rPr kumimoji="0" lang="de-DE" sz="1800" b="0" i="0" u="none" strike="noStrike" cap="none" normalizeH="0" baseline="0" dirty="0" err="1">
                <a:ln>
                  <a:noFill/>
                </a:ln>
                <a:solidFill>
                  <a:schemeClr val="tx1"/>
                </a:solidFill>
                <a:effectLst/>
                <a:latin typeface="Arial" pitchFamily="-109" charset="0"/>
                <a:ea typeface="ヒラギノ角ゴ Pro W3" pitchFamily="-109" charset="-128"/>
                <a:cs typeface="ヒラギノ角ゴ Pro W3" pitchFamily="-109" charset="-128"/>
              </a:rPr>
              <a:t>Ch</a:t>
            </a:r>
            <a:r>
              <a:rPr kumimoji="0" lang="de-DE" sz="1800" b="0" i="0" u="none" strike="noStrike" cap="none" normalizeH="0" baseline="0" dirty="0">
                <a:ln>
                  <a:noFill/>
                </a:ln>
                <a:solidFill>
                  <a:schemeClr val="tx1"/>
                </a:solidFill>
                <a:effectLst/>
                <a:latin typeface="Arial" pitchFamily="-109" charset="0"/>
                <a:ea typeface="ヒラギノ角ゴ Pro W3" pitchFamily="-109" charset="-128"/>
                <a:cs typeface="ヒラギノ角ゴ Pro W3" pitchFamily="-109" charset="-128"/>
              </a:rPr>
              <a:t> 1</a:t>
            </a:r>
            <a:endParaRPr kumimoji="0" lang="de-DE" sz="2400" b="0" i="0" u="none" strike="noStrike" cap="none" normalizeH="0" baseline="0" dirty="0">
              <a:ln>
                <a:noFill/>
              </a:ln>
              <a:solidFill>
                <a:schemeClr val="tx1"/>
              </a:solidFill>
              <a:effectLst/>
              <a:latin typeface="Arial" pitchFamily="-109" charset="0"/>
              <a:ea typeface="ヒラギノ角ゴ Pro W3" pitchFamily="-109" charset="-128"/>
              <a:cs typeface="ヒラギノ角ゴ Pro W3" pitchFamily="-109" charset="-128"/>
            </a:endParaRPr>
          </a:p>
        </p:txBody>
      </p:sp>
      <p:sp>
        <p:nvSpPr>
          <p:cNvPr id="2" name="Titel 1">
            <a:extLst>
              <a:ext uri="{FF2B5EF4-FFF2-40B4-BE49-F238E27FC236}">
                <a16:creationId xmlns:a16="http://schemas.microsoft.com/office/drawing/2014/main" id="{10501F1A-FCB7-133D-6F5D-FABA9A2F000C}"/>
              </a:ext>
            </a:extLst>
          </p:cNvPr>
          <p:cNvSpPr>
            <a:spLocks noGrp="1"/>
          </p:cNvSpPr>
          <p:nvPr>
            <p:ph type="title"/>
          </p:nvPr>
        </p:nvSpPr>
        <p:spPr/>
        <p:txBody>
          <a:bodyPr/>
          <a:lstStyle/>
          <a:p>
            <a:r>
              <a:rPr lang="de-DE" sz="3200" dirty="0"/>
              <a:t>Loss </a:t>
            </a:r>
            <a:r>
              <a:rPr lang="de-DE" sz="3200" dirty="0" err="1"/>
              <a:t>Curves</a:t>
            </a:r>
            <a:endParaRPr lang="de-DE" dirty="0"/>
          </a:p>
        </p:txBody>
      </p:sp>
      <p:sp>
        <p:nvSpPr>
          <p:cNvPr id="5" name="Fußzeilenplatzhalter 4">
            <a:extLst>
              <a:ext uri="{FF2B5EF4-FFF2-40B4-BE49-F238E27FC236}">
                <a16:creationId xmlns:a16="http://schemas.microsoft.com/office/drawing/2014/main" id="{B326B563-4C74-A0AC-BD19-B0D9D3AA03C6}"/>
              </a:ext>
            </a:extLst>
          </p:cNvPr>
          <p:cNvSpPr>
            <a:spLocks noGrp="1"/>
          </p:cNvSpPr>
          <p:nvPr>
            <p:ph type="ftr" sz="quarter" idx="11"/>
          </p:nvPr>
        </p:nvSpPr>
        <p:spPr/>
        <p:txBody>
          <a:bodyPr/>
          <a:lstStyle/>
          <a:p>
            <a:r>
              <a:rPr lang="de-DE"/>
              <a:t>Materialdiagnostik: Task 4</a:t>
            </a:r>
            <a:endParaRPr lang="de-DE" dirty="0"/>
          </a:p>
        </p:txBody>
      </p:sp>
      <p:sp>
        <p:nvSpPr>
          <p:cNvPr id="3" name="Datumsplatzhalter 2">
            <a:extLst>
              <a:ext uri="{FF2B5EF4-FFF2-40B4-BE49-F238E27FC236}">
                <a16:creationId xmlns:a16="http://schemas.microsoft.com/office/drawing/2014/main" id="{A6F37E5F-3907-6F85-DAC7-339604EB1496}"/>
              </a:ext>
            </a:extLst>
          </p:cNvPr>
          <p:cNvSpPr>
            <a:spLocks noGrp="1"/>
          </p:cNvSpPr>
          <p:nvPr>
            <p:ph type="dt" sz="half" idx="12"/>
          </p:nvPr>
        </p:nvSpPr>
        <p:spPr/>
        <p:txBody>
          <a:bodyPr/>
          <a:lstStyle/>
          <a:p>
            <a:r>
              <a:rPr lang="de-DE"/>
              <a:t>23.07.2026</a:t>
            </a:r>
          </a:p>
        </p:txBody>
      </p:sp>
      <p:sp>
        <p:nvSpPr>
          <p:cNvPr id="8" name="Inhaltsplatzhalter 7">
            <a:extLst>
              <a:ext uri="{FF2B5EF4-FFF2-40B4-BE49-F238E27FC236}">
                <a16:creationId xmlns:a16="http://schemas.microsoft.com/office/drawing/2014/main" id="{9E321134-F1B0-51A0-36A7-EE8C324D145B}"/>
              </a:ext>
            </a:extLst>
          </p:cNvPr>
          <p:cNvSpPr>
            <a:spLocks noGrp="1"/>
          </p:cNvSpPr>
          <p:nvPr>
            <p:ph sz="quarter" idx="13"/>
          </p:nvPr>
        </p:nvSpPr>
        <p:spPr/>
        <p:txBody>
          <a:bodyPr/>
          <a:lstStyle/>
          <a:p>
            <a:pPr>
              <a:buFont typeface="Arial" panose="020B0604020202020204" pitchFamily="34" charset="0"/>
              <a:buChar char="•"/>
            </a:pPr>
            <a:r>
              <a:rPr lang="de-DE" dirty="0"/>
              <a:t>Loss misst den Fehler der Modellvorhersagen</a:t>
            </a:r>
          </a:p>
          <a:p>
            <a:pPr>
              <a:buFont typeface="Arial" panose="020B0604020202020204" pitchFamily="34" charset="0"/>
              <a:buChar char="•"/>
            </a:pPr>
            <a:r>
              <a:rPr lang="de-DE" dirty="0"/>
              <a:t>Sinkende Kurve zeigt: Modell lernt</a:t>
            </a:r>
          </a:p>
          <a:p>
            <a:pPr>
              <a:buFont typeface="Arial" panose="020B0604020202020204" pitchFamily="34" charset="0"/>
              <a:buChar char="•"/>
            </a:pPr>
            <a:r>
              <a:rPr lang="de-DE" dirty="0"/>
              <a:t>Stabiler Verlauf zeigt: Training konvergiert</a:t>
            </a:r>
          </a:p>
          <a:p>
            <a:pPr>
              <a:buFont typeface="Arial" panose="020B0604020202020204" pitchFamily="34" charset="0"/>
              <a:buChar char="•"/>
            </a:pPr>
            <a:r>
              <a:rPr lang="de-DE" dirty="0"/>
              <a:t>Niedriger Loss allein beweist keine Generalisierung</a:t>
            </a:r>
          </a:p>
          <a:p>
            <a:pPr>
              <a:buFont typeface="Arial" panose="020B0604020202020204" pitchFamily="34" charset="0"/>
              <a:buChar char="•"/>
            </a:pPr>
            <a:r>
              <a:rPr lang="de-DE" dirty="0"/>
              <a:t>Deshalb zusätzlich: Dev/Test-Metriken, ROC/AUC, Learning </a:t>
            </a:r>
            <a:r>
              <a:rPr lang="de-DE" dirty="0" err="1"/>
              <a:t>Curves</a:t>
            </a:r>
            <a:endParaRPr lang="de-DE" dirty="0"/>
          </a:p>
        </p:txBody>
      </p:sp>
      <p:pic>
        <p:nvPicPr>
          <p:cNvPr id="11" name="Inhaltsplatzhalter 10">
            <a:extLst>
              <a:ext uri="{FF2B5EF4-FFF2-40B4-BE49-F238E27FC236}">
                <a16:creationId xmlns:a16="http://schemas.microsoft.com/office/drawing/2014/main" id="{C29B9310-6F11-0E1E-D9E3-58059F9BE356}"/>
              </a:ext>
            </a:extLst>
          </p:cNvPr>
          <p:cNvPicPr>
            <a:picLocks noGrp="1" noChangeAspect="1"/>
          </p:cNvPicPr>
          <p:nvPr>
            <p:ph sz="quarter" idx="14"/>
          </p:nvPr>
        </p:nvPicPr>
        <p:blipFill>
          <a:blip r:embed="rId3"/>
          <a:stretch>
            <a:fillRect/>
          </a:stretch>
        </p:blipFill>
        <p:spPr>
          <a:xfrm>
            <a:off x="6459538" y="2092722"/>
            <a:ext cx="5391150" cy="3369468"/>
          </a:xfrm>
          <a:prstGeom prst="rect">
            <a:avLst/>
          </a:prstGeom>
        </p:spPr>
      </p:pic>
      <p:sp>
        <p:nvSpPr>
          <p:cNvPr id="15" name="Rechteck: eine Ecke abgerundet 14">
            <a:extLst>
              <a:ext uri="{FF2B5EF4-FFF2-40B4-BE49-F238E27FC236}">
                <a16:creationId xmlns:a16="http://schemas.microsoft.com/office/drawing/2014/main" id="{00B6B237-AAA7-0524-D844-6633D85D7E7C}"/>
              </a:ext>
            </a:extLst>
          </p:cNvPr>
          <p:cNvSpPr/>
          <p:nvPr/>
        </p:nvSpPr>
        <p:spPr bwMode="auto">
          <a:xfrm>
            <a:off x="6459535" y="1740625"/>
            <a:ext cx="750559" cy="704193"/>
          </a:xfrm>
          <a:prstGeom prst="round1Rect">
            <a:avLst/>
          </a:prstGeom>
          <a:solidFill>
            <a:schemeClr val="bg2">
              <a:lumMod val="40000"/>
              <a:lumOff val="60000"/>
            </a:schemeClr>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r>
              <a:rPr kumimoji="0" lang="de-DE" sz="1800" b="0" i="0" u="none" strike="noStrike" cap="none" normalizeH="0" baseline="0" dirty="0" err="1">
                <a:ln>
                  <a:noFill/>
                </a:ln>
                <a:solidFill>
                  <a:schemeClr val="tx1"/>
                </a:solidFill>
                <a:effectLst/>
                <a:latin typeface="Arial" pitchFamily="-109" charset="0"/>
                <a:ea typeface="ヒラギノ角ゴ Pro W3" pitchFamily="-109" charset="-128"/>
                <a:cs typeface="ヒラギノ角ゴ Pro W3" pitchFamily="-109" charset="-128"/>
              </a:rPr>
              <a:t>Ch</a:t>
            </a:r>
            <a:r>
              <a:rPr kumimoji="0" lang="de-DE" sz="1800" b="0" i="0" u="none" strike="noStrike" cap="none" normalizeH="0" baseline="0" dirty="0">
                <a:ln>
                  <a:noFill/>
                </a:ln>
                <a:solidFill>
                  <a:schemeClr val="tx1"/>
                </a:solidFill>
                <a:effectLst/>
                <a:latin typeface="Arial" pitchFamily="-109" charset="0"/>
                <a:ea typeface="ヒラギノ角ゴ Pro W3" pitchFamily="-109" charset="-128"/>
                <a:cs typeface="ヒラギノ角ゴ Pro W3" pitchFamily="-109" charset="-128"/>
              </a:rPr>
              <a:t> 2</a:t>
            </a:r>
            <a:endParaRPr kumimoji="0" lang="de-DE" sz="2400" b="0" i="0" u="none" strike="noStrike" cap="none" normalizeH="0" baseline="0" dirty="0">
              <a:ln>
                <a:noFill/>
              </a:ln>
              <a:solidFill>
                <a:schemeClr val="tx1"/>
              </a:solidFill>
              <a:effectLst/>
              <a:latin typeface="Arial" pitchFamily="-109" charset="0"/>
              <a:ea typeface="ヒラギノ角ゴ Pro W3" pitchFamily="-109" charset="-128"/>
              <a:cs typeface="ヒラギノ角ゴ Pro W3" pitchFamily="-109" charset="-128"/>
            </a:endParaRPr>
          </a:p>
        </p:txBody>
      </p:sp>
      <p:pic>
        <p:nvPicPr>
          <p:cNvPr id="12" name="Inhaltsplatzhalter 10">
            <a:extLst>
              <a:ext uri="{FF2B5EF4-FFF2-40B4-BE49-F238E27FC236}">
                <a16:creationId xmlns:a16="http://schemas.microsoft.com/office/drawing/2014/main" id="{737B854A-413A-5164-83D6-D96C58A53D53}"/>
              </a:ext>
            </a:extLst>
          </p:cNvPr>
          <p:cNvPicPr>
            <a:picLocks noChangeAspect="1"/>
          </p:cNvPicPr>
          <p:nvPr/>
        </p:nvPicPr>
        <p:blipFill>
          <a:blip r:embed="rId4"/>
          <a:srcRect/>
          <a:stretch/>
        </p:blipFill>
        <p:spPr>
          <a:xfrm>
            <a:off x="6459538" y="2092721"/>
            <a:ext cx="5391149" cy="3369468"/>
          </a:xfrm>
          <a:prstGeom prst="rect">
            <a:avLst/>
          </a:prstGeom>
        </p:spPr>
      </p:pic>
      <p:sp>
        <p:nvSpPr>
          <p:cNvPr id="16" name="Foliennummernplatzhalter 15">
            <a:extLst>
              <a:ext uri="{FF2B5EF4-FFF2-40B4-BE49-F238E27FC236}">
                <a16:creationId xmlns:a16="http://schemas.microsoft.com/office/drawing/2014/main" id="{13BD7E67-86CA-510A-9CDB-07DDA5F2BEF9}"/>
              </a:ext>
            </a:extLst>
          </p:cNvPr>
          <p:cNvSpPr>
            <a:spLocks noGrp="1"/>
          </p:cNvSpPr>
          <p:nvPr>
            <p:ph type="sldNum" sz="quarter" idx="10"/>
          </p:nvPr>
        </p:nvSpPr>
        <p:spPr/>
        <p:txBody>
          <a:bodyPr/>
          <a:lstStyle/>
          <a:p>
            <a:fld id="{80B4FCE6-DC73-4135-BC56-1F242D45A84C}" type="slidenum">
              <a:rPr lang="de-DE" smtClean="0"/>
              <a:t>12</a:t>
            </a:fld>
            <a:endParaRPr lang="de-DE"/>
          </a:p>
        </p:txBody>
      </p:sp>
      <p:sp>
        <p:nvSpPr>
          <p:cNvPr id="4" name="Rechteck 3">
            <a:extLst>
              <a:ext uri="{FF2B5EF4-FFF2-40B4-BE49-F238E27FC236}">
                <a16:creationId xmlns:a16="http://schemas.microsoft.com/office/drawing/2014/main" id="{A62FCFAB-90C4-BC2F-0E0E-35EA9DB353D8}"/>
              </a:ext>
            </a:extLst>
          </p:cNvPr>
          <p:cNvSpPr/>
          <p:nvPr/>
        </p:nvSpPr>
        <p:spPr bwMode="auto">
          <a:xfrm>
            <a:off x="9049407" y="5244662"/>
            <a:ext cx="578069" cy="217527"/>
          </a:xfrm>
          <a:prstGeom prst="rect">
            <a:avLst/>
          </a:prstGeom>
          <a:solidFill>
            <a:schemeClr val="bg1"/>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de-DE" sz="2400" b="0" i="0" u="none" strike="noStrike" cap="none" normalizeH="0" baseline="0">
              <a:ln>
                <a:noFill/>
              </a:ln>
              <a:solidFill>
                <a:schemeClr val="tx1"/>
              </a:solidFill>
              <a:effectLst/>
              <a:latin typeface="Arial" pitchFamily="-109" charset="0"/>
              <a:ea typeface="ヒラギノ角ゴ Pro W3" pitchFamily="-109" charset="-128"/>
              <a:cs typeface="ヒラギノ角ゴ Pro W3" pitchFamily="-109" charset="-128"/>
            </a:endParaRPr>
          </a:p>
        </p:txBody>
      </p:sp>
    </p:spTree>
    <p:extLst>
      <p:ext uri="{BB962C8B-B14F-4D97-AF65-F5344CB8AC3E}">
        <p14:creationId xmlns:p14="http://schemas.microsoft.com/office/powerpoint/2010/main" val="15338800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E692F4-4654-12E9-0B81-867C770DCA55}"/>
            </a:ext>
          </a:extLst>
        </p:cNvPr>
        <p:cNvGrpSpPr/>
        <p:nvPr/>
      </p:nvGrpSpPr>
      <p:grpSpPr>
        <a:xfrm>
          <a:off x="0" y="0"/>
          <a:ext cx="0" cy="0"/>
          <a:chOff x="0" y="0"/>
          <a:chExt cx="0" cy="0"/>
        </a:xfrm>
      </p:grpSpPr>
      <p:sp>
        <p:nvSpPr>
          <p:cNvPr id="13" name="Rechteck: eine Ecke abgerundet 12">
            <a:extLst>
              <a:ext uri="{FF2B5EF4-FFF2-40B4-BE49-F238E27FC236}">
                <a16:creationId xmlns:a16="http://schemas.microsoft.com/office/drawing/2014/main" id="{D05955E5-D0B7-9962-B4D8-6BCD6AE466DA}"/>
              </a:ext>
            </a:extLst>
          </p:cNvPr>
          <p:cNvSpPr/>
          <p:nvPr/>
        </p:nvSpPr>
        <p:spPr bwMode="auto">
          <a:xfrm>
            <a:off x="6459536" y="1740625"/>
            <a:ext cx="750559" cy="704193"/>
          </a:xfrm>
          <a:prstGeom prst="round1Rect">
            <a:avLst/>
          </a:prstGeom>
          <a:solidFill>
            <a:schemeClr val="bg2">
              <a:lumMod val="40000"/>
              <a:lumOff val="60000"/>
            </a:schemeClr>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r>
              <a:rPr kumimoji="0" lang="de-DE" sz="1800" b="0" i="0" u="none" strike="noStrike" cap="none" normalizeH="0" baseline="0" dirty="0" err="1">
                <a:ln>
                  <a:noFill/>
                </a:ln>
                <a:solidFill>
                  <a:schemeClr val="tx1"/>
                </a:solidFill>
                <a:effectLst/>
                <a:latin typeface="Arial" pitchFamily="-109" charset="0"/>
                <a:ea typeface="ヒラギノ角ゴ Pro W3" pitchFamily="-109" charset="-128"/>
                <a:cs typeface="ヒラギノ角ゴ Pro W3" pitchFamily="-109" charset="-128"/>
              </a:rPr>
              <a:t>Ch</a:t>
            </a:r>
            <a:r>
              <a:rPr kumimoji="0" lang="de-DE" sz="1800" b="0" i="0" u="none" strike="noStrike" cap="none" normalizeH="0" baseline="0" dirty="0">
                <a:ln>
                  <a:noFill/>
                </a:ln>
                <a:solidFill>
                  <a:schemeClr val="tx1"/>
                </a:solidFill>
                <a:effectLst/>
                <a:latin typeface="Arial" pitchFamily="-109" charset="0"/>
                <a:ea typeface="ヒラギノ角ゴ Pro W3" pitchFamily="-109" charset="-128"/>
                <a:cs typeface="ヒラギノ角ゴ Pro W3" pitchFamily="-109" charset="-128"/>
              </a:rPr>
              <a:t> 1</a:t>
            </a:r>
            <a:endParaRPr kumimoji="0" lang="de-DE" sz="2400" b="0" i="0" u="none" strike="noStrike" cap="none" normalizeH="0" baseline="0" dirty="0">
              <a:ln>
                <a:noFill/>
              </a:ln>
              <a:solidFill>
                <a:schemeClr val="tx1"/>
              </a:solidFill>
              <a:effectLst/>
              <a:latin typeface="Arial" pitchFamily="-109" charset="0"/>
              <a:ea typeface="ヒラギノ角ゴ Pro W3" pitchFamily="-109" charset="-128"/>
              <a:cs typeface="ヒラギノ角ゴ Pro W3" pitchFamily="-109" charset="-128"/>
            </a:endParaRPr>
          </a:p>
        </p:txBody>
      </p:sp>
      <p:sp>
        <p:nvSpPr>
          <p:cNvPr id="2" name="Titel 1">
            <a:extLst>
              <a:ext uri="{FF2B5EF4-FFF2-40B4-BE49-F238E27FC236}">
                <a16:creationId xmlns:a16="http://schemas.microsoft.com/office/drawing/2014/main" id="{6EABEA5B-6080-FBE9-6DA6-10DB7E45DD2D}"/>
              </a:ext>
            </a:extLst>
          </p:cNvPr>
          <p:cNvSpPr>
            <a:spLocks noGrp="1"/>
          </p:cNvSpPr>
          <p:nvPr>
            <p:ph type="title"/>
          </p:nvPr>
        </p:nvSpPr>
        <p:spPr/>
        <p:txBody>
          <a:bodyPr/>
          <a:lstStyle/>
          <a:p>
            <a:r>
              <a:rPr lang="de-DE" sz="3200" dirty="0"/>
              <a:t>Learning </a:t>
            </a:r>
            <a:r>
              <a:rPr lang="de-DE" sz="3200" dirty="0" err="1"/>
              <a:t>Curves</a:t>
            </a:r>
            <a:endParaRPr lang="de-DE" dirty="0"/>
          </a:p>
        </p:txBody>
      </p:sp>
      <p:sp>
        <p:nvSpPr>
          <p:cNvPr id="5" name="Fußzeilenplatzhalter 4">
            <a:extLst>
              <a:ext uri="{FF2B5EF4-FFF2-40B4-BE49-F238E27FC236}">
                <a16:creationId xmlns:a16="http://schemas.microsoft.com/office/drawing/2014/main" id="{C21741FB-233F-9B62-BDE5-78CC9DF1F194}"/>
              </a:ext>
            </a:extLst>
          </p:cNvPr>
          <p:cNvSpPr>
            <a:spLocks noGrp="1"/>
          </p:cNvSpPr>
          <p:nvPr>
            <p:ph type="ftr" sz="quarter" idx="11"/>
          </p:nvPr>
        </p:nvSpPr>
        <p:spPr/>
        <p:txBody>
          <a:bodyPr/>
          <a:lstStyle/>
          <a:p>
            <a:r>
              <a:rPr lang="de-DE"/>
              <a:t>Materialdiagnostik: Task 4</a:t>
            </a:r>
            <a:endParaRPr lang="de-DE" dirty="0"/>
          </a:p>
        </p:txBody>
      </p:sp>
      <p:sp>
        <p:nvSpPr>
          <p:cNvPr id="3" name="Datumsplatzhalter 2">
            <a:extLst>
              <a:ext uri="{FF2B5EF4-FFF2-40B4-BE49-F238E27FC236}">
                <a16:creationId xmlns:a16="http://schemas.microsoft.com/office/drawing/2014/main" id="{0F533060-8BC0-E7A8-47E6-F36742E1101E}"/>
              </a:ext>
            </a:extLst>
          </p:cNvPr>
          <p:cNvSpPr>
            <a:spLocks noGrp="1"/>
          </p:cNvSpPr>
          <p:nvPr>
            <p:ph type="dt" sz="half" idx="12"/>
          </p:nvPr>
        </p:nvSpPr>
        <p:spPr/>
        <p:txBody>
          <a:bodyPr/>
          <a:lstStyle/>
          <a:p>
            <a:r>
              <a:rPr lang="de-DE"/>
              <a:t>23.07.2026</a:t>
            </a:r>
          </a:p>
        </p:txBody>
      </p:sp>
      <p:sp>
        <p:nvSpPr>
          <p:cNvPr id="8" name="Inhaltsplatzhalter 7">
            <a:extLst>
              <a:ext uri="{FF2B5EF4-FFF2-40B4-BE49-F238E27FC236}">
                <a16:creationId xmlns:a16="http://schemas.microsoft.com/office/drawing/2014/main" id="{66F2D5E8-ACE1-A626-1A4C-3BEEED0736C2}"/>
              </a:ext>
            </a:extLst>
          </p:cNvPr>
          <p:cNvSpPr>
            <a:spLocks noGrp="1"/>
          </p:cNvSpPr>
          <p:nvPr>
            <p:ph sz="quarter" idx="13"/>
          </p:nvPr>
        </p:nvSpPr>
        <p:spPr/>
        <p:txBody>
          <a:bodyPr/>
          <a:lstStyle/>
          <a:p>
            <a:pPr>
              <a:buFont typeface="Arial" panose="020B0604020202020204" pitchFamily="34" charset="0"/>
              <a:buChar char="•"/>
            </a:pPr>
            <a:r>
              <a:rPr lang="de-DE" dirty="0"/>
              <a:t>Train- und Dev-Score pro Trainingsmenge</a:t>
            </a:r>
          </a:p>
          <a:p>
            <a:pPr>
              <a:buFont typeface="Arial" panose="020B0604020202020204" pitchFamily="34" charset="0"/>
              <a:buChar char="•"/>
            </a:pPr>
            <a:r>
              <a:rPr lang="de-DE" dirty="0"/>
              <a:t>Kurven zeigen Datenbedarf des Modells</a:t>
            </a:r>
          </a:p>
          <a:p>
            <a:pPr>
              <a:buFont typeface="Arial" panose="020B0604020202020204" pitchFamily="34" charset="0"/>
              <a:buChar char="•"/>
            </a:pPr>
            <a:r>
              <a:rPr lang="de-DE" dirty="0"/>
              <a:t>Bereits kleine Trainingsmenge trennt fast perfekt</a:t>
            </a:r>
          </a:p>
          <a:p>
            <a:pPr>
              <a:buFont typeface="Arial" panose="020B0604020202020204" pitchFamily="34" charset="0"/>
              <a:buChar char="•"/>
            </a:pPr>
            <a:r>
              <a:rPr lang="de-DE" dirty="0"/>
              <a:t>Ch1 erreicht früh perfekte Dev-Werte</a:t>
            </a:r>
          </a:p>
          <a:p>
            <a:pPr>
              <a:buFont typeface="Arial" panose="020B0604020202020204" pitchFamily="34" charset="0"/>
              <a:buChar char="•"/>
            </a:pPr>
            <a:r>
              <a:rPr lang="de-DE" dirty="0"/>
              <a:t>Ch2 braucht im aktuellen Split die volle Trainingsmenge für perfekte Dev-Werte</a:t>
            </a:r>
          </a:p>
          <a:p>
            <a:endParaRPr lang="de-DE" dirty="0"/>
          </a:p>
        </p:txBody>
      </p:sp>
      <p:pic>
        <p:nvPicPr>
          <p:cNvPr id="11" name="Inhaltsplatzhalter 10">
            <a:extLst>
              <a:ext uri="{FF2B5EF4-FFF2-40B4-BE49-F238E27FC236}">
                <a16:creationId xmlns:a16="http://schemas.microsoft.com/office/drawing/2014/main" id="{4DF0D70F-DBE3-307B-70EE-0B255331894E}"/>
              </a:ext>
            </a:extLst>
          </p:cNvPr>
          <p:cNvPicPr>
            <a:picLocks noGrp="1" noChangeAspect="1"/>
          </p:cNvPicPr>
          <p:nvPr>
            <p:ph sz="quarter" idx="14"/>
          </p:nvPr>
        </p:nvPicPr>
        <p:blipFill>
          <a:blip r:embed="rId3"/>
          <a:srcRect/>
          <a:stretch/>
        </p:blipFill>
        <p:spPr>
          <a:xfrm>
            <a:off x="6459538" y="2092722"/>
            <a:ext cx="5391150" cy="3369468"/>
          </a:xfrm>
          <a:prstGeom prst="rect">
            <a:avLst/>
          </a:prstGeom>
        </p:spPr>
      </p:pic>
      <p:sp>
        <p:nvSpPr>
          <p:cNvPr id="15" name="Rechteck: eine Ecke abgerundet 14">
            <a:extLst>
              <a:ext uri="{FF2B5EF4-FFF2-40B4-BE49-F238E27FC236}">
                <a16:creationId xmlns:a16="http://schemas.microsoft.com/office/drawing/2014/main" id="{221FC070-FA1A-089D-1456-55000A5089FD}"/>
              </a:ext>
            </a:extLst>
          </p:cNvPr>
          <p:cNvSpPr/>
          <p:nvPr/>
        </p:nvSpPr>
        <p:spPr bwMode="auto">
          <a:xfrm>
            <a:off x="6459535" y="1740625"/>
            <a:ext cx="750559" cy="704193"/>
          </a:xfrm>
          <a:prstGeom prst="round1Rect">
            <a:avLst/>
          </a:prstGeom>
          <a:solidFill>
            <a:schemeClr val="bg2">
              <a:lumMod val="40000"/>
              <a:lumOff val="60000"/>
            </a:schemeClr>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r>
              <a:rPr kumimoji="0" lang="de-DE" sz="1800" b="0" i="0" u="none" strike="noStrike" cap="none" normalizeH="0" baseline="0" dirty="0" err="1">
                <a:ln>
                  <a:noFill/>
                </a:ln>
                <a:solidFill>
                  <a:schemeClr val="tx1"/>
                </a:solidFill>
                <a:effectLst/>
                <a:latin typeface="Arial" pitchFamily="-109" charset="0"/>
                <a:ea typeface="ヒラギノ角ゴ Pro W3" pitchFamily="-109" charset="-128"/>
                <a:cs typeface="ヒラギノ角ゴ Pro W3" pitchFamily="-109" charset="-128"/>
              </a:rPr>
              <a:t>Ch</a:t>
            </a:r>
            <a:r>
              <a:rPr kumimoji="0" lang="de-DE" sz="1800" b="0" i="0" u="none" strike="noStrike" cap="none" normalizeH="0" baseline="0" dirty="0">
                <a:ln>
                  <a:noFill/>
                </a:ln>
                <a:solidFill>
                  <a:schemeClr val="tx1"/>
                </a:solidFill>
                <a:effectLst/>
                <a:latin typeface="Arial" pitchFamily="-109" charset="0"/>
                <a:ea typeface="ヒラギノ角ゴ Pro W3" pitchFamily="-109" charset="-128"/>
                <a:cs typeface="ヒラギノ角ゴ Pro W3" pitchFamily="-109" charset="-128"/>
              </a:rPr>
              <a:t> 2</a:t>
            </a:r>
            <a:endParaRPr kumimoji="0" lang="de-DE" sz="2400" b="0" i="0" u="none" strike="noStrike" cap="none" normalizeH="0" baseline="0" dirty="0">
              <a:ln>
                <a:noFill/>
              </a:ln>
              <a:solidFill>
                <a:schemeClr val="tx1"/>
              </a:solidFill>
              <a:effectLst/>
              <a:latin typeface="Arial" pitchFamily="-109" charset="0"/>
              <a:ea typeface="ヒラギノ角ゴ Pro W3" pitchFamily="-109" charset="-128"/>
              <a:cs typeface="ヒラギノ角ゴ Pro W3" pitchFamily="-109" charset="-128"/>
            </a:endParaRPr>
          </a:p>
        </p:txBody>
      </p:sp>
      <p:pic>
        <p:nvPicPr>
          <p:cNvPr id="12" name="Inhaltsplatzhalter 10">
            <a:extLst>
              <a:ext uri="{FF2B5EF4-FFF2-40B4-BE49-F238E27FC236}">
                <a16:creationId xmlns:a16="http://schemas.microsoft.com/office/drawing/2014/main" id="{B661D436-2233-506D-7A2F-E10C843CD71E}"/>
              </a:ext>
            </a:extLst>
          </p:cNvPr>
          <p:cNvPicPr>
            <a:picLocks noChangeAspect="1"/>
          </p:cNvPicPr>
          <p:nvPr/>
        </p:nvPicPr>
        <p:blipFill>
          <a:blip r:embed="rId4"/>
          <a:srcRect/>
          <a:stretch/>
        </p:blipFill>
        <p:spPr>
          <a:xfrm>
            <a:off x="6459538" y="2092721"/>
            <a:ext cx="5391149" cy="3369467"/>
          </a:xfrm>
          <a:prstGeom prst="rect">
            <a:avLst/>
          </a:prstGeom>
        </p:spPr>
      </p:pic>
      <p:sp>
        <p:nvSpPr>
          <p:cNvPr id="6" name="Foliennummernplatzhalter 5">
            <a:extLst>
              <a:ext uri="{FF2B5EF4-FFF2-40B4-BE49-F238E27FC236}">
                <a16:creationId xmlns:a16="http://schemas.microsoft.com/office/drawing/2014/main" id="{FDDD861D-7BC1-A08C-170C-81699AAD47C7}"/>
              </a:ext>
            </a:extLst>
          </p:cNvPr>
          <p:cNvSpPr>
            <a:spLocks noGrp="1"/>
          </p:cNvSpPr>
          <p:nvPr>
            <p:ph type="sldNum" sz="quarter" idx="10"/>
          </p:nvPr>
        </p:nvSpPr>
        <p:spPr/>
        <p:txBody>
          <a:bodyPr/>
          <a:lstStyle/>
          <a:p>
            <a:fld id="{80B4FCE6-DC73-4135-BC56-1F242D45A84C}" type="slidenum">
              <a:rPr lang="de-DE" smtClean="0"/>
              <a:t>13</a:t>
            </a:fld>
            <a:endParaRPr lang="de-DE"/>
          </a:p>
        </p:txBody>
      </p:sp>
    </p:spTree>
    <p:extLst>
      <p:ext uri="{BB962C8B-B14F-4D97-AF65-F5344CB8AC3E}">
        <p14:creationId xmlns:p14="http://schemas.microsoft.com/office/powerpoint/2010/main" val="33822467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1114C7-DE47-0944-DF0C-B611520E41A2}"/>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77D077AA-8134-0C8E-A018-B8169899F662}"/>
              </a:ext>
            </a:extLst>
          </p:cNvPr>
          <p:cNvSpPr>
            <a:spLocks noGrp="1"/>
          </p:cNvSpPr>
          <p:nvPr>
            <p:ph type="title"/>
          </p:nvPr>
        </p:nvSpPr>
        <p:spPr>
          <a:xfrm>
            <a:off x="341811" y="567600"/>
            <a:ext cx="5753662" cy="706030"/>
          </a:xfrm>
        </p:spPr>
        <p:txBody>
          <a:bodyPr/>
          <a:lstStyle/>
          <a:p>
            <a:r>
              <a:rPr lang="de-DE" sz="3200" dirty="0"/>
              <a:t>Entscheidungsgrenze im Training</a:t>
            </a:r>
            <a:endParaRPr lang="de-DE" dirty="0"/>
          </a:p>
        </p:txBody>
      </p:sp>
      <p:sp>
        <p:nvSpPr>
          <p:cNvPr id="7" name="Fußzeilenplatzhalter 6">
            <a:extLst>
              <a:ext uri="{FF2B5EF4-FFF2-40B4-BE49-F238E27FC236}">
                <a16:creationId xmlns:a16="http://schemas.microsoft.com/office/drawing/2014/main" id="{577BF275-4CD1-7013-A879-C0A89D49357B}"/>
              </a:ext>
            </a:extLst>
          </p:cNvPr>
          <p:cNvSpPr>
            <a:spLocks noGrp="1"/>
          </p:cNvSpPr>
          <p:nvPr>
            <p:ph type="ftr" sz="quarter" idx="11"/>
          </p:nvPr>
        </p:nvSpPr>
        <p:spPr/>
        <p:txBody>
          <a:bodyPr/>
          <a:lstStyle/>
          <a:p>
            <a:r>
              <a:rPr lang="de-DE"/>
              <a:t>Materialdiagnostik: Task 4</a:t>
            </a:r>
            <a:endParaRPr lang="de-DE" dirty="0"/>
          </a:p>
        </p:txBody>
      </p:sp>
      <p:sp>
        <p:nvSpPr>
          <p:cNvPr id="6" name="Datumsplatzhalter 5">
            <a:extLst>
              <a:ext uri="{FF2B5EF4-FFF2-40B4-BE49-F238E27FC236}">
                <a16:creationId xmlns:a16="http://schemas.microsoft.com/office/drawing/2014/main" id="{71B4C461-0198-1068-BC96-763CE6D3F62D}"/>
              </a:ext>
            </a:extLst>
          </p:cNvPr>
          <p:cNvSpPr>
            <a:spLocks noGrp="1"/>
          </p:cNvSpPr>
          <p:nvPr>
            <p:ph type="dt" sz="half" idx="12"/>
          </p:nvPr>
        </p:nvSpPr>
        <p:spPr/>
        <p:txBody>
          <a:bodyPr/>
          <a:lstStyle/>
          <a:p>
            <a:r>
              <a:rPr lang="de-DE"/>
              <a:t>23.07.2026</a:t>
            </a:r>
          </a:p>
        </p:txBody>
      </p:sp>
      <p:sp>
        <p:nvSpPr>
          <p:cNvPr id="3" name="Inhaltsplatzhalter 2">
            <a:extLst>
              <a:ext uri="{FF2B5EF4-FFF2-40B4-BE49-F238E27FC236}">
                <a16:creationId xmlns:a16="http://schemas.microsoft.com/office/drawing/2014/main" id="{E2941D31-2190-EAE9-0CC8-F35EF0683372}"/>
              </a:ext>
            </a:extLst>
          </p:cNvPr>
          <p:cNvSpPr>
            <a:spLocks noGrp="1"/>
          </p:cNvSpPr>
          <p:nvPr>
            <p:ph sz="quarter" idx="13"/>
          </p:nvPr>
        </p:nvSpPr>
        <p:spPr/>
        <p:txBody>
          <a:bodyPr/>
          <a:lstStyle/>
          <a:p>
            <a:pPr>
              <a:buFont typeface="Arial" panose="020B0604020202020204" pitchFamily="34" charset="0"/>
              <a:buChar char="•"/>
            </a:pPr>
            <a:r>
              <a:rPr lang="de-DE" dirty="0"/>
              <a:t>Punkte: Trainingsdaten in 2D-PCA-Projektion</a:t>
            </a:r>
          </a:p>
          <a:p>
            <a:pPr>
              <a:buFont typeface="Arial" panose="020B0604020202020204" pitchFamily="34" charset="0"/>
              <a:buChar char="•"/>
            </a:pPr>
            <a:r>
              <a:rPr lang="de-DE" dirty="0"/>
              <a:t>Linie: lineare Entscheidungsgrenze in der PCA-Ebene</a:t>
            </a:r>
          </a:p>
          <a:p>
            <a:pPr>
              <a:buFont typeface="Arial" panose="020B0604020202020204" pitchFamily="34" charset="0"/>
              <a:buChar char="•"/>
            </a:pPr>
            <a:r>
              <a:rPr lang="de-DE" dirty="0"/>
              <a:t>Rot: beschädigt `0`</a:t>
            </a:r>
          </a:p>
          <a:p>
            <a:pPr>
              <a:buFont typeface="Arial" panose="020B0604020202020204" pitchFamily="34" charset="0"/>
              <a:buChar char="•"/>
            </a:pPr>
            <a:r>
              <a:rPr lang="de-DE" dirty="0"/>
              <a:t>Blau: gut `1`</a:t>
            </a:r>
          </a:p>
          <a:p>
            <a:endParaRPr lang="de-DE" dirty="0"/>
          </a:p>
        </p:txBody>
      </p:sp>
      <p:pic>
        <p:nvPicPr>
          <p:cNvPr id="10" name="Inhaltsplatzhalter 9">
            <a:extLst>
              <a:ext uri="{FF2B5EF4-FFF2-40B4-BE49-F238E27FC236}">
                <a16:creationId xmlns:a16="http://schemas.microsoft.com/office/drawing/2014/main" id="{D4CDC262-EB45-F7AD-7318-38B1E600D84C}"/>
              </a:ext>
            </a:extLst>
          </p:cNvPr>
          <p:cNvPicPr>
            <a:picLocks noGrp="1" noChangeAspect="1"/>
          </p:cNvPicPr>
          <p:nvPr>
            <p:ph sz="quarter" idx="14"/>
          </p:nvPr>
        </p:nvPicPr>
        <p:blipFill>
          <a:blip r:embed="rId3"/>
          <a:stretch>
            <a:fillRect/>
          </a:stretch>
        </p:blipFill>
        <p:spPr>
          <a:xfrm>
            <a:off x="6095473" y="1755774"/>
            <a:ext cx="5755215" cy="4316411"/>
          </a:xfrm>
          <a:prstGeom prst="rect">
            <a:avLst/>
          </a:prstGeom>
        </p:spPr>
      </p:pic>
      <p:sp>
        <p:nvSpPr>
          <p:cNvPr id="11" name="Foliennummernplatzhalter 10">
            <a:extLst>
              <a:ext uri="{FF2B5EF4-FFF2-40B4-BE49-F238E27FC236}">
                <a16:creationId xmlns:a16="http://schemas.microsoft.com/office/drawing/2014/main" id="{58E06D0E-653E-42A5-34F5-C3CC178A4CE6}"/>
              </a:ext>
            </a:extLst>
          </p:cNvPr>
          <p:cNvSpPr>
            <a:spLocks noGrp="1"/>
          </p:cNvSpPr>
          <p:nvPr>
            <p:ph type="sldNum" sz="quarter" idx="10"/>
          </p:nvPr>
        </p:nvSpPr>
        <p:spPr/>
        <p:txBody>
          <a:bodyPr/>
          <a:lstStyle/>
          <a:p>
            <a:fld id="{80B4FCE6-DC73-4135-BC56-1F242D45A84C}" type="slidenum">
              <a:rPr lang="de-DE" smtClean="0"/>
              <a:t>14</a:t>
            </a:fld>
            <a:endParaRPr lang="de-DE"/>
          </a:p>
        </p:txBody>
      </p:sp>
    </p:spTree>
    <p:extLst>
      <p:ext uri="{BB962C8B-B14F-4D97-AF65-F5344CB8AC3E}">
        <p14:creationId xmlns:p14="http://schemas.microsoft.com/office/powerpoint/2010/main" val="64167216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E937EF-8FA5-3B82-EE02-E696CA86C502}"/>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2E8ED65B-A4A9-8253-D3F5-86AF9FABE744}"/>
              </a:ext>
            </a:extLst>
          </p:cNvPr>
          <p:cNvSpPr>
            <a:spLocks noGrp="1"/>
          </p:cNvSpPr>
          <p:nvPr>
            <p:ph type="title"/>
          </p:nvPr>
        </p:nvSpPr>
        <p:spPr>
          <a:xfrm>
            <a:off x="341811" y="567600"/>
            <a:ext cx="5753662" cy="706030"/>
          </a:xfrm>
        </p:spPr>
        <p:txBody>
          <a:bodyPr/>
          <a:lstStyle/>
          <a:p>
            <a:r>
              <a:rPr lang="de-DE" sz="3200" dirty="0"/>
              <a:t>Entscheidungsgrenze im Training</a:t>
            </a:r>
            <a:endParaRPr lang="de-DE" dirty="0"/>
          </a:p>
        </p:txBody>
      </p:sp>
      <p:sp>
        <p:nvSpPr>
          <p:cNvPr id="7" name="Fußzeilenplatzhalter 6">
            <a:extLst>
              <a:ext uri="{FF2B5EF4-FFF2-40B4-BE49-F238E27FC236}">
                <a16:creationId xmlns:a16="http://schemas.microsoft.com/office/drawing/2014/main" id="{B92395F9-CFA2-195F-9385-397DB9FE5811}"/>
              </a:ext>
            </a:extLst>
          </p:cNvPr>
          <p:cNvSpPr>
            <a:spLocks noGrp="1"/>
          </p:cNvSpPr>
          <p:nvPr>
            <p:ph type="ftr" sz="quarter" idx="11"/>
          </p:nvPr>
        </p:nvSpPr>
        <p:spPr/>
        <p:txBody>
          <a:bodyPr/>
          <a:lstStyle/>
          <a:p>
            <a:r>
              <a:rPr lang="de-DE"/>
              <a:t>Materialdiagnostik: Task 4</a:t>
            </a:r>
            <a:endParaRPr lang="de-DE" dirty="0"/>
          </a:p>
        </p:txBody>
      </p:sp>
      <p:sp>
        <p:nvSpPr>
          <p:cNvPr id="6" name="Datumsplatzhalter 5">
            <a:extLst>
              <a:ext uri="{FF2B5EF4-FFF2-40B4-BE49-F238E27FC236}">
                <a16:creationId xmlns:a16="http://schemas.microsoft.com/office/drawing/2014/main" id="{1847D22D-9F17-A821-E459-143396AD6852}"/>
              </a:ext>
            </a:extLst>
          </p:cNvPr>
          <p:cNvSpPr>
            <a:spLocks noGrp="1"/>
          </p:cNvSpPr>
          <p:nvPr>
            <p:ph type="dt" sz="half" idx="12"/>
          </p:nvPr>
        </p:nvSpPr>
        <p:spPr/>
        <p:txBody>
          <a:bodyPr/>
          <a:lstStyle/>
          <a:p>
            <a:r>
              <a:rPr lang="de-DE"/>
              <a:t>23.07.2026</a:t>
            </a:r>
          </a:p>
        </p:txBody>
      </p:sp>
      <p:sp>
        <p:nvSpPr>
          <p:cNvPr id="3" name="Inhaltsplatzhalter 2">
            <a:extLst>
              <a:ext uri="{FF2B5EF4-FFF2-40B4-BE49-F238E27FC236}">
                <a16:creationId xmlns:a16="http://schemas.microsoft.com/office/drawing/2014/main" id="{471E2137-723A-08A3-959D-6D24A2077FF4}"/>
              </a:ext>
            </a:extLst>
          </p:cNvPr>
          <p:cNvSpPr>
            <a:spLocks noGrp="1"/>
          </p:cNvSpPr>
          <p:nvPr>
            <p:ph sz="quarter" idx="13"/>
          </p:nvPr>
        </p:nvSpPr>
        <p:spPr/>
        <p:txBody>
          <a:bodyPr/>
          <a:lstStyle/>
          <a:p>
            <a:pPr>
              <a:buFont typeface="Arial" panose="020B0604020202020204" pitchFamily="34" charset="0"/>
              <a:buChar char="•"/>
            </a:pPr>
            <a:r>
              <a:rPr lang="de-DE" dirty="0"/>
              <a:t>Punkte: Trainingsdaten in 2D-PCA-Projektion</a:t>
            </a:r>
          </a:p>
          <a:p>
            <a:pPr>
              <a:buFont typeface="Arial" panose="020B0604020202020204" pitchFamily="34" charset="0"/>
              <a:buChar char="•"/>
            </a:pPr>
            <a:r>
              <a:rPr lang="de-DE" dirty="0"/>
              <a:t>Linie: lineare Entscheidungsgrenze in der PCA-Ebene</a:t>
            </a:r>
          </a:p>
          <a:p>
            <a:pPr>
              <a:buFont typeface="Arial" panose="020B0604020202020204" pitchFamily="34" charset="0"/>
              <a:buChar char="•"/>
            </a:pPr>
            <a:r>
              <a:rPr lang="de-DE" dirty="0"/>
              <a:t>Rot: beschädigt `0`</a:t>
            </a:r>
          </a:p>
          <a:p>
            <a:pPr>
              <a:buFont typeface="Arial" panose="020B0604020202020204" pitchFamily="34" charset="0"/>
              <a:buChar char="•"/>
            </a:pPr>
            <a:r>
              <a:rPr lang="de-DE" dirty="0"/>
              <a:t>Blau: gut `1`</a:t>
            </a:r>
          </a:p>
          <a:p>
            <a:endParaRPr lang="de-DE" dirty="0"/>
          </a:p>
        </p:txBody>
      </p:sp>
      <p:pic>
        <p:nvPicPr>
          <p:cNvPr id="10" name="Inhaltsplatzhalter 9">
            <a:extLst>
              <a:ext uri="{FF2B5EF4-FFF2-40B4-BE49-F238E27FC236}">
                <a16:creationId xmlns:a16="http://schemas.microsoft.com/office/drawing/2014/main" id="{D7DFFD06-9975-6A88-DD50-841259834DAE}"/>
              </a:ext>
            </a:extLst>
          </p:cNvPr>
          <p:cNvPicPr>
            <a:picLocks noGrp="1" noChangeAspect="1"/>
          </p:cNvPicPr>
          <p:nvPr>
            <p:ph sz="quarter" idx="14"/>
          </p:nvPr>
        </p:nvPicPr>
        <p:blipFill>
          <a:blip r:embed="rId3"/>
          <a:srcRect/>
          <a:stretch/>
        </p:blipFill>
        <p:spPr>
          <a:xfrm>
            <a:off x="6095473" y="1755774"/>
            <a:ext cx="5755215" cy="4316411"/>
          </a:xfrm>
          <a:prstGeom prst="rect">
            <a:avLst/>
          </a:prstGeom>
        </p:spPr>
      </p:pic>
      <p:sp>
        <p:nvSpPr>
          <p:cNvPr id="5" name="Foliennummernplatzhalter 4">
            <a:extLst>
              <a:ext uri="{FF2B5EF4-FFF2-40B4-BE49-F238E27FC236}">
                <a16:creationId xmlns:a16="http://schemas.microsoft.com/office/drawing/2014/main" id="{01107926-37B1-CA57-B637-A5F611C3389F}"/>
              </a:ext>
            </a:extLst>
          </p:cNvPr>
          <p:cNvSpPr>
            <a:spLocks noGrp="1"/>
          </p:cNvSpPr>
          <p:nvPr>
            <p:ph type="sldNum" sz="quarter" idx="10"/>
          </p:nvPr>
        </p:nvSpPr>
        <p:spPr/>
        <p:txBody>
          <a:bodyPr/>
          <a:lstStyle/>
          <a:p>
            <a:fld id="{80B4FCE6-DC73-4135-BC56-1F242D45A84C}" type="slidenum">
              <a:rPr lang="de-DE" smtClean="0"/>
              <a:t>15</a:t>
            </a:fld>
            <a:endParaRPr lang="de-DE"/>
          </a:p>
        </p:txBody>
      </p:sp>
    </p:spTree>
    <p:extLst>
      <p:ext uri="{BB962C8B-B14F-4D97-AF65-F5344CB8AC3E}">
        <p14:creationId xmlns:p14="http://schemas.microsoft.com/office/powerpoint/2010/main" val="346330018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93E163-6174-0335-CC5D-4CCB2676747C}"/>
            </a:ext>
          </a:extLst>
        </p:cNvPr>
        <p:cNvGrpSpPr/>
        <p:nvPr/>
      </p:nvGrpSpPr>
      <p:grpSpPr>
        <a:xfrm>
          <a:off x="0" y="0"/>
          <a:ext cx="0" cy="0"/>
          <a:chOff x="0" y="0"/>
          <a:chExt cx="0" cy="0"/>
        </a:xfrm>
      </p:grpSpPr>
      <p:sp>
        <p:nvSpPr>
          <p:cNvPr id="13" name="Rechteck: eine Ecke abgerundet 12">
            <a:extLst>
              <a:ext uri="{FF2B5EF4-FFF2-40B4-BE49-F238E27FC236}">
                <a16:creationId xmlns:a16="http://schemas.microsoft.com/office/drawing/2014/main" id="{F8E8A0BF-6C91-BB25-F574-EF1EB3FFC47E}"/>
              </a:ext>
            </a:extLst>
          </p:cNvPr>
          <p:cNvSpPr/>
          <p:nvPr/>
        </p:nvSpPr>
        <p:spPr bwMode="auto">
          <a:xfrm>
            <a:off x="6459536" y="1740625"/>
            <a:ext cx="750559" cy="704193"/>
          </a:xfrm>
          <a:prstGeom prst="round1Rect">
            <a:avLst/>
          </a:prstGeom>
          <a:solidFill>
            <a:schemeClr val="bg2">
              <a:lumMod val="40000"/>
              <a:lumOff val="60000"/>
            </a:schemeClr>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r>
              <a:rPr kumimoji="0" lang="de-DE" sz="1800" b="0" i="0" u="none" strike="noStrike" cap="none" normalizeH="0" baseline="0" dirty="0" err="1">
                <a:ln>
                  <a:noFill/>
                </a:ln>
                <a:solidFill>
                  <a:schemeClr val="tx1"/>
                </a:solidFill>
                <a:effectLst/>
                <a:latin typeface="Arial" pitchFamily="-109" charset="0"/>
                <a:ea typeface="ヒラギノ角ゴ Pro W3" pitchFamily="-109" charset="-128"/>
                <a:cs typeface="ヒラギノ角ゴ Pro W3" pitchFamily="-109" charset="-128"/>
              </a:rPr>
              <a:t>Ch</a:t>
            </a:r>
            <a:r>
              <a:rPr kumimoji="0" lang="de-DE" sz="1800" b="0" i="0" u="none" strike="noStrike" cap="none" normalizeH="0" baseline="0" dirty="0">
                <a:ln>
                  <a:noFill/>
                </a:ln>
                <a:solidFill>
                  <a:schemeClr val="tx1"/>
                </a:solidFill>
                <a:effectLst/>
                <a:latin typeface="Arial" pitchFamily="-109" charset="0"/>
                <a:ea typeface="ヒラギノ角ゴ Pro W3" pitchFamily="-109" charset="-128"/>
                <a:cs typeface="ヒラギノ角ゴ Pro W3" pitchFamily="-109" charset="-128"/>
              </a:rPr>
              <a:t> 1</a:t>
            </a:r>
            <a:endParaRPr kumimoji="0" lang="de-DE" sz="2400" b="0" i="0" u="none" strike="noStrike" cap="none" normalizeH="0" baseline="0" dirty="0">
              <a:ln>
                <a:noFill/>
              </a:ln>
              <a:solidFill>
                <a:schemeClr val="tx1"/>
              </a:solidFill>
              <a:effectLst/>
              <a:latin typeface="Arial" pitchFamily="-109" charset="0"/>
              <a:ea typeface="ヒラギノ角ゴ Pro W3" pitchFamily="-109" charset="-128"/>
              <a:cs typeface="ヒラギノ角ゴ Pro W3" pitchFamily="-109" charset="-128"/>
            </a:endParaRPr>
          </a:p>
        </p:txBody>
      </p:sp>
      <p:sp>
        <p:nvSpPr>
          <p:cNvPr id="2" name="Titel 1">
            <a:extLst>
              <a:ext uri="{FF2B5EF4-FFF2-40B4-BE49-F238E27FC236}">
                <a16:creationId xmlns:a16="http://schemas.microsoft.com/office/drawing/2014/main" id="{FF7BE80C-ADD9-4B83-0F35-FABC25DABF97}"/>
              </a:ext>
            </a:extLst>
          </p:cNvPr>
          <p:cNvSpPr>
            <a:spLocks noGrp="1"/>
          </p:cNvSpPr>
          <p:nvPr>
            <p:ph type="title"/>
          </p:nvPr>
        </p:nvSpPr>
        <p:spPr/>
        <p:txBody>
          <a:bodyPr/>
          <a:lstStyle/>
          <a:p>
            <a:r>
              <a:rPr lang="de-DE" sz="3200" dirty="0"/>
              <a:t>Testergebnisse</a:t>
            </a:r>
            <a:endParaRPr lang="de-DE" dirty="0"/>
          </a:p>
        </p:txBody>
      </p:sp>
      <p:sp>
        <p:nvSpPr>
          <p:cNvPr id="5" name="Fußzeilenplatzhalter 4">
            <a:extLst>
              <a:ext uri="{FF2B5EF4-FFF2-40B4-BE49-F238E27FC236}">
                <a16:creationId xmlns:a16="http://schemas.microsoft.com/office/drawing/2014/main" id="{3700FFC5-AF95-B68C-5F71-A8EF47B9C797}"/>
              </a:ext>
            </a:extLst>
          </p:cNvPr>
          <p:cNvSpPr>
            <a:spLocks noGrp="1"/>
          </p:cNvSpPr>
          <p:nvPr>
            <p:ph type="ftr" sz="quarter" idx="11"/>
          </p:nvPr>
        </p:nvSpPr>
        <p:spPr/>
        <p:txBody>
          <a:bodyPr/>
          <a:lstStyle/>
          <a:p>
            <a:r>
              <a:rPr lang="de-DE"/>
              <a:t>Materialdiagnostik: Task 4</a:t>
            </a:r>
            <a:endParaRPr lang="de-DE" dirty="0"/>
          </a:p>
        </p:txBody>
      </p:sp>
      <p:sp>
        <p:nvSpPr>
          <p:cNvPr id="3" name="Datumsplatzhalter 2">
            <a:extLst>
              <a:ext uri="{FF2B5EF4-FFF2-40B4-BE49-F238E27FC236}">
                <a16:creationId xmlns:a16="http://schemas.microsoft.com/office/drawing/2014/main" id="{34CADDE5-67A5-2686-564A-CA60BE28A110}"/>
              </a:ext>
            </a:extLst>
          </p:cNvPr>
          <p:cNvSpPr>
            <a:spLocks noGrp="1"/>
          </p:cNvSpPr>
          <p:nvPr>
            <p:ph type="dt" sz="half" idx="12"/>
          </p:nvPr>
        </p:nvSpPr>
        <p:spPr/>
        <p:txBody>
          <a:bodyPr/>
          <a:lstStyle/>
          <a:p>
            <a:r>
              <a:rPr lang="de-DE"/>
              <a:t>23.07.2026</a:t>
            </a:r>
          </a:p>
        </p:txBody>
      </p:sp>
      <p:sp>
        <p:nvSpPr>
          <p:cNvPr id="8" name="Inhaltsplatzhalter 7">
            <a:extLst>
              <a:ext uri="{FF2B5EF4-FFF2-40B4-BE49-F238E27FC236}">
                <a16:creationId xmlns:a16="http://schemas.microsoft.com/office/drawing/2014/main" id="{75AFD3C3-3EFB-85A6-8836-7191C35AF37E}"/>
              </a:ext>
            </a:extLst>
          </p:cNvPr>
          <p:cNvSpPr>
            <a:spLocks noGrp="1"/>
          </p:cNvSpPr>
          <p:nvPr>
            <p:ph sz="quarter" idx="13"/>
          </p:nvPr>
        </p:nvSpPr>
        <p:spPr/>
        <p:txBody>
          <a:bodyPr/>
          <a:lstStyle/>
          <a:p>
            <a:pPr>
              <a:buFont typeface="Arial" panose="020B0604020202020204" pitchFamily="34" charset="0"/>
              <a:buChar char="•"/>
            </a:pPr>
            <a:r>
              <a:rPr lang="de-DE" dirty="0"/>
              <a:t>Finale Bewertung auf Testsatz</a:t>
            </a:r>
          </a:p>
          <a:p>
            <a:pPr>
              <a:buFont typeface="Arial" panose="020B0604020202020204" pitchFamily="34" charset="0"/>
              <a:buChar char="•"/>
            </a:pPr>
            <a:r>
              <a:rPr lang="de-DE" dirty="0"/>
              <a:t>Aktuelle </a:t>
            </a:r>
            <a:r>
              <a:rPr lang="de-DE" dirty="0" err="1"/>
              <a:t>Testmetriken</a:t>
            </a:r>
            <a:r>
              <a:rPr lang="de-DE" dirty="0"/>
              <a:t>:</a:t>
            </a:r>
          </a:p>
          <a:p>
            <a:pPr lvl="1">
              <a:buFont typeface="Arial" panose="020B0604020202020204" pitchFamily="34" charset="0"/>
              <a:buChar char="•"/>
            </a:pPr>
            <a:r>
              <a:rPr lang="de-DE" dirty="0" err="1"/>
              <a:t>Accuracy</a:t>
            </a:r>
            <a:r>
              <a:rPr lang="de-DE" dirty="0"/>
              <a:t>: `1.00`</a:t>
            </a:r>
          </a:p>
          <a:p>
            <a:pPr lvl="1">
              <a:buFont typeface="Arial" panose="020B0604020202020204" pitchFamily="34" charset="0"/>
              <a:buChar char="•"/>
            </a:pPr>
            <a:r>
              <a:rPr lang="de-DE" dirty="0" err="1"/>
              <a:t>Balanced</a:t>
            </a:r>
            <a:r>
              <a:rPr lang="de-DE" dirty="0"/>
              <a:t> </a:t>
            </a:r>
            <a:r>
              <a:rPr lang="de-DE" dirty="0" err="1"/>
              <a:t>Accuracy</a:t>
            </a:r>
            <a:r>
              <a:rPr lang="de-DE" dirty="0"/>
              <a:t>: `1.00`</a:t>
            </a:r>
          </a:p>
          <a:p>
            <a:pPr lvl="1">
              <a:buFont typeface="Arial" panose="020B0604020202020204" pitchFamily="34" charset="0"/>
              <a:buChar char="•"/>
            </a:pPr>
            <a:r>
              <a:rPr lang="de-DE" dirty="0"/>
              <a:t>F1 für beschädigt: `1.00`</a:t>
            </a:r>
          </a:p>
          <a:p>
            <a:pPr>
              <a:buFont typeface="Arial" panose="020B0604020202020204" pitchFamily="34" charset="0"/>
              <a:buChar char="•"/>
            </a:pPr>
            <a:r>
              <a:rPr lang="de-DE" dirty="0"/>
              <a:t>Keine Fehlklassifikation im aktuellen Split</a:t>
            </a:r>
          </a:p>
        </p:txBody>
      </p:sp>
      <p:pic>
        <p:nvPicPr>
          <p:cNvPr id="11" name="Inhaltsplatzhalter 10">
            <a:extLst>
              <a:ext uri="{FF2B5EF4-FFF2-40B4-BE49-F238E27FC236}">
                <a16:creationId xmlns:a16="http://schemas.microsoft.com/office/drawing/2014/main" id="{6A6044F3-D308-6354-A347-71E8B0322F88}"/>
              </a:ext>
            </a:extLst>
          </p:cNvPr>
          <p:cNvPicPr>
            <a:picLocks noGrp="1" noChangeAspect="1"/>
          </p:cNvPicPr>
          <p:nvPr>
            <p:ph sz="quarter" idx="14"/>
          </p:nvPr>
        </p:nvPicPr>
        <p:blipFill>
          <a:blip r:embed="rId3"/>
          <a:srcRect/>
          <a:stretch/>
        </p:blipFill>
        <p:spPr>
          <a:xfrm>
            <a:off x="6455727" y="2068701"/>
            <a:ext cx="5196437" cy="4354385"/>
          </a:xfrm>
          <a:prstGeom prst="rect">
            <a:avLst/>
          </a:prstGeom>
        </p:spPr>
      </p:pic>
      <p:sp>
        <p:nvSpPr>
          <p:cNvPr id="15" name="Rechteck: eine Ecke abgerundet 14">
            <a:extLst>
              <a:ext uri="{FF2B5EF4-FFF2-40B4-BE49-F238E27FC236}">
                <a16:creationId xmlns:a16="http://schemas.microsoft.com/office/drawing/2014/main" id="{8A72FF3C-2C7B-8705-2775-AB010BAE17F4}"/>
              </a:ext>
            </a:extLst>
          </p:cNvPr>
          <p:cNvSpPr/>
          <p:nvPr/>
        </p:nvSpPr>
        <p:spPr bwMode="auto">
          <a:xfrm>
            <a:off x="6459536" y="1740625"/>
            <a:ext cx="750559" cy="704193"/>
          </a:xfrm>
          <a:prstGeom prst="round1Rect">
            <a:avLst/>
          </a:prstGeom>
          <a:solidFill>
            <a:schemeClr val="bg2">
              <a:lumMod val="40000"/>
              <a:lumOff val="60000"/>
            </a:schemeClr>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r>
              <a:rPr kumimoji="0" lang="de-DE" sz="1800" b="0" i="0" u="none" strike="noStrike" cap="none" normalizeH="0" baseline="0" dirty="0" err="1">
                <a:ln>
                  <a:noFill/>
                </a:ln>
                <a:solidFill>
                  <a:schemeClr val="tx1"/>
                </a:solidFill>
                <a:effectLst/>
                <a:latin typeface="Arial" pitchFamily="-109" charset="0"/>
                <a:ea typeface="ヒラギノ角ゴ Pro W3" pitchFamily="-109" charset="-128"/>
                <a:cs typeface="ヒラギノ角ゴ Pro W3" pitchFamily="-109" charset="-128"/>
              </a:rPr>
              <a:t>Ch</a:t>
            </a:r>
            <a:r>
              <a:rPr kumimoji="0" lang="de-DE" sz="1800" b="0" i="0" u="none" strike="noStrike" cap="none" normalizeH="0" baseline="0" dirty="0">
                <a:ln>
                  <a:noFill/>
                </a:ln>
                <a:solidFill>
                  <a:schemeClr val="tx1"/>
                </a:solidFill>
                <a:effectLst/>
                <a:latin typeface="Arial" pitchFamily="-109" charset="0"/>
                <a:ea typeface="ヒラギノ角ゴ Pro W3" pitchFamily="-109" charset="-128"/>
                <a:cs typeface="ヒラギノ角ゴ Pro W3" pitchFamily="-109" charset="-128"/>
              </a:rPr>
              <a:t> 2</a:t>
            </a:r>
            <a:endParaRPr kumimoji="0" lang="de-DE" sz="2400" b="0" i="0" u="none" strike="noStrike" cap="none" normalizeH="0" baseline="0" dirty="0">
              <a:ln>
                <a:noFill/>
              </a:ln>
              <a:solidFill>
                <a:schemeClr val="tx1"/>
              </a:solidFill>
              <a:effectLst/>
              <a:latin typeface="Arial" pitchFamily="-109" charset="0"/>
              <a:ea typeface="ヒラギノ角ゴ Pro W3" pitchFamily="-109" charset="-128"/>
              <a:cs typeface="ヒラギノ角ゴ Pro W3" pitchFamily="-109" charset="-128"/>
            </a:endParaRPr>
          </a:p>
        </p:txBody>
      </p:sp>
      <p:pic>
        <p:nvPicPr>
          <p:cNvPr id="12" name="Inhaltsplatzhalter 10">
            <a:extLst>
              <a:ext uri="{FF2B5EF4-FFF2-40B4-BE49-F238E27FC236}">
                <a16:creationId xmlns:a16="http://schemas.microsoft.com/office/drawing/2014/main" id="{C2D05996-D3A4-BF54-4EB7-5C95131B19A7}"/>
              </a:ext>
            </a:extLst>
          </p:cNvPr>
          <p:cNvPicPr>
            <a:picLocks noChangeAspect="1"/>
          </p:cNvPicPr>
          <p:nvPr/>
        </p:nvPicPr>
        <p:blipFill>
          <a:blip r:embed="rId3"/>
          <a:srcRect/>
          <a:stretch/>
        </p:blipFill>
        <p:spPr>
          <a:xfrm>
            <a:off x="6455727" y="2068701"/>
            <a:ext cx="5196437" cy="4354385"/>
          </a:xfrm>
          <a:prstGeom prst="rect">
            <a:avLst/>
          </a:prstGeom>
        </p:spPr>
      </p:pic>
      <p:sp>
        <p:nvSpPr>
          <p:cNvPr id="6" name="Foliennummernplatzhalter 5">
            <a:extLst>
              <a:ext uri="{FF2B5EF4-FFF2-40B4-BE49-F238E27FC236}">
                <a16:creationId xmlns:a16="http://schemas.microsoft.com/office/drawing/2014/main" id="{375A9587-B8AB-9FF9-3DB6-4B6D8BB7397F}"/>
              </a:ext>
            </a:extLst>
          </p:cNvPr>
          <p:cNvSpPr>
            <a:spLocks noGrp="1"/>
          </p:cNvSpPr>
          <p:nvPr>
            <p:ph type="sldNum" sz="quarter" idx="10"/>
          </p:nvPr>
        </p:nvSpPr>
        <p:spPr/>
        <p:txBody>
          <a:bodyPr/>
          <a:lstStyle/>
          <a:p>
            <a:fld id="{80B4FCE6-DC73-4135-BC56-1F242D45A84C}" type="slidenum">
              <a:rPr lang="de-DE" smtClean="0"/>
              <a:t>16</a:t>
            </a:fld>
            <a:endParaRPr lang="de-DE"/>
          </a:p>
        </p:txBody>
      </p:sp>
    </p:spTree>
    <p:extLst>
      <p:ext uri="{BB962C8B-B14F-4D97-AF65-F5344CB8AC3E}">
        <p14:creationId xmlns:p14="http://schemas.microsoft.com/office/powerpoint/2010/main" val="23517039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7AAFDA-5709-6898-CE4E-940E6A34EADE}"/>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11DF8090-BADC-27B4-F673-12947654E7F5}"/>
              </a:ext>
            </a:extLst>
          </p:cNvPr>
          <p:cNvSpPr>
            <a:spLocks noGrp="1"/>
          </p:cNvSpPr>
          <p:nvPr>
            <p:ph type="title"/>
          </p:nvPr>
        </p:nvSpPr>
        <p:spPr/>
        <p:txBody>
          <a:bodyPr/>
          <a:lstStyle/>
          <a:p>
            <a:r>
              <a:rPr lang="de-DE" dirty="0"/>
              <a:t>ROC und AUC</a:t>
            </a:r>
            <a:endParaRPr lang="de-DE" b="0" dirty="0"/>
          </a:p>
        </p:txBody>
      </p:sp>
      <p:sp>
        <p:nvSpPr>
          <p:cNvPr id="3" name="Foliennummernplatzhalter 2">
            <a:extLst>
              <a:ext uri="{FF2B5EF4-FFF2-40B4-BE49-F238E27FC236}">
                <a16:creationId xmlns:a16="http://schemas.microsoft.com/office/drawing/2014/main" id="{86D9B423-944C-1C30-B5CC-D3E5B59E7598}"/>
              </a:ext>
            </a:extLst>
          </p:cNvPr>
          <p:cNvSpPr>
            <a:spLocks noGrp="1"/>
          </p:cNvSpPr>
          <p:nvPr>
            <p:ph type="sldNum" sz="quarter" idx="10"/>
          </p:nvPr>
        </p:nvSpPr>
        <p:spPr/>
        <p:txBody>
          <a:bodyPr/>
          <a:lstStyle/>
          <a:p>
            <a:fld id="{80B4FCE6-DC73-4135-BC56-1F242D45A84C}" type="slidenum">
              <a:rPr lang="de-DE" smtClean="0"/>
              <a:t>17</a:t>
            </a:fld>
            <a:endParaRPr lang="de-DE"/>
          </a:p>
        </p:txBody>
      </p:sp>
      <p:sp>
        <p:nvSpPr>
          <p:cNvPr id="7" name="Fußzeilenplatzhalter 6">
            <a:extLst>
              <a:ext uri="{FF2B5EF4-FFF2-40B4-BE49-F238E27FC236}">
                <a16:creationId xmlns:a16="http://schemas.microsoft.com/office/drawing/2014/main" id="{61398641-4C2C-6031-67B2-033E0BC9BEAF}"/>
              </a:ext>
            </a:extLst>
          </p:cNvPr>
          <p:cNvSpPr>
            <a:spLocks noGrp="1"/>
          </p:cNvSpPr>
          <p:nvPr>
            <p:ph type="ftr" sz="quarter" idx="11"/>
          </p:nvPr>
        </p:nvSpPr>
        <p:spPr/>
        <p:txBody>
          <a:bodyPr/>
          <a:lstStyle/>
          <a:p>
            <a:r>
              <a:rPr lang="de-DE"/>
              <a:t>Materialdiagnostik: Task 4</a:t>
            </a:r>
            <a:endParaRPr lang="de-DE" dirty="0"/>
          </a:p>
        </p:txBody>
      </p:sp>
      <p:sp>
        <p:nvSpPr>
          <p:cNvPr id="6" name="Datumsplatzhalter 5">
            <a:extLst>
              <a:ext uri="{FF2B5EF4-FFF2-40B4-BE49-F238E27FC236}">
                <a16:creationId xmlns:a16="http://schemas.microsoft.com/office/drawing/2014/main" id="{9CD15804-53A8-F6A6-4020-8B7067A69EC8}"/>
              </a:ext>
            </a:extLst>
          </p:cNvPr>
          <p:cNvSpPr>
            <a:spLocks noGrp="1"/>
          </p:cNvSpPr>
          <p:nvPr>
            <p:ph type="dt" sz="half" idx="12"/>
          </p:nvPr>
        </p:nvSpPr>
        <p:spPr/>
        <p:txBody>
          <a:bodyPr/>
          <a:lstStyle/>
          <a:p>
            <a:r>
              <a:rPr lang="de-DE"/>
              <a:t>23.07.2026</a:t>
            </a:r>
          </a:p>
        </p:txBody>
      </p:sp>
      <p:sp>
        <p:nvSpPr>
          <p:cNvPr id="4" name="Inhaltsplatzhalter 3">
            <a:extLst>
              <a:ext uri="{FF2B5EF4-FFF2-40B4-BE49-F238E27FC236}">
                <a16:creationId xmlns:a16="http://schemas.microsoft.com/office/drawing/2014/main" id="{9E24C8D9-E4E3-E9CF-1805-31E38BF75F4C}"/>
              </a:ext>
            </a:extLst>
          </p:cNvPr>
          <p:cNvSpPr>
            <a:spLocks noGrp="1"/>
          </p:cNvSpPr>
          <p:nvPr>
            <p:ph sz="quarter" idx="13"/>
          </p:nvPr>
        </p:nvSpPr>
        <p:spPr/>
        <p:txBody>
          <a:bodyPr/>
          <a:lstStyle/>
          <a:p>
            <a:pPr>
              <a:buFont typeface="Arial" panose="020B0604020202020204" pitchFamily="34" charset="0"/>
              <a:buChar char="•"/>
            </a:pPr>
            <a:endParaRPr lang="de-DE" dirty="0"/>
          </a:p>
          <a:p>
            <a:pPr>
              <a:buFont typeface="Arial" panose="020B0604020202020204" pitchFamily="34" charset="0"/>
              <a:buChar char="•"/>
            </a:pPr>
            <a:r>
              <a:rPr lang="de-DE" dirty="0"/>
              <a:t>ROC für Klasse 0 = beschädigt</a:t>
            </a:r>
          </a:p>
          <a:p>
            <a:pPr>
              <a:buFont typeface="Arial" panose="020B0604020202020204" pitchFamily="34" charset="0"/>
              <a:buChar char="•"/>
            </a:pPr>
            <a:r>
              <a:rPr lang="de-DE" dirty="0"/>
              <a:t>AUC: 1.00</a:t>
            </a:r>
          </a:p>
          <a:p>
            <a:pPr>
              <a:buFont typeface="Arial" panose="020B0604020202020204" pitchFamily="34" charset="0"/>
              <a:buChar char="•"/>
            </a:pPr>
            <a:r>
              <a:rPr lang="de-DE" dirty="0"/>
              <a:t>Kurve liegt ideal links oben</a:t>
            </a:r>
          </a:p>
          <a:p>
            <a:endParaRPr lang="de-DE" dirty="0"/>
          </a:p>
        </p:txBody>
      </p:sp>
      <p:pic>
        <p:nvPicPr>
          <p:cNvPr id="10" name="Inhaltsplatzhalter 9">
            <a:extLst>
              <a:ext uri="{FF2B5EF4-FFF2-40B4-BE49-F238E27FC236}">
                <a16:creationId xmlns:a16="http://schemas.microsoft.com/office/drawing/2014/main" id="{C5D9F17E-32D1-AC34-CA50-AD008C0C61A7}"/>
              </a:ext>
            </a:extLst>
          </p:cNvPr>
          <p:cNvPicPr>
            <a:picLocks noGrp="1" noChangeAspect="1"/>
          </p:cNvPicPr>
          <p:nvPr>
            <p:ph sz="quarter" idx="14"/>
          </p:nvPr>
        </p:nvPicPr>
        <p:blipFill>
          <a:blip r:embed="rId3"/>
          <a:stretch>
            <a:fillRect/>
          </a:stretch>
        </p:blipFill>
        <p:spPr>
          <a:xfrm>
            <a:off x="6637205" y="1619250"/>
            <a:ext cx="5035815" cy="4316413"/>
          </a:xfrm>
          <a:prstGeom prst="rect">
            <a:avLst/>
          </a:prstGeom>
        </p:spPr>
      </p:pic>
    </p:spTree>
    <p:extLst>
      <p:ext uri="{BB962C8B-B14F-4D97-AF65-F5344CB8AC3E}">
        <p14:creationId xmlns:p14="http://schemas.microsoft.com/office/powerpoint/2010/main" val="291664192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BA22DC-F88E-99AF-A1B7-63C4E1E70CFE}"/>
            </a:ext>
          </a:extLst>
        </p:cNvPr>
        <p:cNvGrpSpPr/>
        <p:nvPr/>
      </p:nvGrpSpPr>
      <p:grpSpPr>
        <a:xfrm>
          <a:off x="0" y="0"/>
          <a:ext cx="0" cy="0"/>
          <a:chOff x="0" y="0"/>
          <a:chExt cx="0" cy="0"/>
        </a:xfrm>
      </p:grpSpPr>
      <p:sp>
        <p:nvSpPr>
          <p:cNvPr id="3" name="Foliennummernplatzhalter 2">
            <a:extLst>
              <a:ext uri="{FF2B5EF4-FFF2-40B4-BE49-F238E27FC236}">
                <a16:creationId xmlns:a16="http://schemas.microsoft.com/office/drawing/2014/main" id="{58211961-23B0-E5D4-DD50-236DA340FDDE}"/>
              </a:ext>
            </a:extLst>
          </p:cNvPr>
          <p:cNvSpPr>
            <a:spLocks noGrp="1"/>
          </p:cNvSpPr>
          <p:nvPr>
            <p:ph type="sldNum" sz="quarter" idx="10"/>
          </p:nvPr>
        </p:nvSpPr>
        <p:spPr/>
        <p:txBody>
          <a:bodyPr/>
          <a:lstStyle/>
          <a:p>
            <a:fld id="{80B4FCE6-DC73-4135-BC56-1F242D45A84C}" type="slidenum">
              <a:rPr lang="de-DE" smtClean="0"/>
              <a:t>18</a:t>
            </a:fld>
            <a:endParaRPr lang="de-DE"/>
          </a:p>
        </p:txBody>
      </p:sp>
      <p:sp>
        <p:nvSpPr>
          <p:cNvPr id="7" name="Fußzeilenplatzhalter 6">
            <a:extLst>
              <a:ext uri="{FF2B5EF4-FFF2-40B4-BE49-F238E27FC236}">
                <a16:creationId xmlns:a16="http://schemas.microsoft.com/office/drawing/2014/main" id="{F90F7BFF-E634-F432-B716-E8CCB89A7606}"/>
              </a:ext>
            </a:extLst>
          </p:cNvPr>
          <p:cNvSpPr>
            <a:spLocks noGrp="1"/>
          </p:cNvSpPr>
          <p:nvPr>
            <p:ph type="ftr" sz="quarter" idx="11"/>
          </p:nvPr>
        </p:nvSpPr>
        <p:spPr/>
        <p:txBody>
          <a:bodyPr/>
          <a:lstStyle/>
          <a:p>
            <a:r>
              <a:rPr lang="de-DE"/>
              <a:t>Materialdiagnostik: Task 4</a:t>
            </a:r>
            <a:endParaRPr lang="de-DE" dirty="0"/>
          </a:p>
        </p:txBody>
      </p:sp>
      <p:sp>
        <p:nvSpPr>
          <p:cNvPr id="6" name="Datumsplatzhalter 5">
            <a:extLst>
              <a:ext uri="{FF2B5EF4-FFF2-40B4-BE49-F238E27FC236}">
                <a16:creationId xmlns:a16="http://schemas.microsoft.com/office/drawing/2014/main" id="{6285D009-B3CD-3F2A-D8EE-96546325CCDB}"/>
              </a:ext>
            </a:extLst>
          </p:cNvPr>
          <p:cNvSpPr>
            <a:spLocks noGrp="1"/>
          </p:cNvSpPr>
          <p:nvPr>
            <p:ph type="dt" sz="half" idx="12"/>
          </p:nvPr>
        </p:nvSpPr>
        <p:spPr/>
        <p:txBody>
          <a:bodyPr/>
          <a:lstStyle/>
          <a:p>
            <a:r>
              <a:rPr lang="de-DE"/>
              <a:t>23.07.2026</a:t>
            </a:r>
          </a:p>
        </p:txBody>
      </p:sp>
      <p:sp>
        <p:nvSpPr>
          <p:cNvPr id="11" name="Inhaltsplatzhalter 10">
            <a:extLst>
              <a:ext uri="{FF2B5EF4-FFF2-40B4-BE49-F238E27FC236}">
                <a16:creationId xmlns:a16="http://schemas.microsoft.com/office/drawing/2014/main" id="{32197734-3134-43BC-590B-CFFB46F37A9B}"/>
              </a:ext>
            </a:extLst>
          </p:cNvPr>
          <p:cNvSpPr>
            <a:spLocks noGrp="1"/>
          </p:cNvSpPr>
          <p:nvPr>
            <p:ph sz="quarter" idx="13"/>
          </p:nvPr>
        </p:nvSpPr>
        <p:spPr/>
        <p:txBody>
          <a:bodyPr/>
          <a:lstStyle/>
          <a:p>
            <a:pPr>
              <a:buFont typeface="Arial" panose="020B0604020202020204" pitchFamily="34" charset="0"/>
              <a:buChar char="•"/>
            </a:pPr>
            <a:endParaRPr lang="de-DE" dirty="0"/>
          </a:p>
          <a:p>
            <a:pPr>
              <a:buFont typeface="Arial" panose="020B0604020202020204" pitchFamily="34" charset="0"/>
              <a:buChar char="•"/>
            </a:pPr>
            <a:r>
              <a:rPr lang="de-DE" dirty="0"/>
              <a:t>Sehr gute Ergebnisse im aktuellen Split</a:t>
            </a:r>
          </a:p>
          <a:p>
            <a:pPr>
              <a:buFont typeface="Arial" panose="020B0604020202020204" pitchFamily="34" charset="0"/>
              <a:buChar char="•"/>
            </a:pPr>
            <a:r>
              <a:rPr lang="de-DE" dirty="0"/>
              <a:t>Aber:</a:t>
            </a:r>
          </a:p>
          <a:p>
            <a:pPr lvl="1">
              <a:buFont typeface="Arial" panose="020B0604020202020204" pitchFamily="34" charset="0"/>
              <a:buChar char="•"/>
            </a:pPr>
            <a:r>
              <a:rPr lang="de-DE" dirty="0"/>
              <a:t>kleiner Datensatz</a:t>
            </a:r>
          </a:p>
          <a:p>
            <a:pPr lvl="1">
              <a:buFont typeface="Arial" panose="020B0604020202020204" pitchFamily="34" charset="0"/>
              <a:buChar char="•"/>
            </a:pPr>
            <a:r>
              <a:rPr lang="de-DE" dirty="0"/>
              <a:t>nur Z05 ist beschädigt</a:t>
            </a:r>
          </a:p>
          <a:p>
            <a:pPr lvl="1">
              <a:buFont typeface="Arial" panose="020B0604020202020204" pitchFamily="34" charset="0"/>
              <a:buChar char="•"/>
            </a:pPr>
            <a:r>
              <a:rPr lang="de-DE" dirty="0"/>
              <a:t>gute Testdaten stammen aus unbekanntem Zahnrad Z03</a:t>
            </a:r>
          </a:p>
          <a:p>
            <a:pPr lvl="1">
              <a:buFont typeface="Arial" panose="020B0604020202020204" pitchFamily="34" charset="0"/>
              <a:buChar char="•"/>
            </a:pPr>
            <a:r>
              <a:rPr lang="de-DE" dirty="0"/>
              <a:t>beschädigte Klasse stammt weiterhin nur aus Z05</a:t>
            </a:r>
          </a:p>
          <a:p>
            <a:pPr lvl="1">
              <a:buFont typeface="Arial" panose="020B0604020202020204" pitchFamily="34" charset="0"/>
              <a:buChar char="•"/>
            </a:pPr>
            <a:r>
              <a:rPr lang="de-DE" dirty="0"/>
              <a:t>Generalisierung auf neue beschädigte Zahnräder offen</a:t>
            </a:r>
          </a:p>
          <a:p>
            <a:endParaRPr lang="de-DE" dirty="0"/>
          </a:p>
        </p:txBody>
      </p:sp>
      <p:sp>
        <p:nvSpPr>
          <p:cNvPr id="2" name="Titel 1">
            <a:extLst>
              <a:ext uri="{FF2B5EF4-FFF2-40B4-BE49-F238E27FC236}">
                <a16:creationId xmlns:a16="http://schemas.microsoft.com/office/drawing/2014/main" id="{6697FF2F-4ABD-DBF1-1A9F-CD59B441583D}"/>
              </a:ext>
            </a:extLst>
          </p:cNvPr>
          <p:cNvSpPr>
            <a:spLocks noGrp="1"/>
          </p:cNvSpPr>
          <p:nvPr>
            <p:ph type="title"/>
          </p:nvPr>
        </p:nvSpPr>
        <p:spPr/>
        <p:txBody>
          <a:bodyPr/>
          <a:lstStyle/>
          <a:p>
            <a:r>
              <a:rPr lang="de-DE" sz="3200" dirty="0"/>
              <a:t>Kritische Diskussion</a:t>
            </a:r>
            <a:endParaRPr lang="de-DE" dirty="0"/>
          </a:p>
        </p:txBody>
      </p:sp>
    </p:spTree>
    <p:extLst>
      <p:ext uri="{BB962C8B-B14F-4D97-AF65-F5344CB8AC3E}">
        <p14:creationId xmlns:p14="http://schemas.microsoft.com/office/powerpoint/2010/main" val="286572769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Inhaltsplatzhalter 2">
            <a:extLst>
              <a:ext uri="{FF2B5EF4-FFF2-40B4-BE49-F238E27FC236}">
                <a16:creationId xmlns:a16="http://schemas.microsoft.com/office/drawing/2014/main" id="{EC792880-C870-78F8-FD9F-3732660E48D9}"/>
              </a:ext>
            </a:extLst>
          </p:cNvPr>
          <p:cNvSpPr>
            <a:spLocks noGrp="1"/>
          </p:cNvSpPr>
          <p:nvPr>
            <p:ph sz="quarter" idx="13"/>
          </p:nvPr>
        </p:nvSpPr>
        <p:spPr/>
        <p:txBody>
          <a:bodyPr/>
          <a:lstStyle/>
          <a:p>
            <a:pPr>
              <a:buFont typeface="Arial" panose="020B0604020202020204" pitchFamily="34" charset="0"/>
              <a:buChar char="•"/>
            </a:pPr>
            <a:endParaRPr lang="de-DE" dirty="0"/>
          </a:p>
          <a:p>
            <a:pPr>
              <a:buFont typeface="Arial" panose="020B0604020202020204" pitchFamily="34" charset="0"/>
              <a:buChar char="•"/>
            </a:pPr>
            <a:r>
              <a:rPr lang="de-DE" dirty="0"/>
              <a:t>Pipeline von gemittelten Merkmalen zu zwei Channel-MLPs</a:t>
            </a:r>
          </a:p>
          <a:p>
            <a:pPr>
              <a:buFont typeface="Arial" panose="020B0604020202020204" pitchFamily="34" charset="0"/>
              <a:buChar char="•"/>
            </a:pPr>
            <a:r>
              <a:rPr lang="de-DE" dirty="0"/>
              <a:t>Zahnrad basierter Split statt zufälligem Dateisplit</a:t>
            </a:r>
          </a:p>
          <a:p>
            <a:pPr>
              <a:buFont typeface="Arial" panose="020B0604020202020204" pitchFamily="34" charset="0"/>
              <a:buChar char="•"/>
            </a:pPr>
            <a:r>
              <a:rPr lang="de-DE" dirty="0"/>
              <a:t>Testsignale werden nach Channel geroutet</a:t>
            </a:r>
          </a:p>
          <a:p>
            <a:pPr>
              <a:buFont typeface="Arial" panose="020B0604020202020204" pitchFamily="34" charset="0"/>
              <a:buChar char="•"/>
            </a:pPr>
            <a:r>
              <a:rPr lang="de-DE" dirty="0"/>
              <a:t>Beide MLPs erreichen perfekte Testwerte im aktuellen Datensatz</a:t>
            </a:r>
          </a:p>
          <a:p>
            <a:pPr>
              <a:buFont typeface="Arial" panose="020B0604020202020204" pitchFamily="34" charset="0"/>
              <a:buChar char="•"/>
            </a:pPr>
            <a:r>
              <a:rPr lang="de-DE" dirty="0"/>
              <a:t>Nächster Schritt: mehr beschädigte Proben testen</a:t>
            </a:r>
          </a:p>
        </p:txBody>
      </p:sp>
      <p:sp>
        <p:nvSpPr>
          <p:cNvPr id="2" name="Titel 1">
            <a:extLst>
              <a:ext uri="{FF2B5EF4-FFF2-40B4-BE49-F238E27FC236}">
                <a16:creationId xmlns:a16="http://schemas.microsoft.com/office/drawing/2014/main" id="{C254BBB6-51EB-B8DF-B124-F43AAB73DC5D}"/>
              </a:ext>
            </a:extLst>
          </p:cNvPr>
          <p:cNvSpPr>
            <a:spLocks noGrp="1"/>
          </p:cNvSpPr>
          <p:nvPr>
            <p:ph type="title"/>
          </p:nvPr>
        </p:nvSpPr>
        <p:spPr/>
        <p:txBody>
          <a:bodyPr/>
          <a:lstStyle/>
          <a:p>
            <a:r>
              <a:rPr lang="de-DE" sz="3200" dirty="0"/>
              <a:t>Fazit</a:t>
            </a:r>
          </a:p>
        </p:txBody>
      </p:sp>
      <p:sp>
        <p:nvSpPr>
          <p:cNvPr id="5" name="Datumsplatzhalter 4">
            <a:extLst>
              <a:ext uri="{FF2B5EF4-FFF2-40B4-BE49-F238E27FC236}">
                <a16:creationId xmlns:a16="http://schemas.microsoft.com/office/drawing/2014/main" id="{A1BB0821-ACF4-FAAA-FCFD-FE000BACD3BE}"/>
              </a:ext>
            </a:extLst>
          </p:cNvPr>
          <p:cNvSpPr>
            <a:spLocks noGrp="1"/>
          </p:cNvSpPr>
          <p:nvPr>
            <p:ph type="dt" sz="half" idx="12"/>
          </p:nvPr>
        </p:nvSpPr>
        <p:spPr/>
        <p:txBody>
          <a:bodyPr/>
          <a:lstStyle/>
          <a:p>
            <a:r>
              <a:rPr lang="de-DE"/>
              <a:t>23.07.2026</a:t>
            </a:r>
          </a:p>
        </p:txBody>
      </p:sp>
      <p:sp>
        <p:nvSpPr>
          <p:cNvPr id="6" name="Fußzeilenplatzhalter 5">
            <a:extLst>
              <a:ext uri="{FF2B5EF4-FFF2-40B4-BE49-F238E27FC236}">
                <a16:creationId xmlns:a16="http://schemas.microsoft.com/office/drawing/2014/main" id="{44504410-AB8A-471C-1D33-002F641A2C98}"/>
              </a:ext>
            </a:extLst>
          </p:cNvPr>
          <p:cNvSpPr>
            <a:spLocks noGrp="1"/>
          </p:cNvSpPr>
          <p:nvPr>
            <p:ph type="ftr" sz="quarter" idx="11"/>
          </p:nvPr>
        </p:nvSpPr>
        <p:spPr/>
        <p:txBody>
          <a:bodyPr/>
          <a:lstStyle/>
          <a:p>
            <a:r>
              <a:rPr lang="de-DE"/>
              <a:t>Materialdiagnostik: Task 4</a:t>
            </a:r>
            <a:endParaRPr lang="de-DE" dirty="0"/>
          </a:p>
        </p:txBody>
      </p:sp>
      <p:sp>
        <p:nvSpPr>
          <p:cNvPr id="7" name="Foliennummernplatzhalter 6">
            <a:extLst>
              <a:ext uri="{FF2B5EF4-FFF2-40B4-BE49-F238E27FC236}">
                <a16:creationId xmlns:a16="http://schemas.microsoft.com/office/drawing/2014/main" id="{A8EACD8A-4E1D-8443-CADB-49E8F22A8887}"/>
              </a:ext>
            </a:extLst>
          </p:cNvPr>
          <p:cNvSpPr>
            <a:spLocks noGrp="1"/>
          </p:cNvSpPr>
          <p:nvPr>
            <p:ph type="sldNum" sz="quarter" idx="10"/>
          </p:nvPr>
        </p:nvSpPr>
        <p:spPr/>
        <p:txBody>
          <a:bodyPr/>
          <a:lstStyle/>
          <a:p>
            <a:fld id="{80B4FCE6-DC73-4135-BC56-1F242D45A84C}" type="slidenum">
              <a:rPr lang="de-DE" smtClean="0"/>
              <a:t>19</a:t>
            </a:fld>
            <a:endParaRPr lang="de-DE"/>
          </a:p>
        </p:txBody>
      </p:sp>
    </p:spTree>
    <p:extLst>
      <p:ext uri="{BB962C8B-B14F-4D97-AF65-F5344CB8AC3E}">
        <p14:creationId xmlns:p14="http://schemas.microsoft.com/office/powerpoint/2010/main" val="17693089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7E9BDB3-AF05-698B-206C-6C9919554531}"/>
              </a:ext>
            </a:extLst>
          </p:cNvPr>
          <p:cNvSpPr>
            <a:spLocks noGrp="1"/>
          </p:cNvSpPr>
          <p:nvPr>
            <p:ph type="title"/>
          </p:nvPr>
        </p:nvSpPr>
        <p:spPr/>
        <p:txBody>
          <a:bodyPr/>
          <a:lstStyle/>
          <a:p>
            <a:r>
              <a:rPr lang="de-DE" dirty="0"/>
              <a:t>Ende</a:t>
            </a:r>
          </a:p>
        </p:txBody>
      </p:sp>
    </p:spTree>
    <p:extLst>
      <p:ext uri="{BB962C8B-B14F-4D97-AF65-F5344CB8AC3E}">
        <p14:creationId xmlns:p14="http://schemas.microsoft.com/office/powerpoint/2010/main" val="467022224"/>
      </p:ext>
    </p:extLst>
  </p:cSld>
  <p:clrMapOvr>
    <a:masterClrMapping/>
  </p:clrMapOvr>
</p:sld>
</file>

<file path=ppt/theme/theme1.xml><?xml version="1.0" encoding="utf-8"?>
<a:theme xmlns:a="http://schemas.openxmlformats.org/drawingml/2006/main" name="B-TU_Design_new">
  <a:themeElements>
    <a:clrScheme name="Leere Präsentatio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2007 - 2010">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de-DE" sz="2400" b="0" i="0" u="none" strike="noStrike" cap="none" normalizeH="0" baseline="0">
            <a:ln>
              <a:noFill/>
            </a:ln>
            <a:solidFill>
              <a:schemeClr val="tx1"/>
            </a:solidFill>
            <a:effectLst/>
            <a:latin typeface="Arial" pitchFamily="-109" charset="0"/>
            <a:ea typeface="ヒラギノ角ゴ Pro W3" pitchFamily="-109" charset="-128"/>
            <a:cs typeface="ヒラギノ角ゴ Pro W3" pitchFamily="-109" charset="-128"/>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de-DE" sz="2400" b="0" i="0" u="none" strike="noStrike" cap="none" normalizeH="0" baseline="0">
            <a:ln>
              <a:noFill/>
            </a:ln>
            <a:solidFill>
              <a:schemeClr val="tx1"/>
            </a:solidFill>
            <a:effectLst/>
            <a:latin typeface="Arial" pitchFamily="-109" charset="0"/>
            <a:ea typeface="ヒラギノ角ゴ Pro W3" pitchFamily="-109" charset="-128"/>
            <a:cs typeface="ヒラギノ角ゴ Pro W3" pitchFamily="-109" charset="-128"/>
          </a:defRPr>
        </a:defPPr>
      </a:lstStyle>
    </a:lnDef>
  </a:objectDefaults>
  <a:extraClrSchemeLst>
    <a:extraClrScheme>
      <a:clrScheme name="Leere Präsentatio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Leere Präsentation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Leere Präsentation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Leere Präsentation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Leere Präsentation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Leere Präsentation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Leere Präsentation 7">
        <a:dk1>
          <a:srgbClr val="5C1F00"/>
        </a:dk1>
        <a:lt1>
          <a:srgbClr val="FFFFFF"/>
        </a:lt1>
        <a:dk2>
          <a:srgbClr val="800000"/>
        </a:dk2>
        <a:lt2>
          <a:srgbClr val="DFD293"/>
        </a:lt2>
        <a:accent1>
          <a:srgbClr val="713E39"/>
        </a:accent1>
        <a:accent2>
          <a:srgbClr val="BE7960"/>
        </a:accent2>
        <a:accent3>
          <a:srgbClr val="C0AAAA"/>
        </a:accent3>
        <a:accent4>
          <a:srgbClr val="DADADA"/>
        </a:accent4>
        <a:accent5>
          <a:srgbClr val="BBAFAE"/>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Leere Präsentation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Leere Präsentation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Leere Präsentation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Leere Präsentation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Leere Präsentation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B-TU_Design_new" id="{646A7671-C426-4EDE-91D9-79A1794CE4D5}" vid="{0D282BB0-0299-4ACE-B272-414AB2767CE9}"/>
    </a:ext>
  </a:ext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B-TU_Design</Template>
  <TotalTime>0</TotalTime>
  <Words>1798</Words>
  <Application>Microsoft Office PowerPoint</Application>
  <PresentationFormat>Breitbild</PresentationFormat>
  <Paragraphs>304</Paragraphs>
  <Slides>20</Slides>
  <Notes>20</Notes>
  <HiddenSlides>0</HiddenSlides>
  <MMClips>0</MMClips>
  <ScaleCrop>false</ScaleCrop>
  <HeadingPairs>
    <vt:vector size="6" baseType="variant">
      <vt:variant>
        <vt:lpstr>Verwendete Schriftarten</vt:lpstr>
      </vt:variant>
      <vt:variant>
        <vt:i4>5</vt:i4>
      </vt:variant>
      <vt:variant>
        <vt:lpstr>Design</vt:lpstr>
      </vt:variant>
      <vt:variant>
        <vt:i4>1</vt:i4>
      </vt:variant>
      <vt:variant>
        <vt:lpstr>Folientitel</vt:lpstr>
      </vt:variant>
      <vt:variant>
        <vt:i4>20</vt:i4>
      </vt:variant>
    </vt:vector>
  </HeadingPairs>
  <TitlesOfParts>
    <vt:vector size="26" baseType="lpstr">
      <vt:lpstr>Aptos</vt:lpstr>
      <vt:lpstr>Arial</vt:lpstr>
      <vt:lpstr>Courier New</vt:lpstr>
      <vt:lpstr>Lucida Grande</vt:lpstr>
      <vt:lpstr>ヒラギノ角ゴ Pro W3</vt:lpstr>
      <vt:lpstr>B-TU_Design_new</vt:lpstr>
      <vt:lpstr>Seminaraufgabe 4</vt:lpstr>
      <vt:lpstr>Gliederung</vt:lpstr>
      <vt:lpstr>Daten &amp; Pipelines</vt:lpstr>
      <vt:lpstr>Datensatz und Label-Zuordnung</vt:lpstr>
      <vt:lpstr>Kreuzvalidierung</vt:lpstr>
      <vt:lpstr>Autoencoder</vt:lpstr>
      <vt:lpstr>Metriken &amp; Schwelle</vt:lpstr>
      <vt:lpstr>Einzelmessungen</vt:lpstr>
      <vt:lpstr>MLP-Modell</vt:lpstr>
      <vt:lpstr>Hyperparameter-Suche</vt:lpstr>
      <vt:lpstr>Code-Überblick</vt:lpstr>
      <vt:lpstr>Loss Curves</vt:lpstr>
      <vt:lpstr>Learning Curves</vt:lpstr>
      <vt:lpstr>Entscheidungsgrenze im Training</vt:lpstr>
      <vt:lpstr>Entscheidungsgrenze im Training</vt:lpstr>
      <vt:lpstr>Testergebnisse</vt:lpstr>
      <vt:lpstr>ROC und AUC</vt:lpstr>
      <vt:lpstr>Kritische Diskussion</vt:lpstr>
      <vt:lpstr>Fazit</vt:lpstr>
      <vt:lpstr>Ende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Tim Giese</dc:creator>
  <cp:lastModifiedBy>Benjamin Gielczynski</cp:lastModifiedBy>
  <cp:revision>62</cp:revision>
  <dcterms:created xsi:type="dcterms:W3CDTF">2026-06-13T09:02:33Z</dcterms:created>
  <dcterms:modified xsi:type="dcterms:W3CDTF">2026-07-21T10:58:12Z</dcterms:modified>
</cp:coreProperties>
</file>