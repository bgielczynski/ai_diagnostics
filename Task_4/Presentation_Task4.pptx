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2"/>
  </p:notesMasterIdLst>
  <p:handoutMasterIdLst>
    <p:handoutMasterId r:id="rId23"/>
  </p:handoutMasterIdLst>
  <p:sldIdLst>
    <p:sldId id="256" r:id="rId2"/>
    <p:sldId id="257" r:id="rId3"/>
    <p:sldId id="266" r:id="rId4"/>
    <p:sldId id="258" r:id="rId5"/>
    <p:sldId id="263" r:id="rId6"/>
    <p:sldId id="267" r:id="rId7"/>
    <p:sldId id="264" r:id="rId8"/>
    <p:sldId id="269" r:id="rId9"/>
    <p:sldId id="268" r:id="rId10"/>
    <p:sldId id="265" r:id="rId11"/>
    <p:sldId id="270" r:id="rId12"/>
    <p:sldId id="271" r:id="rId13"/>
    <p:sldId id="278" r:id="rId14"/>
    <p:sldId id="272" r:id="rId15"/>
    <p:sldId id="279" r:id="rId16"/>
    <p:sldId id="280" r:id="rId17"/>
    <p:sldId id="273" r:id="rId18"/>
    <p:sldId id="274" r:id="rId19"/>
    <p:sldId id="275" r:id="rId20"/>
    <p:sldId id="277" r:id="rId21"/>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23"/>
    <p:restoredTop sz="77175" autoAdjust="0"/>
  </p:normalViewPr>
  <p:slideViewPr>
    <p:cSldViewPr snapToGrid="0">
      <p:cViewPr varScale="1">
        <p:scale>
          <a:sx n="73" d="100"/>
          <a:sy n="73" d="100"/>
        </p:scale>
        <p:origin x="1147"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21.07.2026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21.07.2026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Label deshalb gedreht (zu Task 3), da wir True werden wenn unser Model ein anomales Zahnrad findet.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Label-Zuordnung basiert auf den Ergebnissen aus Aufgabe 2. Dort wurde `Z05` als beschädigt betrachtet, während `Z01` bis `Z04` als gut verwendet werden. Wichtig ist, dass nur eine Probe die Klasse 0 bildet. Das ist für die spätere Diskussion relevant, weil das Modell dadurch nicht viele verschiedene beschädigte Zahnräder sieht.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Deshalb in Dataframe-manager neue Spalte `</a:t>
            </a:r>
            <a:r>
              <a:rPr lang="de-DE" sz="1200" b="0" kern="1200" dirty="0" err="1">
                <a:solidFill>
                  <a:schemeClr val="tx1"/>
                </a:solidFill>
                <a:effectLst/>
                <a:latin typeface="+mn-lt"/>
                <a:ea typeface="+mn-ea"/>
                <a:cs typeface="+mn-cs"/>
              </a:rPr>
              <a:t>label</a:t>
            </a:r>
            <a:r>
              <a:rPr lang="de-DE" sz="1200" b="0" kern="1200" dirty="0">
                <a:solidFill>
                  <a:schemeClr val="tx1"/>
                </a:solidFill>
                <a:effectLst/>
                <a:latin typeface="+mn-lt"/>
                <a:ea typeface="+mn-ea"/>
                <a:cs typeface="+mn-cs"/>
              </a:rPr>
              <a: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10140310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Victor</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sz="1200" b="0" kern="1200" dirty="0">
                <a:solidFill>
                  <a:schemeClr val="tx1"/>
                </a:solidFill>
                <a:effectLst/>
                <a:latin typeface="+mn-lt"/>
                <a:ea typeface="+mn-ea"/>
                <a:cs typeface="+mn-cs"/>
              </a:rPr>
              <a:t>Die Spezifität beträgt in allen Folds 1,000; es treten keine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Positives auf.</a:t>
            </a:r>
          </a:p>
          <a:p>
            <a:r>
              <a:rPr lang="de-DE" sz="1200" b="0" kern="1200" dirty="0">
                <a:solidFill>
                  <a:schemeClr val="tx1"/>
                </a:solidFill>
                <a:effectLst/>
                <a:latin typeface="+mn-lt"/>
                <a:ea typeface="+mn-ea"/>
                <a:cs typeface="+mn-cs"/>
              </a:rPr>
              <a:t>Fold 1 bis 3 sind gut, Fold 4 weist dagegen viele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Negatives der gesunden</a:t>
            </a:r>
          </a:p>
          <a:p>
            <a:r>
              <a:rPr lang="de-DE" sz="1200" b="0" kern="1200" dirty="0">
                <a:solidFill>
                  <a:schemeClr val="tx1"/>
                </a:solidFill>
                <a:effectLst/>
                <a:latin typeface="+mn-lt"/>
                <a:ea typeface="+mn-ea"/>
                <a:cs typeface="+mn-cs"/>
              </a:rPr>
              <a:t>Z01-Testgruppe auf. Ohne Mittelung bleibt die Variation der fünf</a:t>
            </a:r>
          </a:p>
          <a:p>
            <a:r>
              <a:rPr lang="de-DE" sz="1200" b="0" kern="1200" dirty="0">
                <a:solidFill>
                  <a:schemeClr val="tx1"/>
                </a:solidFill>
                <a:effectLst/>
                <a:latin typeface="+mn-lt"/>
                <a:ea typeface="+mn-ea"/>
                <a:cs typeface="+mn-cs"/>
              </a:rPr>
              <a:t>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Hyperparameter werden nicht auf dem Testsatz ausgewählt. Für jede Kombination trainieren wir auf dem Trainingssatz und bewerten auf dem Entwicklungssatz. Das beste Modell wird anhand der Entwicklungs-Metriken ausgewählt. Danach wird das finale Modell mit Training plus Entwicklung neu trainiert und erst dann auf dem Testsatz bewertet.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Die Code-Vorstellung läuft am besten über `main.py`, weil dort alle Schritte sichtbar zusammenlaufen: Signale laden, Split anwenden, Features extrahieren,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mitteln, pro Channel ein Modell trainieren und am Ende Ergebnisse speichern. Die anderen Dateien erklären wir kurz nach ihrer Rolle. `dataframe_manager.py` baut den Rohdaten-Data-Frame aus den WAV-Dateien. `split.py` enthält die methodisch wichtige Aufteilung: `Z01` und `Z02` ins Training, `Z04` in den Entwicklungssatz, `Z03` in den Testsatz und `Z05` positionsbasiert in alle drei Splits. `extraction.py` berechnet die Merkmale wie MFCC, Spektralmerkmale, Chroma, Zero-Crossing-Rate und RMS. `model.py` muss nicht im Detail vorgestellt werden; wichtig ist nur, dass dort `</a:t>
            </a:r>
            <a:r>
              <a:rPr lang="de-DE" sz="1200" b="0" kern="1200" dirty="0" err="1">
                <a:solidFill>
                  <a:schemeClr val="tx1"/>
                </a:solidFill>
                <a:effectLst/>
                <a:latin typeface="+mn-lt"/>
                <a:ea typeface="+mn-ea"/>
                <a:cs typeface="+mn-cs"/>
              </a:rPr>
              <a:t>StandardScaler</a:t>
            </a:r>
            <a:r>
              <a:rPr lang="de-DE" sz="1200" b="0" kern="1200" dirty="0">
                <a:solidFill>
                  <a:schemeClr val="tx1"/>
                </a:solidFill>
                <a:effectLst/>
                <a:latin typeface="+mn-lt"/>
                <a:ea typeface="+mn-ea"/>
                <a:cs typeface="+mn-cs"/>
              </a:rPr>
              <a:t> -&gt; </a:t>
            </a:r>
            <a:r>
              <a:rPr lang="de-DE" sz="1200" b="0" kern="1200" dirty="0" err="1">
                <a:solidFill>
                  <a:schemeClr val="tx1"/>
                </a:solidFill>
                <a:effectLst/>
                <a:latin typeface="+mn-lt"/>
                <a:ea typeface="+mn-ea"/>
                <a:cs typeface="+mn-cs"/>
              </a:rPr>
              <a:t>MLPClassifier</a:t>
            </a:r>
            <a:r>
              <a:rPr lang="de-DE" sz="1200" b="0" kern="1200" dirty="0">
                <a:solidFill>
                  <a:schemeClr val="tx1"/>
                </a:solidFill>
                <a:effectLst/>
                <a:latin typeface="+mn-lt"/>
                <a:ea typeface="+mn-ea"/>
                <a:cs typeface="+mn-cs"/>
              </a:rPr>
              <a:t>`, Hyperparameter-Suche, finale Evaluation, ROC,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und Loss-Kurven umgesetzt sind.</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David</a:t>
            </a:r>
          </a:p>
          <a:p>
            <a:r>
              <a:rPr lang="de-DE" sz="1200" b="0" kern="1200" dirty="0">
                <a:solidFill>
                  <a:schemeClr val="tx1"/>
                </a:solidFill>
                <a:effectLst/>
                <a:latin typeface="+mn-lt"/>
                <a:ea typeface="+mn-ea"/>
                <a:cs typeface="+mn-cs"/>
              </a:rPr>
              <a:t>Die Training-Loss-Kurve zeigt, wie sich der Fehler während des Trainings entwickelt. Der Loss basiert auf den vorhergesagten Wahrscheinlichkeiten des MLP und den echten Labels. Wenn das Modell der richtigen Klasse eine hohe Wahrscheinlichkeit gibt, ist der Loss klein. Wenn es unsicher oder falsch liegt, steigt der Loss. In unseren Kurven sinkt der Loss deutlich ab, was zeigt, dass das Training funktioniert und das Modell die Trainingsdaten zunehmend besser beschreibt. Wichtig ist aber, dass ein niedriger Trainings-Loss allein nicht   ausreicht. Ein Modell kann auf Trainingsdaten sehr gut sein und trotzdem schlecht generalisieren. Deshalb bewerten wir zusätzlich mit Entwicklungssatz, Testsatz, ROC/AUC und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a:t>
            </a:r>
          </a:p>
        </p:txBody>
      </p:sp>
      <p:sp>
        <p:nvSpPr>
          <p:cNvPr id="4" name="Foliennummernplatzhalter 3"/>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5680251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32459-7450-A094-EFE4-A5719BBE60A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0A727EB-4506-57C5-94F3-6703BF0E0E8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80DF9377-D63B-B215-1E30-95489284FCD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Learning </a:t>
            </a:r>
            <a:r>
              <a:rPr lang="de-DE" sz="1200" b="0" kern="1200" dirty="0" err="1">
                <a:solidFill>
                  <a:schemeClr val="tx1"/>
                </a:solidFill>
                <a:effectLst/>
                <a:latin typeface="+mn-lt"/>
                <a:ea typeface="+mn-ea"/>
                <a:cs typeface="+mn-cs"/>
              </a:rPr>
              <a:t>Curves</a:t>
            </a:r>
            <a:r>
              <a:rPr lang="de-DE" sz="1200" b="0" kern="1200" dirty="0">
                <a:solidFill>
                  <a:schemeClr val="tx1"/>
                </a:solidFill>
                <a:effectLst/>
                <a:latin typeface="+mn-lt"/>
                <a:ea typeface="+mn-ea"/>
                <a:cs typeface="+mn-cs"/>
              </a:rPr>
              <a:t> zeigen, wie gut das Modell mit wachsender Trainingsmenge wird. </a:t>
            </a:r>
          </a:p>
          <a:p>
            <a:r>
              <a:rPr lang="de-DE" sz="1200" b="0" kern="1200" dirty="0">
                <a:solidFill>
                  <a:schemeClr val="tx1"/>
                </a:solidFill>
                <a:effectLst/>
                <a:latin typeface="+mn-lt"/>
                <a:ea typeface="+mn-ea"/>
                <a:cs typeface="+mn-cs"/>
              </a:rPr>
              <a:t>Im aktuellen Split erreicht `Ch1` schon mit kleinen Trainingsmengen perfekte Entwicklungswerte. </a:t>
            </a:r>
          </a:p>
          <a:p>
            <a:r>
              <a:rPr lang="de-DE" sz="1200" b="0" kern="1200" dirty="0">
                <a:solidFill>
                  <a:schemeClr val="tx1"/>
                </a:solidFill>
                <a:effectLst/>
                <a:latin typeface="+mn-lt"/>
                <a:ea typeface="+mn-ea"/>
                <a:cs typeface="+mn-cs"/>
              </a:rPr>
              <a:t>`Ch2` verbessert sich schrittweise und erreicht die perfekten Entwicklungswerte erst mit der gesamten Trainingsmenge.</a:t>
            </a:r>
          </a:p>
        </p:txBody>
      </p:sp>
      <p:sp>
        <p:nvSpPr>
          <p:cNvPr id="4" name="Foliennummernplatzhalter 3">
            <a:extLst>
              <a:ext uri="{FF2B5EF4-FFF2-40B4-BE49-F238E27FC236}">
                <a16:creationId xmlns:a16="http://schemas.microsoft.com/office/drawing/2014/main" id="{5714CD32-AC14-F66C-2FDB-9965745FDDFE}"/>
              </a:ext>
            </a:extLst>
          </p:cNvPr>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35838778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21339107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FF985-53AC-E751-BA8C-BC7DEA5F3C7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D88C51C-D20F-5D3F-AFB8-301D93D8137F}"/>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20285DFC-E835-86B2-BB91-E156E3F0C14C}"/>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endParaRPr lang="de-DE" dirty="0"/>
          </a:p>
        </p:txBody>
      </p:sp>
      <p:sp>
        <p:nvSpPr>
          <p:cNvPr id="4" name="Foliennummernplatzhalter 3">
            <a:extLst>
              <a:ext uri="{FF2B5EF4-FFF2-40B4-BE49-F238E27FC236}">
                <a16:creationId xmlns:a16="http://schemas.microsoft.com/office/drawing/2014/main" id="{A4A929B9-3971-4019-B480-8B92AE76D090}"/>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434411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223C-46EC-F132-120C-79DCC285922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31AB49A-A181-E6C4-52A9-32F54132F86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1A1B5407-2556-B13C-8BA6-1F2CF5FC46B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Die </a:t>
            </a:r>
            <a:r>
              <a:rPr lang="de-DE" sz="1200" b="0" kern="1200" dirty="0" err="1">
                <a:solidFill>
                  <a:schemeClr val="tx1"/>
                </a:solidFill>
                <a:effectLst/>
                <a:latin typeface="+mn-lt"/>
                <a:ea typeface="+mn-ea"/>
                <a:cs typeface="+mn-cs"/>
              </a:rPr>
              <a:t>Confusion</a:t>
            </a:r>
            <a:r>
              <a:rPr lang="de-DE" sz="1200" b="0" kern="1200" dirty="0">
                <a:solidFill>
                  <a:schemeClr val="tx1"/>
                </a:solidFill>
                <a:effectLst/>
                <a:latin typeface="+mn-lt"/>
                <a:ea typeface="+mn-ea"/>
                <a:cs typeface="+mn-cs"/>
              </a:rPr>
              <a:t> Matrix zeigt, dass im aktuellen Testsatz alle Beispiele korrekt klassifiziert wurden. </a:t>
            </a:r>
          </a:p>
          <a:p>
            <a:r>
              <a:rPr lang="de-DE" sz="1200" b="0" kern="1200" dirty="0">
                <a:solidFill>
                  <a:schemeClr val="tx1"/>
                </a:solidFill>
                <a:effectLst/>
                <a:latin typeface="+mn-lt"/>
                <a:ea typeface="+mn-ea"/>
                <a:cs typeface="+mn-cs"/>
              </a:rPr>
              <a:t>Besonders wichtig ist der  für Klasse 0</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viele Vorhersagen waren insgesamt richtig?</a:t>
            </a:r>
            <a:br>
              <a:rPr lang="de-DE" sz="1200" b="0" kern="1200" dirty="0">
                <a:solidFill>
                  <a:schemeClr val="tx1"/>
                </a:solidFill>
                <a:effectLst/>
                <a:latin typeface="+mn-lt"/>
                <a:ea typeface="+mn-ea"/>
                <a:cs typeface="+mn-cs"/>
              </a:rPr>
            </a:br>
            <a:r>
              <a:rPr lang="de-DE" sz="1200" b="0" kern="1200" dirty="0" err="1">
                <a:solidFill>
                  <a:schemeClr val="tx1"/>
                </a:solidFill>
                <a:effectLst/>
                <a:latin typeface="+mn-lt"/>
                <a:ea typeface="+mn-ea"/>
                <a:cs typeface="+mn-cs"/>
              </a:rPr>
              <a:t>Balanced</a:t>
            </a:r>
            <a:r>
              <a:rPr lang="de-DE" sz="1200" b="0" kern="1200" dirty="0">
                <a:solidFill>
                  <a:schemeClr val="tx1"/>
                </a:solidFill>
                <a:effectLst/>
                <a:latin typeface="+mn-lt"/>
                <a:ea typeface="+mn-ea"/>
                <a:cs typeface="+mn-cs"/>
              </a:rPr>
              <a:t> </a:t>
            </a:r>
            <a:r>
              <a:rPr lang="de-DE" sz="1200" b="0" kern="1200" dirty="0" err="1">
                <a:solidFill>
                  <a:schemeClr val="tx1"/>
                </a:solidFill>
                <a:effectLst/>
                <a:latin typeface="+mn-lt"/>
                <a:ea typeface="+mn-ea"/>
                <a:cs typeface="+mn-cs"/>
              </a:rPr>
              <a:t>Accuracy</a:t>
            </a:r>
            <a:r>
              <a:rPr lang="de-DE" sz="1200" b="0" kern="1200" dirty="0">
                <a:solidFill>
                  <a:schemeClr val="tx1"/>
                </a:solidFill>
                <a:effectLst/>
                <a:latin typeface="+mn-lt"/>
                <a:ea typeface="+mn-ea"/>
                <a:cs typeface="+mn-cs"/>
              </a:rPr>
              <a:t>: Wie gut funktioniert das Modell durchschnittlich für beide Klassen?</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F1: Wie gut ist der Kompromiss zwischen TPR und TNR</a:t>
            </a:r>
          </a:p>
        </p:txBody>
      </p:sp>
      <p:sp>
        <p:nvSpPr>
          <p:cNvPr id="4" name="Foliennummernplatzhalter 3">
            <a:extLst>
              <a:ext uri="{FF2B5EF4-FFF2-40B4-BE49-F238E27FC236}">
                <a16:creationId xmlns:a16="http://schemas.microsoft.com/office/drawing/2014/main" id="{71FC3C16-880E-E124-F68B-73B6A73B0C69}"/>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2066585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Benjamin</a:t>
            </a:r>
          </a:p>
          <a:p>
            <a:r>
              <a:rPr lang="de-DE" sz="1200" b="0" kern="1200" dirty="0">
                <a:solidFill>
                  <a:schemeClr val="tx1"/>
                </a:solidFill>
                <a:effectLst/>
                <a:latin typeface="+mn-lt"/>
                <a:ea typeface="+mn-ea"/>
                <a:cs typeface="+mn-cs"/>
              </a:rPr>
              <a:t>ROC: </a:t>
            </a:r>
            <a:r>
              <a:rPr lang="de-DE" dirty="0"/>
              <a:t>Receiver Operating </a:t>
            </a:r>
            <a:r>
              <a:rPr lang="de-DE" dirty="0" err="1"/>
              <a:t>Characteristic</a:t>
            </a:r>
            <a:br>
              <a:rPr lang="de-DE" dirty="0"/>
            </a:br>
            <a:r>
              <a:rPr lang="de-DE" dirty="0"/>
              <a:t>AUC: Area Under </a:t>
            </a:r>
            <a:r>
              <a:rPr lang="de-DE" dirty="0" err="1"/>
              <a:t>the</a:t>
            </a:r>
            <a:r>
              <a:rPr lang="de-DE" dirty="0"/>
              <a:t> </a:t>
            </a:r>
            <a:r>
              <a:rPr lang="de-DE" dirty="0" err="1"/>
              <a:t>Curve</a:t>
            </a:r>
            <a:endParaRPr lang="de-DE" sz="1200" b="0" kern="1200" dirty="0">
              <a:solidFill>
                <a:schemeClr val="tx1"/>
              </a:solidFill>
              <a:effectLst/>
              <a:latin typeface="+mn-lt"/>
              <a:ea typeface="+mn-ea"/>
              <a:cs typeface="+mn-cs"/>
            </a:endParaRPr>
          </a:p>
          <a:p>
            <a:r>
              <a:rPr lang="de-DE" sz="1200" b="0" kern="1200" dirty="0">
                <a:solidFill>
                  <a:schemeClr val="tx1"/>
                </a:solidFill>
                <a:effectLst/>
                <a:latin typeface="+mn-lt"/>
                <a:ea typeface="+mn-ea"/>
                <a:cs typeface="+mn-cs"/>
              </a:rPr>
              <a:t>Die ROC-Kurve zeigt, wie gut das Modell zwischen </a:t>
            </a:r>
            <a:r>
              <a:rPr lang="de-DE" sz="1200" b="0" kern="1200" dirty="0" err="1">
                <a:solidFill>
                  <a:schemeClr val="tx1"/>
                </a:solidFill>
                <a:effectLst/>
                <a:latin typeface="+mn-lt"/>
                <a:ea typeface="+mn-ea"/>
                <a:cs typeface="+mn-cs"/>
              </a:rPr>
              <a:t>beschaedigt</a:t>
            </a:r>
            <a:r>
              <a:rPr lang="de-DE" sz="1200" b="0" kern="1200" dirty="0">
                <a:solidFill>
                  <a:schemeClr val="tx1"/>
                </a:solidFill>
                <a:effectLst/>
                <a:latin typeface="+mn-lt"/>
                <a:ea typeface="+mn-ea"/>
                <a:cs typeface="+mn-cs"/>
              </a:rPr>
              <a:t> und gut trennt, wenn man den Entscheidungsschwellwert </a:t>
            </a:r>
            <a:r>
              <a:rPr lang="de-DE" sz="1200" b="0" kern="1200" dirty="0" err="1">
                <a:solidFill>
                  <a:schemeClr val="tx1"/>
                </a:solidFill>
                <a:effectLst/>
                <a:latin typeface="+mn-lt"/>
                <a:ea typeface="+mn-ea"/>
                <a:cs typeface="+mn-cs"/>
              </a:rPr>
              <a:t>veraendert</a:t>
            </a:r>
            <a:r>
              <a:rPr lang="de-DE" sz="1200" b="0" kern="1200" dirty="0">
                <a:solidFill>
                  <a:schemeClr val="tx1"/>
                </a:solidFill>
                <a:effectLst/>
                <a:latin typeface="+mn-lt"/>
                <a:ea typeface="+mn-ea"/>
                <a:cs typeface="+mn-cs"/>
              </a:rPr>
              <a:t>. Eine AUC von 1.0 bedeutet perfekte Trennung im aktuellen Testsatz. Auch hier gilt: Das ist ein starkes Ergebnis, aber wegen der Datenlage vorsichtig zu interpretieren.</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3954313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Der wichtigste Diskussionsteil ist die Einordnung. Der neue Split prüft die guten Zahnräder strenger, weil `Z03` im Test nicht im Training vorkommt. Für die beschädigte Klasse bleibt die Aussage begrenzt, weil alle beschädigten Signale aus `Z05` stammen. Für eine robuste Aussage bräuchte man weitere beschädigte Zahnräder.</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Zusammenfassend haben wir eine vollständige Klassifikationspipeline aufgebaut. Die wichtigsten methodischen Entscheidungen waren die Feature-Mittelung über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der zahnradbasierte Split und zwei getrennte Modelle für `Ch1` und `Ch2`. Das Ergebnis ist sehr gut, muss aber wegen der begrenzten Datenbasis kritisch diskutiert werden. Für eine robustere Aussage wären weitere beschädigte Zahnräder notwendig.</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20</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0)</a:t>
            </a:r>
            <a:r>
              <a:rPr lang="de-DE" dirty="0"/>
              <a:t>; </a:t>
            </a:r>
            <a:br>
              <a:rPr lang="de-DE" dirty="0"/>
            </a:br>
            <a:r>
              <a:rPr lang="de-DE" dirty="0"/>
              <a:t>Z05: </a:t>
            </a:r>
            <a:r>
              <a:rPr lang="de-DE" b="1" dirty="0"/>
              <a:t>anomal (Label 1)</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1964912950"/>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t>Pipeline</a:t>
                      </a:r>
                    </a:p>
                  </a:txBody>
                  <a:tcPr/>
                </a:tc>
                <a:tc>
                  <a:txBody>
                    <a:bodyPr/>
                    <a:lstStyle/>
                    <a:p>
                      <a:r>
                        <a:rPr lang="de-DE" dirty="0"/>
                        <a:t>Verarbeitung nach Feature-Extraktion</a:t>
                      </a:r>
                    </a:p>
                  </a:txBody>
                  <a:tcPr/>
                </a:tc>
                <a:tc>
                  <a:txBody>
                    <a:bodyPr/>
                    <a:lstStyle/>
                    <a:p>
                      <a:r>
                        <a:rPr lang="de-DE" dirty="0"/>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Inhaltsplatzhalter 9">
            <a:extLst>
              <a:ext uri="{FF2B5EF4-FFF2-40B4-BE49-F238E27FC236}">
                <a16:creationId xmlns:a16="http://schemas.microsoft.com/office/drawing/2014/main" id="{7B8D0937-7521-B2D4-9DC6-F495F659D7E3}"/>
              </a:ext>
            </a:extLst>
          </p:cNvPr>
          <p:cNvSpPr>
            <a:spLocks noGrp="1"/>
          </p:cNvSpPr>
          <p:nvPr>
            <p:ph sz="quarter" idx="13"/>
          </p:nvPr>
        </p:nvSpPr>
        <p:spPr/>
        <p:txBody>
          <a:bodyPr/>
          <a:lstStyle/>
          <a:p>
            <a:pPr>
              <a:buFont typeface="Arial" panose="020B0604020202020204" pitchFamily="34" charset="0"/>
              <a:buChar char="•"/>
            </a:pPr>
            <a:r>
              <a:rPr lang="de-DE" dirty="0"/>
              <a:t>Datenquelle: selbe wie Task_2</a:t>
            </a:r>
          </a:p>
          <a:p>
            <a:pPr>
              <a:buFont typeface="Arial" panose="020B0604020202020204" pitchFamily="34" charset="0"/>
              <a:buChar char="•"/>
            </a:pPr>
            <a:r>
              <a:rPr lang="de-DE" dirty="0"/>
              <a:t>Proben: Z01 bis Z05</a:t>
            </a:r>
          </a:p>
          <a:p>
            <a:pPr>
              <a:buFont typeface="Arial" panose="020B0604020202020204" pitchFamily="34" charset="0"/>
              <a:buChar char="•"/>
            </a:pPr>
            <a:r>
              <a:rPr lang="de-DE" dirty="0"/>
              <a:t>Label-Zuordnung:</a:t>
            </a:r>
          </a:p>
          <a:p>
            <a:pPr lvl="1">
              <a:buFont typeface="Arial" panose="020B0604020202020204" pitchFamily="34" charset="0"/>
              <a:buChar char="•"/>
            </a:pPr>
            <a:r>
              <a:rPr lang="de-DE" dirty="0"/>
              <a:t>Z01, Z02, Z03, Z04 = gut</a:t>
            </a:r>
          </a:p>
          <a:p>
            <a:pPr lvl="1">
              <a:buFont typeface="Arial" panose="020B0604020202020204" pitchFamily="34" charset="0"/>
              <a:buChar char="•"/>
            </a:pPr>
            <a:r>
              <a:rPr lang="de-DE" dirty="0"/>
              <a:t>Z05 = beschädigt</a:t>
            </a:r>
          </a:p>
          <a:p>
            <a:pPr>
              <a:buFont typeface="Arial" panose="020B0604020202020204" pitchFamily="34" charset="0"/>
              <a:buChar char="•"/>
            </a:pPr>
            <a:r>
              <a:rPr lang="de-DE" dirty="0"/>
              <a:t>Kanäle: Ch1, Ch2</a:t>
            </a:r>
          </a:p>
        </p:txBody>
      </p:sp>
      <p:sp>
        <p:nvSpPr>
          <p:cNvPr id="5" name="Titel 4">
            <a:extLst>
              <a:ext uri="{FF2B5EF4-FFF2-40B4-BE49-F238E27FC236}">
                <a16:creationId xmlns:a16="http://schemas.microsoft.com/office/drawing/2014/main" id="{FF548E49-692C-4BBE-8063-A0FA8DCFE074}"/>
              </a:ext>
            </a:extLst>
          </p:cNvPr>
          <p:cNvSpPr>
            <a:spLocks noGrp="1"/>
          </p:cNvSpPr>
          <p:nvPr>
            <p:ph type="title"/>
          </p:nvPr>
        </p:nvSpPr>
        <p:spPr>
          <a:xfrm>
            <a:off x="341810" y="567600"/>
            <a:ext cx="5586023" cy="706030"/>
          </a:xfrm>
        </p:spPr>
        <p:txBody>
          <a:bodyPr/>
          <a:lstStyle/>
          <a:p>
            <a:r>
              <a:rPr lang="de-DE" sz="3200" dirty="0">
                <a:ea typeface="ヒラギノ角ゴ Pro W3"/>
              </a:rPr>
              <a:t>Datensatz und Label-Zuordnung</a:t>
            </a:r>
            <a:endParaRPr lang="de-DE" dirty="0"/>
          </a:p>
        </p:txBody>
      </p:sp>
      <p:sp>
        <p:nvSpPr>
          <p:cNvPr id="6" name="Datumsplatzhalter 5">
            <a:extLst>
              <a:ext uri="{FF2B5EF4-FFF2-40B4-BE49-F238E27FC236}">
                <a16:creationId xmlns:a16="http://schemas.microsoft.com/office/drawing/2014/main" id="{AD575DA6-9507-24A3-D823-ACF99B904417}"/>
              </a:ext>
            </a:extLst>
          </p:cNvPr>
          <p:cNvSpPr>
            <a:spLocks noGrp="1"/>
          </p:cNvSpPr>
          <p:nvPr>
            <p:ph type="dt" sz="half" idx="12"/>
          </p:nvPr>
        </p:nvSpPr>
        <p:spPr/>
        <p:txBody>
          <a:bodyPr/>
          <a:lstStyle/>
          <a:p>
            <a:r>
              <a:rPr lang="de-DE"/>
              <a:t>23.07.2026</a:t>
            </a:r>
          </a:p>
        </p:txBody>
      </p:sp>
      <p:sp>
        <p:nvSpPr>
          <p:cNvPr id="7" name="Fußzeilenplatzhalter 6">
            <a:extLst>
              <a:ext uri="{FF2B5EF4-FFF2-40B4-BE49-F238E27FC236}">
                <a16:creationId xmlns:a16="http://schemas.microsoft.com/office/drawing/2014/main" id="{B06C2A5A-D44E-21C3-8924-01BF5842EAE8}"/>
              </a:ext>
            </a:extLst>
          </p:cNvPr>
          <p:cNvSpPr>
            <a:spLocks noGrp="1"/>
          </p:cNvSpPr>
          <p:nvPr>
            <p:ph type="ftr" sz="quarter" idx="11"/>
          </p:nvPr>
        </p:nvSpPr>
        <p:spPr/>
        <p:txBody>
          <a:bodyPr/>
          <a:lstStyle/>
          <a:p>
            <a:r>
              <a:rPr lang="de-DE"/>
              <a:t>Materialdiagnostik: Task 4</a:t>
            </a:r>
            <a:endParaRPr lang="de-DE" dirty="0"/>
          </a:p>
        </p:txBody>
      </p:sp>
      <p:pic>
        <p:nvPicPr>
          <p:cNvPr id="3" name="Grafik 2">
            <a:extLst>
              <a:ext uri="{FF2B5EF4-FFF2-40B4-BE49-F238E27FC236}">
                <a16:creationId xmlns:a16="http://schemas.microsoft.com/office/drawing/2014/main" id="{2481C4C0-FA67-CF38-BE6F-A06F2535F1CE}"/>
              </a:ext>
            </a:extLst>
          </p:cNvPr>
          <p:cNvPicPr>
            <a:picLocks noChangeAspect="1"/>
          </p:cNvPicPr>
          <p:nvPr/>
        </p:nvPicPr>
        <p:blipFill>
          <a:blip r:embed="rId3"/>
          <a:stretch>
            <a:fillRect/>
          </a:stretch>
        </p:blipFill>
        <p:spPr>
          <a:xfrm>
            <a:off x="7290086" y="1620000"/>
            <a:ext cx="4054191" cy="2766300"/>
          </a:xfrm>
          <a:prstGeom prst="rect">
            <a:avLst/>
          </a:prstGeom>
        </p:spPr>
      </p:pic>
      <p:sp>
        <p:nvSpPr>
          <p:cNvPr id="2" name="Foliennummernplatzhalter 1">
            <a:extLst>
              <a:ext uri="{FF2B5EF4-FFF2-40B4-BE49-F238E27FC236}">
                <a16:creationId xmlns:a16="http://schemas.microsoft.com/office/drawing/2014/main" id="{604D00BA-4E18-605F-D34D-D84794623B18}"/>
              </a:ext>
            </a:extLst>
          </p:cNvPr>
          <p:cNvSpPr>
            <a:spLocks noGrp="1"/>
          </p:cNvSpPr>
          <p:nvPr>
            <p:ph type="sldNum" sz="quarter" idx="10"/>
          </p:nvPr>
        </p:nvSpPr>
        <p:spPr/>
        <p:txBody>
          <a:bodyPr/>
          <a:lstStyle/>
          <a:p>
            <a:fld id="{80B4FCE6-DC73-4135-BC56-1F242D45A84C}" type="slidenum">
              <a:rPr lang="de-DE" smtClean="0"/>
              <a:t>4</a:t>
            </a:fld>
            <a:endParaRPr lang="de-DE"/>
          </a:p>
        </p:txBody>
      </p:sp>
    </p:spTree>
    <p:extLst>
      <p:ext uri="{BB962C8B-B14F-4D97-AF65-F5344CB8AC3E}">
        <p14:creationId xmlns:p14="http://schemas.microsoft.com/office/powerpoint/2010/main" val="28458435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905040028"/>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t>Fold</a:t>
                      </a:r>
                    </a:p>
                  </a:txBody>
                  <a:tcPr/>
                </a:tc>
                <a:tc>
                  <a:txBody>
                    <a:bodyPr/>
                    <a:lstStyle/>
                    <a:p>
                      <a:r>
                        <a:rPr lang="de-DE" dirty="0"/>
                        <a:t>Gesundes Training</a:t>
                      </a:r>
                    </a:p>
                  </a:txBody>
                  <a:tcPr/>
                </a:tc>
                <a:tc>
                  <a:txBody>
                    <a:bodyPr/>
                    <a:lstStyle/>
                    <a:p>
                      <a:r>
                        <a:rPr lang="de-DE" dirty="0"/>
                        <a:t>Test: gesund</a:t>
                      </a:r>
                    </a:p>
                  </a:txBody>
                  <a:tcPr/>
                </a:tc>
                <a:tc>
                  <a:txBody>
                    <a:bodyPr/>
                    <a:lstStyle/>
                    <a:p>
                      <a:r>
                        <a:rPr lang="de-DE" dirty="0"/>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6</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 (`</a:t>
            </a:r>
            <a:r>
              <a:rPr lang="de-DE" dirty="0" err="1"/>
              <a:t>MLPRegressor</a:t>
            </a:r>
            <a:r>
              <a:rPr lang="de-DE" dirty="0"/>
              <a:t>`), </a:t>
            </a:r>
            <a:r>
              <a:rPr lang="de-DE" dirty="0" err="1"/>
              <a:t>ReLU</a:t>
            </a:r>
            <a:r>
              <a:rPr lang="de-DE" dirty="0"/>
              <a:t> und Adam</a:t>
            </a:r>
          </a:p>
          <a:p>
            <a:pPr>
              <a:buFont typeface="Arial" panose="020B0604020202020204" pitchFamily="34" charset="0"/>
              <a:buChar char="•"/>
            </a:pPr>
            <a:r>
              <a:rPr lang="de-DE" dirty="0"/>
              <a:t>Lernrate 0,001; L2-Regularisierung 0,0001</a:t>
            </a:r>
          </a:p>
          <a:p>
            <a:pPr>
              <a:buFont typeface="Arial" panose="020B0604020202020204" pitchFamily="34" charset="0"/>
              <a:buChar char="•"/>
            </a:pPr>
            <a:r>
              <a:rPr lang="de-DE" dirty="0"/>
              <a:t>maximal 2.000 Epochen, Early </a:t>
            </a:r>
            <a:r>
              <a:rPr lang="de-DE" dirty="0" err="1"/>
              <a:t>Stopping</a:t>
            </a:r>
            <a:r>
              <a:rPr lang="de-DE" dirty="0"/>
              <a:t> mit 15 %</a:t>
            </a:r>
          </a:p>
          <a:p>
            <a:pPr>
              <a:buFont typeface="Arial" panose="020B0604020202020204" pitchFamily="34" charset="0"/>
              <a:buChar char="•"/>
            </a:pPr>
            <a:r>
              <a:rPr lang="de-DE" dirty="0"/>
              <a:t>feste Architektur und Seed 42</a:t>
            </a:r>
          </a:p>
          <a:p>
            <a:pPr>
              <a:buFont typeface="Arial" panose="020B0604020202020204" pitchFamily="34" charset="0"/>
              <a:buChar char="•"/>
            </a:pPr>
            <a:r>
              <a:rPr lang="de-DE" dirty="0"/>
              <a:t>Training ausschließlich mit Label 1</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tretch>
            <a:fill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95%-Quantil der Fehler im gesunden Training</a:t>
            </a:r>
          </a:p>
          <a:p>
            <a:pPr lvl="1">
              <a:buFont typeface="Arial" panose="020B0604020202020204" pitchFamily="34" charset="0"/>
              <a:buChar char="•"/>
            </a:pPr>
            <a:r>
              <a:rPr lang="de-DE" dirty="0"/>
              <a:t>oberhalb der Schwelle: anomal (Label 0)</a:t>
            </a:r>
          </a:p>
          <a:p>
            <a:pPr lvl="1">
              <a:buFont typeface="Arial" panose="020B0604020202020204" pitchFamily="34" charset="0"/>
              <a:buChar char="•"/>
            </a:pPr>
            <a:r>
              <a:rPr lang="de-DE" dirty="0"/>
              <a:t>keine Verwendung von Z05 zur Schwellenoptimierung</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a:p>
            <a:pPr>
              <a:buFont typeface="Arial" panose="020B0604020202020204" pitchFamily="34" charset="0"/>
              <a:buChar char="•"/>
            </a:pPr>
            <a:r>
              <a:rPr lang="de-DE" b="1" dirty="0"/>
              <a:t>Primärer Vergleich:</a:t>
            </a:r>
            <a:r>
              <a:rPr lang="de-DE" dirty="0"/>
              <a:t> </a:t>
            </a:r>
          </a:p>
          <a:p>
            <a:pPr lvl="1">
              <a:buFont typeface="Arial" panose="020B0604020202020204" pitchFamily="34" charset="0"/>
              <a:buChar char="•"/>
            </a:pPr>
            <a:r>
              <a:rPr lang="de-DE" dirty="0"/>
              <a:t>Makromittel der BAR über alle acht Modelle, weil die ungefilterte Pipeline ungleiche Testgruppengrößen besitzt.</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7</a:t>
            </a:fld>
            <a:endParaRPr lang="de-DE"/>
          </a:p>
        </p:txBody>
      </p:sp>
    </p:spTree>
    <p:extLst>
      <p:ext uri="{BB962C8B-B14F-4D97-AF65-F5344CB8AC3E}">
        <p14:creationId xmlns:p14="http://schemas.microsoft.com/office/powerpoint/2010/main" val="30560359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rc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545412591"/>
              </p:ext>
            </p:extLst>
          </p:nvPr>
        </p:nvGraphicFramePr>
        <p:xfrm>
          <a:off x="6096000" y="1935584"/>
          <a:ext cx="5982792" cy="3321249"/>
        </p:xfrm>
        <a:graphic>
          <a:graphicData uri="http://schemas.openxmlformats.org/drawingml/2006/table">
            <a:tbl>
              <a:tblPr firstRow="1" bandRow="1">
                <a:tableStyleId>{5C22544A-7EE6-4342-B048-85BDC9FD1C3A}</a:tableStyleId>
              </a:tblPr>
              <a:tblGrid>
                <a:gridCol w="680719">
                  <a:extLst>
                    <a:ext uri="{9D8B030D-6E8A-4147-A177-3AD203B41FA5}">
                      <a16:colId xmlns:a16="http://schemas.microsoft.com/office/drawing/2014/main" val="1298068458"/>
                    </a:ext>
                  </a:extLst>
                </a:gridCol>
                <a:gridCol w="885084">
                  <a:extLst>
                    <a:ext uri="{9D8B030D-6E8A-4147-A177-3AD203B41FA5}">
                      <a16:colId xmlns:a16="http://schemas.microsoft.com/office/drawing/2014/main" val="3738618844"/>
                    </a:ext>
                  </a:extLst>
                </a:gridCol>
                <a:gridCol w="956680">
                  <a:extLst>
                    <a:ext uri="{9D8B030D-6E8A-4147-A177-3AD203B41FA5}">
                      <a16:colId xmlns:a16="http://schemas.microsoft.com/office/drawing/2014/main" val="3685483365"/>
                    </a:ext>
                  </a:extLst>
                </a:gridCol>
                <a:gridCol w="944610">
                  <a:extLst>
                    <a:ext uri="{9D8B030D-6E8A-4147-A177-3AD203B41FA5}">
                      <a16:colId xmlns:a16="http://schemas.microsoft.com/office/drawing/2014/main" val="3642665571"/>
                    </a:ext>
                  </a:extLst>
                </a:gridCol>
                <a:gridCol w="917864">
                  <a:extLst>
                    <a:ext uri="{9D8B030D-6E8A-4147-A177-3AD203B41FA5}">
                      <a16:colId xmlns:a16="http://schemas.microsoft.com/office/drawing/2014/main" val="3313767678"/>
                    </a:ext>
                  </a:extLst>
                </a:gridCol>
                <a:gridCol w="819521">
                  <a:extLst>
                    <a:ext uri="{9D8B030D-6E8A-4147-A177-3AD203B41FA5}">
                      <a16:colId xmlns:a16="http://schemas.microsoft.com/office/drawing/2014/main" val="679683412"/>
                    </a:ext>
                  </a:extLst>
                </a:gridCol>
                <a:gridCol w="778314">
                  <a:extLst>
                    <a:ext uri="{9D8B030D-6E8A-4147-A177-3AD203B41FA5}">
                      <a16:colId xmlns:a16="http://schemas.microsoft.com/office/drawing/2014/main" val="72820997"/>
                    </a:ext>
                  </a:extLst>
                </a:gridCol>
              </a:tblGrid>
              <a:tr h="427161">
                <a:tc rowSpan="2">
                  <a:txBody>
                    <a:bodyPr/>
                    <a:lstStyle/>
                    <a:p>
                      <a:pPr algn="ctr"/>
                      <a:r>
                        <a:rPr lang="de-DE" dirty="0"/>
                        <a:t>Fold</a:t>
                      </a:r>
                    </a:p>
                  </a:txBody>
                  <a:tcPr/>
                </a:tc>
                <a:tc gridSpan="2">
                  <a:txBody>
                    <a:bodyPr/>
                    <a:lstStyle/>
                    <a:p>
                      <a:pPr algn="ctr"/>
                      <a:r>
                        <a:rPr lang="de-DE" dirty="0"/>
                        <a:t>Sensitivität / TPR</a:t>
                      </a:r>
                    </a:p>
                  </a:txBody>
                  <a:tcPr/>
                </a:tc>
                <a:tc hMerge="1">
                  <a:txBody>
                    <a:bodyPr/>
                    <a:lstStyle/>
                    <a:p>
                      <a:endParaRPr lang="de-DE" dirty="0"/>
                    </a:p>
                  </a:txBody>
                  <a:tcPr/>
                </a:tc>
                <a:tc gridSpan="2">
                  <a:txBody>
                    <a:bodyPr/>
                    <a:lstStyle/>
                    <a:p>
                      <a:pPr algn="ctr"/>
                      <a:r>
                        <a:rPr lang="de-DE" dirty="0" err="1"/>
                        <a:t>Spezivität</a:t>
                      </a:r>
                      <a:r>
                        <a:rPr lang="de-DE" dirty="0"/>
                        <a:t> / TNR</a:t>
                      </a:r>
                    </a:p>
                  </a:txBody>
                  <a:tcPr/>
                </a:tc>
                <a:tc hMerge="1">
                  <a:txBody>
                    <a:bodyPr/>
                    <a:lstStyle/>
                    <a:p>
                      <a:endParaRPr lang="de-DE" dirty="0"/>
                    </a:p>
                  </a:txBody>
                  <a:tcPr/>
                </a:tc>
                <a:tc gridSpan="2">
                  <a:txBody>
                    <a:bodyPr/>
                    <a:lstStyle/>
                    <a:p>
                      <a:pPr algn="ctr"/>
                      <a:r>
                        <a:rPr lang="de-DE" dirty="0" err="1"/>
                        <a:t>Balanced</a:t>
                      </a:r>
                      <a:r>
                        <a:rPr lang="de-DE" dirty="0"/>
                        <a:t> </a:t>
                      </a:r>
                      <a:r>
                        <a:rPr lang="de-DE" dirty="0" err="1"/>
                        <a:t>Acc</a:t>
                      </a:r>
                      <a:endParaRPr lang="de-DE" dirty="0"/>
                    </a:p>
                  </a:txBody>
                  <a:tcPr/>
                </a:tc>
                <a:tc hMerge="1">
                  <a:txBody>
                    <a:bodyPr/>
                    <a:lstStyle/>
                    <a:p>
                      <a:endParaRPr lang="de-DE" dirty="0"/>
                    </a:p>
                  </a:txBody>
                  <a:tcPr/>
                </a:tc>
                <a:extLst>
                  <a:ext uri="{0D108BD9-81ED-4DB2-BD59-A6C34878D82A}">
                    <a16:rowId xmlns:a16="http://schemas.microsoft.com/office/drawing/2014/main" val="3315992242"/>
                  </a:ext>
                </a:extLst>
              </a:tr>
              <a:tr h="0">
                <a:tc vMerge="1">
                  <a:txBody>
                    <a:bodyPr/>
                    <a:lstStyle/>
                    <a:p>
                      <a:endParaRPr lang="de-DE"/>
                    </a:p>
                  </a:txBody>
                  <a:tcPr/>
                </a:tc>
                <a:tc>
                  <a:txBody>
                    <a:bodyPr/>
                    <a:lstStyle/>
                    <a:p>
                      <a:pPr algn="ctr"/>
                      <a:r>
                        <a:rPr lang="de-DE"/>
                        <a:t>Ch 1</a:t>
                      </a:r>
                    </a:p>
                  </a:txBody>
                  <a:tcPr/>
                </a:tc>
                <a:tc>
                  <a:txBody>
                    <a:bodyPr/>
                    <a:lstStyle/>
                    <a:p>
                      <a:pPr algn="ctr"/>
                      <a:r>
                        <a:rPr lang="de-DE" dirty="0" err="1"/>
                        <a:t>Ch</a:t>
                      </a:r>
                      <a:r>
                        <a:rPr lang="de-DE" dirty="0"/>
                        <a:t> 2</a:t>
                      </a:r>
                    </a:p>
                  </a:txBody>
                  <a:tcPr/>
                </a:tc>
                <a:tc>
                  <a:txBody>
                    <a:bodyPr/>
                    <a:lstStyle/>
                    <a:p>
                      <a:pPr algn="ctr"/>
                      <a:r>
                        <a:rPr lang="de-DE" dirty="0" err="1"/>
                        <a:t>Ch</a:t>
                      </a:r>
                      <a:r>
                        <a:rPr lang="de-DE" dirty="0"/>
                        <a:t> 1</a:t>
                      </a:r>
                    </a:p>
                  </a:txBody>
                  <a:tcPr/>
                </a:tc>
                <a:tc>
                  <a:txBody>
                    <a:bodyPr/>
                    <a:lstStyle/>
                    <a:p>
                      <a:pPr algn="ctr"/>
                      <a:r>
                        <a:rPr lang="de-DE" dirty="0" err="1"/>
                        <a:t>Ch</a:t>
                      </a:r>
                      <a:r>
                        <a:rPr lang="de-DE" dirty="0"/>
                        <a:t> 2</a:t>
                      </a:r>
                    </a:p>
                  </a:txBody>
                  <a:tcPr/>
                </a:tc>
                <a:tc>
                  <a:txBody>
                    <a:bodyPr/>
                    <a:lstStyle/>
                    <a:p>
                      <a:pPr algn="ctr"/>
                      <a:r>
                        <a:rPr lang="de-DE" dirty="0" err="1"/>
                        <a:t>Ch</a:t>
                      </a:r>
                      <a:r>
                        <a:rPr lang="de-DE" dirty="0"/>
                        <a:t> 1</a:t>
                      </a:r>
                    </a:p>
                  </a:txBody>
                  <a:tcPr/>
                </a:tc>
                <a:tc>
                  <a:txBody>
                    <a:bodyPr/>
                    <a:lstStyle/>
                    <a:p>
                      <a:pPr algn="ctr"/>
                      <a:r>
                        <a:rPr lang="de-DE" dirty="0" err="1"/>
                        <a:t>Ch</a:t>
                      </a:r>
                      <a:r>
                        <a:rPr lang="de-DE" dirty="0"/>
                        <a:t> 2</a:t>
                      </a:r>
                    </a:p>
                  </a:txBody>
                  <a:tcPr/>
                </a:tc>
                <a:extLst>
                  <a:ext uri="{0D108BD9-81ED-4DB2-BD59-A6C34878D82A}">
                    <a16:rowId xmlns:a16="http://schemas.microsoft.com/office/drawing/2014/main" val="1933422198"/>
                  </a:ext>
                </a:extLst>
              </a:tr>
              <a:tr h="632082">
                <a:tc>
                  <a:txBody>
                    <a:bodyPr/>
                    <a:lstStyle/>
                    <a:p>
                      <a:pPr algn="ctr"/>
                      <a:r>
                        <a:rPr lang="de-DE" dirty="0"/>
                        <a:t>1</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0.717</a:t>
                      </a:r>
                    </a:p>
                  </a:txBody>
                  <a:tcPr/>
                </a:tc>
                <a:tc>
                  <a:txBody>
                    <a:bodyPr/>
                    <a:lstStyle/>
                    <a:p>
                      <a:pPr algn="ctr"/>
                      <a:r>
                        <a:rPr lang="de-DE" dirty="0"/>
                        <a:t>0.733</a:t>
                      </a:r>
                    </a:p>
                  </a:txBody>
                  <a:tcPr/>
                </a:tc>
                <a:tc>
                  <a:txBody>
                    <a:bodyPr/>
                    <a:lstStyle/>
                    <a:p>
                      <a:pPr algn="ctr"/>
                      <a:r>
                        <a:rPr lang="de-DE" dirty="0"/>
                        <a:t>0.858</a:t>
                      </a:r>
                    </a:p>
                  </a:txBody>
                  <a:tcPr/>
                </a:tc>
                <a:tc>
                  <a:txBody>
                    <a:bodyPr/>
                    <a:lstStyle/>
                    <a:p>
                      <a:pPr algn="ctr"/>
                      <a:r>
                        <a:rPr lang="de-DE" dirty="0"/>
                        <a:t>0.867</a:t>
                      </a:r>
                    </a:p>
                  </a:txBody>
                  <a:tcPr/>
                </a:tc>
                <a:extLst>
                  <a:ext uri="{0D108BD9-81ED-4DB2-BD59-A6C34878D82A}">
                    <a16:rowId xmlns:a16="http://schemas.microsoft.com/office/drawing/2014/main" val="153320546"/>
                  </a:ext>
                </a:extLst>
              </a:tr>
              <a:tr h="632082">
                <a:tc>
                  <a:txBody>
                    <a:bodyPr/>
                    <a:lstStyle/>
                    <a:p>
                      <a:pPr algn="ctr"/>
                      <a:r>
                        <a:rPr lang="de-DE" dirty="0"/>
                        <a:t>2</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0.750</a:t>
                      </a:r>
                    </a:p>
                  </a:txBody>
                  <a:tcPr/>
                </a:tc>
                <a:tc>
                  <a:txBody>
                    <a:bodyPr/>
                    <a:lstStyle/>
                    <a:p>
                      <a:pPr algn="ctr"/>
                      <a:r>
                        <a:rPr lang="de-DE" dirty="0"/>
                        <a:t>0.750</a:t>
                      </a:r>
                    </a:p>
                  </a:txBody>
                  <a:tcPr/>
                </a:tc>
                <a:tc>
                  <a:txBody>
                    <a:bodyPr/>
                    <a:lstStyle/>
                    <a:p>
                      <a:pPr algn="ctr"/>
                      <a:r>
                        <a:rPr lang="de-DE" dirty="0"/>
                        <a:t>0.875</a:t>
                      </a:r>
                    </a:p>
                  </a:txBody>
                  <a:tcPr/>
                </a:tc>
                <a:tc>
                  <a:txBody>
                    <a:bodyPr/>
                    <a:lstStyle/>
                    <a:p>
                      <a:pPr algn="ctr"/>
                      <a:r>
                        <a:rPr lang="de-DE" dirty="0"/>
                        <a:t>0.875</a:t>
                      </a:r>
                    </a:p>
                  </a:txBody>
                  <a:tcPr/>
                </a:tc>
                <a:extLst>
                  <a:ext uri="{0D108BD9-81ED-4DB2-BD59-A6C34878D82A}">
                    <a16:rowId xmlns:a16="http://schemas.microsoft.com/office/drawing/2014/main" val="3984959788"/>
                  </a:ext>
                </a:extLst>
              </a:tr>
              <a:tr h="632082">
                <a:tc>
                  <a:txBody>
                    <a:bodyPr/>
                    <a:lstStyle/>
                    <a:p>
                      <a:pPr algn="ctr"/>
                      <a:r>
                        <a:rPr lang="de-DE" dirty="0"/>
                        <a:t>3</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0.850</a:t>
                      </a:r>
                    </a:p>
                  </a:txBody>
                  <a:tcPr/>
                </a:tc>
                <a:tc>
                  <a:txBody>
                    <a:bodyPr/>
                    <a:lstStyle/>
                    <a:p>
                      <a:pPr algn="ctr"/>
                      <a:r>
                        <a:rPr lang="de-DE" dirty="0"/>
                        <a:t>0.750</a:t>
                      </a:r>
                    </a:p>
                  </a:txBody>
                  <a:tcPr/>
                </a:tc>
                <a:tc>
                  <a:txBody>
                    <a:bodyPr/>
                    <a:lstStyle/>
                    <a:p>
                      <a:pPr algn="ctr"/>
                      <a:r>
                        <a:rPr lang="de-DE" dirty="0"/>
                        <a:t>0.925</a:t>
                      </a:r>
                    </a:p>
                  </a:txBody>
                  <a:tcPr/>
                </a:tc>
                <a:tc>
                  <a:txBody>
                    <a:bodyPr/>
                    <a:lstStyle/>
                    <a:p>
                      <a:pPr algn="ctr"/>
                      <a:r>
                        <a:rPr lang="de-DE" dirty="0"/>
                        <a:t>0.875</a:t>
                      </a:r>
                    </a:p>
                  </a:txBody>
                  <a:tcPr/>
                </a:tc>
                <a:extLst>
                  <a:ext uri="{0D108BD9-81ED-4DB2-BD59-A6C34878D82A}">
                    <a16:rowId xmlns:a16="http://schemas.microsoft.com/office/drawing/2014/main" val="2891050433"/>
                  </a:ext>
                </a:extLst>
              </a:tr>
              <a:tr h="632082">
                <a:tc>
                  <a:txBody>
                    <a:bodyPr/>
                    <a:lstStyle/>
                    <a:p>
                      <a:pPr algn="ctr"/>
                      <a:r>
                        <a:rPr lang="de-DE" dirty="0"/>
                        <a:t>4</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0.190</a:t>
                      </a:r>
                    </a:p>
                  </a:txBody>
                  <a:tcPr/>
                </a:tc>
                <a:tc>
                  <a:txBody>
                    <a:bodyPr/>
                    <a:lstStyle/>
                    <a:p>
                      <a:pPr algn="ctr"/>
                      <a:r>
                        <a:rPr lang="de-DE" dirty="0"/>
                        <a:t>0.280</a:t>
                      </a:r>
                    </a:p>
                  </a:txBody>
                  <a:tcPr/>
                </a:tc>
                <a:tc>
                  <a:txBody>
                    <a:bodyPr/>
                    <a:lstStyle/>
                    <a:p>
                      <a:pPr algn="ctr"/>
                      <a:r>
                        <a:rPr lang="de-DE" dirty="0"/>
                        <a:t>0.595</a:t>
                      </a:r>
                    </a:p>
                  </a:txBody>
                  <a:tcPr/>
                </a:tc>
                <a:tc>
                  <a:txBody>
                    <a:bodyPr/>
                    <a:lstStyle/>
                    <a:p>
                      <a:pPr algn="ctr"/>
                      <a:r>
                        <a:rPr lang="de-DE" dirty="0"/>
                        <a:t>0.640</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a:xfrm>
            <a:off x="341810" y="567600"/>
            <a:ext cx="5646759" cy="706030"/>
          </a:xfrm>
        </p:spPr>
        <p:txBody>
          <a:bodyPr/>
          <a:lstStyle/>
          <a:p>
            <a:r>
              <a:rPr lang="de-DE" sz="3200" dirty="0">
                <a:ea typeface="ヒラギノ角ゴ Pro W3"/>
              </a:rPr>
              <a:t>MLP-Modell</a:t>
            </a:r>
            <a:endParaRPr lang="de-DE" dirty="0"/>
          </a:p>
        </p:txBody>
      </p:sp>
      <p:sp>
        <p:nvSpPr>
          <p:cNvPr id="6" name="Inhaltsplatzhalter 9">
            <a:extLst>
              <a:ext uri="{FF2B5EF4-FFF2-40B4-BE49-F238E27FC236}">
                <a16:creationId xmlns:a16="http://schemas.microsoft.com/office/drawing/2014/main" id="{7AFC9A66-8356-7CE3-2D1D-54900DD9AADA}"/>
              </a:ext>
            </a:extLst>
          </p:cNvPr>
          <p:cNvSpPr txBox="1">
            <a:spLocks/>
          </p:cNvSpPr>
          <p:nvPr/>
        </p:nvSpPr>
        <p:spPr bwMode="auto">
          <a:xfrm>
            <a:off x="341811" y="1509009"/>
            <a:ext cx="8203099" cy="4250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a:lstStyle>
          <a:p>
            <a:pPr>
              <a:buFont typeface="Arial" panose="020B0604020202020204" pitchFamily="34" charset="0"/>
              <a:buChar char="•"/>
            </a:pPr>
            <a:r>
              <a:rPr lang="de-DE" dirty="0"/>
              <a:t>Pipeline je Channel:</a:t>
            </a:r>
          </a:p>
          <a:p>
            <a:pPr lvl="1">
              <a:buFont typeface="Arial" panose="020B0604020202020204" pitchFamily="34" charset="0"/>
              <a:buChar char="•"/>
            </a:pPr>
            <a:r>
              <a:rPr lang="de-DE" dirty="0" err="1"/>
              <a:t>StandardScaler</a:t>
            </a:r>
            <a:r>
              <a:rPr lang="de-DE" dirty="0"/>
              <a:t> -&gt; </a:t>
            </a:r>
            <a:r>
              <a:rPr lang="de-DE" dirty="0" err="1"/>
              <a:t>MLPClassifier</a:t>
            </a:r>
            <a:endParaRPr lang="de-DE" dirty="0"/>
          </a:p>
          <a:p>
            <a:pPr>
              <a:buFont typeface="Arial" panose="020B0604020202020204" pitchFamily="34" charset="0"/>
              <a:buChar char="•"/>
            </a:pPr>
            <a:r>
              <a:rPr lang="de-DE" dirty="0"/>
              <a:t>Skalierung nur auf Training fitten</a:t>
            </a:r>
          </a:p>
          <a:p>
            <a:pPr>
              <a:buFont typeface="Arial" panose="020B0604020202020204" pitchFamily="34" charset="0"/>
              <a:buChar char="•"/>
            </a:pPr>
            <a:r>
              <a:rPr lang="de-DE" dirty="0"/>
              <a:t>Finale Features: nur Signalmerkmale des jeweiligen Channels</a:t>
            </a:r>
          </a:p>
          <a:p>
            <a:pPr>
              <a:buFont typeface="Arial" panose="020B0604020202020204" pitchFamily="34" charset="0"/>
              <a:buChar char="•"/>
            </a:pPr>
            <a:r>
              <a:rPr lang="de-DE" dirty="0"/>
              <a:t>Kleine Netze wegen kleinem Datensatz</a:t>
            </a:r>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9</a:t>
            </a:fld>
            <a:endParaRPr lang="de-DE"/>
          </a:p>
        </p:txBody>
      </p:sp>
    </p:spTree>
    <p:extLst>
      <p:ext uri="{BB962C8B-B14F-4D97-AF65-F5344CB8AC3E}">
        <p14:creationId xmlns:p14="http://schemas.microsoft.com/office/powerpoint/2010/main" val="3200753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p:txBody>
          <a:bodyPr/>
          <a:lstStyle/>
          <a:p>
            <a:r>
              <a:rPr lang="de-DE" sz="3200" dirty="0"/>
              <a:t>Hyperparameter-Suche</a:t>
            </a:r>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20B76E1B-945A-5A48-7E66-249178791166}"/>
              </a:ext>
            </a:extLst>
          </p:cNvPr>
          <p:cNvSpPr>
            <a:spLocks noGrp="1"/>
          </p:cNvSpPr>
          <p:nvPr>
            <p:ph sz="quarter" idx="13"/>
          </p:nvPr>
        </p:nvSpPr>
        <p:spPr>
          <a:xfrm>
            <a:off x="341312" y="1620000"/>
            <a:ext cx="8476867" cy="965545"/>
          </a:xfrm>
        </p:spPr>
        <p:txBody>
          <a:bodyPr/>
          <a:lstStyle/>
          <a:p>
            <a:pPr>
              <a:buFont typeface="Arial" panose="020B0604020202020204" pitchFamily="34" charset="0"/>
              <a:buChar char="•"/>
            </a:pPr>
            <a:r>
              <a:rPr lang="de-DE" dirty="0"/>
              <a:t>Optimierung auf Entwicklungssatz</a:t>
            </a:r>
          </a:p>
          <a:p>
            <a:pPr>
              <a:buFont typeface="Arial" panose="020B0604020202020204" pitchFamily="34" charset="0"/>
              <a:buChar char="•"/>
            </a:pPr>
            <a:r>
              <a:rPr lang="de-DE" dirty="0"/>
              <a:t>Hidden Layer, Lernrate, Batchgröße, Regularisierung </a:t>
            </a:r>
            <a:r>
              <a:rPr lang="de-DE" dirty="0" err="1"/>
              <a:t>alpha</a:t>
            </a:r>
            <a:endParaRPr lang="de-DE" dirty="0"/>
          </a:p>
          <a:p>
            <a:endParaRPr lang="de-DE" dirty="0"/>
          </a:p>
        </p:txBody>
      </p:sp>
      <p:pic>
        <p:nvPicPr>
          <p:cNvPr id="13" name="Inhaltsplatzhalter 12">
            <a:extLst>
              <a:ext uri="{FF2B5EF4-FFF2-40B4-BE49-F238E27FC236}">
                <a16:creationId xmlns:a16="http://schemas.microsoft.com/office/drawing/2014/main" id="{3A09BFB8-89AB-C482-3A0A-A8AB1AA7F62E}"/>
              </a:ext>
            </a:extLst>
          </p:cNvPr>
          <p:cNvPicPr>
            <a:picLocks noGrp="1" noChangeAspect="1"/>
          </p:cNvPicPr>
          <p:nvPr>
            <p:ph sz="quarter" idx="14"/>
          </p:nvPr>
        </p:nvPicPr>
        <p:blipFill>
          <a:blip r:embed="rId3"/>
          <a:srcRect/>
          <a:stretch/>
        </p:blipFill>
        <p:spPr>
          <a:xfrm>
            <a:off x="1857566" y="2631831"/>
            <a:ext cx="8476867" cy="3816026"/>
          </a:xfrm>
          <a:prstGeom prst="rect">
            <a:avLst/>
          </a:prstGeom>
        </p:spPr>
      </p:pic>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10</a:t>
            </a:fld>
            <a:endParaRPr lang="de-DE"/>
          </a:p>
        </p:txBody>
      </p:sp>
    </p:spTree>
    <p:extLst>
      <p:ext uri="{BB962C8B-B14F-4D97-AF65-F5344CB8AC3E}">
        <p14:creationId xmlns:p14="http://schemas.microsoft.com/office/powerpoint/2010/main" val="10268865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a:xfrm>
            <a:off x="341811" y="567600"/>
            <a:ext cx="6328812" cy="706030"/>
          </a:xfrm>
        </p:spPr>
        <p:txBody>
          <a:bodyPr/>
          <a:lstStyle/>
          <a:p>
            <a:r>
              <a:rPr lang="de-DE" sz="3200" dirty="0"/>
              <a:t>Code-Überblick</a:t>
            </a:r>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7" name="Inhaltsplatzhalter 6">
            <a:extLst>
              <a:ext uri="{FF2B5EF4-FFF2-40B4-BE49-F238E27FC236}">
                <a16:creationId xmlns:a16="http://schemas.microsoft.com/office/drawing/2014/main" id="{D292BAE9-0055-7A55-987D-2D8376847BEA}"/>
              </a:ext>
            </a:extLst>
          </p:cNvPr>
          <p:cNvSpPr>
            <a:spLocks noGrp="1"/>
          </p:cNvSpPr>
          <p:nvPr>
            <p:ph sz="quarter" idx="13"/>
          </p:nvPr>
        </p:nvSpPr>
        <p:spPr>
          <a:xfrm>
            <a:off x="341811" y="1696595"/>
            <a:ext cx="11512052" cy="4395788"/>
          </a:xfrm>
        </p:spPr>
        <p:txBody>
          <a:bodyPr/>
          <a:lstStyle/>
          <a:p>
            <a:pPr>
              <a:buFont typeface="Arial" panose="020B0604020202020204" pitchFamily="34" charset="0"/>
              <a:buChar char="•"/>
            </a:pPr>
            <a:r>
              <a:rPr lang="de-DE" dirty="0"/>
              <a:t>main.py: </a:t>
            </a:r>
          </a:p>
          <a:p>
            <a:pPr lvl="1">
              <a:buFont typeface="Arial" panose="020B0604020202020204" pitchFamily="34" charset="0"/>
              <a:buChar char="•"/>
            </a:pPr>
            <a:r>
              <a:rPr lang="de-DE" dirty="0"/>
              <a:t>steuert die komplette Pipeline</a:t>
            </a:r>
          </a:p>
          <a:p>
            <a:pPr>
              <a:buFont typeface="Arial" panose="020B0604020202020204" pitchFamily="34" charset="0"/>
              <a:buChar char="•"/>
            </a:pPr>
            <a:r>
              <a:rPr lang="de-DE" dirty="0"/>
              <a:t>dataframe_manager.py: </a:t>
            </a:r>
          </a:p>
          <a:p>
            <a:pPr lvl="1">
              <a:buFont typeface="Arial" panose="020B0604020202020204" pitchFamily="34" charset="0"/>
              <a:buChar char="•"/>
            </a:pPr>
            <a:r>
              <a:rPr lang="de-DE" dirty="0"/>
              <a:t>lädt WAV-Dateien und Metadaten</a:t>
            </a:r>
          </a:p>
          <a:p>
            <a:pPr>
              <a:buFont typeface="Arial" panose="020B0604020202020204" pitchFamily="34" charset="0"/>
              <a:buChar char="•"/>
            </a:pPr>
            <a:r>
              <a:rPr lang="de-DE" dirty="0"/>
              <a:t>split.py: </a:t>
            </a:r>
          </a:p>
          <a:p>
            <a:pPr lvl="1">
              <a:buFont typeface="Arial" panose="020B0604020202020204" pitchFamily="34" charset="0"/>
              <a:buChar char="•"/>
            </a:pPr>
            <a:r>
              <a:rPr lang="de-DE" dirty="0"/>
              <a:t>ordnet Rohsignale Train, Dev und Test zu</a:t>
            </a:r>
          </a:p>
          <a:p>
            <a:pPr>
              <a:buFont typeface="Arial" panose="020B0604020202020204" pitchFamily="34" charset="0"/>
              <a:buChar char="•"/>
            </a:pPr>
            <a:r>
              <a:rPr lang="de-DE" dirty="0"/>
              <a:t>extraction.py: </a:t>
            </a:r>
          </a:p>
          <a:p>
            <a:pPr lvl="1">
              <a:buFont typeface="Arial" panose="020B0604020202020204" pitchFamily="34" charset="0"/>
              <a:buChar char="•"/>
            </a:pPr>
            <a:r>
              <a:rPr lang="de-DE" dirty="0"/>
              <a:t>berechnet Signalmerkmale pro Datei</a:t>
            </a:r>
          </a:p>
          <a:p>
            <a:pPr>
              <a:buFont typeface="Arial" panose="020B0604020202020204" pitchFamily="34" charset="0"/>
              <a:buChar char="•"/>
            </a:pPr>
            <a:r>
              <a:rPr lang="de-DE" dirty="0"/>
              <a:t>model.py: </a:t>
            </a:r>
          </a:p>
          <a:p>
            <a:pPr lvl="1">
              <a:buFont typeface="Arial" panose="020B0604020202020204" pitchFamily="34" charset="0"/>
              <a:buChar char="•"/>
            </a:pPr>
            <a:r>
              <a:rPr lang="de-DE" dirty="0"/>
              <a:t>trainiert, optimiert und bewertet die MLP-Modelle</a:t>
            </a:r>
          </a:p>
          <a:p>
            <a:endParaRPr lang="de-DE" dirty="0"/>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11</a:t>
            </a:fld>
            <a:endParaRPr lang="de-DE"/>
          </a:p>
        </p:txBody>
      </p:sp>
    </p:spTree>
    <p:extLst>
      <p:ext uri="{BB962C8B-B14F-4D97-AF65-F5344CB8AC3E}">
        <p14:creationId xmlns:p14="http://schemas.microsoft.com/office/powerpoint/2010/main" val="4106251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F3C4D-956F-CF44-1DA8-88DDD2237ABF}"/>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C084ADCD-CF21-F408-4472-3372DC76ABC1}"/>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10501F1A-FCB7-133D-6F5D-FABA9A2F000C}"/>
              </a:ext>
            </a:extLst>
          </p:cNvPr>
          <p:cNvSpPr>
            <a:spLocks noGrp="1"/>
          </p:cNvSpPr>
          <p:nvPr>
            <p:ph type="title"/>
          </p:nvPr>
        </p:nvSpPr>
        <p:spPr/>
        <p:txBody>
          <a:bodyPr/>
          <a:lstStyle/>
          <a:p>
            <a:r>
              <a:rPr lang="de-DE" sz="3200" dirty="0"/>
              <a:t>Loss </a:t>
            </a:r>
            <a:r>
              <a:rPr lang="de-DE" sz="3200" dirty="0" err="1"/>
              <a:t>Curves</a:t>
            </a:r>
            <a:endParaRPr lang="de-DE" dirty="0"/>
          </a:p>
        </p:txBody>
      </p:sp>
      <p:sp>
        <p:nvSpPr>
          <p:cNvPr id="5" name="Fußzeilenplatzhalter 4">
            <a:extLst>
              <a:ext uri="{FF2B5EF4-FFF2-40B4-BE49-F238E27FC236}">
                <a16:creationId xmlns:a16="http://schemas.microsoft.com/office/drawing/2014/main" id="{B326B563-4C74-A0AC-BD19-B0D9D3AA03C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A6F37E5F-3907-6F85-DAC7-339604EB1496}"/>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9E321134-F1B0-51A0-36A7-EE8C324D145B}"/>
              </a:ext>
            </a:extLst>
          </p:cNvPr>
          <p:cNvSpPr>
            <a:spLocks noGrp="1"/>
          </p:cNvSpPr>
          <p:nvPr>
            <p:ph sz="quarter" idx="13"/>
          </p:nvPr>
        </p:nvSpPr>
        <p:spPr/>
        <p:txBody>
          <a:bodyPr/>
          <a:lstStyle/>
          <a:p>
            <a:pPr>
              <a:buFont typeface="Arial" panose="020B0604020202020204" pitchFamily="34" charset="0"/>
              <a:buChar char="•"/>
            </a:pPr>
            <a:r>
              <a:rPr lang="de-DE" dirty="0"/>
              <a:t>Loss misst den Fehler der Modellvorhersagen</a:t>
            </a:r>
          </a:p>
          <a:p>
            <a:pPr>
              <a:buFont typeface="Arial" panose="020B0604020202020204" pitchFamily="34" charset="0"/>
              <a:buChar char="•"/>
            </a:pPr>
            <a:r>
              <a:rPr lang="de-DE" dirty="0"/>
              <a:t>Sinkende Kurve zeigt: Modell lernt</a:t>
            </a:r>
          </a:p>
          <a:p>
            <a:pPr>
              <a:buFont typeface="Arial" panose="020B0604020202020204" pitchFamily="34" charset="0"/>
              <a:buChar char="•"/>
            </a:pPr>
            <a:r>
              <a:rPr lang="de-DE" dirty="0"/>
              <a:t>Stabiler Verlauf zeigt: Training konvergiert</a:t>
            </a:r>
          </a:p>
          <a:p>
            <a:pPr>
              <a:buFont typeface="Arial" panose="020B0604020202020204" pitchFamily="34" charset="0"/>
              <a:buChar char="•"/>
            </a:pPr>
            <a:r>
              <a:rPr lang="de-DE" dirty="0"/>
              <a:t>Niedriger Loss allein beweist keine Generalisierung</a:t>
            </a:r>
          </a:p>
          <a:p>
            <a:pPr>
              <a:buFont typeface="Arial" panose="020B0604020202020204" pitchFamily="34" charset="0"/>
              <a:buChar char="•"/>
            </a:pPr>
            <a:r>
              <a:rPr lang="de-DE" dirty="0"/>
              <a:t>Deshalb zusätzlich: Dev/Test-Metriken, ROC/AUC, Learning </a:t>
            </a:r>
            <a:r>
              <a:rPr lang="de-DE" dirty="0" err="1"/>
              <a:t>Curves</a:t>
            </a:r>
            <a:endParaRPr lang="de-DE" dirty="0"/>
          </a:p>
        </p:txBody>
      </p:sp>
      <p:pic>
        <p:nvPicPr>
          <p:cNvPr id="11" name="Inhaltsplatzhalter 10">
            <a:extLst>
              <a:ext uri="{FF2B5EF4-FFF2-40B4-BE49-F238E27FC236}">
                <a16:creationId xmlns:a16="http://schemas.microsoft.com/office/drawing/2014/main" id="{C29B9310-6F11-0E1E-D9E3-58059F9BE356}"/>
              </a:ext>
            </a:extLst>
          </p:cNvPr>
          <p:cNvPicPr>
            <a:picLocks noGrp="1" noChangeAspect="1"/>
          </p:cNvPicPr>
          <p:nvPr>
            <p:ph sz="quarter" idx="14"/>
          </p:nvPr>
        </p:nvPicPr>
        <p:blipFill>
          <a:blip r:embed="rId3"/>
          <a:stretch>
            <a:fill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00B6B237-AAA7-0524-D844-6633D85D7E7C}"/>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737B854A-413A-5164-83D6-D96C58A53D53}"/>
              </a:ext>
            </a:extLst>
          </p:cNvPr>
          <p:cNvPicPr>
            <a:picLocks noChangeAspect="1"/>
          </p:cNvPicPr>
          <p:nvPr/>
        </p:nvPicPr>
        <p:blipFill>
          <a:blip r:embed="rId4"/>
          <a:srcRect/>
          <a:stretch/>
        </p:blipFill>
        <p:spPr>
          <a:xfrm>
            <a:off x="6459538" y="2092721"/>
            <a:ext cx="5391149" cy="3369468"/>
          </a:xfrm>
          <a:prstGeom prst="rect">
            <a:avLst/>
          </a:prstGeom>
        </p:spPr>
      </p:pic>
      <p:sp>
        <p:nvSpPr>
          <p:cNvPr id="16" name="Foliennummernplatzhalter 15">
            <a:extLst>
              <a:ext uri="{FF2B5EF4-FFF2-40B4-BE49-F238E27FC236}">
                <a16:creationId xmlns:a16="http://schemas.microsoft.com/office/drawing/2014/main" id="{13BD7E67-86CA-510A-9CDB-07DDA5F2BEF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4" name="Rechteck 3">
            <a:extLst>
              <a:ext uri="{FF2B5EF4-FFF2-40B4-BE49-F238E27FC236}">
                <a16:creationId xmlns:a16="http://schemas.microsoft.com/office/drawing/2014/main" id="{A62FCFAB-90C4-BC2F-0E0E-35EA9DB353D8}"/>
              </a:ext>
            </a:extLst>
          </p:cNvPr>
          <p:cNvSpPr/>
          <p:nvPr/>
        </p:nvSpPr>
        <p:spPr bwMode="auto">
          <a:xfrm>
            <a:off x="9049407" y="5244662"/>
            <a:ext cx="578069" cy="217527"/>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endParaRPr>
          </a:p>
        </p:txBody>
      </p:sp>
    </p:spTree>
    <p:extLst>
      <p:ext uri="{BB962C8B-B14F-4D97-AF65-F5344CB8AC3E}">
        <p14:creationId xmlns:p14="http://schemas.microsoft.com/office/powerpoint/2010/main" val="1533880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692F4-4654-12E9-0B81-867C770DCA55}"/>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D05955E5-D0B7-9962-B4D8-6BCD6AE466DA}"/>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6EABEA5B-6080-FBE9-6DA6-10DB7E45DD2D}"/>
              </a:ext>
            </a:extLst>
          </p:cNvPr>
          <p:cNvSpPr>
            <a:spLocks noGrp="1"/>
          </p:cNvSpPr>
          <p:nvPr>
            <p:ph type="title"/>
          </p:nvPr>
        </p:nvSpPr>
        <p:spPr/>
        <p:txBody>
          <a:bodyPr/>
          <a:lstStyle/>
          <a:p>
            <a:r>
              <a:rPr lang="de-DE" sz="3200" dirty="0"/>
              <a:t>Learning </a:t>
            </a:r>
            <a:r>
              <a:rPr lang="de-DE" sz="3200" dirty="0" err="1"/>
              <a:t>Curves</a:t>
            </a:r>
            <a:endParaRPr lang="de-DE" dirty="0"/>
          </a:p>
        </p:txBody>
      </p:sp>
      <p:sp>
        <p:nvSpPr>
          <p:cNvPr id="5" name="Fußzeilenplatzhalter 4">
            <a:extLst>
              <a:ext uri="{FF2B5EF4-FFF2-40B4-BE49-F238E27FC236}">
                <a16:creationId xmlns:a16="http://schemas.microsoft.com/office/drawing/2014/main" id="{C21741FB-233F-9B62-BDE5-78CC9DF1F194}"/>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0F533060-8BC0-E7A8-47E6-F36742E1101E}"/>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66F2D5E8-ACE1-A626-1A4C-3BEEED0736C2}"/>
              </a:ext>
            </a:extLst>
          </p:cNvPr>
          <p:cNvSpPr>
            <a:spLocks noGrp="1"/>
          </p:cNvSpPr>
          <p:nvPr>
            <p:ph sz="quarter" idx="13"/>
          </p:nvPr>
        </p:nvSpPr>
        <p:spPr/>
        <p:txBody>
          <a:bodyPr/>
          <a:lstStyle/>
          <a:p>
            <a:pPr>
              <a:buFont typeface="Arial" panose="020B0604020202020204" pitchFamily="34" charset="0"/>
              <a:buChar char="•"/>
            </a:pPr>
            <a:r>
              <a:rPr lang="de-DE" dirty="0"/>
              <a:t>Train- und Dev-Score pro Trainingsmenge</a:t>
            </a:r>
          </a:p>
          <a:p>
            <a:pPr>
              <a:buFont typeface="Arial" panose="020B0604020202020204" pitchFamily="34" charset="0"/>
              <a:buChar char="•"/>
            </a:pPr>
            <a:r>
              <a:rPr lang="de-DE" dirty="0"/>
              <a:t>Kurven zeigen Datenbedarf des Modells</a:t>
            </a:r>
          </a:p>
          <a:p>
            <a:pPr>
              <a:buFont typeface="Arial" panose="020B0604020202020204" pitchFamily="34" charset="0"/>
              <a:buChar char="•"/>
            </a:pPr>
            <a:r>
              <a:rPr lang="de-DE" dirty="0"/>
              <a:t>Bereits kleine Trainingsmenge trennt fast perfekt</a:t>
            </a:r>
          </a:p>
          <a:p>
            <a:pPr>
              <a:buFont typeface="Arial" panose="020B0604020202020204" pitchFamily="34" charset="0"/>
              <a:buChar char="•"/>
            </a:pPr>
            <a:r>
              <a:rPr lang="de-DE" dirty="0"/>
              <a:t>Ch1 erreicht früh perfekte Dev-Werte</a:t>
            </a:r>
          </a:p>
          <a:p>
            <a:pPr>
              <a:buFont typeface="Arial" panose="020B0604020202020204" pitchFamily="34" charset="0"/>
              <a:buChar char="•"/>
            </a:pPr>
            <a:r>
              <a:rPr lang="de-DE" dirty="0"/>
              <a:t>Ch2 braucht im aktuellen Split die volle Trainingsmenge für perfekte Dev-Werte</a:t>
            </a:r>
          </a:p>
          <a:p>
            <a:endParaRPr lang="de-DE" dirty="0"/>
          </a:p>
        </p:txBody>
      </p:sp>
      <p:pic>
        <p:nvPicPr>
          <p:cNvPr id="11" name="Inhaltsplatzhalter 10">
            <a:extLst>
              <a:ext uri="{FF2B5EF4-FFF2-40B4-BE49-F238E27FC236}">
                <a16:creationId xmlns:a16="http://schemas.microsoft.com/office/drawing/2014/main" id="{4DF0D70F-DBE3-307B-70EE-0B255331894E}"/>
              </a:ext>
            </a:extLst>
          </p:cNvPr>
          <p:cNvPicPr>
            <a:picLocks noGrp="1" noChangeAspect="1"/>
          </p:cNvPicPr>
          <p:nvPr>
            <p:ph sz="quarter" idx="14"/>
          </p:nvPr>
        </p:nvPicPr>
        <p:blipFill>
          <a:blip r:embed="rId3"/>
          <a:srcRect/>
          <a:stretch/>
        </p:blipFill>
        <p:spPr>
          <a:xfrm>
            <a:off x="6459538" y="2092722"/>
            <a:ext cx="5391150" cy="3369468"/>
          </a:xfrm>
          <a:prstGeom prst="rect">
            <a:avLst/>
          </a:prstGeom>
        </p:spPr>
      </p:pic>
      <p:sp>
        <p:nvSpPr>
          <p:cNvPr id="15" name="Rechteck: eine Ecke abgerundet 14">
            <a:extLst>
              <a:ext uri="{FF2B5EF4-FFF2-40B4-BE49-F238E27FC236}">
                <a16:creationId xmlns:a16="http://schemas.microsoft.com/office/drawing/2014/main" id="{221FC070-FA1A-089D-1456-55000A5089FD}"/>
              </a:ext>
            </a:extLst>
          </p:cNvPr>
          <p:cNvSpPr/>
          <p:nvPr/>
        </p:nvSpPr>
        <p:spPr bwMode="auto">
          <a:xfrm>
            <a:off x="6459535"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B661D436-2233-506D-7A2F-E10C843CD71E}"/>
              </a:ext>
            </a:extLst>
          </p:cNvPr>
          <p:cNvPicPr>
            <a:picLocks noChangeAspect="1"/>
          </p:cNvPicPr>
          <p:nvPr/>
        </p:nvPicPr>
        <p:blipFill>
          <a:blip r:embed="rId4"/>
          <a:srcRect/>
          <a:stretch/>
        </p:blipFill>
        <p:spPr>
          <a:xfrm>
            <a:off x="6459538" y="2092721"/>
            <a:ext cx="5391149" cy="3369467"/>
          </a:xfrm>
          <a:prstGeom prst="rect">
            <a:avLst/>
          </a:prstGeom>
        </p:spPr>
      </p:pic>
      <p:sp>
        <p:nvSpPr>
          <p:cNvPr id="6" name="Foliennummernplatzhalter 5">
            <a:extLst>
              <a:ext uri="{FF2B5EF4-FFF2-40B4-BE49-F238E27FC236}">
                <a16:creationId xmlns:a16="http://schemas.microsoft.com/office/drawing/2014/main" id="{FDDD861D-7BC1-A08C-170C-81699AAD47C7}"/>
              </a:ext>
            </a:extLst>
          </p:cNvPr>
          <p:cNvSpPr>
            <a:spLocks noGrp="1"/>
          </p:cNvSpPr>
          <p:nvPr>
            <p:ph type="sldNum" sz="quarter" idx="10"/>
          </p:nvPr>
        </p:nvSpPr>
        <p:spPr/>
        <p:txBody>
          <a:bodyPr/>
          <a:lstStyle/>
          <a:p>
            <a:fld id="{80B4FCE6-DC73-4135-BC56-1F242D45A84C}" type="slidenum">
              <a:rPr lang="de-DE" smtClean="0"/>
              <a:t>13</a:t>
            </a:fld>
            <a:endParaRPr lang="de-DE"/>
          </a:p>
        </p:txBody>
      </p:sp>
    </p:spTree>
    <p:extLst>
      <p:ext uri="{BB962C8B-B14F-4D97-AF65-F5344CB8AC3E}">
        <p14:creationId xmlns:p14="http://schemas.microsoft.com/office/powerpoint/2010/main" val="3382246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114C7-DE47-0944-DF0C-B611520E41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D077AA-8134-0C8E-A018-B8169899F662}"/>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577BF275-4CD1-7013-A879-C0A89D49357B}"/>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71B4C461-0198-1068-BC96-763CE6D3F62D}"/>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E2941D31-2190-EAE9-0CC8-F35EF0683372}"/>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4CDC262-EB45-F7AD-7318-38B1E600D84C}"/>
              </a:ext>
            </a:extLst>
          </p:cNvPr>
          <p:cNvPicPr>
            <a:picLocks noGrp="1" noChangeAspect="1"/>
          </p:cNvPicPr>
          <p:nvPr>
            <p:ph sz="quarter" idx="14"/>
          </p:nvPr>
        </p:nvPicPr>
        <p:blipFill>
          <a:blip r:embed="rId3"/>
          <a:stretch>
            <a:fillRect/>
          </a:stretch>
        </p:blipFill>
        <p:spPr>
          <a:xfrm>
            <a:off x="6095473" y="1755774"/>
            <a:ext cx="5755215" cy="4316411"/>
          </a:xfrm>
          <a:prstGeom prst="rect">
            <a:avLst/>
          </a:prstGeom>
        </p:spPr>
      </p:pic>
      <p:sp>
        <p:nvSpPr>
          <p:cNvPr id="11" name="Foliennummernplatzhalter 10">
            <a:extLst>
              <a:ext uri="{FF2B5EF4-FFF2-40B4-BE49-F238E27FC236}">
                <a16:creationId xmlns:a16="http://schemas.microsoft.com/office/drawing/2014/main" id="{58E06D0E-653E-42A5-34F5-C3CC178A4CE6}"/>
              </a:ext>
            </a:extLst>
          </p:cNvPr>
          <p:cNvSpPr>
            <a:spLocks noGrp="1"/>
          </p:cNvSpPr>
          <p:nvPr>
            <p:ph type="sldNum" sz="quarter" idx="10"/>
          </p:nvPr>
        </p:nvSpPr>
        <p:spPr/>
        <p:txBody>
          <a:bodyPr/>
          <a:lstStyle/>
          <a:p>
            <a:fld id="{80B4FCE6-DC73-4135-BC56-1F242D45A84C}" type="slidenum">
              <a:rPr lang="de-DE" smtClean="0"/>
              <a:t>14</a:t>
            </a:fld>
            <a:endParaRPr lang="de-DE"/>
          </a:p>
        </p:txBody>
      </p:sp>
    </p:spTree>
    <p:extLst>
      <p:ext uri="{BB962C8B-B14F-4D97-AF65-F5344CB8AC3E}">
        <p14:creationId xmlns:p14="http://schemas.microsoft.com/office/powerpoint/2010/main" val="641672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937EF-8FA5-3B82-EE02-E696CA86C50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E8ED65B-A4A9-8253-D3F5-86AF9FABE744}"/>
              </a:ext>
            </a:extLst>
          </p:cNvPr>
          <p:cNvSpPr>
            <a:spLocks noGrp="1"/>
          </p:cNvSpPr>
          <p:nvPr>
            <p:ph type="title"/>
          </p:nvPr>
        </p:nvSpPr>
        <p:spPr>
          <a:xfrm>
            <a:off x="341811" y="567600"/>
            <a:ext cx="5753662" cy="706030"/>
          </a:xfrm>
        </p:spPr>
        <p:txBody>
          <a:bodyPr/>
          <a:lstStyle/>
          <a:p>
            <a:r>
              <a:rPr lang="de-DE" sz="3200" dirty="0"/>
              <a:t>Entscheidungsgrenze im Training</a:t>
            </a:r>
            <a:endParaRPr lang="de-DE" dirty="0"/>
          </a:p>
        </p:txBody>
      </p:sp>
      <p:sp>
        <p:nvSpPr>
          <p:cNvPr id="7" name="Fußzeilenplatzhalter 6">
            <a:extLst>
              <a:ext uri="{FF2B5EF4-FFF2-40B4-BE49-F238E27FC236}">
                <a16:creationId xmlns:a16="http://schemas.microsoft.com/office/drawing/2014/main" id="{B92395F9-CFA2-195F-9385-397DB9FE5811}"/>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1847D22D-9F17-A821-E459-143396AD6852}"/>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471E2137-723A-08A3-959D-6D24A2077FF4}"/>
              </a:ext>
            </a:extLst>
          </p:cNvPr>
          <p:cNvSpPr>
            <a:spLocks noGrp="1"/>
          </p:cNvSpPr>
          <p:nvPr>
            <p:ph sz="quarter" idx="13"/>
          </p:nvPr>
        </p:nvSpPr>
        <p:spPr/>
        <p:txBody>
          <a:bodyPr/>
          <a:lstStyle/>
          <a:p>
            <a:pPr>
              <a:buFont typeface="Arial" panose="020B0604020202020204" pitchFamily="34" charset="0"/>
              <a:buChar char="•"/>
            </a:pPr>
            <a:r>
              <a:rPr lang="de-DE" dirty="0"/>
              <a:t>Punkte: Trainingsdaten in 2D-PCA-Projektion</a:t>
            </a:r>
          </a:p>
          <a:p>
            <a:pPr>
              <a:buFont typeface="Arial" panose="020B0604020202020204" pitchFamily="34" charset="0"/>
              <a:buChar char="•"/>
            </a:pPr>
            <a:r>
              <a:rPr lang="de-DE" dirty="0"/>
              <a:t>Linie: lineare Entscheidungsgrenze in der PCA-Ebene</a:t>
            </a:r>
          </a:p>
          <a:p>
            <a:pPr>
              <a:buFont typeface="Arial" panose="020B0604020202020204" pitchFamily="34" charset="0"/>
              <a:buChar char="•"/>
            </a:pPr>
            <a:r>
              <a:rPr lang="de-DE" dirty="0"/>
              <a:t>Rot: beschädigt `0`</a:t>
            </a:r>
          </a:p>
          <a:p>
            <a:pPr>
              <a:buFont typeface="Arial" panose="020B0604020202020204" pitchFamily="34" charset="0"/>
              <a:buChar char="•"/>
            </a:pPr>
            <a:r>
              <a:rPr lang="de-DE" dirty="0"/>
              <a:t>Blau: gut `1`</a:t>
            </a:r>
          </a:p>
          <a:p>
            <a:endParaRPr lang="de-DE" dirty="0"/>
          </a:p>
        </p:txBody>
      </p:sp>
      <p:pic>
        <p:nvPicPr>
          <p:cNvPr id="10" name="Inhaltsplatzhalter 9">
            <a:extLst>
              <a:ext uri="{FF2B5EF4-FFF2-40B4-BE49-F238E27FC236}">
                <a16:creationId xmlns:a16="http://schemas.microsoft.com/office/drawing/2014/main" id="{D7DFFD06-9975-6A88-DD50-841259834DAE}"/>
              </a:ext>
            </a:extLst>
          </p:cNvPr>
          <p:cNvPicPr>
            <a:picLocks noGrp="1" noChangeAspect="1"/>
          </p:cNvPicPr>
          <p:nvPr>
            <p:ph sz="quarter" idx="14"/>
          </p:nvPr>
        </p:nvPicPr>
        <p:blipFill>
          <a:blip r:embed="rId3"/>
          <a:srcRect/>
          <a:stretch/>
        </p:blipFill>
        <p:spPr>
          <a:xfrm>
            <a:off x="6095473" y="1755774"/>
            <a:ext cx="5755215" cy="4316411"/>
          </a:xfrm>
          <a:prstGeom prst="rect">
            <a:avLst/>
          </a:prstGeom>
        </p:spPr>
      </p:pic>
      <p:sp>
        <p:nvSpPr>
          <p:cNvPr id="5" name="Foliennummernplatzhalter 4">
            <a:extLst>
              <a:ext uri="{FF2B5EF4-FFF2-40B4-BE49-F238E27FC236}">
                <a16:creationId xmlns:a16="http://schemas.microsoft.com/office/drawing/2014/main" id="{01107926-37B1-CA57-B637-A5F611C3389F}"/>
              </a:ext>
            </a:extLst>
          </p:cNvPr>
          <p:cNvSpPr>
            <a:spLocks noGrp="1"/>
          </p:cNvSpPr>
          <p:nvPr>
            <p:ph type="sldNum" sz="quarter" idx="10"/>
          </p:nvPr>
        </p:nvSpPr>
        <p:spPr/>
        <p:txBody>
          <a:bodyPr/>
          <a:lstStyle/>
          <a:p>
            <a:fld id="{80B4FCE6-DC73-4135-BC56-1F242D45A84C}" type="slidenum">
              <a:rPr lang="de-DE" smtClean="0"/>
              <a:t>15</a:t>
            </a:fld>
            <a:endParaRPr lang="de-DE"/>
          </a:p>
        </p:txBody>
      </p:sp>
    </p:spTree>
    <p:extLst>
      <p:ext uri="{BB962C8B-B14F-4D97-AF65-F5344CB8AC3E}">
        <p14:creationId xmlns:p14="http://schemas.microsoft.com/office/powerpoint/2010/main" val="34633001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E163-6174-0335-CC5D-4CCB2676747C}"/>
            </a:ext>
          </a:extLst>
        </p:cNvPr>
        <p:cNvGrpSpPr/>
        <p:nvPr/>
      </p:nvGrpSpPr>
      <p:grpSpPr>
        <a:xfrm>
          <a:off x="0" y="0"/>
          <a:ext cx="0" cy="0"/>
          <a:chOff x="0" y="0"/>
          <a:chExt cx="0" cy="0"/>
        </a:xfrm>
      </p:grpSpPr>
      <p:sp>
        <p:nvSpPr>
          <p:cNvPr id="13" name="Rechteck: eine Ecke abgerundet 12">
            <a:extLst>
              <a:ext uri="{FF2B5EF4-FFF2-40B4-BE49-F238E27FC236}">
                <a16:creationId xmlns:a16="http://schemas.microsoft.com/office/drawing/2014/main" id="{F8E8A0BF-6C91-BB25-F574-EF1EB3FFC47E}"/>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1</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sp>
        <p:nvSpPr>
          <p:cNvPr id="2" name="Titel 1">
            <a:extLst>
              <a:ext uri="{FF2B5EF4-FFF2-40B4-BE49-F238E27FC236}">
                <a16:creationId xmlns:a16="http://schemas.microsoft.com/office/drawing/2014/main" id="{FF7BE80C-ADD9-4B83-0F35-FABC25DABF97}"/>
              </a:ext>
            </a:extLst>
          </p:cNvPr>
          <p:cNvSpPr>
            <a:spLocks noGrp="1"/>
          </p:cNvSpPr>
          <p:nvPr>
            <p:ph type="title"/>
          </p:nvPr>
        </p:nvSpPr>
        <p:spPr/>
        <p:txBody>
          <a:bodyPr/>
          <a:lstStyle/>
          <a:p>
            <a:r>
              <a:rPr lang="de-DE" sz="3200" dirty="0"/>
              <a:t>Testergebnisse</a:t>
            </a:r>
            <a:endParaRPr lang="de-DE" dirty="0"/>
          </a:p>
        </p:txBody>
      </p:sp>
      <p:sp>
        <p:nvSpPr>
          <p:cNvPr id="5" name="Fußzeilenplatzhalter 4">
            <a:extLst>
              <a:ext uri="{FF2B5EF4-FFF2-40B4-BE49-F238E27FC236}">
                <a16:creationId xmlns:a16="http://schemas.microsoft.com/office/drawing/2014/main" id="{3700FFC5-AF95-B68C-5F71-A8EF47B9C797}"/>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34CADDE5-67A5-2686-564A-CA60BE28A110}"/>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75AFD3C3-3EFB-85A6-8836-7191C35AF37E}"/>
              </a:ext>
            </a:extLst>
          </p:cNvPr>
          <p:cNvSpPr>
            <a:spLocks noGrp="1"/>
          </p:cNvSpPr>
          <p:nvPr>
            <p:ph sz="quarter" idx="13"/>
          </p:nvPr>
        </p:nvSpPr>
        <p:spPr/>
        <p:txBody>
          <a:bodyPr/>
          <a:lstStyle/>
          <a:p>
            <a:pPr>
              <a:buFont typeface="Arial" panose="020B0604020202020204" pitchFamily="34" charset="0"/>
              <a:buChar char="•"/>
            </a:pPr>
            <a:r>
              <a:rPr lang="de-DE" dirty="0"/>
              <a:t>Finale Bewertung auf Testsatz</a:t>
            </a:r>
          </a:p>
          <a:p>
            <a:pPr>
              <a:buFont typeface="Arial" panose="020B0604020202020204" pitchFamily="34" charset="0"/>
              <a:buChar char="•"/>
            </a:pPr>
            <a:r>
              <a:rPr lang="de-DE" dirty="0"/>
              <a:t>Aktuelle </a:t>
            </a:r>
            <a:r>
              <a:rPr lang="de-DE" dirty="0" err="1"/>
              <a:t>Testmetriken</a:t>
            </a:r>
            <a:r>
              <a:rPr lang="de-DE" dirty="0"/>
              <a:t>:</a:t>
            </a:r>
          </a:p>
          <a:p>
            <a:pPr lvl="1">
              <a:buFont typeface="Arial" panose="020B0604020202020204" pitchFamily="34" charset="0"/>
              <a:buChar char="•"/>
            </a:pPr>
            <a:r>
              <a:rPr lang="de-DE" dirty="0" err="1"/>
              <a:t>Accuracy</a:t>
            </a:r>
            <a:r>
              <a:rPr lang="de-DE" dirty="0"/>
              <a:t>: `1.00`</a:t>
            </a:r>
          </a:p>
          <a:p>
            <a:pPr lvl="1">
              <a:buFont typeface="Arial" panose="020B0604020202020204" pitchFamily="34" charset="0"/>
              <a:buChar char="•"/>
            </a:pPr>
            <a:r>
              <a:rPr lang="de-DE" dirty="0" err="1"/>
              <a:t>Balanced</a:t>
            </a:r>
            <a:r>
              <a:rPr lang="de-DE" dirty="0"/>
              <a:t> </a:t>
            </a:r>
            <a:r>
              <a:rPr lang="de-DE" dirty="0" err="1"/>
              <a:t>Accuracy</a:t>
            </a:r>
            <a:r>
              <a:rPr lang="de-DE" dirty="0"/>
              <a:t>: `1.00`</a:t>
            </a:r>
          </a:p>
          <a:p>
            <a:pPr lvl="1">
              <a:buFont typeface="Arial" panose="020B0604020202020204" pitchFamily="34" charset="0"/>
              <a:buChar char="•"/>
            </a:pPr>
            <a:r>
              <a:rPr lang="de-DE" dirty="0"/>
              <a:t>F1 für beschädigt: `1.00`</a:t>
            </a:r>
          </a:p>
          <a:p>
            <a:pPr>
              <a:buFont typeface="Arial" panose="020B0604020202020204" pitchFamily="34" charset="0"/>
              <a:buChar char="•"/>
            </a:pPr>
            <a:r>
              <a:rPr lang="de-DE" dirty="0"/>
              <a:t>Keine Fehlklassifikation im aktuellen Split</a:t>
            </a:r>
          </a:p>
        </p:txBody>
      </p:sp>
      <p:pic>
        <p:nvPicPr>
          <p:cNvPr id="11" name="Inhaltsplatzhalter 10">
            <a:extLst>
              <a:ext uri="{FF2B5EF4-FFF2-40B4-BE49-F238E27FC236}">
                <a16:creationId xmlns:a16="http://schemas.microsoft.com/office/drawing/2014/main" id="{6A6044F3-D308-6354-A347-71E8B0322F88}"/>
              </a:ext>
            </a:extLst>
          </p:cNvPr>
          <p:cNvPicPr>
            <a:picLocks noGrp="1" noChangeAspect="1"/>
          </p:cNvPicPr>
          <p:nvPr>
            <p:ph sz="quarter" idx="14"/>
          </p:nvPr>
        </p:nvPicPr>
        <p:blipFill>
          <a:blip r:embed="rId3"/>
          <a:srcRect/>
          <a:stretch/>
        </p:blipFill>
        <p:spPr>
          <a:xfrm>
            <a:off x="6455727" y="2068701"/>
            <a:ext cx="5196437" cy="4354385"/>
          </a:xfrm>
          <a:prstGeom prst="rect">
            <a:avLst/>
          </a:prstGeom>
        </p:spPr>
      </p:pic>
      <p:sp>
        <p:nvSpPr>
          <p:cNvPr id="15" name="Rechteck: eine Ecke abgerundet 14">
            <a:extLst>
              <a:ext uri="{FF2B5EF4-FFF2-40B4-BE49-F238E27FC236}">
                <a16:creationId xmlns:a16="http://schemas.microsoft.com/office/drawing/2014/main" id="{8A72FF3C-2C7B-8705-2775-AB010BAE17F4}"/>
              </a:ext>
            </a:extLst>
          </p:cNvPr>
          <p:cNvSpPr/>
          <p:nvPr/>
        </p:nvSpPr>
        <p:spPr bwMode="auto">
          <a:xfrm>
            <a:off x="6459536" y="1740625"/>
            <a:ext cx="750559" cy="704193"/>
          </a:xfrm>
          <a:prstGeom prst="round1Rect">
            <a:avLst/>
          </a:prstGeom>
          <a:solidFill>
            <a:schemeClr val="bg2">
              <a:lumMod val="40000"/>
              <a:lumOff val="6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sz="1800" b="0" i="0" u="none" strike="noStrike" cap="none" normalizeH="0" baseline="0" dirty="0" err="1">
                <a:ln>
                  <a:noFill/>
                </a:ln>
                <a:solidFill>
                  <a:schemeClr val="tx1"/>
                </a:solidFill>
                <a:effectLst/>
                <a:latin typeface="Arial" pitchFamily="-109" charset="0"/>
                <a:ea typeface="ヒラギノ角ゴ Pro W3" pitchFamily="-109" charset="-128"/>
                <a:cs typeface="ヒラギノ角ゴ Pro W3" pitchFamily="-109" charset="-128"/>
              </a:rPr>
              <a:t>Ch</a:t>
            </a:r>
            <a:r>
              <a:rPr kumimoji="0" lang="de-DE" sz="18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rPr>
              <a:t> 2</a:t>
            </a:r>
            <a:endParaRPr kumimoji="0" lang="de-DE" sz="2400" b="0" i="0" u="none" strike="noStrike" cap="none" normalizeH="0" baseline="0" dirty="0">
              <a:ln>
                <a:noFill/>
              </a:ln>
              <a:solidFill>
                <a:schemeClr val="tx1"/>
              </a:solidFill>
              <a:effectLst/>
              <a:latin typeface="Arial" pitchFamily="-109" charset="0"/>
              <a:ea typeface="ヒラギノ角ゴ Pro W3" pitchFamily="-109" charset="-128"/>
              <a:cs typeface="ヒラギノ角ゴ Pro W3" pitchFamily="-109" charset="-128"/>
            </a:endParaRPr>
          </a:p>
        </p:txBody>
      </p:sp>
      <p:pic>
        <p:nvPicPr>
          <p:cNvPr id="12" name="Inhaltsplatzhalter 10">
            <a:extLst>
              <a:ext uri="{FF2B5EF4-FFF2-40B4-BE49-F238E27FC236}">
                <a16:creationId xmlns:a16="http://schemas.microsoft.com/office/drawing/2014/main" id="{C2D05996-D3A4-BF54-4EB7-5C95131B19A7}"/>
              </a:ext>
            </a:extLst>
          </p:cNvPr>
          <p:cNvPicPr>
            <a:picLocks noChangeAspect="1"/>
          </p:cNvPicPr>
          <p:nvPr/>
        </p:nvPicPr>
        <p:blipFill>
          <a:blip r:embed="rId3"/>
          <a:srcRect/>
          <a:stretch/>
        </p:blipFill>
        <p:spPr>
          <a:xfrm>
            <a:off x="6455727" y="2068701"/>
            <a:ext cx="5196437" cy="4354385"/>
          </a:xfrm>
          <a:prstGeom prst="rect">
            <a:avLst/>
          </a:prstGeom>
        </p:spPr>
      </p:pic>
      <p:sp>
        <p:nvSpPr>
          <p:cNvPr id="6" name="Foliennummernplatzhalter 5">
            <a:extLst>
              <a:ext uri="{FF2B5EF4-FFF2-40B4-BE49-F238E27FC236}">
                <a16:creationId xmlns:a16="http://schemas.microsoft.com/office/drawing/2014/main" id="{375A9587-B8AB-9FF9-3DB6-4B6D8BB7397F}"/>
              </a:ext>
            </a:extLst>
          </p:cNvPr>
          <p:cNvSpPr>
            <a:spLocks noGrp="1"/>
          </p:cNvSpPr>
          <p:nvPr>
            <p:ph type="sldNum" sz="quarter" idx="10"/>
          </p:nvPr>
        </p:nvSpPr>
        <p:spPr/>
        <p:txBody>
          <a:bodyPr/>
          <a:lstStyle/>
          <a:p>
            <a:fld id="{80B4FCE6-DC73-4135-BC56-1F242D45A84C}" type="slidenum">
              <a:rPr lang="de-DE" smtClean="0"/>
              <a:t>16</a:t>
            </a:fld>
            <a:endParaRPr lang="de-DE"/>
          </a:p>
        </p:txBody>
      </p:sp>
    </p:spTree>
    <p:extLst>
      <p:ext uri="{BB962C8B-B14F-4D97-AF65-F5344CB8AC3E}">
        <p14:creationId xmlns:p14="http://schemas.microsoft.com/office/powerpoint/2010/main" val="23517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AAFDA-5709-6898-CE4E-940E6A34EAD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1DF8090-BADC-27B4-F673-12947654E7F5}"/>
              </a:ext>
            </a:extLst>
          </p:cNvPr>
          <p:cNvSpPr>
            <a:spLocks noGrp="1"/>
          </p:cNvSpPr>
          <p:nvPr>
            <p:ph type="title"/>
          </p:nvPr>
        </p:nvSpPr>
        <p:spPr/>
        <p:txBody>
          <a:bodyPr/>
          <a:lstStyle/>
          <a:p>
            <a:r>
              <a:rPr lang="de-DE" dirty="0"/>
              <a:t>ROC und AUC</a:t>
            </a:r>
            <a:endParaRPr lang="de-DE" b="0" dirty="0"/>
          </a:p>
        </p:txBody>
      </p:sp>
      <p:sp>
        <p:nvSpPr>
          <p:cNvPr id="3" name="Foliennummernplatzhalter 2">
            <a:extLst>
              <a:ext uri="{FF2B5EF4-FFF2-40B4-BE49-F238E27FC236}">
                <a16:creationId xmlns:a16="http://schemas.microsoft.com/office/drawing/2014/main" id="{86D9B423-944C-1C30-B5CC-D3E5B59E7598}"/>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61398641-4C2C-6031-67B2-033E0BC9BEAF}"/>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9CD15804-53A8-F6A6-4020-8B7067A69EC8}"/>
              </a:ext>
            </a:extLst>
          </p:cNvPr>
          <p:cNvSpPr>
            <a:spLocks noGrp="1"/>
          </p:cNvSpPr>
          <p:nvPr>
            <p:ph type="dt" sz="half" idx="12"/>
          </p:nvPr>
        </p:nvSpPr>
        <p:spPr/>
        <p:txBody>
          <a:bodyPr/>
          <a:lstStyle/>
          <a:p>
            <a:r>
              <a:rPr lang="de-DE"/>
              <a:t>23.07.2026</a:t>
            </a:r>
          </a:p>
        </p:txBody>
      </p:sp>
      <p:sp>
        <p:nvSpPr>
          <p:cNvPr id="4" name="Inhaltsplatzhalter 3">
            <a:extLst>
              <a:ext uri="{FF2B5EF4-FFF2-40B4-BE49-F238E27FC236}">
                <a16:creationId xmlns:a16="http://schemas.microsoft.com/office/drawing/2014/main" id="{9E24C8D9-E4E3-E9CF-1805-31E38BF75F4C}"/>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ROC für Klasse 0 = beschädigt</a:t>
            </a:r>
          </a:p>
          <a:p>
            <a:pPr>
              <a:buFont typeface="Arial" panose="020B0604020202020204" pitchFamily="34" charset="0"/>
              <a:buChar char="•"/>
            </a:pPr>
            <a:r>
              <a:rPr lang="de-DE" dirty="0"/>
              <a:t>AUC: 1.00</a:t>
            </a:r>
          </a:p>
          <a:p>
            <a:pPr>
              <a:buFont typeface="Arial" panose="020B0604020202020204" pitchFamily="34" charset="0"/>
              <a:buChar char="•"/>
            </a:pPr>
            <a:r>
              <a:rPr lang="de-DE" dirty="0"/>
              <a:t>Kurve liegt ideal links oben</a:t>
            </a:r>
          </a:p>
          <a:p>
            <a:endParaRPr lang="de-DE" dirty="0"/>
          </a:p>
        </p:txBody>
      </p:sp>
      <p:pic>
        <p:nvPicPr>
          <p:cNvPr id="10" name="Inhaltsplatzhalter 9">
            <a:extLst>
              <a:ext uri="{FF2B5EF4-FFF2-40B4-BE49-F238E27FC236}">
                <a16:creationId xmlns:a16="http://schemas.microsoft.com/office/drawing/2014/main" id="{C5D9F17E-32D1-AC34-CA50-AD008C0C61A7}"/>
              </a:ext>
            </a:extLst>
          </p:cNvPr>
          <p:cNvPicPr>
            <a:picLocks noGrp="1" noChangeAspect="1"/>
          </p:cNvPicPr>
          <p:nvPr>
            <p:ph sz="quarter" idx="14"/>
          </p:nvPr>
        </p:nvPicPr>
        <p:blipFill>
          <a:blip r:embed="rId3"/>
          <a:stretch>
            <a:fillRect/>
          </a:stretch>
        </p:blipFill>
        <p:spPr>
          <a:xfrm>
            <a:off x="6637205" y="1619250"/>
            <a:ext cx="5035815" cy="4316413"/>
          </a:xfrm>
          <a:prstGeom prst="rect">
            <a:avLst/>
          </a:prstGeom>
        </p:spPr>
      </p:pic>
    </p:spTree>
    <p:extLst>
      <p:ext uri="{BB962C8B-B14F-4D97-AF65-F5344CB8AC3E}">
        <p14:creationId xmlns:p14="http://schemas.microsoft.com/office/powerpoint/2010/main" val="29166419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18</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Sehr gute Ergebnisse im aktuellen Split</a:t>
            </a:r>
          </a:p>
          <a:p>
            <a:pPr>
              <a:buFont typeface="Arial" panose="020B0604020202020204" pitchFamily="34" charset="0"/>
              <a:buChar char="•"/>
            </a:pPr>
            <a:r>
              <a:rPr lang="de-DE" dirty="0"/>
              <a:t>Aber:</a:t>
            </a:r>
          </a:p>
          <a:p>
            <a:pPr lvl="1">
              <a:buFont typeface="Arial" panose="020B0604020202020204" pitchFamily="34" charset="0"/>
              <a:buChar char="•"/>
            </a:pPr>
            <a:r>
              <a:rPr lang="de-DE" dirty="0"/>
              <a:t>kleiner Datensatz</a:t>
            </a:r>
          </a:p>
          <a:p>
            <a:pPr lvl="1">
              <a:buFont typeface="Arial" panose="020B0604020202020204" pitchFamily="34" charset="0"/>
              <a:buChar char="•"/>
            </a:pPr>
            <a:r>
              <a:rPr lang="de-DE" dirty="0"/>
              <a:t>nur Z05 ist beschädigt</a:t>
            </a:r>
          </a:p>
          <a:p>
            <a:pPr lvl="1">
              <a:buFont typeface="Arial" panose="020B0604020202020204" pitchFamily="34" charset="0"/>
              <a:buChar char="•"/>
            </a:pPr>
            <a:r>
              <a:rPr lang="de-DE" dirty="0"/>
              <a:t>gute Testdaten stammen aus unbekanntem Zahnrad Z03</a:t>
            </a:r>
          </a:p>
          <a:p>
            <a:pPr lvl="1">
              <a:buFont typeface="Arial" panose="020B0604020202020204" pitchFamily="34" charset="0"/>
              <a:buChar char="•"/>
            </a:pPr>
            <a:r>
              <a:rPr lang="de-DE" dirty="0"/>
              <a:t>beschädigte Klasse stammt weiterhin nur aus Z05</a:t>
            </a:r>
          </a:p>
          <a:p>
            <a:pPr lvl="1">
              <a:buFont typeface="Arial" panose="020B0604020202020204" pitchFamily="34" charset="0"/>
              <a:buChar char="•"/>
            </a:pPr>
            <a:r>
              <a:rPr lang="de-DE" dirty="0"/>
              <a:t>Generalisierung auf neue beschädigte Zahnräder offen</a:t>
            </a:r>
          </a:p>
          <a:p>
            <a:endParaRPr lang="de-DE" dirty="0"/>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Pipeline von gemittelten Merkmalen zu zwei Channel-MLPs</a:t>
            </a:r>
          </a:p>
          <a:p>
            <a:pPr>
              <a:buFont typeface="Arial" panose="020B0604020202020204" pitchFamily="34" charset="0"/>
              <a:buChar char="•"/>
            </a:pPr>
            <a:r>
              <a:rPr lang="de-DE" dirty="0"/>
              <a:t>Zahnrad basierter Split statt zufälligem Dateisplit</a:t>
            </a:r>
          </a:p>
          <a:p>
            <a:pPr>
              <a:buFont typeface="Arial" panose="020B0604020202020204" pitchFamily="34" charset="0"/>
              <a:buChar char="•"/>
            </a:pPr>
            <a:r>
              <a:rPr lang="de-DE" dirty="0"/>
              <a:t>Testsignale werden nach Channel geroutet</a:t>
            </a:r>
          </a:p>
          <a:p>
            <a:pPr>
              <a:buFont typeface="Arial" panose="020B0604020202020204" pitchFamily="34" charset="0"/>
              <a:buChar char="•"/>
            </a:pPr>
            <a:r>
              <a:rPr lang="de-DE" dirty="0"/>
              <a:t>Beide MLPs erreichen perfekte Testwerte im aktuellen Datensatz</a:t>
            </a:r>
          </a:p>
          <a:p>
            <a:pPr>
              <a:buFont typeface="Arial" panose="020B0604020202020204" pitchFamily="34" charset="0"/>
              <a:buChar char="•"/>
            </a:pPr>
            <a:r>
              <a:rPr lang="de-DE" dirty="0"/>
              <a:t>Nächster Schritt: mehr beschädigte Proben testen</a:t>
            </a:r>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19</a:t>
            </a:fld>
            <a:endParaRPr lang="de-DE"/>
          </a:p>
        </p:txBody>
      </p:sp>
    </p:spTree>
    <p:extLst>
      <p:ext uri="{BB962C8B-B14F-4D97-AF65-F5344CB8AC3E}">
        <p14:creationId xmlns:p14="http://schemas.microsoft.com/office/powerpoint/2010/main" val="176930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1842</Words>
  <Application>Microsoft Office PowerPoint</Application>
  <PresentationFormat>Breitbild</PresentationFormat>
  <Paragraphs>312</Paragraphs>
  <Slides>20</Slides>
  <Notes>20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20</vt:i4>
      </vt:variant>
    </vt:vector>
  </HeadingPairs>
  <TitlesOfParts>
    <vt:vector size="26" baseType="lpstr">
      <vt:lpstr>Aptos</vt:lpstr>
      <vt:lpstr>Arial</vt:lpstr>
      <vt:lpstr>Courier New</vt:lpstr>
      <vt:lpstr>Lucida Grande</vt:lpstr>
      <vt:lpstr>ヒラギノ角ゴ Pro W3</vt:lpstr>
      <vt:lpstr>B-TU_Design_new</vt:lpstr>
      <vt:lpstr>Seminaraufgabe 4</vt:lpstr>
      <vt:lpstr>Gliederung</vt:lpstr>
      <vt:lpstr>Daten &amp; Pipelines</vt:lpstr>
      <vt:lpstr>Datensatz und Label-Zuordnung</vt:lpstr>
      <vt:lpstr>Kreuzvalidierung</vt:lpstr>
      <vt:lpstr>Autoencoder</vt:lpstr>
      <vt:lpstr>Metriken &amp; Schwelle</vt:lpstr>
      <vt:lpstr>Einzelmessungen</vt:lpstr>
      <vt:lpstr>MLP-Modell</vt:lpstr>
      <vt:lpstr>Hyperparameter-Suche</vt:lpstr>
      <vt:lpstr>Code-Überblick</vt:lpstr>
      <vt:lpstr>Loss Curves</vt:lpstr>
      <vt:lpstr>Learning Curves</vt:lpstr>
      <vt:lpstr>Entscheidungsgrenze im Training</vt:lpstr>
      <vt:lpstr>Entscheidungsgrenze im Training</vt:lpstr>
      <vt:lpstr>Testergebnisse</vt:lpstr>
      <vt:lpstr>ROC und AUC</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63</cp:revision>
  <dcterms:created xsi:type="dcterms:W3CDTF">2026-06-13T09:02:33Z</dcterms:created>
  <dcterms:modified xsi:type="dcterms:W3CDTF">2026-07-21T14:22:39Z</dcterms:modified>
</cp:coreProperties>
</file>