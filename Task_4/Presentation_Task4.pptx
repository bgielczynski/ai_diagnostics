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3"/>
  </p:notesMasterIdLst>
  <p:handoutMasterIdLst>
    <p:handoutMasterId r:id="rId24"/>
  </p:handoutMasterIdLst>
  <p:sldIdLst>
    <p:sldId id="256" r:id="rId2"/>
    <p:sldId id="257" r:id="rId3"/>
    <p:sldId id="266" r:id="rId4"/>
    <p:sldId id="263" r:id="rId5"/>
    <p:sldId id="267" r:id="rId6"/>
    <p:sldId id="264" r:id="rId7"/>
    <p:sldId id="269" r:id="rId8"/>
    <p:sldId id="268" r:id="rId9"/>
    <p:sldId id="265" r:id="rId10"/>
    <p:sldId id="281" r:id="rId11"/>
    <p:sldId id="283" r:id="rId12"/>
    <p:sldId id="282" r:id="rId13"/>
    <p:sldId id="270" r:id="rId14"/>
    <p:sldId id="284" r:id="rId15"/>
    <p:sldId id="285" r:id="rId16"/>
    <p:sldId id="287" r:id="rId17"/>
    <p:sldId id="286" r:id="rId18"/>
    <p:sldId id="288" r:id="rId19"/>
    <p:sldId id="274" r:id="rId20"/>
    <p:sldId id="275" r:id="rId21"/>
    <p:sldId id="277" r:id="rId22"/>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3FF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77175" autoAdjust="0"/>
  </p:normalViewPr>
  <p:slideViewPr>
    <p:cSldViewPr snapToGrid="0">
      <p:cViewPr varScale="1">
        <p:scale>
          <a:sx n="73" d="100"/>
          <a:sy n="73" d="100"/>
        </p:scale>
        <p:origin x="1224"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23.07.2026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23.07.2026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David</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Quantil wurde zwischen 95% und 99% getestet mit 98% erster wert bei dem keine FN auftreten und die maximale Anzahl an TN gefunden werden.</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60 Gesunde (Label 0) Signale von Z04, da aber Z01 (die wie wir in Task 2 gesehen haben ziemlich verstreut ist) in Training ist sind die Ergebnisse „ok“</a:t>
            </a:r>
          </a:p>
        </p:txBody>
      </p:sp>
      <p:sp>
        <p:nvSpPr>
          <p:cNvPr id="4" name="Foliennummernplatzhalter 3"/>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C249B-BF03-3FEA-42A6-ED12FCF80B1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0EE3261-7752-DF09-0A7E-C800CE8B48B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624E5E6-45C1-C599-4773-1CB1CB8691C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Z02 (beide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überschüssigen Zahnräder sind in </a:t>
            </a:r>
            <a:r>
              <a:rPr lang="de-DE" sz="1200" b="0" kern="1200" dirty="0" err="1">
                <a:solidFill>
                  <a:schemeClr val="tx1"/>
                </a:solidFill>
                <a:effectLst/>
                <a:latin typeface="+mn-lt"/>
                <a:ea typeface="+mn-ea"/>
                <a:cs typeface="+mn-cs"/>
              </a:rPr>
              <a:t>train</a:t>
            </a:r>
            <a:r>
              <a:rPr lang="de-DE" sz="1200" b="0" kern="1200" dirty="0">
                <a:solidFill>
                  <a:schemeClr val="tx1"/>
                </a:solidFill>
                <a:effectLst/>
                <a:latin typeface="+mn-lt"/>
                <a:ea typeface="+mn-ea"/>
                <a:cs typeface="+mn-cs"/>
              </a:rPr>
              <a:t>)</a:t>
            </a:r>
          </a:p>
        </p:txBody>
      </p:sp>
      <p:sp>
        <p:nvSpPr>
          <p:cNvPr id="4" name="Foliennummernplatzhalter 3">
            <a:extLst>
              <a:ext uri="{FF2B5EF4-FFF2-40B4-BE49-F238E27FC236}">
                <a16:creationId xmlns:a16="http://schemas.microsoft.com/office/drawing/2014/main" id="{2CD3B589-EC5C-40EE-889A-6A61DC2DCED6}"/>
              </a:ext>
            </a:extLst>
          </p:cNvPr>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2504185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145DD-A245-1432-5F26-BAF67B57342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F66CC1-C74C-CE8B-A74D-93BCBB74301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6ED9703-69F9-AA3F-FF26-4D3473E7F31A}"/>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Z03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30313553-ADFE-8DDF-E162-D6FF44166FB5}"/>
              </a:ext>
            </a:extLst>
          </p:cNvPr>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1042205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8CC5-1F04-F25E-FA74-E6B2B6B398D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45F7C57-2DE9-C50E-933F-5D517FA9B9E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A6E79513-5D2F-8C20-92D6-39292B8A9E5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Z01 mit 100 Signalen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57AA724F-048C-9840-F6C7-1D143204DC1E}"/>
              </a:ext>
            </a:extLst>
          </p:cNvPr>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842521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0170-30E8-2B89-DA31-CFC8D2D6A2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B7C22FC-186A-69F1-9253-CC7E2969552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CCD11782-B80F-1F29-554B-E4A398A145D9}"/>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8B22ACB8-9C77-6EBF-B432-B33D2A56E7F8}"/>
              </a:ext>
            </a:extLst>
          </p:cNvPr>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3877335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1F09-352B-6E4F-1FA4-5A2E30ED477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30A2D9-B7E1-AD36-5EAE-205C8CA04720}"/>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DC01EDD2-981B-1065-883E-F79081F17924}"/>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EB030EE1-3907-FB42-0CDF-65975B87C35B}"/>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3102286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A8DAC-873E-943E-8CFC-98EE272084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34931D3-77B0-893D-4F29-2702FBC77A52}"/>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5211EE8A-7C83-9BEE-0AA3-422F4582E718}"/>
              </a:ext>
            </a:extLst>
          </p:cNvPr>
          <p:cNvSpPr>
            <a:spLocks noGrp="1"/>
          </p:cNvSpPr>
          <p:nvPr>
            <p:ph type="body" idx="1"/>
          </p:nvPr>
        </p:nvSpPr>
        <p:spPr/>
        <p:txBody>
          <a:bodyPr/>
          <a:lstStyle/>
          <a:p>
            <a:r>
              <a:rPr lang="de-DE" dirty="0"/>
              <a:t>Benny</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7A25C5E9-C839-3BEE-2D2F-0298BCB6471F}"/>
              </a:ext>
            </a:extLst>
          </p:cNvPr>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985495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Tim</a:t>
            </a:r>
          </a:p>
          <a:p>
            <a:r>
              <a:rPr lang="de-DE" sz="1200" b="0" i="0" kern="1200" dirty="0">
                <a:solidFill>
                  <a:schemeClr val="tx1"/>
                </a:solidFill>
                <a:effectLst/>
                <a:latin typeface="+mn-lt"/>
                <a:ea typeface="+mn-ea"/>
                <a:cs typeface="+mn-cs"/>
              </a:rPr>
              <a:t>Fold 4 -&gt; wissen über Verteilung aus Task 2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TNR = True negative Rate</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i="0" kern="1200" dirty="0">
                <a:solidFill>
                  <a:schemeClr val="tx1"/>
                </a:solidFill>
                <a:effectLst/>
                <a:latin typeface="+mn-lt"/>
                <a:ea typeface="+mn-ea"/>
                <a:cs typeface="+mn-cs"/>
              </a:rPr>
              <a:t>TPR = True positive Rate </a:t>
            </a:r>
          </a:p>
          <a:p>
            <a:r>
              <a:rPr lang="de-DE" sz="1200" b="0" i="0" kern="1200" dirty="0">
                <a:solidFill>
                  <a:schemeClr val="tx1"/>
                </a:solidFill>
                <a:effectLst/>
                <a:latin typeface="+mn-lt"/>
                <a:ea typeface="+mn-ea"/>
                <a:cs typeface="+mn-cs"/>
              </a:rPr>
              <a:t>TNR = True Negative Rate </a:t>
            </a:r>
          </a:p>
          <a:p>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p>
          <a:p>
            <a:r>
              <a:rPr lang="de-DE" sz="1200" b="0" i="0" kern="1200" dirty="0">
                <a:solidFill>
                  <a:schemeClr val="tx1"/>
                </a:solidFill>
                <a:effectLst/>
                <a:latin typeface="+mn-lt"/>
                <a:ea typeface="+mn-ea"/>
                <a:cs typeface="+mn-cs"/>
              </a:rPr>
              <a:t>F1-Score = Genauigkeit &amp; Trefferquote in einem Wert </a:t>
            </a:r>
          </a:p>
          <a:p>
            <a:r>
              <a:rPr lang="de-DE" sz="1200" b="0" i="0" kern="1200" dirty="0">
                <a:solidFill>
                  <a:schemeClr val="tx1"/>
                </a:solidFill>
                <a:effectLst/>
                <a:latin typeface="+mn-lt"/>
                <a:ea typeface="+mn-ea"/>
                <a:cs typeface="+mn-cs"/>
              </a:rPr>
              <a:t>ROC Hinweis: gut, aber Kein Schwellenwert ist mit drin aber weniger relevant</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(Falls noch nicht erwähnt: Fold 2 und 3 sehr Ähnlich da 160 der 180 Trainingssignale genau die gleichen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21</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1)</a:t>
            </a:r>
            <a:r>
              <a:rPr lang="de-DE" dirty="0"/>
              <a:t>; </a:t>
            </a:r>
            <a:br>
              <a:rPr lang="de-DE" dirty="0"/>
            </a:br>
            <a:r>
              <a:rPr lang="de-DE" dirty="0"/>
              <a:t>Z05: </a:t>
            </a:r>
            <a:r>
              <a:rPr lang="de-DE" b="1" dirty="0"/>
              <a:t>anomal (Label 0)</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2728364096"/>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solidFill>
                            <a:schemeClr val="tx1"/>
                          </a:solidFill>
                        </a:rPr>
                        <a:t>Pipeline</a:t>
                      </a:r>
                    </a:p>
                  </a:txBody>
                  <a:tcPr/>
                </a:tc>
                <a:tc>
                  <a:txBody>
                    <a:bodyPr/>
                    <a:lstStyle/>
                    <a:p>
                      <a:r>
                        <a:rPr lang="de-DE" dirty="0">
                          <a:solidFill>
                            <a:schemeClr val="tx1"/>
                          </a:solidFill>
                        </a:rPr>
                        <a:t>Verarbeitung nach Feature-Extraktion</a:t>
                      </a:r>
                    </a:p>
                  </a:txBody>
                  <a:tcPr/>
                </a:tc>
                <a:tc>
                  <a:txBody>
                    <a:bodyPr/>
                    <a:lstStyle/>
                    <a:p>
                      <a:r>
                        <a:rPr lang="de-DE" dirty="0">
                          <a:solidFill>
                            <a:schemeClr val="tx1"/>
                          </a:solidFill>
                        </a:rPr>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4</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3331668685"/>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solidFill>
                            <a:schemeClr val="tx1"/>
                          </a:solidFill>
                        </a:rPr>
                        <a:t>Fold</a:t>
                      </a:r>
                    </a:p>
                  </a:txBody>
                  <a:tcPr/>
                </a:tc>
                <a:tc>
                  <a:txBody>
                    <a:bodyPr/>
                    <a:lstStyle/>
                    <a:p>
                      <a:r>
                        <a:rPr lang="de-DE" dirty="0">
                          <a:solidFill>
                            <a:schemeClr val="tx1"/>
                          </a:solidFill>
                        </a:rPr>
                        <a:t>Gesundes Training</a:t>
                      </a:r>
                    </a:p>
                  </a:txBody>
                  <a:tcPr/>
                </a:tc>
                <a:tc>
                  <a:txBody>
                    <a:bodyPr/>
                    <a:lstStyle/>
                    <a:p>
                      <a:r>
                        <a:rPr lang="de-DE" dirty="0">
                          <a:solidFill>
                            <a:schemeClr val="tx1"/>
                          </a:solidFill>
                        </a:rPr>
                        <a:t>Test: gesund</a:t>
                      </a:r>
                    </a:p>
                  </a:txBody>
                  <a:tcPr/>
                </a:tc>
                <a:tc>
                  <a:txBody>
                    <a:bodyPr/>
                    <a:lstStyle/>
                    <a:p>
                      <a:r>
                        <a:rPr lang="de-DE" dirty="0">
                          <a:solidFill>
                            <a:schemeClr val="tx1"/>
                          </a:solidFill>
                        </a:rPr>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a:t>
            </a:r>
          </a:p>
          <a:p>
            <a:pPr>
              <a:buFont typeface="Arial" panose="020B0604020202020204" pitchFamily="34" charset="0"/>
              <a:buChar char="•"/>
            </a:pPr>
            <a:r>
              <a:rPr lang="de-DE" dirty="0" err="1"/>
              <a:t>ReLU</a:t>
            </a:r>
            <a:r>
              <a:rPr lang="de-DE" dirty="0"/>
              <a:t>-Aktivierungsfunktion</a:t>
            </a:r>
          </a:p>
          <a:p>
            <a:pPr>
              <a:buFont typeface="Arial" panose="020B0604020202020204" pitchFamily="34" charset="0"/>
              <a:buChar char="•"/>
            </a:pPr>
            <a:r>
              <a:rPr lang="de-DE" dirty="0"/>
              <a:t>Adam Optimizer</a:t>
            </a:r>
          </a:p>
          <a:p>
            <a:pPr>
              <a:buFont typeface="Arial" panose="020B0604020202020204" pitchFamily="34" charset="0"/>
              <a:buChar char="•"/>
            </a:pPr>
            <a:r>
              <a:rPr lang="de-DE" dirty="0"/>
              <a:t>Lernrate 0,001</a:t>
            </a:r>
          </a:p>
          <a:p>
            <a:pPr>
              <a:buFont typeface="Arial" panose="020B0604020202020204" pitchFamily="34" charset="0"/>
              <a:buChar char="•"/>
            </a:pPr>
            <a:r>
              <a:rPr lang="de-DE" dirty="0"/>
              <a:t>maximal 2.000 Epochen, </a:t>
            </a:r>
            <a:br>
              <a:rPr lang="de-DE" dirty="0"/>
            </a:br>
            <a:r>
              <a:rPr lang="de-DE" dirty="0"/>
              <a:t>Early </a:t>
            </a:r>
            <a:r>
              <a:rPr lang="de-DE" dirty="0" err="1"/>
              <a:t>Stopping</a:t>
            </a:r>
            <a:r>
              <a:rPr lang="de-DE" dirty="0"/>
              <a:t> mit 15 %</a:t>
            </a:r>
          </a:p>
          <a:p>
            <a:pPr>
              <a:buFont typeface="Arial" panose="020B0604020202020204" pitchFamily="34" charset="0"/>
              <a:buChar char="•"/>
            </a:pPr>
            <a:r>
              <a:rPr lang="de-DE" dirty="0"/>
              <a:t>Training ausschließlich mit Label 1</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rc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98%-Quantil der Fehler im gesunden Training</a:t>
            </a:r>
          </a:p>
          <a:p>
            <a:pPr lvl="1">
              <a:buFont typeface="Arial" panose="020B0604020202020204" pitchFamily="34" charset="0"/>
              <a:buChar char="•"/>
            </a:pPr>
            <a:r>
              <a:rPr lang="de-DE" dirty="0"/>
              <a:t>oberhalb der Schwelle: anomal (Label 0)</a:t>
            </a:r>
          </a:p>
          <a:p>
            <a:pPr lvl="1">
              <a:buFont typeface="Arial" panose="020B0604020202020204" pitchFamily="34" charset="0"/>
              <a:buChar char="•"/>
            </a:pPr>
            <a:r>
              <a:rPr lang="de-DE" dirty="0"/>
              <a:t>keine Verwendung von Z05 zur Schwellenoptimierung</a:t>
            </a:r>
          </a:p>
          <a:p>
            <a:pPr>
              <a:buFont typeface="Arial" panose="020B0604020202020204" pitchFamily="34" charset="0"/>
              <a:buChar char="•"/>
            </a:pPr>
            <a:r>
              <a:rPr lang="de-DE" b="1" dirty="0"/>
              <a:t>Metriken:</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305603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7</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1226952282"/>
              </p:ext>
            </p:extLst>
          </p:nvPr>
        </p:nvGraphicFramePr>
        <p:xfrm>
          <a:off x="6096000" y="1935584"/>
          <a:ext cx="5982792" cy="3386027"/>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3216">
                <a:tc rowSpan="2">
                  <a:txBody>
                    <a:bodyPr/>
                    <a:lstStyle/>
                    <a:p>
                      <a:pPr algn="ctr"/>
                      <a:r>
                        <a:rPr lang="de-DE" dirty="0">
                          <a:solidFill>
                            <a:schemeClr val="tx1"/>
                          </a:solidFill>
                        </a:rPr>
                        <a:t>Fold</a:t>
                      </a:r>
                    </a:p>
                  </a:txBody>
                  <a:tcPr/>
                </a:tc>
                <a:tc gridSpan="2">
                  <a:txBody>
                    <a:bodyPr/>
                    <a:lstStyle/>
                    <a:p>
                      <a:pPr algn="ctr"/>
                      <a:r>
                        <a:rPr lang="de-DE" dirty="0">
                          <a:solidFill>
                            <a:schemeClr val="tx1"/>
                          </a:solidFill>
                        </a:rPr>
                        <a:t>Sensitivität / TPR</a:t>
                      </a:r>
                    </a:p>
                  </a:txBody>
                  <a:tcPr/>
                </a:tc>
                <a:tc hMerge="1">
                  <a:txBody>
                    <a:bodyPr/>
                    <a:lstStyle/>
                    <a:p>
                      <a:endParaRPr lang="de-DE" dirty="0"/>
                    </a:p>
                  </a:txBody>
                  <a:tcPr/>
                </a:tc>
                <a:tc gridSpan="2">
                  <a:txBody>
                    <a:bodyPr/>
                    <a:lstStyle/>
                    <a:p>
                      <a:pPr algn="ctr"/>
                      <a:r>
                        <a:rPr lang="de-DE" dirty="0">
                          <a:solidFill>
                            <a:schemeClr val="tx1"/>
                          </a:solidFill>
                        </a:rPr>
                        <a:t>Spezifität / TNR</a:t>
                      </a:r>
                    </a:p>
                  </a:txBody>
                  <a:tcPr/>
                </a:tc>
                <a:tc hMerge="1">
                  <a:txBody>
                    <a:bodyPr/>
                    <a:lstStyle/>
                    <a:p>
                      <a:endParaRPr lang="de-DE" dirty="0"/>
                    </a:p>
                  </a:txBody>
                  <a:tcPr/>
                </a:tc>
                <a:tc gridSpan="2">
                  <a:txBody>
                    <a:bodyPr/>
                    <a:lstStyle/>
                    <a:p>
                      <a:pPr algn="ctr"/>
                      <a:r>
                        <a:rPr lang="de-DE" dirty="0" err="1">
                          <a:solidFill>
                            <a:schemeClr val="tx1"/>
                          </a:solidFill>
                        </a:rPr>
                        <a:t>Balanced</a:t>
                      </a:r>
                      <a:r>
                        <a:rPr lang="de-DE" dirty="0">
                          <a:solidFill>
                            <a:schemeClr val="tx1"/>
                          </a:solidFill>
                        </a:rPr>
                        <a:t> </a:t>
                      </a:r>
                      <a:r>
                        <a:rPr lang="de-DE" dirty="0" err="1">
                          <a:solidFill>
                            <a:schemeClr val="tx1"/>
                          </a:solidFill>
                        </a:rPr>
                        <a:t>Acc</a:t>
                      </a:r>
                      <a:endParaRPr lang="de-DE" dirty="0">
                        <a:solidFill>
                          <a:schemeClr val="tx1"/>
                        </a:solidFill>
                      </a:endParaRPr>
                    </a:p>
                  </a:txBody>
                  <a:tcPr/>
                </a:tc>
                <a:tc hMerge="1">
                  <a:txBody>
                    <a:bodyPr/>
                    <a:lstStyle/>
                    <a:p>
                      <a:endParaRPr lang="de-DE" dirty="0"/>
                    </a:p>
                  </a:txBody>
                  <a:tcPr/>
                </a:tc>
                <a:extLst>
                  <a:ext uri="{0D108BD9-81ED-4DB2-BD59-A6C34878D82A}">
                    <a16:rowId xmlns:a16="http://schemas.microsoft.com/office/drawing/2014/main" val="3315992242"/>
                  </a:ext>
                </a:extLst>
              </a:tr>
              <a:tr h="362382">
                <a:tc vMerge="1">
                  <a:txBody>
                    <a:bodyPr/>
                    <a:lstStyle/>
                    <a:p>
                      <a:endParaRPr lang="de-DE"/>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extLst>
                  <a:ext uri="{0D108BD9-81ED-4DB2-BD59-A6C34878D82A}">
                    <a16:rowId xmlns:a16="http://schemas.microsoft.com/office/drawing/2014/main" val="1933422198"/>
                  </a:ext>
                </a:extLst>
              </a:tr>
              <a:tr h="626244">
                <a:tc>
                  <a:txBody>
                    <a:bodyPr/>
                    <a:lstStyle/>
                    <a:p>
                      <a:pPr algn="ctr"/>
                      <a:r>
                        <a:rPr lang="de-DE" dirty="0"/>
                        <a:t>1</a:t>
                      </a:r>
                    </a:p>
                  </a:txBody>
                  <a:tcPr/>
                </a:tc>
                <a:tc>
                  <a:txBody>
                    <a:bodyPr/>
                    <a:lstStyle/>
                    <a:p>
                      <a:pPr algn="ctr"/>
                      <a:r>
                        <a:rPr lang="de-DE" dirty="0"/>
                        <a:t>0.867</a:t>
                      </a:r>
                    </a:p>
                  </a:txBody>
                  <a:tcPr/>
                </a:tc>
                <a:tc>
                  <a:txBody>
                    <a:bodyPr/>
                    <a:lstStyle/>
                    <a:p>
                      <a:pPr algn="ctr"/>
                      <a:r>
                        <a:rPr lang="de-DE" dirty="0"/>
                        <a:t>0.883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0.933</a:t>
                      </a:r>
                    </a:p>
                  </a:txBody>
                  <a:tcPr/>
                </a:tc>
                <a:tc>
                  <a:txBody>
                    <a:bodyPr/>
                    <a:lstStyle/>
                    <a:p>
                      <a:pPr algn="ctr"/>
                      <a:r>
                        <a:rPr lang="de-DE" dirty="0"/>
                        <a:t>0.942</a:t>
                      </a:r>
                    </a:p>
                  </a:txBody>
                  <a:tcPr/>
                </a:tc>
                <a:extLst>
                  <a:ext uri="{0D108BD9-81ED-4DB2-BD59-A6C34878D82A}">
                    <a16:rowId xmlns:a16="http://schemas.microsoft.com/office/drawing/2014/main" val="153320546"/>
                  </a:ext>
                </a:extLst>
              </a:tr>
              <a:tr h="626244">
                <a:tc>
                  <a:txBody>
                    <a:bodyPr/>
                    <a:lstStyle/>
                    <a:p>
                      <a:pPr algn="ctr"/>
                      <a:r>
                        <a:rPr lang="de-DE" dirty="0"/>
                        <a:t>2</a:t>
                      </a:r>
                    </a:p>
                  </a:txBody>
                  <a:tcPr/>
                </a:tc>
                <a:tc>
                  <a:txBody>
                    <a:bodyPr/>
                    <a:lstStyle/>
                    <a:p>
                      <a:pPr algn="ctr"/>
                      <a:r>
                        <a:rPr lang="de-DE" dirty="0"/>
                        <a:t>0.900</a:t>
                      </a:r>
                    </a:p>
                  </a:txBody>
                  <a:tcPr/>
                </a:tc>
                <a:tc>
                  <a:txBody>
                    <a:bodyPr/>
                    <a:lstStyle/>
                    <a:p>
                      <a:pPr algn="ctr"/>
                      <a:r>
                        <a:rPr lang="de-DE" dirty="0"/>
                        <a:t>0.850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0.950</a:t>
                      </a:r>
                    </a:p>
                  </a:txBody>
                  <a:tcPr/>
                </a:tc>
                <a:tc>
                  <a:txBody>
                    <a:bodyPr/>
                    <a:lstStyle/>
                    <a:p>
                      <a:pPr algn="ctr"/>
                      <a:r>
                        <a:rPr lang="de-DE" dirty="0"/>
                        <a:t>0.925</a:t>
                      </a:r>
                    </a:p>
                  </a:txBody>
                  <a:tcPr/>
                </a:tc>
                <a:extLst>
                  <a:ext uri="{0D108BD9-81ED-4DB2-BD59-A6C34878D82A}">
                    <a16:rowId xmlns:a16="http://schemas.microsoft.com/office/drawing/2014/main" val="3984959788"/>
                  </a:ext>
                </a:extLst>
              </a:tr>
              <a:tr h="626244">
                <a:tc>
                  <a:txBody>
                    <a:bodyPr/>
                    <a:lstStyle/>
                    <a:p>
                      <a:pPr algn="ctr"/>
                      <a:r>
                        <a:rPr lang="de-DE" dirty="0"/>
                        <a:t>3</a:t>
                      </a:r>
                    </a:p>
                  </a:txBody>
                  <a:tcPr/>
                </a:tc>
                <a:tc>
                  <a:txBody>
                    <a:bodyPr/>
                    <a:lstStyle/>
                    <a:p>
                      <a:pPr algn="ctr"/>
                      <a:r>
                        <a:rPr lang="de-DE" dirty="0"/>
                        <a:t>0.950</a:t>
                      </a:r>
                    </a:p>
                  </a:txBody>
                  <a:tcPr/>
                </a:tc>
                <a:tc>
                  <a:txBody>
                    <a:bodyPr/>
                    <a:lstStyle/>
                    <a:p>
                      <a:pPr algn="ctr"/>
                      <a:r>
                        <a:rPr lang="de-DE" dirty="0"/>
                        <a:t>0.950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0.975</a:t>
                      </a:r>
                    </a:p>
                  </a:txBody>
                  <a:tcPr/>
                </a:tc>
                <a:tc>
                  <a:txBody>
                    <a:bodyPr/>
                    <a:lstStyle/>
                    <a:p>
                      <a:pPr algn="ctr"/>
                      <a:r>
                        <a:rPr lang="de-DE" dirty="0"/>
                        <a:t>0.975</a:t>
                      </a:r>
                    </a:p>
                  </a:txBody>
                  <a:tcPr/>
                </a:tc>
                <a:extLst>
                  <a:ext uri="{0D108BD9-81ED-4DB2-BD59-A6C34878D82A}">
                    <a16:rowId xmlns:a16="http://schemas.microsoft.com/office/drawing/2014/main" val="2891050433"/>
                  </a:ext>
                </a:extLst>
              </a:tr>
              <a:tr h="718319">
                <a:tc>
                  <a:txBody>
                    <a:bodyPr/>
                    <a:lstStyle/>
                    <a:p>
                      <a:pPr algn="ctr"/>
                      <a:r>
                        <a:rPr lang="de-DE" dirty="0"/>
                        <a:t>4</a:t>
                      </a:r>
                    </a:p>
                  </a:txBody>
                  <a:tcPr/>
                </a:tc>
                <a:tc>
                  <a:txBody>
                    <a:bodyPr/>
                    <a:lstStyle/>
                    <a:p>
                      <a:pPr algn="ctr"/>
                      <a:r>
                        <a:rPr lang="de-DE" dirty="0"/>
                        <a:t>0.290</a:t>
                      </a:r>
                    </a:p>
                  </a:txBody>
                  <a:tcPr/>
                </a:tc>
                <a:tc>
                  <a:txBody>
                    <a:bodyPr/>
                    <a:lstStyle/>
                    <a:p>
                      <a:pPr algn="ctr"/>
                      <a:r>
                        <a:rPr lang="de-DE" dirty="0"/>
                        <a:t>0.730</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0.645</a:t>
                      </a:r>
                    </a:p>
                  </a:txBody>
                  <a:tcPr/>
                </a:tc>
                <a:tc>
                  <a:txBody>
                    <a:bodyPr/>
                    <a:lstStyle/>
                    <a:p>
                      <a:pPr algn="ctr"/>
                      <a:r>
                        <a:rPr lang="de-DE" dirty="0"/>
                        <a:t>0.865</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p:txBody>
          <a:bodyPr/>
          <a:lstStyle/>
          <a:p>
            <a:r>
              <a:rPr lang="de-DE" sz="3200" dirty="0">
                <a:ea typeface="ヒラギノ角ゴ Pro W3"/>
              </a:rPr>
              <a:t>Pipelinevergleich</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01907500-6CF2-1641-6998-30DB0B987A04}"/>
              </a:ext>
            </a:extLst>
          </p:cNvPr>
          <p:cNvPicPr>
            <a:picLocks noGrp="1" noChangeAspect="1"/>
          </p:cNvPicPr>
          <p:nvPr>
            <p:ph sz="quarter" idx="13"/>
          </p:nvPr>
        </p:nvPicPr>
        <p:blipFill>
          <a:blip r:embed="rId3"/>
          <a:srcRect/>
          <a:stretch/>
        </p:blipFill>
        <p:spPr>
          <a:xfrm>
            <a:off x="300494" y="2058996"/>
            <a:ext cx="5795506" cy="3570588"/>
          </a:xfrm>
          <a:prstGeom prst="rect">
            <a:avLst/>
          </a:prstGeom>
        </p:spPr>
      </p:pic>
      <p:graphicFrame>
        <p:nvGraphicFramePr>
          <p:cNvPr id="8" name="Inhaltsplatzhalter 7">
            <a:extLst>
              <a:ext uri="{FF2B5EF4-FFF2-40B4-BE49-F238E27FC236}">
                <a16:creationId xmlns:a16="http://schemas.microsoft.com/office/drawing/2014/main" id="{79BB2E59-1E5D-1A44-72D5-A4F864B90204}"/>
              </a:ext>
            </a:extLst>
          </p:cNvPr>
          <p:cNvGraphicFramePr>
            <a:graphicFrameLocks noGrp="1"/>
          </p:cNvGraphicFramePr>
          <p:nvPr>
            <p:ph sz="quarter" idx="14"/>
            <p:extLst>
              <p:ext uri="{D42A27DB-BD31-4B8C-83A1-F6EECF244321}">
                <p14:modId xmlns:p14="http://schemas.microsoft.com/office/powerpoint/2010/main" val="3842105193"/>
              </p:ext>
            </p:extLst>
          </p:nvPr>
        </p:nvGraphicFramePr>
        <p:xfrm>
          <a:off x="6335970" y="2058996"/>
          <a:ext cx="5391150" cy="2860040"/>
        </p:xfrm>
        <a:graphic>
          <a:graphicData uri="http://schemas.openxmlformats.org/drawingml/2006/table">
            <a:tbl>
              <a:tblPr firstRow="1" bandRow="1">
                <a:tableStyleId>{5C22544A-7EE6-4342-B048-85BDC9FD1C3A}</a:tableStyleId>
              </a:tblPr>
              <a:tblGrid>
                <a:gridCol w="1420664">
                  <a:extLst>
                    <a:ext uri="{9D8B030D-6E8A-4147-A177-3AD203B41FA5}">
                      <a16:colId xmlns:a16="http://schemas.microsoft.com/office/drawing/2014/main" val="153177511"/>
                    </a:ext>
                  </a:extLst>
                </a:gridCol>
                <a:gridCol w="1996966">
                  <a:extLst>
                    <a:ext uri="{9D8B030D-6E8A-4147-A177-3AD203B41FA5}">
                      <a16:colId xmlns:a16="http://schemas.microsoft.com/office/drawing/2014/main" val="1209798855"/>
                    </a:ext>
                  </a:extLst>
                </a:gridCol>
                <a:gridCol w="1973520">
                  <a:extLst>
                    <a:ext uri="{9D8B030D-6E8A-4147-A177-3AD203B41FA5}">
                      <a16:colId xmlns:a16="http://schemas.microsoft.com/office/drawing/2014/main" val="1441971969"/>
                    </a:ext>
                  </a:extLst>
                </a:gridCol>
              </a:tblGrid>
              <a:tr h="185420">
                <a:tc>
                  <a:txBody>
                    <a:bodyPr/>
                    <a:lstStyle/>
                    <a:p>
                      <a:pPr algn="ctr"/>
                      <a:r>
                        <a:rPr lang="de-DE" dirty="0">
                          <a:solidFill>
                            <a:schemeClr val="tx1"/>
                          </a:solidFill>
                        </a:rPr>
                        <a:t>Fold</a:t>
                      </a:r>
                    </a:p>
                  </a:txBody>
                  <a:tcPr/>
                </a:tc>
                <a:tc>
                  <a:txBody>
                    <a:bodyPr/>
                    <a:lstStyle/>
                    <a:p>
                      <a:pPr algn="ctr"/>
                      <a:r>
                        <a:rPr lang="de-DE" dirty="0">
                          <a:solidFill>
                            <a:schemeClr val="tx1"/>
                          </a:solidFill>
                        </a:rPr>
                        <a:t>Einzelmessung</a:t>
                      </a:r>
                    </a:p>
                  </a:txBody>
                  <a:tcPr/>
                </a:tc>
                <a:tc>
                  <a:txBody>
                    <a:bodyPr/>
                    <a:lstStyle/>
                    <a:p>
                      <a:pPr algn="ctr"/>
                      <a:r>
                        <a:rPr lang="de-DE" dirty="0" err="1">
                          <a:solidFill>
                            <a:schemeClr val="tx1"/>
                          </a:solidFill>
                        </a:rPr>
                        <a:t>mID</a:t>
                      </a:r>
                      <a:r>
                        <a:rPr lang="de-DE" dirty="0">
                          <a:solidFill>
                            <a:schemeClr val="tx1"/>
                          </a:solidFill>
                        </a:rPr>
                        <a:t>-gemittelt</a:t>
                      </a:r>
                    </a:p>
                  </a:txBody>
                  <a:tcPr/>
                </a:tc>
                <a:extLst>
                  <a:ext uri="{0D108BD9-81ED-4DB2-BD59-A6C34878D82A}">
                    <a16:rowId xmlns:a16="http://schemas.microsoft.com/office/drawing/2014/main" val="229442809"/>
                  </a:ext>
                </a:extLst>
              </a:tr>
              <a:tr h="185420">
                <a:tc>
                  <a:txBody>
                    <a:bodyPr/>
                    <a:lstStyle/>
                    <a:p>
                      <a:pPr algn="ctr"/>
                      <a:endParaRPr lang="de-DE" dirty="0">
                        <a:solidFill>
                          <a:schemeClr val="tx1"/>
                        </a:solidFill>
                      </a:endParaRPr>
                    </a:p>
                  </a:txBody>
                  <a:tcPr/>
                </a:tc>
                <a:tc>
                  <a:txBody>
                    <a:bodyPr/>
                    <a:lstStyle/>
                    <a:p>
                      <a:pPr algn="ctr"/>
                      <a:r>
                        <a:rPr lang="de-DE" dirty="0">
                          <a:solidFill>
                            <a:schemeClr val="tx1"/>
                          </a:solidFill>
                        </a:rPr>
                        <a:t>(BA Ch1 + BA Ch2) / 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DE" dirty="0">
                          <a:solidFill>
                            <a:schemeClr val="tx1"/>
                          </a:solidFill>
                        </a:rPr>
                        <a:t>(BA Ch1 + BA Ch2) / 2</a:t>
                      </a:r>
                    </a:p>
                  </a:txBody>
                  <a:tcPr/>
                </a:tc>
                <a:extLst>
                  <a:ext uri="{0D108BD9-81ED-4DB2-BD59-A6C34878D82A}">
                    <a16:rowId xmlns:a16="http://schemas.microsoft.com/office/drawing/2014/main" val="1249886461"/>
                  </a:ext>
                </a:extLst>
              </a:tr>
              <a:tr h="370840">
                <a:tc>
                  <a:txBody>
                    <a:bodyPr/>
                    <a:lstStyle/>
                    <a:p>
                      <a:pPr algn="ctr"/>
                      <a:r>
                        <a:rPr lang="de-DE" dirty="0"/>
                        <a:t>1</a:t>
                      </a:r>
                    </a:p>
                  </a:txBody>
                  <a:tcPr/>
                </a:tc>
                <a:tc>
                  <a:txBody>
                    <a:bodyPr/>
                    <a:lstStyle/>
                    <a:p>
                      <a:pPr algn="ctr"/>
                      <a:r>
                        <a:rPr lang="de-DE" dirty="0"/>
                        <a:t>0.938</a:t>
                      </a:r>
                    </a:p>
                  </a:txBody>
                  <a:tcPr/>
                </a:tc>
                <a:tc>
                  <a:txBody>
                    <a:bodyPr/>
                    <a:lstStyle/>
                    <a:p>
                      <a:pPr algn="ctr"/>
                      <a:r>
                        <a:rPr lang="de-DE" dirty="0"/>
                        <a:t>0.963</a:t>
                      </a:r>
                    </a:p>
                  </a:txBody>
                  <a:tcPr/>
                </a:tc>
                <a:extLst>
                  <a:ext uri="{0D108BD9-81ED-4DB2-BD59-A6C34878D82A}">
                    <a16:rowId xmlns:a16="http://schemas.microsoft.com/office/drawing/2014/main" val="3762681257"/>
                  </a:ext>
                </a:extLst>
              </a:tr>
              <a:tr h="370840">
                <a:tc>
                  <a:txBody>
                    <a:bodyPr/>
                    <a:lstStyle/>
                    <a:p>
                      <a:pPr algn="ctr"/>
                      <a:r>
                        <a:rPr lang="de-DE" dirty="0"/>
                        <a:t>2</a:t>
                      </a:r>
                    </a:p>
                  </a:txBody>
                  <a:tcPr/>
                </a:tc>
                <a:tc>
                  <a:txBody>
                    <a:bodyPr/>
                    <a:lstStyle/>
                    <a:p>
                      <a:pPr algn="ctr"/>
                      <a:r>
                        <a:rPr lang="de-DE" dirty="0"/>
                        <a:t>0.938</a:t>
                      </a:r>
                    </a:p>
                  </a:txBody>
                  <a:tcPr/>
                </a:tc>
                <a:tc>
                  <a:txBody>
                    <a:bodyPr/>
                    <a:lstStyle/>
                    <a:p>
                      <a:pPr algn="ctr"/>
                      <a:r>
                        <a:rPr lang="de-DE" dirty="0"/>
                        <a:t>0.700</a:t>
                      </a:r>
                    </a:p>
                  </a:txBody>
                  <a:tcPr/>
                </a:tc>
                <a:extLst>
                  <a:ext uri="{0D108BD9-81ED-4DB2-BD59-A6C34878D82A}">
                    <a16:rowId xmlns:a16="http://schemas.microsoft.com/office/drawing/2014/main" val="405883056"/>
                  </a:ext>
                </a:extLst>
              </a:tr>
              <a:tr h="370840">
                <a:tc>
                  <a:txBody>
                    <a:bodyPr/>
                    <a:lstStyle/>
                    <a:p>
                      <a:pPr algn="ctr"/>
                      <a:r>
                        <a:rPr lang="de-DE" dirty="0"/>
                        <a:t>3</a:t>
                      </a:r>
                    </a:p>
                  </a:txBody>
                  <a:tcPr/>
                </a:tc>
                <a:tc>
                  <a:txBody>
                    <a:bodyPr/>
                    <a:lstStyle/>
                    <a:p>
                      <a:pPr algn="ctr"/>
                      <a:r>
                        <a:rPr lang="de-DE" dirty="0"/>
                        <a:t>0.975</a:t>
                      </a:r>
                    </a:p>
                  </a:txBody>
                  <a:tcPr/>
                </a:tc>
                <a:tc>
                  <a:txBody>
                    <a:bodyPr/>
                    <a:lstStyle/>
                    <a:p>
                      <a:pPr algn="ctr"/>
                      <a:r>
                        <a:rPr lang="de-DE" dirty="0"/>
                        <a:t>0.500</a:t>
                      </a:r>
                    </a:p>
                  </a:txBody>
                  <a:tcPr/>
                </a:tc>
                <a:extLst>
                  <a:ext uri="{0D108BD9-81ED-4DB2-BD59-A6C34878D82A}">
                    <a16:rowId xmlns:a16="http://schemas.microsoft.com/office/drawing/2014/main" val="2514947775"/>
                  </a:ext>
                </a:extLst>
              </a:tr>
              <a:tr h="370840">
                <a:tc>
                  <a:txBody>
                    <a:bodyPr/>
                    <a:lstStyle/>
                    <a:p>
                      <a:pPr algn="ctr"/>
                      <a:r>
                        <a:rPr lang="de-DE" dirty="0"/>
                        <a:t>4</a:t>
                      </a:r>
                    </a:p>
                  </a:txBody>
                  <a:tcPr/>
                </a:tc>
                <a:tc>
                  <a:txBody>
                    <a:bodyPr/>
                    <a:lstStyle/>
                    <a:p>
                      <a:pPr algn="ctr"/>
                      <a:r>
                        <a:rPr lang="de-DE" dirty="0"/>
                        <a:t>0.755</a:t>
                      </a:r>
                    </a:p>
                  </a:txBody>
                  <a:tcPr/>
                </a:tc>
                <a:tc>
                  <a:txBody>
                    <a:bodyPr/>
                    <a:lstStyle/>
                    <a:p>
                      <a:pPr algn="ctr"/>
                      <a:r>
                        <a:rPr lang="de-DE" dirty="0"/>
                        <a:t>0.838</a:t>
                      </a:r>
                    </a:p>
                  </a:txBody>
                  <a:tcPr/>
                </a:tc>
                <a:extLst>
                  <a:ext uri="{0D108BD9-81ED-4DB2-BD59-A6C34878D82A}">
                    <a16:rowId xmlns:a16="http://schemas.microsoft.com/office/drawing/2014/main" val="4142393146"/>
                  </a:ext>
                </a:extLst>
              </a:tr>
              <a:tr h="370840">
                <a:tc>
                  <a:txBody>
                    <a:bodyPr/>
                    <a:lstStyle/>
                    <a:p>
                      <a:pPr algn="ctr"/>
                      <a:r>
                        <a:rPr lang="de-DE" dirty="0"/>
                        <a:t>Makromittel</a:t>
                      </a:r>
                    </a:p>
                  </a:txBody>
                  <a:tcPr/>
                </a:tc>
                <a:tc>
                  <a:txBody>
                    <a:bodyPr/>
                    <a:lstStyle/>
                    <a:p>
                      <a:pPr algn="ctr"/>
                      <a:r>
                        <a:rPr lang="de-DE" dirty="0"/>
                        <a:t>0.901</a:t>
                      </a:r>
                    </a:p>
                  </a:txBody>
                  <a:tcPr/>
                </a:tc>
                <a:tc>
                  <a:txBody>
                    <a:bodyPr/>
                    <a:lstStyle/>
                    <a:p>
                      <a:pPr algn="ctr"/>
                      <a:r>
                        <a:rPr lang="de-DE" dirty="0"/>
                        <a:t>0.750</a:t>
                      </a:r>
                    </a:p>
                  </a:txBody>
                  <a:tcPr/>
                </a:tc>
                <a:extLst>
                  <a:ext uri="{0D108BD9-81ED-4DB2-BD59-A6C34878D82A}">
                    <a16:rowId xmlns:a16="http://schemas.microsoft.com/office/drawing/2014/main" val="3071965136"/>
                  </a:ext>
                </a:extLst>
              </a:tr>
            </a:tbl>
          </a:graphicData>
        </a:graphic>
      </p:graphicFrame>
    </p:spTree>
    <p:extLst>
      <p:ext uri="{BB962C8B-B14F-4D97-AF65-F5344CB8AC3E}">
        <p14:creationId xmlns:p14="http://schemas.microsoft.com/office/powerpoint/2010/main" val="3200753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1</a:t>
            </a:r>
          </a:p>
        </p:txBody>
      </p:sp>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9</a:t>
            </a:fld>
            <a:endParaRPr lang="de-DE"/>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76E1111D-6EAD-AB55-4658-E026E716E886}"/>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B77F871A-4A0B-1EBD-3652-27ECB1E25FD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102688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6A420-195F-AE6A-BF05-E430617A7687}"/>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4F5F173-CFCA-46AF-3825-95D573C0C940}"/>
              </a:ext>
            </a:extLst>
          </p:cNvPr>
          <p:cNvSpPr>
            <a:spLocks noGrp="1"/>
          </p:cNvSpPr>
          <p:nvPr>
            <p:ph type="title"/>
          </p:nvPr>
        </p:nvSpPr>
        <p:spPr>
          <a:xfrm>
            <a:off x="341811" y="567600"/>
            <a:ext cx="6016948" cy="706030"/>
          </a:xfrm>
        </p:spPr>
        <p:txBody>
          <a:bodyPr/>
          <a:lstStyle/>
          <a:p>
            <a:r>
              <a:rPr lang="de-DE" sz="3200" dirty="0" err="1"/>
              <a:t>Confusion</a:t>
            </a:r>
            <a:r>
              <a:rPr lang="de-DE" sz="3200" dirty="0"/>
              <a:t>-Matrix Vergleich Fold 2</a:t>
            </a:r>
          </a:p>
        </p:txBody>
      </p:sp>
      <p:sp>
        <p:nvSpPr>
          <p:cNvPr id="14" name="Foliennummernplatzhalter 13">
            <a:extLst>
              <a:ext uri="{FF2B5EF4-FFF2-40B4-BE49-F238E27FC236}">
                <a16:creationId xmlns:a16="http://schemas.microsoft.com/office/drawing/2014/main" id="{4A79E1E8-34E0-A99D-E9E8-B1CA1F50C63E}"/>
              </a:ext>
            </a:extLst>
          </p:cNvPr>
          <p:cNvSpPr>
            <a:spLocks noGrp="1"/>
          </p:cNvSpPr>
          <p:nvPr>
            <p:ph type="sldNum" sz="quarter" idx="10"/>
          </p:nvPr>
        </p:nvSpPr>
        <p:spPr/>
        <p:txBody>
          <a:bodyPr/>
          <a:lstStyle/>
          <a:p>
            <a:fld id="{80B4FCE6-DC73-4135-BC56-1F242D45A84C}" type="slidenum">
              <a:rPr lang="de-DE" smtClean="0"/>
              <a:t>10</a:t>
            </a:fld>
            <a:endParaRPr lang="de-DE"/>
          </a:p>
        </p:txBody>
      </p:sp>
      <p:sp>
        <p:nvSpPr>
          <p:cNvPr id="6" name="Fußzeilenplatzhalter 5">
            <a:extLst>
              <a:ext uri="{FF2B5EF4-FFF2-40B4-BE49-F238E27FC236}">
                <a16:creationId xmlns:a16="http://schemas.microsoft.com/office/drawing/2014/main" id="{EBE1B724-A15D-5168-DB31-DD4CA842F33C}"/>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ED5C9E13-2494-8FF8-0639-BEDB9DC944CA}"/>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D0FD7253-3DF1-9C7D-B68A-1760623D2AD8}"/>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EE11EAAE-CB13-B6A6-E1D7-9AD86609A0F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660300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7F4FB-957D-C777-D17B-03DB060A194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0FA0071-9D28-E701-6775-DAD246DFC539}"/>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3</a:t>
            </a:r>
          </a:p>
        </p:txBody>
      </p:sp>
      <p:sp>
        <p:nvSpPr>
          <p:cNvPr id="14" name="Foliennummernplatzhalter 13">
            <a:extLst>
              <a:ext uri="{FF2B5EF4-FFF2-40B4-BE49-F238E27FC236}">
                <a16:creationId xmlns:a16="http://schemas.microsoft.com/office/drawing/2014/main" id="{6CA9F601-B423-5E4A-4C0D-61333D330743}"/>
              </a:ext>
            </a:extLst>
          </p:cNvPr>
          <p:cNvSpPr>
            <a:spLocks noGrp="1"/>
          </p:cNvSpPr>
          <p:nvPr>
            <p:ph type="sldNum" sz="quarter" idx="10"/>
          </p:nvPr>
        </p:nvSpPr>
        <p:spPr/>
        <p:txBody>
          <a:bodyPr/>
          <a:lstStyle/>
          <a:p>
            <a:fld id="{80B4FCE6-DC73-4135-BC56-1F242D45A84C}" type="slidenum">
              <a:rPr lang="de-DE" smtClean="0"/>
              <a:t>11</a:t>
            </a:fld>
            <a:endParaRPr lang="de-DE"/>
          </a:p>
        </p:txBody>
      </p:sp>
      <p:sp>
        <p:nvSpPr>
          <p:cNvPr id="6" name="Fußzeilenplatzhalter 5">
            <a:extLst>
              <a:ext uri="{FF2B5EF4-FFF2-40B4-BE49-F238E27FC236}">
                <a16:creationId xmlns:a16="http://schemas.microsoft.com/office/drawing/2014/main" id="{DB99D166-1036-73A5-42E9-EDFAB77196E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366AF41F-F91F-A40C-8B0D-E3FD2B2086A2}"/>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B3E90FE8-49B9-1D1F-B1FE-FA678FB277B7}"/>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37E5B077-C654-E7CA-A38E-DB1C604295AF}"/>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3863973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2F724-9340-0C52-F77E-E37E31870DA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5C4E3E-FDDB-0A91-9E25-816E8A3DB1C3}"/>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4</a:t>
            </a:r>
          </a:p>
        </p:txBody>
      </p:sp>
      <p:sp>
        <p:nvSpPr>
          <p:cNvPr id="14" name="Foliennummernplatzhalter 13">
            <a:extLst>
              <a:ext uri="{FF2B5EF4-FFF2-40B4-BE49-F238E27FC236}">
                <a16:creationId xmlns:a16="http://schemas.microsoft.com/office/drawing/2014/main" id="{75CAE18E-A74D-F847-DC73-973671E102E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6" name="Fußzeilenplatzhalter 5">
            <a:extLst>
              <a:ext uri="{FF2B5EF4-FFF2-40B4-BE49-F238E27FC236}">
                <a16:creationId xmlns:a16="http://schemas.microsoft.com/office/drawing/2014/main" id="{1A3E2241-3ED3-9978-AB6C-C0D86F38851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1EB728BA-14A3-FD9A-E16E-2E08B4358ACC}"/>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E4914CFD-9705-AB7B-4B0B-FB1E85D39F55}"/>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13754023-48FA-6D20-6A19-4DA8C0FC511A}"/>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295782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13</a:t>
            </a:fld>
            <a:endParaRPr lang="de-DE"/>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85A3FBC0-059F-4ED9-5BA3-D31613BCAF47}"/>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F86CA4C6-9E33-E6CF-9E33-E5BDFD921EFA}"/>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41062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FAD6-4627-9F34-DB87-1A86966F8E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03F7AB-64A5-5BEA-9CFA-3394BAF2F33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A1B6DE5-3B0D-93F4-35C4-FCDF73FBA84A}"/>
              </a:ext>
            </a:extLst>
          </p:cNvPr>
          <p:cNvSpPr>
            <a:spLocks noGrp="1"/>
          </p:cNvSpPr>
          <p:nvPr>
            <p:ph type="sldNum" sz="quarter" idx="10"/>
          </p:nvPr>
        </p:nvSpPr>
        <p:spPr/>
        <p:txBody>
          <a:bodyPr/>
          <a:lstStyle/>
          <a:p>
            <a:fld id="{80B4FCE6-DC73-4135-BC56-1F242D45A84C}" type="slidenum">
              <a:rPr lang="de-DE" smtClean="0"/>
              <a:t>14</a:t>
            </a:fld>
            <a:endParaRPr lang="de-DE"/>
          </a:p>
        </p:txBody>
      </p:sp>
      <p:sp>
        <p:nvSpPr>
          <p:cNvPr id="5" name="Fußzeilenplatzhalter 4">
            <a:extLst>
              <a:ext uri="{FF2B5EF4-FFF2-40B4-BE49-F238E27FC236}">
                <a16:creationId xmlns:a16="http://schemas.microsoft.com/office/drawing/2014/main" id="{DE5536E9-606F-C983-1408-2DE58604BA7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95A6DE22-34B6-1D47-836E-ECFCAA83236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F1620877-DE8F-42AA-70E2-6F8FFF497514}"/>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C7057071-71C8-AF87-8458-AFDB1C5F56A2}"/>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301113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85E5-FAA6-C964-CEBE-4553763485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75B23E4-E3F5-3DE5-EBB2-83E6F81B1E58}"/>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5D2A95ED-F98C-6262-163F-41115FB83FB7}"/>
              </a:ext>
            </a:extLst>
          </p:cNvPr>
          <p:cNvSpPr>
            <a:spLocks noGrp="1"/>
          </p:cNvSpPr>
          <p:nvPr>
            <p:ph type="sldNum" sz="quarter" idx="10"/>
          </p:nvPr>
        </p:nvSpPr>
        <p:spPr/>
        <p:txBody>
          <a:bodyPr/>
          <a:lstStyle/>
          <a:p>
            <a:fld id="{80B4FCE6-DC73-4135-BC56-1F242D45A84C}" type="slidenum">
              <a:rPr lang="de-DE" smtClean="0"/>
              <a:t>15</a:t>
            </a:fld>
            <a:endParaRPr lang="de-DE"/>
          </a:p>
        </p:txBody>
      </p:sp>
      <p:sp>
        <p:nvSpPr>
          <p:cNvPr id="5" name="Fußzeilenplatzhalter 4">
            <a:extLst>
              <a:ext uri="{FF2B5EF4-FFF2-40B4-BE49-F238E27FC236}">
                <a16:creationId xmlns:a16="http://schemas.microsoft.com/office/drawing/2014/main" id="{3CDB1AEE-102C-A7A1-3383-C3DE105E5772}"/>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EF239192-025A-2F06-6926-4A07097FD80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E58803F8-F76A-E078-5AD1-146E22CD1EC6}"/>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AD0FB3FB-5656-701E-0288-466A2B67D029}"/>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529354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687707-7ED5-B9A7-90A0-DFEB182366B2}"/>
              </a:ext>
            </a:extLst>
          </p:cNvPr>
          <p:cNvSpPr>
            <a:spLocks noGrp="1"/>
          </p:cNvSpPr>
          <p:nvPr>
            <p:ph type="title"/>
          </p:nvPr>
        </p:nvSpPr>
        <p:spPr/>
        <p:txBody>
          <a:bodyPr/>
          <a:lstStyle/>
          <a:p>
            <a:r>
              <a:rPr lang="de-DE" dirty="0"/>
              <a:t>Rekonstruktionsfehler</a:t>
            </a:r>
          </a:p>
        </p:txBody>
      </p:sp>
      <p:sp>
        <p:nvSpPr>
          <p:cNvPr id="3" name="Foliennummernplatzhalter 2">
            <a:extLst>
              <a:ext uri="{FF2B5EF4-FFF2-40B4-BE49-F238E27FC236}">
                <a16:creationId xmlns:a16="http://schemas.microsoft.com/office/drawing/2014/main" id="{8D64D647-DD4D-91D2-1627-5BC45E9CD9D4}"/>
              </a:ext>
            </a:extLst>
          </p:cNvPr>
          <p:cNvSpPr>
            <a:spLocks noGrp="1"/>
          </p:cNvSpPr>
          <p:nvPr>
            <p:ph type="sldNum" sz="quarter" idx="10"/>
          </p:nvPr>
        </p:nvSpPr>
        <p:spPr/>
        <p:txBody>
          <a:bodyPr/>
          <a:lstStyle/>
          <a:p>
            <a:fld id="{80B4FCE6-DC73-4135-BC56-1F242D45A84C}" type="slidenum">
              <a:rPr lang="de-DE" smtClean="0"/>
              <a:t>16</a:t>
            </a:fld>
            <a:endParaRPr lang="de-DE"/>
          </a:p>
        </p:txBody>
      </p:sp>
      <p:sp>
        <p:nvSpPr>
          <p:cNvPr id="4" name="Fußzeilenplatzhalter 3">
            <a:extLst>
              <a:ext uri="{FF2B5EF4-FFF2-40B4-BE49-F238E27FC236}">
                <a16:creationId xmlns:a16="http://schemas.microsoft.com/office/drawing/2014/main" id="{26A69506-9B3E-7D71-5893-D0DC6E753E3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94DA9CB-9CB8-5597-4E72-4A4683E2D894}"/>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1AC7FB36-DE6E-007A-4312-FA8EDFD31ADF}"/>
              </a:ext>
            </a:extLst>
          </p:cNvPr>
          <p:cNvPicPr>
            <a:picLocks noGrp="1" noChangeAspect="1"/>
          </p:cNvPicPr>
          <p:nvPr>
            <p:ph sz="quarter" idx="13"/>
          </p:nvPr>
        </p:nvPicPr>
        <p:blipFill>
          <a:blip r:embed="rId2"/>
          <a:stretch>
            <a:fillRect/>
          </a:stretch>
        </p:blipFill>
        <p:spPr>
          <a:xfrm>
            <a:off x="341313" y="2092722"/>
            <a:ext cx="5391150" cy="3369469"/>
          </a:xfrm>
          <a:prstGeom prst="rect">
            <a:avLst/>
          </a:prstGeom>
        </p:spPr>
      </p:pic>
      <p:pic>
        <p:nvPicPr>
          <p:cNvPr id="11" name="Inhaltsplatzhalter 10">
            <a:extLst>
              <a:ext uri="{FF2B5EF4-FFF2-40B4-BE49-F238E27FC236}">
                <a16:creationId xmlns:a16="http://schemas.microsoft.com/office/drawing/2014/main" id="{B0C8479F-FBF6-159F-47CB-34D27B45545C}"/>
              </a:ext>
            </a:extLst>
          </p:cNvPr>
          <p:cNvPicPr>
            <a:picLocks noGrp="1" noChangeAspect="1"/>
          </p:cNvPicPr>
          <p:nvPr>
            <p:ph sz="quarter" idx="14"/>
          </p:nvPr>
        </p:nvPicPr>
        <p:blipFill>
          <a:blip r:embed="rId3"/>
          <a:stretch>
            <a:fillRect/>
          </a:stretch>
        </p:blipFill>
        <p:spPr>
          <a:xfrm>
            <a:off x="6459538" y="2092722"/>
            <a:ext cx="5391150" cy="3369469"/>
          </a:xfrm>
          <a:prstGeom prst="rect">
            <a:avLst/>
          </a:prstGeom>
        </p:spPr>
      </p:pic>
    </p:spTree>
    <p:extLst>
      <p:ext uri="{BB962C8B-B14F-4D97-AF65-F5344CB8AC3E}">
        <p14:creationId xmlns:p14="http://schemas.microsoft.com/office/powerpoint/2010/main" val="34002505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EF58-2125-4D08-AD0B-E3880D48646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B4AAB81-87D7-0FF4-7BF1-6AAAED5EC66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FF8F33D0-988F-7EF7-B4B1-A3A839DD5E84}"/>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5" name="Fußzeilenplatzhalter 4">
            <a:extLst>
              <a:ext uri="{FF2B5EF4-FFF2-40B4-BE49-F238E27FC236}">
                <a16:creationId xmlns:a16="http://schemas.microsoft.com/office/drawing/2014/main" id="{CE31FBDB-E4F0-6CAF-93D9-EE31834FD099}"/>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210A17B6-32AB-A500-2054-6CC058B5812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7606F433-01C5-6688-6F58-11400D50B7CA}"/>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B5A8FE23-C07E-236A-A02B-DDD4EF8DC173}"/>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26543294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029FF-3EE4-876E-44F7-6B9655DA95A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FFDB3-4876-2EA4-F8D1-820319818718}"/>
              </a:ext>
            </a:extLst>
          </p:cNvPr>
          <p:cNvSpPr>
            <a:spLocks noGrp="1"/>
          </p:cNvSpPr>
          <p:nvPr>
            <p:ph type="title"/>
          </p:nvPr>
        </p:nvSpPr>
        <p:spPr/>
        <p:txBody>
          <a:bodyPr/>
          <a:lstStyle/>
          <a:p>
            <a:r>
              <a:rPr lang="de-DE" dirty="0"/>
              <a:t>Rekonstruktionsfehler</a:t>
            </a:r>
          </a:p>
        </p:txBody>
      </p:sp>
      <p:sp>
        <p:nvSpPr>
          <p:cNvPr id="3" name="Foliennummernplatzhalter 2">
            <a:extLst>
              <a:ext uri="{FF2B5EF4-FFF2-40B4-BE49-F238E27FC236}">
                <a16:creationId xmlns:a16="http://schemas.microsoft.com/office/drawing/2014/main" id="{3DEC6A11-F996-E0BE-C4B6-E4F0714B9FA8}"/>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4" name="Fußzeilenplatzhalter 3">
            <a:extLst>
              <a:ext uri="{FF2B5EF4-FFF2-40B4-BE49-F238E27FC236}">
                <a16:creationId xmlns:a16="http://schemas.microsoft.com/office/drawing/2014/main" id="{5535EC75-87CC-5119-1B8A-99E8A5609E22}"/>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7D79AC4-5A08-B095-E382-F2DD2528EE86}"/>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0D25EEC0-8944-6DBF-EE75-B0C8CFBD7CC3}"/>
              </a:ext>
            </a:extLst>
          </p:cNvPr>
          <p:cNvPicPr>
            <a:picLocks noGrp="1" noChangeAspect="1"/>
          </p:cNvPicPr>
          <p:nvPr>
            <p:ph sz="quarter" idx="13"/>
          </p:nvPr>
        </p:nvPicPr>
        <p:blipFill>
          <a:blip r:embed="rId2"/>
          <a:srcRect/>
          <a:stretch/>
        </p:blipFill>
        <p:spPr>
          <a:xfrm>
            <a:off x="341313" y="2092722"/>
            <a:ext cx="5391150" cy="3369469"/>
          </a:xfrm>
          <a:prstGeom prst="rect">
            <a:avLst/>
          </a:prstGeom>
        </p:spPr>
      </p:pic>
      <p:pic>
        <p:nvPicPr>
          <p:cNvPr id="11" name="Inhaltsplatzhalter 10">
            <a:extLst>
              <a:ext uri="{FF2B5EF4-FFF2-40B4-BE49-F238E27FC236}">
                <a16:creationId xmlns:a16="http://schemas.microsoft.com/office/drawing/2014/main" id="{0D931ADF-F894-0F11-F0C3-362F564BC532}"/>
              </a:ext>
            </a:extLst>
          </p:cNvPr>
          <p:cNvPicPr>
            <a:picLocks noGrp="1" noChangeAspect="1"/>
          </p:cNvPicPr>
          <p:nvPr>
            <p:ph sz="quarter" idx="14"/>
          </p:nvPr>
        </p:nvPicPr>
        <p:blipFill>
          <a:blip r:embed="rId3"/>
          <a:srcRect/>
          <a:stretch/>
        </p:blipFill>
        <p:spPr>
          <a:xfrm>
            <a:off x="6459538" y="2092722"/>
            <a:ext cx="5391150" cy="3369469"/>
          </a:xfrm>
          <a:prstGeom prst="rect">
            <a:avLst/>
          </a:prstGeom>
        </p:spPr>
      </p:pic>
    </p:spTree>
    <p:extLst>
      <p:ext uri="{BB962C8B-B14F-4D97-AF65-F5344CB8AC3E}">
        <p14:creationId xmlns:p14="http://schemas.microsoft.com/office/powerpoint/2010/main" val="14057760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19</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r>
              <a:rPr lang="de-DE" b="1" dirty="0"/>
              <a:t>Hohe Sensitivität:</a:t>
            </a:r>
            <a:r>
              <a:rPr lang="de-DE" dirty="0"/>
              <a:t> beide Pipelines erreichen in jedem Fold eine TNR von </a:t>
            </a:r>
            <a:r>
              <a:rPr lang="de-DE" b="1" dirty="0"/>
              <a:t>1,000</a:t>
            </a:r>
            <a:endParaRPr lang="de-DE" dirty="0"/>
          </a:p>
          <a:p>
            <a:pPr>
              <a:buFont typeface="Arial" panose="020B0604020202020204" pitchFamily="34" charset="0"/>
              <a:buChar char="•"/>
            </a:pPr>
            <a:r>
              <a:rPr lang="de-DE" b="1" dirty="0"/>
              <a:t>Einzelmessung:</a:t>
            </a:r>
            <a:r>
              <a:rPr lang="de-DE" dirty="0"/>
              <a:t> bessere BA und deutlich robuster in Fold 3</a:t>
            </a:r>
          </a:p>
          <a:p>
            <a:pPr>
              <a:buFont typeface="Arial" panose="020B0604020202020204" pitchFamily="34" charset="0"/>
              <a:buChar char="•"/>
            </a:pPr>
            <a:r>
              <a:rPr lang="de-DE" b="1" dirty="0" err="1"/>
              <a:t>mID</a:t>
            </a:r>
            <a:r>
              <a:rPr lang="de-DE" b="1" dirty="0"/>
              <a:t>-Mittelung: </a:t>
            </a:r>
            <a:r>
              <a:rPr lang="de-DE" dirty="0"/>
              <a:t>Fold 1 kommt auf ähnliche Werte wie Fold 3 Einzelmessung hat aber weniger Daten für das Training durch die Mittelung</a:t>
            </a:r>
          </a:p>
          <a:p>
            <a:pPr>
              <a:buFont typeface="Arial" panose="020B0604020202020204" pitchFamily="34" charset="0"/>
              <a:buChar char="•"/>
            </a:pPr>
            <a:r>
              <a:rPr lang="de-DE" b="1" dirty="0"/>
              <a:t>Allgemein für Einzelmessung: </a:t>
            </a:r>
            <a:r>
              <a:rPr lang="de-DE" dirty="0"/>
              <a:t>in der Einzelmessung erkennen wir, dass Fold 1 und Fold 4 durch viele Testfälle und wenige Trainings Signale viele FN gefunden werden </a:t>
            </a:r>
          </a:p>
          <a:p>
            <a:pPr lvl="1">
              <a:buFont typeface="Arial" panose="020B0604020202020204" pitchFamily="34" charset="0"/>
              <a:buChar char="•"/>
            </a:pPr>
            <a:r>
              <a:rPr lang="de-DE" dirty="0"/>
              <a:t>Vor allem Fold 4 mit den sehr verteilten Messungen durch Z01 im Testfall erkennt sehr viele FN</a:t>
            </a:r>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Ch1 und Ch2 werden für die Bewertung je Fold gepoolt.</a:t>
            </a:r>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r>
              <a:rPr lang="de-DE" b="1" dirty="0"/>
              <a:t>ROC-Hinweis:</a:t>
            </a:r>
            <a:r>
              <a:rPr lang="de-DE" dirty="0"/>
              <a:t> Fold 2 erreicht in Ch1 und Ch2 jeweils </a:t>
            </a:r>
            <a:r>
              <a:rPr lang="de-DE" b="1" dirty="0"/>
              <a:t>ROC-AUC 1,000</a:t>
            </a:r>
            <a:r>
              <a:rPr lang="de-DE" dirty="0"/>
              <a:t>.</a:t>
            </a:r>
          </a:p>
          <a:p>
            <a:pPr>
              <a:buFont typeface="Arial" panose="020B0604020202020204" pitchFamily="34" charset="0"/>
              <a:buChar char="•"/>
            </a:pPr>
            <a:endParaRPr lang="de-DE" dirty="0"/>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20</a:t>
            </a:fld>
            <a:endParaRPr lang="de-DE"/>
          </a:p>
        </p:txBody>
      </p:sp>
      <p:graphicFrame>
        <p:nvGraphicFramePr>
          <p:cNvPr id="4" name="Tabelle 3">
            <a:extLst>
              <a:ext uri="{FF2B5EF4-FFF2-40B4-BE49-F238E27FC236}">
                <a16:creationId xmlns:a16="http://schemas.microsoft.com/office/drawing/2014/main" id="{629F289D-2D85-626C-314C-A0BDD66220C6}"/>
              </a:ext>
            </a:extLst>
          </p:cNvPr>
          <p:cNvGraphicFramePr>
            <a:graphicFrameLocks noGrp="1"/>
          </p:cNvGraphicFramePr>
          <p:nvPr>
            <p:extLst>
              <p:ext uri="{D42A27DB-BD31-4B8C-83A1-F6EECF244321}">
                <p14:modId xmlns:p14="http://schemas.microsoft.com/office/powerpoint/2010/main" val="1757277997"/>
              </p:ext>
            </p:extLst>
          </p:nvPr>
        </p:nvGraphicFramePr>
        <p:xfrm>
          <a:off x="338136" y="2226346"/>
          <a:ext cx="11244264" cy="2818620"/>
        </p:xfrm>
        <a:graphic>
          <a:graphicData uri="http://schemas.openxmlformats.org/drawingml/2006/table">
            <a:tbl>
              <a:tblPr firstRow="1" bandRow="1">
                <a:tableStyleId>{5C22544A-7EE6-4342-B048-85BDC9FD1C3A}</a:tableStyleId>
              </a:tblPr>
              <a:tblGrid>
                <a:gridCol w="2142305">
                  <a:extLst>
                    <a:ext uri="{9D8B030D-6E8A-4147-A177-3AD203B41FA5}">
                      <a16:colId xmlns:a16="http://schemas.microsoft.com/office/drawing/2014/main" val="2705374214"/>
                    </a:ext>
                  </a:extLst>
                </a:gridCol>
                <a:gridCol w="1605783">
                  <a:extLst>
                    <a:ext uri="{9D8B030D-6E8A-4147-A177-3AD203B41FA5}">
                      <a16:colId xmlns:a16="http://schemas.microsoft.com/office/drawing/2014/main" val="2785795376"/>
                    </a:ext>
                  </a:extLst>
                </a:gridCol>
                <a:gridCol w="1874044">
                  <a:extLst>
                    <a:ext uri="{9D8B030D-6E8A-4147-A177-3AD203B41FA5}">
                      <a16:colId xmlns:a16="http://schemas.microsoft.com/office/drawing/2014/main" val="171928383"/>
                    </a:ext>
                  </a:extLst>
                </a:gridCol>
                <a:gridCol w="1874044">
                  <a:extLst>
                    <a:ext uri="{9D8B030D-6E8A-4147-A177-3AD203B41FA5}">
                      <a16:colId xmlns:a16="http://schemas.microsoft.com/office/drawing/2014/main" val="3769601062"/>
                    </a:ext>
                  </a:extLst>
                </a:gridCol>
                <a:gridCol w="1874044">
                  <a:extLst>
                    <a:ext uri="{9D8B030D-6E8A-4147-A177-3AD203B41FA5}">
                      <a16:colId xmlns:a16="http://schemas.microsoft.com/office/drawing/2014/main" val="3807350254"/>
                    </a:ext>
                  </a:extLst>
                </a:gridCol>
                <a:gridCol w="1874044">
                  <a:extLst>
                    <a:ext uri="{9D8B030D-6E8A-4147-A177-3AD203B41FA5}">
                      <a16:colId xmlns:a16="http://schemas.microsoft.com/office/drawing/2014/main" val="3982025148"/>
                    </a:ext>
                  </a:extLst>
                </a:gridCol>
              </a:tblGrid>
              <a:tr h="563724">
                <a:tc>
                  <a:txBody>
                    <a:bodyPr/>
                    <a:lstStyle/>
                    <a:p>
                      <a:r>
                        <a:rPr lang="de-DE" dirty="0">
                          <a:solidFill>
                            <a:schemeClr val="tx1"/>
                          </a:solidFill>
                        </a:rPr>
                        <a:t>Fold (gesunder Test)</a:t>
                      </a:r>
                    </a:p>
                  </a:txBody>
                  <a:tcPr/>
                </a:tc>
                <a:tc>
                  <a:txBody>
                    <a:bodyPr/>
                    <a:lstStyle/>
                    <a:p>
                      <a:r>
                        <a:rPr lang="de-DE" dirty="0">
                          <a:solidFill>
                            <a:schemeClr val="tx1"/>
                          </a:solidFill>
                        </a:rPr>
                        <a:t>TPR</a:t>
                      </a:r>
                    </a:p>
                  </a:txBody>
                  <a:tcPr/>
                </a:tc>
                <a:tc>
                  <a:txBody>
                    <a:bodyPr/>
                    <a:lstStyle/>
                    <a:p>
                      <a:r>
                        <a:rPr lang="de-DE" dirty="0">
                          <a:solidFill>
                            <a:schemeClr val="tx1"/>
                          </a:solidFill>
                        </a:rPr>
                        <a:t>TNR</a:t>
                      </a:r>
                    </a:p>
                  </a:txBody>
                  <a:tcPr/>
                </a:tc>
                <a:tc>
                  <a:txBody>
                    <a:bodyPr/>
                    <a:lstStyle/>
                    <a:p>
                      <a:r>
                        <a:rPr lang="de-DE" dirty="0" err="1">
                          <a:solidFill>
                            <a:schemeClr val="tx1"/>
                          </a:solidFill>
                        </a:rPr>
                        <a:t>Accuracy</a:t>
                      </a:r>
                      <a:endParaRPr lang="de-DE" dirty="0">
                        <a:solidFill>
                          <a:schemeClr val="tx1"/>
                        </a:solidFill>
                      </a:endParaRPr>
                    </a:p>
                  </a:txBody>
                  <a:tcPr/>
                </a:tc>
                <a:tc>
                  <a:txBody>
                    <a:bodyPr/>
                    <a:lstStyle/>
                    <a:p>
                      <a:r>
                        <a:rPr lang="de-DE" dirty="0">
                          <a:solidFill>
                            <a:schemeClr val="tx1"/>
                          </a:solidFill>
                        </a:rPr>
                        <a:t>BA</a:t>
                      </a:r>
                    </a:p>
                  </a:txBody>
                  <a:tcPr/>
                </a:tc>
                <a:tc>
                  <a:txBody>
                    <a:bodyPr/>
                    <a:lstStyle/>
                    <a:p>
                      <a:r>
                        <a:rPr lang="de-DE" dirty="0">
                          <a:solidFill>
                            <a:schemeClr val="tx1"/>
                          </a:solidFill>
                        </a:rPr>
                        <a:t>F1</a:t>
                      </a:r>
                    </a:p>
                  </a:txBody>
                  <a:tcPr/>
                </a:tc>
                <a:extLst>
                  <a:ext uri="{0D108BD9-81ED-4DB2-BD59-A6C34878D82A}">
                    <a16:rowId xmlns:a16="http://schemas.microsoft.com/office/drawing/2014/main" val="175312995"/>
                  </a:ext>
                </a:extLst>
              </a:tr>
              <a:tr h="563724">
                <a:tc>
                  <a:txBody>
                    <a:bodyPr/>
                    <a:lstStyle/>
                    <a:p>
                      <a:r>
                        <a:rPr lang="de-DE" dirty="0"/>
                        <a:t>1 (Z04)</a:t>
                      </a:r>
                    </a:p>
                  </a:txBody>
                  <a:tcPr>
                    <a:solidFill>
                      <a:srgbClr val="FFC000"/>
                    </a:solidFill>
                  </a:tcPr>
                </a:tc>
                <a:tc>
                  <a:txBody>
                    <a:bodyPr/>
                    <a:lstStyle/>
                    <a:p>
                      <a:r>
                        <a:rPr lang="de-DE" dirty="0"/>
                        <a:t>0.875</a:t>
                      </a:r>
                    </a:p>
                  </a:txBody>
                  <a:tcPr>
                    <a:solidFill>
                      <a:srgbClr val="FFC000"/>
                    </a:solidFill>
                  </a:tcPr>
                </a:tc>
                <a:tc>
                  <a:txBody>
                    <a:bodyPr/>
                    <a:lstStyle/>
                    <a:p>
                      <a:r>
                        <a:rPr lang="de-DE" dirty="0"/>
                        <a:t>1.00</a:t>
                      </a:r>
                    </a:p>
                  </a:txBody>
                  <a:tcPr>
                    <a:solidFill>
                      <a:srgbClr val="FFC000"/>
                    </a:solidFill>
                  </a:tcPr>
                </a:tc>
                <a:tc>
                  <a:txBody>
                    <a:bodyPr/>
                    <a:lstStyle/>
                    <a:p>
                      <a:r>
                        <a:rPr lang="de-DE" dirty="0"/>
                        <a:t>0.906</a:t>
                      </a:r>
                    </a:p>
                  </a:txBody>
                  <a:tcPr>
                    <a:solidFill>
                      <a:srgbClr val="FFC000"/>
                    </a:solidFill>
                  </a:tcPr>
                </a:tc>
                <a:tc>
                  <a:txBody>
                    <a:bodyPr/>
                    <a:lstStyle/>
                    <a:p>
                      <a:r>
                        <a:rPr lang="de-DE" dirty="0"/>
                        <a:t>0.938</a:t>
                      </a:r>
                    </a:p>
                  </a:txBody>
                  <a:tcPr>
                    <a:solidFill>
                      <a:srgbClr val="FFC000"/>
                    </a:solidFill>
                  </a:tcPr>
                </a:tc>
                <a:tc>
                  <a:txBody>
                    <a:bodyPr/>
                    <a:lstStyle/>
                    <a:p>
                      <a:r>
                        <a:rPr lang="de-DE" dirty="0"/>
                        <a:t>0.842</a:t>
                      </a:r>
                    </a:p>
                  </a:txBody>
                  <a:tcPr>
                    <a:solidFill>
                      <a:srgbClr val="FFC000"/>
                    </a:solidFill>
                  </a:tcPr>
                </a:tc>
                <a:extLst>
                  <a:ext uri="{0D108BD9-81ED-4DB2-BD59-A6C34878D82A}">
                    <a16:rowId xmlns:a16="http://schemas.microsoft.com/office/drawing/2014/main" val="1396284393"/>
                  </a:ext>
                </a:extLst>
              </a:tr>
              <a:tr h="563724">
                <a:tc>
                  <a:txBody>
                    <a:bodyPr/>
                    <a:lstStyle/>
                    <a:p>
                      <a:r>
                        <a:rPr lang="de-DE" dirty="0"/>
                        <a:t>2 (Z03)</a:t>
                      </a:r>
                    </a:p>
                  </a:txBody>
                  <a:tcPr>
                    <a:solidFill>
                      <a:srgbClr val="93FF96"/>
                    </a:solidFill>
                  </a:tcPr>
                </a:tc>
                <a:tc>
                  <a:txBody>
                    <a:bodyPr/>
                    <a:lstStyle/>
                    <a:p>
                      <a:r>
                        <a:rPr lang="de-DE" dirty="0"/>
                        <a:t>0.875</a:t>
                      </a:r>
                    </a:p>
                  </a:txBody>
                  <a:tcPr>
                    <a:solidFill>
                      <a:srgbClr val="93FF96"/>
                    </a:solidFill>
                  </a:tcPr>
                </a:tc>
                <a:tc>
                  <a:txBody>
                    <a:bodyPr/>
                    <a:lstStyle/>
                    <a:p>
                      <a:r>
                        <a:rPr lang="de-DE" dirty="0"/>
                        <a:t>1.00</a:t>
                      </a:r>
                    </a:p>
                  </a:txBody>
                  <a:tcPr>
                    <a:solidFill>
                      <a:srgbClr val="93FF96"/>
                    </a:solidFill>
                  </a:tcPr>
                </a:tc>
                <a:tc>
                  <a:txBody>
                    <a:bodyPr/>
                    <a:lstStyle/>
                    <a:p>
                      <a:r>
                        <a:rPr lang="de-DE" dirty="0"/>
                        <a:t>0.938</a:t>
                      </a:r>
                    </a:p>
                  </a:txBody>
                  <a:tcPr>
                    <a:solidFill>
                      <a:srgbClr val="93FF96"/>
                    </a:solidFill>
                  </a:tcPr>
                </a:tc>
                <a:tc>
                  <a:txBody>
                    <a:bodyPr/>
                    <a:lstStyle/>
                    <a:p>
                      <a:r>
                        <a:rPr lang="de-DE" dirty="0"/>
                        <a:t>0.938</a:t>
                      </a:r>
                    </a:p>
                  </a:txBody>
                  <a:tcPr>
                    <a:solidFill>
                      <a:srgbClr val="93FF96"/>
                    </a:solidFill>
                  </a:tcPr>
                </a:tc>
                <a:tc>
                  <a:txBody>
                    <a:bodyPr/>
                    <a:lstStyle/>
                    <a:p>
                      <a:r>
                        <a:rPr lang="de-DE" dirty="0"/>
                        <a:t>0.941</a:t>
                      </a:r>
                    </a:p>
                  </a:txBody>
                  <a:tcPr>
                    <a:solidFill>
                      <a:srgbClr val="93FF96"/>
                    </a:solidFill>
                  </a:tcPr>
                </a:tc>
                <a:extLst>
                  <a:ext uri="{0D108BD9-81ED-4DB2-BD59-A6C34878D82A}">
                    <a16:rowId xmlns:a16="http://schemas.microsoft.com/office/drawing/2014/main" val="668171056"/>
                  </a:ext>
                </a:extLst>
              </a:tr>
              <a:tr h="563724">
                <a:tc>
                  <a:txBody>
                    <a:bodyPr/>
                    <a:lstStyle/>
                    <a:p>
                      <a:r>
                        <a:rPr lang="de-DE" dirty="0"/>
                        <a:t>3 (Z02)</a:t>
                      </a:r>
                    </a:p>
                  </a:txBody>
                  <a:tcPr>
                    <a:solidFill>
                      <a:srgbClr val="00B050"/>
                    </a:solidFill>
                  </a:tcPr>
                </a:tc>
                <a:tc>
                  <a:txBody>
                    <a:bodyPr/>
                    <a:lstStyle/>
                    <a:p>
                      <a:r>
                        <a:rPr lang="de-DE" dirty="0"/>
                        <a:t>0.950</a:t>
                      </a:r>
                    </a:p>
                  </a:txBody>
                  <a:tcPr>
                    <a:solidFill>
                      <a:srgbClr val="00B050"/>
                    </a:solidFill>
                  </a:tcPr>
                </a:tc>
                <a:tc>
                  <a:txBody>
                    <a:bodyPr/>
                    <a:lstStyle/>
                    <a:p>
                      <a:r>
                        <a:rPr lang="de-DE" dirty="0"/>
                        <a:t>1.00</a:t>
                      </a:r>
                    </a:p>
                  </a:txBody>
                  <a:tcPr>
                    <a:solidFill>
                      <a:srgbClr val="00B050"/>
                    </a:solidFill>
                  </a:tcPr>
                </a:tc>
                <a:tc>
                  <a:txBody>
                    <a:bodyPr/>
                    <a:lstStyle/>
                    <a:p>
                      <a:r>
                        <a:rPr lang="de-DE" dirty="0"/>
                        <a:t>0.975</a:t>
                      </a:r>
                    </a:p>
                  </a:txBody>
                  <a:tcPr>
                    <a:solidFill>
                      <a:srgbClr val="00B050"/>
                    </a:solidFill>
                  </a:tcPr>
                </a:tc>
                <a:tc>
                  <a:txBody>
                    <a:bodyPr/>
                    <a:lstStyle/>
                    <a:p>
                      <a:r>
                        <a:rPr lang="de-DE" dirty="0"/>
                        <a:t>0.975</a:t>
                      </a:r>
                    </a:p>
                  </a:txBody>
                  <a:tcPr>
                    <a:solidFill>
                      <a:srgbClr val="00B050"/>
                    </a:solidFill>
                  </a:tcPr>
                </a:tc>
                <a:tc>
                  <a:txBody>
                    <a:bodyPr/>
                    <a:lstStyle/>
                    <a:p>
                      <a:r>
                        <a:rPr lang="de-DE" dirty="0"/>
                        <a:t>0.976</a:t>
                      </a:r>
                    </a:p>
                  </a:txBody>
                  <a:tcPr>
                    <a:solidFill>
                      <a:srgbClr val="00B050"/>
                    </a:solidFill>
                  </a:tcPr>
                </a:tc>
                <a:extLst>
                  <a:ext uri="{0D108BD9-81ED-4DB2-BD59-A6C34878D82A}">
                    <a16:rowId xmlns:a16="http://schemas.microsoft.com/office/drawing/2014/main" val="1690458472"/>
                  </a:ext>
                </a:extLst>
              </a:tr>
              <a:tr h="563724">
                <a:tc>
                  <a:txBody>
                    <a:bodyPr/>
                    <a:lstStyle/>
                    <a:p>
                      <a:r>
                        <a:rPr lang="de-DE" dirty="0"/>
                        <a:t>4 (Z01)</a:t>
                      </a:r>
                    </a:p>
                  </a:txBody>
                  <a:tcPr>
                    <a:solidFill>
                      <a:srgbClr val="FF0000"/>
                    </a:solidFill>
                  </a:tcPr>
                </a:tc>
                <a:tc>
                  <a:txBody>
                    <a:bodyPr/>
                    <a:lstStyle/>
                    <a:p>
                      <a:r>
                        <a:rPr lang="de-DE" dirty="0"/>
                        <a:t>0.510</a:t>
                      </a:r>
                    </a:p>
                  </a:txBody>
                  <a:tcPr>
                    <a:solidFill>
                      <a:srgbClr val="FF0000"/>
                    </a:solidFill>
                  </a:tcPr>
                </a:tc>
                <a:tc>
                  <a:txBody>
                    <a:bodyPr/>
                    <a:lstStyle/>
                    <a:p>
                      <a:r>
                        <a:rPr lang="de-DE" dirty="0"/>
                        <a:t>1.00</a:t>
                      </a:r>
                    </a:p>
                  </a:txBody>
                  <a:tcPr>
                    <a:solidFill>
                      <a:srgbClr val="FF0000"/>
                    </a:solidFill>
                  </a:tcPr>
                </a:tc>
                <a:tc>
                  <a:txBody>
                    <a:bodyPr/>
                    <a:lstStyle/>
                    <a:p>
                      <a:r>
                        <a:rPr lang="de-DE" dirty="0"/>
                        <a:t>0.592</a:t>
                      </a:r>
                    </a:p>
                  </a:txBody>
                  <a:tcPr>
                    <a:solidFill>
                      <a:srgbClr val="FF0000"/>
                    </a:solidFill>
                  </a:tcPr>
                </a:tc>
                <a:tc>
                  <a:txBody>
                    <a:bodyPr/>
                    <a:lstStyle/>
                    <a:p>
                      <a:r>
                        <a:rPr lang="de-DE" dirty="0"/>
                        <a:t>0.755</a:t>
                      </a:r>
                    </a:p>
                  </a:txBody>
                  <a:tcPr>
                    <a:solidFill>
                      <a:srgbClr val="FF0000"/>
                    </a:solidFill>
                  </a:tcPr>
                </a:tc>
                <a:tc>
                  <a:txBody>
                    <a:bodyPr/>
                    <a:lstStyle/>
                    <a:p>
                      <a:r>
                        <a:rPr lang="de-DE" dirty="0"/>
                        <a:t>0.449</a:t>
                      </a:r>
                    </a:p>
                  </a:txBody>
                  <a:tcPr>
                    <a:solidFill>
                      <a:srgbClr val="FF0000"/>
                    </a:solidFill>
                  </a:tcPr>
                </a:tc>
                <a:extLst>
                  <a:ext uri="{0D108BD9-81ED-4DB2-BD59-A6C34878D82A}">
                    <a16:rowId xmlns:a16="http://schemas.microsoft.com/office/drawing/2014/main" val="1893996887"/>
                  </a:ext>
                </a:extLst>
              </a:tr>
            </a:tbl>
          </a:graphicData>
        </a:graphic>
      </p:graphicFrame>
    </p:spTree>
    <p:extLst>
      <p:ext uri="{BB962C8B-B14F-4D97-AF65-F5344CB8AC3E}">
        <p14:creationId xmlns:p14="http://schemas.microsoft.com/office/powerpoint/2010/main" val="176930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1220</Words>
  <Application>Microsoft Office PowerPoint</Application>
  <PresentationFormat>Breitbild</PresentationFormat>
  <Paragraphs>305</Paragraphs>
  <Slides>21</Slides>
  <Notes>19</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Aptos</vt:lpstr>
      <vt:lpstr>Arial</vt:lpstr>
      <vt:lpstr>Courier New</vt:lpstr>
      <vt:lpstr>Lucida Grande</vt:lpstr>
      <vt:lpstr>Wingdings</vt:lpstr>
      <vt:lpstr>ヒラギノ角ゴ Pro W3</vt:lpstr>
      <vt:lpstr>B-TU_Design_new</vt:lpstr>
      <vt:lpstr>Seminaraufgabe 4</vt:lpstr>
      <vt:lpstr>Gliederung</vt:lpstr>
      <vt:lpstr>Daten &amp; Pipelines</vt:lpstr>
      <vt:lpstr>Kreuzvalidierung</vt:lpstr>
      <vt:lpstr>Autoencoder</vt:lpstr>
      <vt:lpstr>Metriken &amp; Schwelle</vt:lpstr>
      <vt:lpstr>Einzelmessungen</vt:lpstr>
      <vt:lpstr>Pipelinevergleich</vt:lpstr>
      <vt:lpstr>Confusion-Matrix Vergleich Fold 1</vt:lpstr>
      <vt:lpstr>Confusion-Matrix Vergleich Fold 2</vt:lpstr>
      <vt:lpstr>Confusion-Matrix Vergleich Fold 3</vt:lpstr>
      <vt:lpstr>Confusion-Matrix Vergleich Fold 4</vt:lpstr>
      <vt:lpstr>ROC-Kurve</vt:lpstr>
      <vt:lpstr>ROC-Kurve</vt:lpstr>
      <vt:lpstr>ROC-Kurve</vt:lpstr>
      <vt:lpstr>Rekonstruktionsfehler</vt:lpstr>
      <vt:lpstr>ROC-Kurve</vt:lpstr>
      <vt:lpstr>Rekonstruktionsfehler</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69</cp:revision>
  <dcterms:created xsi:type="dcterms:W3CDTF">2026-06-13T09:02:33Z</dcterms:created>
  <dcterms:modified xsi:type="dcterms:W3CDTF">2026-07-23T10:09:08Z</dcterms:modified>
</cp:coreProperties>
</file>