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44" r:id="rId1"/>
  </p:sldMasterIdLst>
  <p:notesMasterIdLst>
    <p:notesMasterId r:id="rId22"/>
  </p:notesMasterIdLst>
  <p:handoutMasterIdLst>
    <p:handoutMasterId r:id="rId23"/>
  </p:handoutMasterIdLst>
  <p:sldIdLst>
    <p:sldId id="256" r:id="rId2"/>
    <p:sldId id="257" r:id="rId3"/>
    <p:sldId id="266" r:id="rId4"/>
    <p:sldId id="258" r:id="rId5"/>
    <p:sldId id="263" r:id="rId6"/>
    <p:sldId id="267" r:id="rId7"/>
    <p:sldId id="264" r:id="rId8"/>
    <p:sldId id="269" r:id="rId9"/>
    <p:sldId id="268" r:id="rId10"/>
    <p:sldId id="265" r:id="rId11"/>
    <p:sldId id="270" r:id="rId12"/>
    <p:sldId id="271" r:id="rId13"/>
    <p:sldId id="278" r:id="rId14"/>
    <p:sldId id="272" r:id="rId15"/>
    <p:sldId id="279" r:id="rId16"/>
    <p:sldId id="280" r:id="rId17"/>
    <p:sldId id="273" r:id="rId18"/>
    <p:sldId id="274" r:id="rId19"/>
    <p:sldId id="275" r:id="rId20"/>
    <p:sldId id="277" r:id="rId21"/>
  </p:sldIdLst>
  <p:sldSz cx="12192000" cy="6858000"/>
  <p:notesSz cx="9144000" cy="6858000"/>
  <p:defaultTextStyle>
    <a:defPPr>
      <a:defRPr lang="de-DE"/>
    </a:defPPr>
    <a:lvl1pPr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5pPr>
    <a:lvl6pPr marL="2286000" algn="l" defTabSz="914400" rtl="0" eaLnBrk="1" latinLnBrk="0" hangingPunct="1">
      <a:defRPr sz="2400" kern="1200">
        <a:solidFill>
          <a:schemeClr val="tx1"/>
        </a:solidFill>
        <a:latin typeface="Arial" panose="020B0604020202020204" pitchFamily="34" charset="0"/>
        <a:ea typeface="ヒラギノ角ゴ Pro W3" charset="-128"/>
        <a:cs typeface="+mn-cs"/>
      </a:defRPr>
    </a:lvl6pPr>
    <a:lvl7pPr marL="2743200" algn="l" defTabSz="914400" rtl="0" eaLnBrk="1" latinLnBrk="0" hangingPunct="1">
      <a:defRPr sz="2400" kern="1200">
        <a:solidFill>
          <a:schemeClr val="tx1"/>
        </a:solidFill>
        <a:latin typeface="Arial" panose="020B0604020202020204" pitchFamily="34" charset="0"/>
        <a:ea typeface="ヒラギノ角ゴ Pro W3" charset="-128"/>
        <a:cs typeface="+mn-cs"/>
      </a:defRPr>
    </a:lvl7pPr>
    <a:lvl8pPr marL="3200400" algn="l" defTabSz="914400" rtl="0" eaLnBrk="1" latinLnBrk="0" hangingPunct="1">
      <a:defRPr sz="2400" kern="1200">
        <a:solidFill>
          <a:schemeClr val="tx1"/>
        </a:solidFill>
        <a:latin typeface="Arial" panose="020B0604020202020204" pitchFamily="34" charset="0"/>
        <a:ea typeface="ヒラギノ角ゴ Pro W3" charset="-128"/>
        <a:cs typeface="+mn-cs"/>
      </a:defRPr>
    </a:lvl8pPr>
    <a:lvl9pPr marL="3657600" algn="l" defTabSz="914400" rtl="0" eaLnBrk="1" latinLnBrk="0" hangingPunct="1">
      <a:defRPr sz="2400" kern="1200">
        <a:solidFill>
          <a:schemeClr val="tx1"/>
        </a:solidFill>
        <a:latin typeface="Arial" panose="020B0604020202020204" pitchFamily="34" charset="0"/>
        <a:ea typeface="ヒラギノ角ゴ Pro W3" charset="-128"/>
        <a:cs typeface="+mn-cs"/>
      </a:defRPr>
    </a:lvl9pPr>
  </p:defaultTextStyle>
  <p:extLst>
    <p:ext uri="{EFAFB233-063F-42B5-8137-9DF3F51BA10A}">
      <p15:sldGuideLst xmlns:p15="http://schemas.microsoft.com/office/powerpoint/2012/main">
        <p15:guide id="1" orient="horz" pos="1296">
          <p15:clr>
            <a:srgbClr val="A4A3A4"/>
          </p15:clr>
        </p15:guide>
        <p15:guide id="2" pos="595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23"/>
    <p:restoredTop sz="77175" autoAdjust="0"/>
  </p:normalViewPr>
  <p:slideViewPr>
    <p:cSldViewPr snapToGrid="0">
      <p:cViewPr varScale="1">
        <p:scale>
          <a:sx n="73" d="100"/>
          <a:sy n="73" d="100"/>
        </p:scale>
        <p:origin x="1147" y="72"/>
      </p:cViewPr>
      <p:guideLst>
        <p:guide orient="horz" pos="1296"/>
        <p:guide pos="5952"/>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notesViewPr>
    <p:cSldViewPr snapToGrid="0">
      <p:cViewPr varScale="1">
        <p:scale>
          <a:sx n="117" d="100"/>
          <a:sy n="117" d="100"/>
        </p:scale>
        <p:origin x="273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C424A38-A8B2-E0EC-7A28-AFD479539829}"/>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B4BC391B-27A7-FAAD-7DC7-CB36FE5A6E4A}"/>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75AB4CA9-CCE6-4DE5-84AD-E1F7B6CB5CBB}" type="datetimeFigureOut">
              <a:rPr lang="de-DE" smtClean="0"/>
              <a:t>15.07.2026</a:t>
            </a:fld>
            <a:endParaRPr lang="de-DE"/>
          </a:p>
        </p:txBody>
      </p:sp>
      <p:sp>
        <p:nvSpPr>
          <p:cNvPr id="4" name="Fußzeilenplatzhalter 3">
            <a:extLst>
              <a:ext uri="{FF2B5EF4-FFF2-40B4-BE49-F238E27FC236}">
                <a16:creationId xmlns:a16="http://schemas.microsoft.com/office/drawing/2014/main" id="{C9044DCD-B54D-86BE-7F28-47D99C0553F4}"/>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de-DE" dirty="0"/>
          </a:p>
        </p:txBody>
      </p:sp>
      <p:sp>
        <p:nvSpPr>
          <p:cNvPr id="5" name="Foliennummernplatzhalter 4">
            <a:extLst>
              <a:ext uri="{FF2B5EF4-FFF2-40B4-BE49-F238E27FC236}">
                <a16:creationId xmlns:a16="http://schemas.microsoft.com/office/drawing/2014/main" id="{0420775E-50E3-8820-082D-219DAAE6487C}"/>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6B6A8762-026B-44CD-B702-65A0748002CC}" type="slidenum">
              <a:rPr lang="de-DE" smtClean="0"/>
              <a:t>‹Nr.›</a:t>
            </a:fld>
            <a:endParaRPr lang="de-DE" dirty="0"/>
          </a:p>
        </p:txBody>
      </p:sp>
    </p:spTree>
    <p:extLst>
      <p:ext uri="{BB962C8B-B14F-4D97-AF65-F5344CB8AC3E}">
        <p14:creationId xmlns:p14="http://schemas.microsoft.com/office/powerpoint/2010/main" val="238000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52D5829F-2F94-0B44-A96D-AE852A87AC61}" type="datetimeFigureOut">
              <a:rPr lang="de-DE" smtClean="0"/>
              <a:t>15.07.2026</a:t>
            </a:fld>
            <a:endParaRPr lang="de-DE"/>
          </a:p>
        </p:txBody>
      </p:sp>
      <p:sp>
        <p:nvSpPr>
          <p:cNvPr id="4" name="Folienbildplatzhalt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0492B7F2-6741-7346-B13A-366117EE2BBB}" type="slidenum">
              <a:rPr lang="de-DE" smtClean="0"/>
              <a:t>‹Nr.›</a:t>
            </a:fld>
            <a:endParaRPr lang="de-DE"/>
          </a:p>
        </p:txBody>
      </p:sp>
    </p:spTree>
    <p:extLst>
      <p:ext uri="{BB962C8B-B14F-4D97-AF65-F5344CB8AC3E}">
        <p14:creationId xmlns:p14="http://schemas.microsoft.com/office/powerpoint/2010/main" val="3392550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kern="1200" dirty="0">
                <a:solidFill>
                  <a:schemeClr val="tx1"/>
                </a:solidFill>
                <a:effectLst/>
                <a:latin typeface="+mn-lt"/>
                <a:ea typeface="+mn-ea"/>
                <a:cs typeface="+mn-cs"/>
              </a:rPr>
              <a:t>Victor</a:t>
            </a:r>
            <a:endParaRPr lang="de-DE" dirty="0"/>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1</a:t>
            </a:fld>
            <a:endParaRPr lang="de-DE"/>
          </a:p>
        </p:txBody>
      </p:sp>
    </p:spTree>
    <p:extLst>
      <p:ext uri="{BB962C8B-B14F-4D97-AF65-F5344CB8AC3E}">
        <p14:creationId xmlns:p14="http://schemas.microsoft.com/office/powerpoint/2010/main" val="192921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kern="1200" dirty="0">
                <a:solidFill>
                  <a:schemeClr val="tx1"/>
                </a:solidFill>
                <a:effectLst/>
                <a:latin typeface="+mn-lt"/>
                <a:ea typeface="+mn-ea"/>
                <a:cs typeface="+mn-cs"/>
              </a:rPr>
              <a:t>Victor</a:t>
            </a:r>
          </a:p>
        </p:txBody>
      </p:sp>
      <p:sp>
        <p:nvSpPr>
          <p:cNvPr id="4" name="Foliennummernplatzhalter 3"/>
          <p:cNvSpPr>
            <a:spLocks noGrp="1"/>
          </p:cNvSpPr>
          <p:nvPr>
            <p:ph type="sldNum" sz="quarter" idx="5"/>
          </p:nvPr>
        </p:nvSpPr>
        <p:spPr/>
        <p:txBody>
          <a:bodyPr/>
          <a:lstStyle/>
          <a:p>
            <a:fld id="{0492B7F2-6741-7346-B13A-366117EE2BBB}" type="slidenum">
              <a:rPr lang="de-DE" smtClean="0"/>
              <a:t>2</a:t>
            </a:fld>
            <a:endParaRPr lang="de-DE"/>
          </a:p>
        </p:txBody>
      </p:sp>
    </p:spTree>
    <p:extLst>
      <p:ext uri="{BB962C8B-B14F-4D97-AF65-F5344CB8AC3E}">
        <p14:creationId xmlns:p14="http://schemas.microsoft.com/office/powerpoint/2010/main" val="2591093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Victor</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In Aufgabe 3 geht es darum, die Daten aus Aufgabe 2 nicht nur visuell zu untersuchen, sondern automatisch zu klassifizieren. Das Ziel ist eine binäre Entscheidung: Ist ein Signal einem guten oder einem beschädigten Zahnrad zuzuordnen? Dafür verwenden wir ein MLP und bewerten das Modell erst am Ende auf einem separaten Testsatz.</a:t>
            </a:r>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3</a:t>
            </a:fld>
            <a:endParaRPr lang="de-DE"/>
          </a:p>
        </p:txBody>
      </p:sp>
    </p:spTree>
    <p:extLst>
      <p:ext uri="{BB962C8B-B14F-4D97-AF65-F5344CB8AC3E}">
        <p14:creationId xmlns:p14="http://schemas.microsoft.com/office/powerpoint/2010/main" val="4078869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Victor</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Die Label-Zuordnung basiert auf den Ergebnissen aus Aufgabe 2. Dort wurde `Z05` als beschädigt betrachtet, während `Z01` bis `Z04` als gut verwendet werden. Wichtig ist, dass nur eine Probe die Klasse 0 bildet. Das ist für die spätere Diskussion relevant, weil das Modell dadurch nicht viele verschiedene beschädigte Zahnräder sieht.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Deshalb in Dataframe-manager neue Spalte `</a:t>
            </a:r>
            <a:r>
              <a:rPr lang="de-DE" sz="1200" b="0" kern="1200" dirty="0" err="1">
                <a:solidFill>
                  <a:schemeClr val="tx1"/>
                </a:solidFill>
                <a:effectLst/>
                <a:latin typeface="+mn-lt"/>
                <a:ea typeface="+mn-ea"/>
                <a:cs typeface="+mn-cs"/>
              </a:rPr>
              <a:t>label</a:t>
            </a:r>
            <a:r>
              <a:rPr lang="de-DE" sz="1200" b="0" kern="1200" dirty="0">
                <a:solidFill>
                  <a:schemeClr val="tx1"/>
                </a:solidFill>
                <a:effectLst/>
                <a:latin typeface="+mn-lt"/>
                <a:ea typeface="+mn-ea"/>
                <a:cs typeface="+mn-cs"/>
              </a:rPr>
              <a:t>`</a:t>
            </a:r>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4</a:t>
            </a:fld>
            <a:endParaRPr lang="de-DE"/>
          </a:p>
        </p:txBody>
      </p:sp>
    </p:spTree>
    <p:extLst>
      <p:ext uri="{BB962C8B-B14F-4D97-AF65-F5344CB8AC3E}">
        <p14:creationId xmlns:p14="http://schemas.microsoft.com/office/powerpoint/2010/main" val="1014031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kern="1200" dirty="0">
                <a:solidFill>
                  <a:schemeClr val="tx1"/>
                </a:solidFill>
                <a:effectLst/>
                <a:latin typeface="+mn-lt"/>
                <a:ea typeface="+mn-ea"/>
                <a:cs typeface="+mn-cs"/>
              </a:rPr>
              <a:t>Victor</a:t>
            </a:r>
          </a:p>
          <a:p>
            <a:r>
              <a:rPr lang="de-DE" sz="1200" b="0" kern="1200" dirty="0">
                <a:solidFill>
                  <a:schemeClr val="tx1"/>
                </a:solidFill>
                <a:effectLst/>
                <a:latin typeface="+mn-lt"/>
                <a:ea typeface="+mn-ea"/>
                <a:cs typeface="+mn-cs"/>
              </a:rPr>
              <a:t>Ein direktes Training auf allen Dateien wäre problematisch. `Z01` und `Z04` besitzen mehr Wiederholungsmessungen als `Z02`, `Z03` und `Z05`. Wenn wir jede Datei als unabhängigen Datenpunkt verwenden, bekommen diese Proben mehr Gewicht. Deshalb extrahieren wir zuerst die Merkmale pro Datei und mitteln danach die Feature-werte über alle `</a:t>
            </a:r>
            <a:r>
              <a:rPr lang="de-DE" sz="1200" b="0" kern="1200" dirty="0" err="1">
                <a:solidFill>
                  <a:schemeClr val="tx1"/>
                </a:solidFill>
                <a:effectLst/>
                <a:latin typeface="+mn-lt"/>
                <a:ea typeface="+mn-ea"/>
                <a:cs typeface="+mn-cs"/>
              </a:rPr>
              <a:t>mID</a:t>
            </a:r>
            <a:r>
              <a:rPr lang="de-DE" sz="1200" b="0" kern="1200" dirty="0">
                <a:solidFill>
                  <a:schemeClr val="tx1"/>
                </a:solidFill>
                <a:effectLst/>
                <a:latin typeface="+mn-lt"/>
                <a:ea typeface="+mn-ea"/>
                <a:cs typeface="+mn-cs"/>
              </a:rPr>
              <a:t>` derselben Messsituation.</a:t>
            </a:r>
          </a:p>
        </p:txBody>
      </p:sp>
      <p:sp>
        <p:nvSpPr>
          <p:cNvPr id="4" name="Foliennummernplatzhalter 3"/>
          <p:cNvSpPr>
            <a:spLocks noGrp="1"/>
          </p:cNvSpPr>
          <p:nvPr>
            <p:ph type="sldNum" sz="quarter" idx="5"/>
          </p:nvPr>
        </p:nvSpPr>
        <p:spPr/>
        <p:txBody>
          <a:bodyPr/>
          <a:lstStyle/>
          <a:p>
            <a:fld id="{0492B7F2-6741-7346-B13A-366117EE2BBB}" type="slidenum">
              <a:rPr lang="de-DE" smtClean="0"/>
              <a:t>5</a:t>
            </a:fld>
            <a:endParaRPr lang="de-DE"/>
          </a:p>
        </p:txBody>
      </p:sp>
    </p:spTree>
    <p:extLst>
      <p:ext uri="{BB962C8B-B14F-4D97-AF65-F5344CB8AC3E}">
        <p14:creationId xmlns:p14="http://schemas.microsoft.com/office/powerpoint/2010/main" val="3211991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9F389-D4E0-D2D0-D0E3-FEDCB601268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1C17418-FDE2-F315-1FCC-C0AE13826ED7}"/>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72DD5A0F-089C-81AB-670E-7E39A76EBC0D}"/>
              </a:ext>
            </a:extLst>
          </p:cNvPr>
          <p:cNvSpPr>
            <a:spLocks noGrp="1"/>
          </p:cNvSpPr>
          <p:nvPr>
            <p:ph type="body" idx="1"/>
          </p:nvPr>
        </p:nvSpPr>
        <p:spPr/>
        <p:txBody>
          <a:bodyPr/>
          <a:lstStyle/>
          <a:p>
            <a:r>
              <a:rPr lang="de-DE" sz="1200" b="0" kern="1200" dirty="0">
                <a:solidFill>
                  <a:schemeClr val="tx1"/>
                </a:solidFill>
                <a:effectLst/>
                <a:latin typeface="+mn-lt"/>
                <a:ea typeface="+mn-ea"/>
                <a:cs typeface="+mn-cs"/>
              </a:rPr>
              <a:t>Victor</a:t>
            </a:r>
            <a:br>
              <a:rPr lang="de-DE" sz="1200" b="0" kern="1200" dirty="0">
                <a:solidFill>
                  <a:schemeClr val="tx1"/>
                </a:solidFill>
                <a:effectLst/>
                <a:latin typeface="+mn-lt"/>
                <a:ea typeface="+mn-ea"/>
                <a:cs typeface="+mn-cs"/>
              </a:rPr>
            </a:br>
            <a:r>
              <a:rPr lang="de-DE" sz="1200" b="0" kern="1200" dirty="0">
                <a:solidFill>
                  <a:schemeClr val="tx1"/>
                </a:solidFill>
                <a:effectLst/>
                <a:latin typeface="+mn-lt"/>
                <a:ea typeface="+mn-ea"/>
                <a:cs typeface="+mn-cs"/>
              </a:rPr>
              <a:t>Wir verwenden bewusst die Merkmale aus Aufgabe 2 weiter, weil diese bereits zu guten visuellen Trennungen geführt haben. Die Merkmale beschreiben sowohl zeitliche Eigenschaften als auch spektrale Eigenschaften des Signals. Dadurch muss das MLP nicht direkt auf den Rohsignalen lernen, sondern bekommt kompakte Signalbeschreibungen.</a:t>
            </a:r>
          </a:p>
          <a:p>
            <a:endParaRPr lang="de-DE" dirty="0"/>
          </a:p>
        </p:txBody>
      </p:sp>
      <p:sp>
        <p:nvSpPr>
          <p:cNvPr id="4" name="Foliennummernplatzhalter 3">
            <a:extLst>
              <a:ext uri="{FF2B5EF4-FFF2-40B4-BE49-F238E27FC236}">
                <a16:creationId xmlns:a16="http://schemas.microsoft.com/office/drawing/2014/main" id="{AA57F3D0-5F1F-FB96-9DEC-006699FAA684}"/>
              </a:ext>
            </a:extLst>
          </p:cNvPr>
          <p:cNvSpPr>
            <a:spLocks noGrp="1"/>
          </p:cNvSpPr>
          <p:nvPr>
            <p:ph type="sldNum" sz="quarter" idx="5"/>
          </p:nvPr>
        </p:nvSpPr>
        <p:spPr/>
        <p:txBody>
          <a:bodyPr/>
          <a:lstStyle/>
          <a:p>
            <a:fld id="{0492B7F2-6741-7346-B13A-366117EE2BBB}" type="slidenum">
              <a:rPr lang="de-DE" smtClean="0"/>
              <a:t>6</a:t>
            </a:fld>
            <a:endParaRPr lang="de-DE"/>
          </a:p>
        </p:txBody>
      </p:sp>
    </p:spTree>
    <p:extLst>
      <p:ext uri="{BB962C8B-B14F-4D97-AF65-F5344CB8AC3E}">
        <p14:creationId xmlns:p14="http://schemas.microsoft.com/office/powerpoint/2010/main" val="2678451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Tim</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Wir extrahieren die Merkmale pro Roh-datei und mitteln danach die Feature-werte über alle `</a:t>
            </a:r>
            <a:r>
              <a:rPr lang="de-DE" sz="1200" b="0" kern="1200" dirty="0" err="1">
                <a:solidFill>
                  <a:schemeClr val="tx1"/>
                </a:solidFill>
                <a:effectLst/>
                <a:latin typeface="+mn-lt"/>
                <a:ea typeface="+mn-ea"/>
                <a:cs typeface="+mn-cs"/>
              </a:rPr>
              <a:t>mID</a:t>
            </a:r>
            <a:r>
              <a:rPr lang="de-DE" sz="1200" b="0" kern="1200" dirty="0">
                <a:solidFill>
                  <a:schemeClr val="tx1"/>
                </a:solidFill>
                <a:effectLst/>
                <a:latin typeface="+mn-lt"/>
                <a:ea typeface="+mn-ea"/>
                <a:cs typeface="+mn-cs"/>
              </a:rPr>
              <a:t>`. Dadurch werden Wiederholungsmessungen in der Merkmalsebene zusammengefasst. Der Split trennt die guten Zahnräder stärker nach Zahnrad-Identität: `Z04` ist nur im Entwicklungssatz, `Z03` nur im Testsatz. `Z05` muss als einziges beschädigtes Zahnrad weiterhin positionsbasiert auf Train, Dev und Test verteilt werden. `Ch1` und `Ch2` werden nicht als Feature codiert, sondern bekommen je ein eigenes Modell.</a:t>
            </a:r>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7</a:t>
            </a:fld>
            <a:endParaRPr lang="de-DE"/>
          </a:p>
        </p:txBody>
      </p:sp>
    </p:spTree>
    <p:extLst>
      <p:ext uri="{BB962C8B-B14F-4D97-AF65-F5344CB8AC3E}">
        <p14:creationId xmlns:p14="http://schemas.microsoft.com/office/powerpoint/2010/main" val="1783365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Tim</a:t>
            </a:r>
          </a:p>
          <a:p>
            <a:r>
              <a:rPr lang="de-DE" sz="1200" b="0" kern="1200" dirty="0">
                <a:solidFill>
                  <a:schemeClr val="tx1"/>
                </a:solidFill>
                <a:effectLst/>
                <a:latin typeface="+mn-lt"/>
                <a:ea typeface="+mn-ea"/>
                <a:cs typeface="+mn-cs"/>
              </a:rPr>
              <a:t>Das Verteilungsdiagramm macht sichtbar, warum wir vor dem Training mitteln. `Z01` und `Z04` hätten sonst deutlich mehr Einfluss als die anderen Zahnräder, weil dort mehr Wiederholungsmessungen vorhanden sind. Nach der Mittelung stehen für jedes gute Zahnrad pro Channel 20 Feature-Zeilen zur Verfügung. Danach werden die guten Zahnräder getrennt: `Z01` und `Z02` liegen im Training, `Z04` im Entwicklungssatz und `Z03` im Testsatz. Für die beschädigte Klasse ist eine solche Zahnrad-Trennung nicht möglich, weil nur `Z05` beschädigt ist. Deshalb wird `Z05` pro Channel positionsbasiert in 12 Training, 4 Entwicklung und 4 Test aufgeteilt. Daraus entstehen pro Channel 52 Trainings-, 24 Entwicklungs- und 24 Testbeispiele.</a:t>
            </a:r>
          </a:p>
        </p:txBody>
      </p:sp>
      <p:sp>
        <p:nvSpPr>
          <p:cNvPr id="4" name="Foliennummernplatzhalter 3"/>
          <p:cNvSpPr>
            <a:spLocks noGrp="1"/>
          </p:cNvSpPr>
          <p:nvPr>
            <p:ph type="sldNum" sz="quarter" idx="5"/>
          </p:nvPr>
        </p:nvSpPr>
        <p:spPr/>
        <p:txBody>
          <a:bodyPr/>
          <a:lstStyle/>
          <a:p>
            <a:fld id="{0492B7F2-6741-7346-B13A-366117EE2BBB}" type="slidenum">
              <a:rPr lang="de-DE" smtClean="0"/>
              <a:t>8</a:t>
            </a:fld>
            <a:endParaRPr lang="de-DE"/>
          </a:p>
        </p:txBody>
      </p:sp>
    </p:spTree>
    <p:extLst>
      <p:ext uri="{BB962C8B-B14F-4D97-AF65-F5344CB8AC3E}">
        <p14:creationId xmlns:p14="http://schemas.microsoft.com/office/powerpoint/2010/main" val="3220427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63EF-EA1A-0B8A-1379-0A6160E522A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6D235D-AA7B-F048-6715-4D5C7A058148}"/>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42AAE592-F1C0-8F4D-517A-D2570ED297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David</a:t>
            </a:r>
          </a:p>
          <a:p>
            <a:r>
              <a:rPr lang="de-DE" sz="1200" b="0" kern="1200" dirty="0">
                <a:solidFill>
                  <a:schemeClr val="tx1"/>
                </a:solidFill>
                <a:effectLst/>
                <a:latin typeface="+mn-lt"/>
                <a:ea typeface="+mn-ea"/>
                <a:cs typeface="+mn-cs"/>
              </a:rPr>
              <a:t>Vor dem MLP werden alle Features standardisiert. Das ist wichtig, weil die Merkmale unterschiedliche Wertebereiche besitzen. Pro Channel trainieren wir ein eigenes kleines Modell, da der Datensatz trotz Rohdateien klein bleibt. Ein zu großes Netz könnte leicht auswendig lernen.</a:t>
            </a:r>
          </a:p>
        </p:txBody>
      </p:sp>
      <p:sp>
        <p:nvSpPr>
          <p:cNvPr id="4" name="Foliennummernplatzhalter 3">
            <a:extLst>
              <a:ext uri="{FF2B5EF4-FFF2-40B4-BE49-F238E27FC236}">
                <a16:creationId xmlns:a16="http://schemas.microsoft.com/office/drawing/2014/main" id="{A438551F-788D-EDA4-E8B5-EFFC99D96854}"/>
              </a:ext>
            </a:extLst>
          </p:cNvPr>
          <p:cNvSpPr>
            <a:spLocks noGrp="1"/>
          </p:cNvSpPr>
          <p:nvPr>
            <p:ph type="sldNum" sz="quarter" idx="5"/>
          </p:nvPr>
        </p:nvSpPr>
        <p:spPr/>
        <p:txBody>
          <a:bodyPr/>
          <a:lstStyle/>
          <a:p>
            <a:fld id="{0492B7F2-6741-7346-B13A-366117EE2BBB}" type="slidenum">
              <a:rPr lang="de-DE" smtClean="0"/>
              <a:t>9</a:t>
            </a:fld>
            <a:endParaRPr lang="de-DE"/>
          </a:p>
        </p:txBody>
      </p:sp>
    </p:spTree>
    <p:extLst>
      <p:ext uri="{BB962C8B-B14F-4D97-AF65-F5344CB8AC3E}">
        <p14:creationId xmlns:p14="http://schemas.microsoft.com/office/powerpoint/2010/main" val="1770632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kern="1200" dirty="0">
                <a:solidFill>
                  <a:schemeClr val="tx1"/>
                </a:solidFill>
                <a:effectLst/>
                <a:latin typeface="+mn-lt"/>
                <a:ea typeface="+mn-ea"/>
                <a:cs typeface="+mn-cs"/>
              </a:rPr>
              <a:t>David</a:t>
            </a:r>
          </a:p>
          <a:p>
            <a:r>
              <a:rPr lang="de-DE" sz="1200" b="0" kern="1200" dirty="0">
                <a:solidFill>
                  <a:schemeClr val="tx1"/>
                </a:solidFill>
                <a:effectLst/>
                <a:latin typeface="+mn-lt"/>
                <a:ea typeface="+mn-ea"/>
                <a:cs typeface="+mn-cs"/>
              </a:rPr>
              <a:t>Die Hyperparameter werden nicht auf dem Testsatz ausgewählt. Für jede Kombination trainieren wir auf dem Trainingssatz und bewerten auf dem Entwicklungssatz. Das beste Modell wird anhand der Entwicklungs-Metriken ausgewählt. Danach wird das finale Modell mit Training plus Entwicklung neu trainiert und erst dann auf dem Testsatz bewertet.</a:t>
            </a:r>
          </a:p>
        </p:txBody>
      </p:sp>
      <p:sp>
        <p:nvSpPr>
          <p:cNvPr id="4" name="Foliennummernplatzhalter 3"/>
          <p:cNvSpPr>
            <a:spLocks noGrp="1"/>
          </p:cNvSpPr>
          <p:nvPr>
            <p:ph type="sldNum" sz="quarter" idx="5"/>
          </p:nvPr>
        </p:nvSpPr>
        <p:spPr/>
        <p:txBody>
          <a:bodyPr/>
          <a:lstStyle/>
          <a:p>
            <a:fld id="{0492B7F2-6741-7346-B13A-366117EE2BBB}" type="slidenum">
              <a:rPr lang="de-DE" smtClean="0"/>
              <a:t>10</a:t>
            </a:fld>
            <a:endParaRPr lang="de-DE"/>
          </a:p>
        </p:txBody>
      </p:sp>
    </p:spTree>
    <p:extLst>
      <p:ext uri="{BB962C8B-B14F-4D97-AF65-F5344CB8AC3E}">
        <p14:creationId xmlns:p14="http://schemas.microsoft.com/office/powerpoint/2010/main" val="4205122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David</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Die Code-Vorstellung läuft am besten über `main.py`, weil dort alle Schritte sichtbar zusammenlaufen: Signale laden, Split anwenden, Features extrahieren, über `</a:t>
            </a:r>
            <a:r>
              <a:rPr lang="de-DE" sz="1200" b="0" kern="1200" dirty="0" err="1">
                <a:solidFill>
                  <a:schemeClr val="tx1"/>
                </a:solidFill>
                <a:effectLst/>
                <a:latin typeface="+mn-lt"/>
                <a:ea typeface="+mn-ea"/>
                <a:cs typeface="+mn-cs"/>
              </a:rPr>
              <a:t>mID</a:t>
            </a:r>
            <a:r>
              <a:rPr lang="de-DE" sz="1200" b="0" kern="1200" dirty="0">
                <a:solidFill>
                  <a:schemeClr val="tx1"/>
                </a:solidFill>
                <a:effectLst/>
                <a:latin typeface="+mn-lt"/>
                <a:ea typeface="+mn-ea"/>
                <a:cs typeface="+mn-cs"/>
              </a:rPr>
              <a:t>` mitteln, pro Channel ein Modell trainieren und am Ende Ergebnisse speichern. Die anderen Dateien erklären wir kurz nach ihrer Rolle. `dataframe_manager.py` baut den Rohdaten-Data-Frame aus den WAV-Dateien. `split.py` enthält die methodisch wichtige Aufteilung: `Z01` und `Z02` ins Training, `Z04` in den Entwicklungssatz, `Z03` in den Testsatz und `Z05` positionsbasiert in alle drei Splits. `extraction.py` berechnet die Merkmale wie MFCC, Spektralmerkmale, Chroma, Zero-Crossing-Rate und RMS. `model.py` muss nicht im Detail vorgestellt werden; wichtig ist nur, dass dort `</a:t>
            </a:r>
            <a:r>
              <a:rPr lang="de-DE" sz="1200" b="0" kern="1200" dirty="0" err="1">
                <a:solidFill>
                  <a:schemeClr val="tx1"/>
                </a:solidFill>
                <a:effectLst/>
                <a:latin typeface="+mn-lt"/>
                <a:ea typeface="+mn-ea"/>
                <a:cs typeface="+mn-cs"/>
              </a:rPr>
              <a:t>StandardScaler</a:t>
            </a:r>
            <a:r>
              <a:rPr lang="de-DE" sz="1200" b="0" kern="1200" dirty="0">
                <a:solidFill>
                  <a:schemeClr val="tx1"/>
                </a:solidFill>
                <a:effectLst/>
                <a:latin typeface="+mn-lt"/>
                <a:ea typeface="+mn-ea"/>
                <a:cs typeface="+mn-cs"/>
              </a:rPr>
              <a:t> -&gt; </a:t>
            </a:r>
            <a:r>
              <a:rPr lang="de-DE" sz="1200" b="0" kern="1200" dirty="0" err="1">
                <a:solidFill>
                  <a:schemeClr val="tx1"/>
                </a:solidFill>
                <a:effectLst/>
                <a:latin typeface="+mn-lt"/>
                <a:ea typeface="+mn-ea"/>
                <a:cs typeface="+mn-cs"/>
              </a:rPr>
              <a:t>MLPClassifier</a:t>
            </a:r>
            <a:r>
              <a:rPr lang="de-DE" sz="1200" b="0" kern="1200" dirty="0">
                <a:solidFill>
                  <a:schemeClr val="tx1"/>
                </a:solidFill>
                <a:effectLst/>
                <a:latin typeface="+mn-lt"/>
                <a:ea typeface="+mn-ea"/>
                <a:cs typeface="+mn-cs"/>
              </a:rPr>
              <a:t>`, Hyperparameter-Suche, finale Evaluation, ROC, </a:t>
            </a:r>
            <a:r>
              <a:rPr lang="de-DE" sz="1200" b="0" kern="1200" dirty="0" err="1">
                <a:solidFill>
                  <a:schemeClr val="tx1"/>
                </a:solidFill>
                <a:effectLst/>
                <a:latin typeface="+mn-lt"/>
                <a:ea typeface="+mn-ea"/>
                <a:cs typeface="+mn-cs"/>
              </a:rPr>
              <a:t>Confusion</a:t>
            </a:r>
            <a:r>
              <a:rPr lang="de-DE" sz="1200" b="0" kern="1200" dirty="0">
                <a:solidFill>
                  <a:schemeClr val="tx1"/>
                </a:solidFill>
                <a:effectLst/>
                <a:latin typeface="+mn-lt"/>
                <a:ea typeface="+mn-ea"/>
                <a:cs typeface="+mn-cs"/>
              </a:rPr>
              <a:t> Matrix, Learning </a:t>
            </a:r>
            <a:r>
              <a:rPr lang="de-DE" sz="1200" b="0" kern="1200" dirty="0" err="1">
                <a:solidFill>
                  <a:schemeClr val="tx1"/>
                </a:solidFill>
                <a:effectLst/>
                <a:latin typeface="+mn-lt"/>
                <a:ea typeface="+mn-ea"/>
                <a:cs typeface="+mn-cs"/>
              </a:rPr>
              <a:t>Curves</a:t>
            </a:r>
            <a:r>
              <a:rPr lang="de-DE" sz="1200" b="0" kern="1200" dirty="0">
                <a:solidFill>
                  <a:schemeClr val="tx1"/>
                </a:solidFill>
                <a:effectLst/>
                <a:latin typeface="+mn-lt"/>
                <a:ea typeface="+mn-ea"/>
                <a:cs typeface="+mn-cs"/>
              </a:rPr>
              <a:t> und Loss-Kurven umgesetzt sind.</a:t>
            </a:r>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11</a:t>
            </a:fld>
            <a:endParaRPr lang="de-DE"/>
          </a:p>
        </p:txBody>
      </p:sp>
    </p:spTree>
    <p:extLst>
      <p:ext uri="{BB962C8B-B14F-4D97-AF65-F5344CB8AC3E}">
        <p14:creationId xmlns:p14="http://schemas.microsoft.com/office/powerpoint/2010/main" val="2471118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kern="1200" dirty="0">
                <a:solidFill>
                  <a:schemeClr val="tx1"/>
                </a:solidFill>
                <a:effectLst/>
                <a:latin typeface="+mn-lt"/>
                <a:ea typeface="+mn-ea"/>
                <a:cs typeface="+mn-cs"/>
              </a:rPr>
              <a:t>David</a:t>
            </a:r>
          </a:p>
          <a:p>
            <a:r>
              <a:rPr lang="de-DE" sz="1200" b="0" kern="1200" dirty="0">
                <a:solidFill>
                  <a:schemeClr val="tx1"/>
                </a:solidFill>
                <a:effectLst/>
                <a:latin typeface="+mn-lt"/>
                <a:ea typeface="+mn-ea"/>
                <a:cs typeface="+mn-cs"/>
              </a:rPr>
              <a:t>Die Training-Loss-Kurve zeigt, wie sich der Fehler während des Trainings entwickelt. Der Loss basiert auf den vorhergesagten Wahrscheinlichkeiten des MLP und den echten Labels. Wenn das Modell der richtigen Klasse eine hohe Wahrscheinlichkeit gibt, ist der Loss klein. Wenn es unsicher oder falsch liegt, steigt der Loss. In unseren Kurven sinkt der Loss deutlich ab, was zeigt, dass das Training funktioniert und das Modell die Trainingsdaten zunehmend besser beschreibt. Wichtig ist aber, dass ein niedriger Trainings-Loss allein nicht   ausreicht. Ein Modell kann auf Trainingsdaten sehr gut sein und trotzdem schlecht generalisieren. Deshalb bewerten wir zusätzlich mit Entwicklungssatz, Testsatz, ROC/AUC und Learning </a:t>
            </a:r>
            <a:r>
              <a:rPr lang="de-DE" sz="1200" b="0" kern="1200" dirty="0" err="1">
                <a:solidFill>
                  <a:schemeClr val="tx1"/>
                </a:solidFill>
                <a:effectLst/>
                <a:latin typeface="+mn-lt"/>
                <a:ea typeface="+mn-ea"/>
                <a:cs typeface="+mn-cs"/>
              </a:rPr>
              <a:t>Curves</a:t>
            </a:r>
            <a:r>
              <a:rPr lang="de-DE" sz="1200" b="0" kern="1200" dirty="0">
                <a:solidFill>
                  <a:schemeClr val="tx1"/>
                </a:solidFill>
                <a:effectLst/>
                <a:latin typeface="+mn-lt"/>
                <a:ea typeface="+mn-ea"/>
                <a:cs typeface="+mn-cs"/>
              </a:rPr>
              <a:t>.</a:t>
            </a:r>
          </a:p>
        </p:txBody>
      </p:sp>
      <p:sp>
        <p:nvSpPr>
          <p:cNvPr id="4" name="Foliennummernplatzhalter 3"/>
          <p:cNvSpPr>
            <a:spLocks noGrp="1"/>
          </p:cNvSpPr>
          <p:nvPr>
            <p:ph type="sldNum" sz="quarter" idx="5"/>
          </p:nvPr>
        </p:nvSpPr>
        <p:spPr/>
        <p:txBody>
          <a:bodyPr/>
          <a:lstStyle/>
          <a:p>
            <a:fld id="{0492B7F2-6741-7346-B13A-366117EE2BBB}" type="slidenum">
              <a:rPr lang="de-DE" smtClean="0"/>
              <a:t>12</a:t>
            </a:fld>
            <a:endParaRPr lang="de-DE"/>
          </a:p>
        </p:txBody>
      </p:sp>
    </p:spTree>
    <p:extLst>
      <p:ext uri="{BB962C8B-B14F-4D97-AF65-F5344CB8AC3E}">
        <p14:creationId xmlns:p14="http://schemas.microsoft.com/office/powerpoint/2010/main" val="1568025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32459-7450-A094-EFE4-A5719BBE60A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0A727EB-4506-57C5-94F3-6703BF0E0E89}"/>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80DF9377-D63B-B215-1E30-95489284FCD2}"/>
              </a:ext>
            </a:extLst>
          </p:cNvPr>
          <p:cNvSpPr>
            <a:spLocks noGrp="1"/>
          </p:cNvSpPr>
          <p:nvPr>
            <p:ph type="body" idx="1"/>
          </p:nvPr>
        </p:nvSpPr>
        <p:spPr/>
        <p:txBody>
          <a:bodyPr/>
          <a:lstStyle/>
          <a:p>
            <a:r>
              <a:rPr lang="de-DE" sz="1200" b="0" kern="1200" dirty="0">
                <a:solidFill>
                  <a:schemeClr val="tx1"/>
                </a:solidFill>
                <a:effectLst/>
                <a:latin typeface="+mn-lt"/>
                <a:ea typeface="+mn-ea"/>
                <a:cs typeface="+mn-cs"/>
              </a:rPr>
              <a:t>Benjamin</a:t>
            </a:r>
          </a:p>
          <a:p>
            <a:r>
              <a:rPr lang="de-DE" sz="1200" b="0" kern="1200" dirty="0">
                <a:solidFill>
                  <a:schemeClr val="tx1"/>
                </a:solidFill>
                <a:effectLst/>
                <a:latin typeface="+mn-lt"/>
                <a:ea typeface="+mn-ea"/>
                <a:cs typeface="+mn-cs"/>
              </a:rPr>
              <a:t>Die Learning </a:t>
            </a:r>
            <a:r>
              <a:rPr lang="de-DE" sz="1200" b="0" kern="1200" dirty="0" err="1">
                <a:solidFill>
                  <a:schemeClr val="tx1"/>
                </a:solidFill>
                <a:effectLst/>
                <a:latin typeface="+mn-lt"/>
                <a:ea typeface="+mn-ea"/>
                <a:cs typeface="+mn-cs"/>
              </a:rPr>
              <a:t>Curves</a:t>
            </a:r>
            <a:r>
              <a:rPr lang="de-DE" sz="1200" b="0" kern="1200" dirty="0">
                <a:solidFill>
                  <a:schemeClr val="tx1"/>
                </a:solidFill>
                <a:effectLst/>
                <a:latin typeface="+mn-lt"/>
                <a:ea typeface="+mn-ea"/>
                <a:cs typeface="+mn-cs"/>
              </a:rPr>
              <a:t> zeigen, wie gut das Modell mit wachsender Trainingsmenge wird. Im aktuellen Split erreicht `Ch1` schon mit kleinen Trainingsmengen perfekte Entwicklungswerte. `Ch2` verbessert sich schrittweise und erreicht die perfekten Entwicklungswerte erst mit der gesamten Trainingsmenge.</a:t>
            </a:r>
          </a:p>
        </p:txBody>
      </p:sp>
      <p:sp>
        <p:nvSpPr>
          <p:cNvPr id="4" name="Foliennummernplatzhalter 3">
            <a:extLst>
              <a:ext uri="{FF2B5EF4-FFF2-40B4-BE49-F238E27FC236}">
                <a16:creationId xmlns:a16="http://schemas.microsoft.com/office/drawing/2014/main" id="{5714CD32-AC14-F66C-2FDB-9965745FDDFE}"/>
              </a:ext>
            </a:extLst>
          </p:cNvPr>
          <p:cNvSpPr>
            <a:spLocks noGrp="1"/>
          </p:cNvSpPr>
          <p:nvPr>
            <p:ph type="sldNum" sz="quarter" idx="5"/>
          </p:nvPr>
        </p:nvSpPr>
        <p:spPr/>
        <p:txBody>
          <a:bodyPr/>
          <a:lstStyle/>
          <a:p>
            <a:fld id="{0492B7F2-6741-7346-B13A-366117EE2BBB}" type="slidenum">
              <a:rPr lang="de-DE" smtClean="0"/>
              <a:t>13</a:t>
            </a:fld>
            <a:endParaRPr lang="de-DE"/>
          </a:p>
        </p:txBody>
      </p:sp>
    </p:spTree>
    <p:extLst>
      <p:ext uri="{BB962C8B-B14F-4D97-AF65-F5344CB8AC3E}">
        <p14:creationId xmlns:p14="http://schemas.microsoft.com/office/powerpoint/2010/main" val="35838778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kern="1200" dirty="0">
                <a:solidFill>
                  <a:schemeClr val="tx1"/>
                </a:solidFill>
                <a:effectLst/>
                <a:latin typeface="+mn-lt"/>
                <a:ea typeface="+mn-ea"/>
                <a:cs typeface="+mn-cs"/>
              </a:rPr>
              <a:t>Benjamin</a:t>
            </a:r>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14</a:t>
            </a:fld>
            <a:endParaRPr lang="de-DE"/>
          </a:p>
        </p:txBody>
      </p:sp>
    </p:spTree>
    <p:extLst>
      <p:ext uri="{BB962C8B-B14F-4D97-AF65-F5344CB8AC3E}">
        <p14:creationId xmlns:p14="http://schemas.microsoft.com/office/powerpoint/2010/main" val="2133910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FF985-53AC-E751-BA8C-BC7DEA5F3C7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D88C51C-D20F-5D3F-AFB8-301D93D8137F}"/>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20285DFC-E835-86B2-BB91-E156E3F0C14C}"/>
              </a:ext>
            </a:extLst>
          </p:cNvPr>
          <p:cNvSpPr>
            <a:spLocks noGrp="1"/>
          </p:cNvSpPr>
          <p:nvPr>
            <p:ph type="body" idx="1"/>
          </p:nvPr>
        </p:nvSpPr>
        <p:spPr/>
        <p:txBody>
          <a:bodyPr/>
          <a:lstStyle/>
          <a:p>
            <a:r>
              <a:rPr lang="de-DE" sz="1200" b="0" kern="1200" dirty="0">
                <a:solidFill>
                  <a:schemeClr val="tx1"/>
                </a:solidFill>
                <a:effectLst/>
                <a:latin typeface="+mn-lt"/>
                <a:ea typeface="+mn-ea"/>
                <a:cs typeface="+mn-cs"/>
              </a:rPr>
              <a:t>Benjamin</a:t>
            </a:r>
            <a:endParaRPr lang="de-DE" dirty="0"/>
          </a:p>
        </p:txBody>
      </p:sp>
      <p:sp>
        <p:nvSpPr>
          <p:cNvPr id="4" name="Foliennummernplatzhalter 3">
            <a:extLst>
              <a:ext uri="{FF2B5EF4-FFF2-40B4-BE49-F238E27FC236}">
                <a16:creationId xmlns:a16="http://schemas.microsoft.com/office/drawing/2014/main" id="{A4A929B9-3971-4019-B480-8B92AE76D090}"/>
              </a:ext>
            </a:extLst>
          </p:cNvPr>
          <p:cNvSpPr>
            <a:spLocks noGrp="1"/>
          </p:cNvSpPr>
          <p:nvPr>
            <p:ph type="sldNum" sz="quarter" idx="5"/>
          </p:nvPr>
        </p:nvSpPr>
        <p:spPr/>
        <p:txBody>
          <a:bodyPr/>
          <a:lstStyle/>
          <a:p>
            <a:fld id="{0492B7F2-6741-7346-B13A-366117EE2BBB}" type="slidenum">
              <a:rPr lang="de-DE" smtClean="0"/>
              <a:t>15</a:t>
            </a:fld>
            <a:endParaRPr lang="de-DE"/>
          </a:p>
        </p:txBody>
      </p:sp>
    </p:spTree>
    <p:extLst>
      <p:ext uri="{BB962C8B-B14F-4D97-AF65-F5344CB8AC3E}">
        <p14:creationId xmlns:p14="http://schemas.microsoft.com/office/powerpoint/2010/main" val="4344113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6223C-46EC-F132-120C-79DCC285922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31AB49A-A181-E6C4-52A9-32F54132F86C}"/>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1A1B5407-2556-B13C-8BA6-1F2CF5FC46B8}"/>
              </a:ext>
            </a:extLst>
          </p:cNvPr>
          <p:cNvSpPr>
            <a:spLocks noGrp="1"/>
          </p:cNvSpPr>
          <p:nvPr>
            <p:ph type="body" idx="1"/>
          </p:nvPr>
        </p:nvSpPr>
        <p:spPr/>
        <p:txBody>
          <a:bodyPr/>
          <a:lstStyle/>
          <a:p>
            <a:r>
              <a:rPr lang="de-DE" sz="1200" b="0" kern="1200" dirty="0">
                <a:solidFill>
                  <a:schemeClr val="tx1"/>
                </a:solidFill>
                <a:effectLst/>
                <a:latin typeface="+mn-lt"/>
                <a:ea typeface="+mn-ea"/>
                <a:cs typeface="+mn-cs"/>
              </a:rPr>
              <a:t>Benjamin</a:t>
            </a:r>
          </a:p>
          <a:p>
            <a:r>
              <a:rPr lang="de-DE" sz="1200" b="0" kern="1200" dirty="0">
                <a:solidFill>
                  <a:schemeClr val="tx1"/>
                </a:solidFill>
                <a:effectLst/>
                <a:latin typeface="+mn-lt"/>
                <a:ea typeface="+mn-ea"/>
                <a:cs typeface="+mn-cs"/>
              </a:rPr>
              <a:t>Die </a:t>
            </a:r>
            <a:r>
              <a:rPr lang="de-DE" sz="1200" b="0" kern="1200" dirty="0" err="1">
                <a:solidFill>
                  <a:schemeClr val="tx1"/>
                </a:solidFill>
                <a:effectLst/>
                <a:latin typeface="+mn-lt"/>
                <a:ea typeface="+mn-ea"/>
                <a:cs typeface="+mn-cs"/>
              </a:rPr>
              <a:t>Confusion</a:t>
            </a:r>
            <a:r>
              <a:rPr lang="de-DE" sz="1200" b="0" kern="1200" dirty="0">
                <a:solidFill>
                  <a:schemeClr val="tx1"/>
                </a:solidFill>
                <a:effectLst/>
                <a:latin typeface="+mn-lt"/>
                <a:ea typeface="+mn-ea"/>
                <a:cs typeface="+mn-cs"/>
              </a:rPr>
              <a:t> Matrix zeigt, dass im aktuellen Testsatz alle Beispiele korrekt klassifiziert wurden. Besonders wichtig ist der Recall </a:t>
            </a:r>
            <a:r>
              <a:rPr lang="de-DE" sz="1200" b="0" kern="1200" dirty="0" err="1">
                <a:solidFill>
                  <a:schemeClr val="tx1"/>
                </a:solidFill>
                <a:effectLst/>
                <a:latin typeface="+mn-lt"/>
                <a:ea typeface="+mn-ea"/>
                <a:cs typeface="+mn-cs"/>
              </a:rPr>
              <a:t>fuer</a:t>
            </a:r>
            <a:r>
              <a:rPr lang="de-DE" sz="1200" b="0" kern="1200" dirty="0">
                <a:solidFill>
                  <a:schemeClr val="tx1"/>
                </a:solidFill>
                <a:effectLst/>
                <a:latin typeface="+mn-lt"/>
                <a:ea typeface="+mn-ea"/>
                <a:cs typeface="+mn-cs"/>
              </a:rPr>
              <a:t> Klasse 0, also für beschädigte Signale. Dieser ist hier 1.0. Trotzdem müssen wir das Ergebnis kritisch einordnen, weil der Datensatz klein ist.</a:t>
            </a:r>
          </a:p>
        </p:txBody>
      </p:sp>
      <p:sp>
        <p:nvSpPr>
          <p:cNvPr id="4" name="Foliennummernplatzhalter 3">
            <a:extLst>
              <a:ext uri="{FF2B5EF4-FFF2-40B4-BE49-F238E27FC236}">
                <a16:creationId xmlns:a16="http://schemas.microsoft.com/office/drawing/2014/main" id="{71FC3C16-880E-E124-F68B-73B6A73B0C69}"/>
              </a:ext>
            </a:extLst>
          </p:cNvPr>
          <p:cNvSpPr>
            <a:spLocks noGrp="1"/>
          </p:cNvSpPr>
          <p:nvPr>
            <p:ph type="sldNum" sz="quarter" idx="5"/>
          </p:nvPr>
        </p:nvSpPr>
        <p:spPr/>
        <p:txBody>
          <a:bodyPr/>
          <a:lstStyle/>
          <a:p>
            <a:fld id="{0492B7F2-6741-7346-B13A-366117EE2BBB}" type="slidenum">
              <a:rPr lang="de-DE" smtClean="0"/>
              <a:t>16</a:t>
            </a:fld>
            <a:endParaRPr lang="de-DE"/>
          </a:p>
        </p:txBody>
      </p:sp>
    </p:spTree>
    <p:extLst>
      <p:ext uri="{BB962C8B-B14F-4D97-AF65-F5344CB8AC3E}">
        <p14:creationId xmlns:p14="http://schemas.microsoft.com/office/powerpoint/2010/main" val="20665856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kern="1200" dirty="0">
                <a:solidFill>
                  <a:schemeClr val="tx1"/>
                </a:solidFill>
                <a:effectLst/>
                <a:latin typeface="+mn-lt"/>
                <a:ea typeface="+mn-ea"/>
                <a:cs typeface="+mn-cs"/>
              </a:rPr>
              <a:t>Benjamin</a:t>
            </a:r>
          </a:p>
          <a:p>
            <a:r>
              <a:rPr lang="de-DE" sz="1200" b="0" kern="1200" dirty="0">
                <a:solidFill>
                  <a:schemeClr val="tx1"/>
                </a:solidFill>
                <a:effectLst/>
                <a:latin typeface="+mn-lt"/>
                <a:ea typeface="+mn-ea"/>
                <a:cs typeface="+mn-cs"/>
              </a:rPr>
              <a:t>Die ROC-Kurve zeigt, wie gut das Modell zwischen </a:t>
            </a:r>
            <a:r>
              <a:rPr lang="de-DE" sz="1200" b="0" kern="1200" dirty="0" err="1">
                <a:solidFill>
                  <a:schemeClr val="tx1"/>
                </a:solidFill>
                <a:effectLst/>
                <a:latin typeface="+mn-lt"/>
                <a:ea typeface="+mn-ea"/>
                <a:cs typeface="+mn-cs"/>
              </a:rPr>
              <a:t>beschaedigt</a:t>
            </a:r>
            <a:r>
              <a:rPr lang="de-DE" sz="1200" b="0" kern="1200" dirty="0">
                <a:solidFill>
                  <a:schemeClr val="tx1"/>
                </a:solidFill>
                <a:effectLst/>
                <a:latin typeface="+mn-lt"/>
                <a:ea typeface="+mn-ea"/>
                <a:cs typeface="+mn-cs"/>
              </a:rPr>
              <a:t> und gut trennt, wenn man den Entscheidungsschwellwert </a:t>
            </a:r>
            <a:r>
              <a:rPr lang="de-DE" sz="1200" b="0" kern="1200" dirty="0" err="1">
                <a:solidFill>
                  <a:schemeClr val="tx1"/>
                </a:solidFill>
                <a:effectLst/>
                <a:latin typeface="+mn-lt"/>
                <a:ea typeface="+mn-ea"/>
                <a:cs typeface="+mn-cs"/>
              </a:rPr>
              <a:t>veraendert</a:t>
            </a:r>
            <a:r>
              <a:rPr lang="de-DE" sz="1200" b="0" kern="1200" dirty="0">
                <a:solidFill>
                  <a:schemeClr val="tx1"/>
                </a:solidFill>
                <a:effectLst/>
                <a:latin typeface="+mn-lt"/>
                <a:ea typeface="+mn-ea"/>
                <a:cs typeface="+mn-cs"/>
              </a:rPr>
              <a:t>. Eine AUC von 1.0 bedeutet perfekte Trennung im aktuellen Testsatz. Auch hier gilt: Das ist ein starkes Ergebnis, aber wegen der Datenlage vorsichtig zu interpretieren.</a:t>
            </a:r>
          </a:p>
        </p:txBody>
      </p:sp>
      <p:sp>
        <p:nvSpPr>
          <p:cNvPr id="4" name="Foliennummernplatzhalter 3"/>
          <p:cNvSpPr>
            <a:spLocks noGrp="1"/>
          </p:cNvSpPr>
          <p:nvPr>
            <p:ph type="sldNum" sz="quarter" idx="5"/>
          </p:nvPr>
        </p:nvSpPr>
        <p:spPr/>
        <p:txBody>
          <a:bodyPr/>
          <a:lstStyle/>
          <a:p>
            <a:fld id="{0492B7F2-6741-7346-B13A-366117EE2BBB}" type="slidenum">
              <a:rPr lang="de-DE" smtClean="0"/>
              <a:t>17</a:t>
            </a:fld>
            <a:endParaRPr lang="de-DE"/>
          </a:p>
        </p:txBody>
      </p:sp>
    </p:spTree>
    <p:extLst>
      <p:ext uri="{BB962C8B-B14F-4D97-AF65-F5344CB8AC3E}">
        <p14:creationId xmlns:p14="http://schemas.microsoft.com/office/powerpoint/2010/main" val="39543138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Tim</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Der wichtigste Diskussionsteil ist die Einordnung. Der neue Split prüft die guten Zahnräder strenger, weil `Z03` im Test nicht im Training vorkommt. Für die beschädigte Klasse bleibt die Aussage begrenzt, weil alle beschädigten Signale aus `Z05` stammen. Für eine robuste Aussage bräuchte man weitere beschädigte Zahnräder.</a:t>
            </a:r>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18</a:t>
            </a:fld>
            <a:endParaRPr lang="de-DE"/>
          </a:p>
        </p:txBody>
      </p:sp>
    </p:spTree>
    <p:extLst>
      <p:ext uri="{BB962C8B-B14F-4D97-AF65-F5344CB8AC3E}">
        <p14:creationId xmlns:p14="http://schemas.microsoft.com/office/powerpoint/2010/main" val="22657268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Tim</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kern="1200" dirty="0">
                <a:solidFill>
                  <a:schemeClr val="tx1"/>
                </a:solidFill>
                <a:effectLst/>
                <a:latin typeface="+mn-lt"/>
                <a:ea typeface="+mn-ea"/>
                <a:cs typeface="+mn-cs"/>
              </a:rPr>
              <a:t>Zusammenfassend haben wir eine vollständige Klassifikationspipeline aufgebaut. Die wichtigsten methodischen Entscheidungen waren die Feature-Mittelung über `</a:t>
            </a:r>
            <a:r>
              <a:rPr lang="de-DE" sz="1200" b="0" kern="1200" dirty="0" err="1">
                <a:solidFill>
                  <a:schemeClr val="tx1"/>
                </a:solidFill>
                <a:effectLst/>
                <a:latin typeface="+mn-lt"/>
                <a:ea typeface="+mn-ea"/>
                <a:cs typeface="+mn-cs"/>
              </a:rPr>
              <a:t>mID</a:t>
            </a:r>
            <a:r>
              <a:rPr lang="de-DE" sz="1200" b="0" kern="1200" dirty="0">
                <a:solidFill>
                  <a:schemeClr val="tx1"/>
                </a:solidFill>
                <a:effectLst/>
                <a:latin typeface="+mn-lt"/>
                <a:ea typeface="+mn-ea"/>
                <a:cs typeface="+mn-cs"/>
              </a:rPr>
              <a:t>`, der zahnradbasierte Split und zwei getrennte Modelle für `Ch1` und `Ch2`. Das Ergebnis ist sehr gut, muss aber wegen der begrenzten Datenbasis kritisch diskutiert werden. Für eine robustere Aussage wären weitere beschädigte Zahnräder notwendig.</a:t>
            </a:r>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19</a:t>
            </a:fld>
            <a:endParaRPr lang="de-DE"/>
          </a:p>
        </p:txBody>
      </p:sp>
    </p:spTree>
    <p:extLst>
      <p:ext uri="{BB962C8B-B14F-4D97-AF65-F5344CB8AC3E}">
        <p14:creationId xmlns:p14="http://schemas.microsoft.com/office/powerpoint/2010/main" val="30012666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Tim</a:t>
            </a:r>
            <a:endParaRPr lang="de-DE" dirty="0"/>
          </a:p>
          <a:p>
            <a:endParaRPr lang="de-DE" dirty="0"/>
          </a:p>
        </p:txBody>
      </p:sp>
      <p:sp>
        <p:nvSpPr>
          <p:cNvPr id="4" name="Foliennummernplatzhalter 3"/>
          <p:cNvSpPr>
            <a:spLocks noGrp="1"/>
          </p:cNvSpPr>
          <p:nvPr>
            <p:ph type="sldNum" sz="quarter" idx="5"/>
          </p:nvPr>
        </p:nvSpPr>
        <p:spPr/>
        <p:txBody>
          <a:bodyPr/>
          <a:lstStyle/>
          <a:p>
            <a:fld id="{0492B7F2-6741-7346-B13A-366117EE2BBB}" type="slidenum">
              <a:rPr lang="de-DE" smtClean="0"/>
              <a:t>20</a:t>
            </a:fld>
            <a:endParaRPr lang="de-DE"/>
          </a:p>
        </p:txBody>
      </p:sp>
    </p:spTree>
    <p:extLst>
      <p:ext uri="{BB962C8B-B14F-4D97-AF65-F5344CB8AC3E}">
        <p14:creationId xmlns:p14="http://schemas.microsoft.com/office/powerpoint/2010/main" val="1776778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Benutzerdefiniertes Layout">
    <p:spTree>
      <p:nvGrpSpPr>
        <p:cNvPr id="1" name=""/>
        <p:cNvGrpSpPr/>
        <p:nvPr/>
      </p:nvGrpSpPr>
      <p:grpSpPr>
        <a:xfrm>
          <a:off x="0" y="0"/>
          <a:ext cx="0" cy="0"/>
          <a:chOff x="0" y="0"/>
          <a:chExt cx="0" cy="0"/>
        </a:xfrm>
      </p:grpSpPr>
      <p:pic>
        <p:nvPicPr>
          <p:cNvPr id="2" name="Picture 7">
            <a:extLst>
              <a:ext uri="{FF2B5EF4-FFF2-40B4-BE49-F238E27FC236}">
                <a16:creationId xmlns:a16="http://schemas.microsoft.com/office/drawing/2014/main" id="{B444426F-EB14-AE2B-DE0F-A801F4F81953}"/>
              </a:ext>
            </a:extLst>
          </p:cNvPr>
          <p:cNvPicPr/>
          <p:nvPr/>
        </p:nvPicPr>
        <p:blipFill rotWithShape="1">
          <a:blip r:embed="rId2">
            <a:extLst>
              <a:ext uri="{28A0092B-C50C-407E-A947-70E740481C1C}">
                <a14:useLocalDpi xmlns:a14="http://schemas.microsoft.com/office/drawing/2010/main" val="0"/>
              </a:ext>
            </a:extLst>
          </a:blip>
          <a:srcRect t="24768" b="62769"/>
          <a:stretch>
            <a:fillRect/>
          </a:stretch>
        </p:blipFill>
        <p:spPr bwMode="auto">
          <a:xfrm>
            <a:off x="0" y="1656000"/>
            <a:ext cx="4038600" cy="35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liennummernplatzhalter 2">
            <a:extLst>
              <a:ext uri="{FF2B5EF4-FFF2-40B4-BE49-F238E27FC236}">
                <a16:creationId xmlns:a16="http://schemas.microsoft.com/office/drawing/2014/main" id="{2B340968-F14F-B3B0-6A1A-48445E11A325}"/>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C79F848B-CD57-204F-C247-E348D52A37ED}"/>
              </a:ext>
            </a:extLst>
          </p:cNvPr>
          <p:cNvSpPr>
            <a:spLocks noGrp="1"/>
          </p:cNvSpPr>
          <p:nvPr>
            <p:ph type="ftr" sz="quarter" idx="11"/>
          </p:nvPr>
        </p:nvSpPr>
        <p:spPr/>
        <p:txBody>
          <a:bodyPr/>
          <a:lstStyle/>
          <a:p>
            <a:r>
              <a:rPr lang="de-DE"/>
              <a:t>Materialdiagnostik: Task 3</a:t>
            </a:r>
            <a:endParaRPr lang="de-DE" dirty="0"/>
          </a:p>
        </p:txBody>
      </p:sp>
      <p:sp>
        <p:nvSpPr>
          <p:cNvPr id="5" name="Datumsplatzhalter 4">
            <a:extLst>
              <a:ext uri="{FF2B5EF4-FFF2-40B4-BE49-F238E27FC236}">
                <a16:creationId xmlns:a16="http://schemas.microsoft.com/office/drawing/2014/main" id="{135CA77C-97B0-DC89-DE46-9C01C1B748F9}"/>
              </a:ext>
            </a:extLst>
          </p:cNvPr>
          <p:cNvSpPr>
            <a:spLocks noGrp="1"/>
          </p:cNvSpPr>
          <p:nvPr>
            <p:ph type="dt" sz="half" idx="12"/>
          </p:nvPr>
        </p:nvSpPr>
        <p:spPr/>
        <p:txBody>
          <a:bodyPr/>
          <a:lstStyle/>
          <a:p>
            <a:r>
              <a:rPr lang="de-DE"/>
              <a:t>16.07.2026</a:t>
            </a:r>
          </a:p>
        </p:txBody>
      </p:sp>
      <p:sp>
        <p:nvSpPr>
          <p:cNvPr id="8" name="Titel 1">
            <a:extLst>
              <a:ext uri="{FF2B5EF4-FFF2-40B4-BE49-F238E27FC236}">
                <a16:creationId xmlns:a16="http://schemas.microsoft.com/office/drawing/2014/main" id="{0E28AB7D-ACDC-B820-A518-4C9D6ED03C67}"/>
              </a:ext>
            </a:extLst>
          </p:cNvPr>
          <p:cNvSpPr>
            <a:spLocks noGrp="1"/>
          </p:cNvSpPr>
          <p:nvPr>
            <p:ph type="title"/>
          </p:nvPr>
        </p:nvSpPr>
        <p:spPr>
          <a:xfrm>
            <a:off x="4665616" y="2716438"/>
            <a:ext cx="3590109" cy="1444082"/>
          </a:xfrm>
          <a:prstGeom prst="rect">
            <a:avLst/>
          </a:prstGeom>
        </p:spPr>
        <p:txBody>
          <a:bodyPr anchor="ctr"/>
          <a:lstStyle>
            <a:lvl1pPr algn="l">
              <a:defRPr sz="3200"/>
            </a:lvl1pPr>
          </a:lstStyle>
          <a:p>
            <a:r>
              <a:rPr lang="de-DE"/>
              <a:t>Mastertitelformat bearbeiten</a:t>
            </a:r>
          </a:p>
        </p:txBody>
      </p:sp>
    </p:spTree>
    <p:extLst>
      <p:ext uri="{BB962C8B-B14F-4D97-AF65-F5344CB8AC3E}">
        <p14:creationId xmlns:p14="http://schemas.microsoft.com/office/powerpoint/2010/main" val="240850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enutzerdefiniertes Layout">
    <p:spTree>
      <p:nvGrpSpPr>
        <p:cNvPr id="1" name=""/>
        <p:cNvGrpSpPr/>
        <p:nvPr/>
      </p:nvGrpSpPr>
      <p:grpSpPr>
        <a:xfrm>
          <a:off x="0" y="0"/>
          <a:ext cx="0" cy="0"/>
          <a:chOff x="0" y="0"/>
          <a:chExt cx="0" cy="0"/>
        </a:xfrm>
      </p:grpSpPr>
      <p:pic>
        <p:nvPicPr>
          <p:cNvPr id="6" name="Picture 7">
            <a:extLst>
              <a:ext uri="{FF2B5EF4-FFF2-40B4-BE49-F238E27FC236}">
                <a16:creationId xmlns:a16="http://schemas.microsoft.com/office/drawing/2014/main" id="{2222C908-A429-7650-ECA8-11037E79FC19}"/>
              </a:ext>
            </a:extLst>
          </p:cNvPr>
          <p:cNvPicPr/>
          <p:nvPr/>
        </p:nvPicPr>
        <p:blipFill rotWithShape="1">
          <a:blip r:embed="rId2">
            <a:extLst>
              <a:ext uri="{28A0092B-C50C-407E-A947-70E740481C1C}">
                <a14:useLocalDpi xmlns:a14="http://schemas.microsoft.com/office/drawing/2010/main" val="0"/>
              </a:ext>
            </a:extLst>
          </a:blip>
          <a:srcRect t="74770" b="12767"/>
          <a:stretch>
            <a:fillRect/>
          </a:stretch>
        </p:blipFill>
        <p:spPr bwMode="auto">
          <a:xfrm>
            <a:off x="0" y="1656000"/>
            <a:ext cx="4038600" cy="35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a:extLst>
              <a:ext uri="{FF2B5EF4-FFF2-40B4-BE49-F238E27FC236}">
                <a16:creationId xmlns:a16="http://schemas.microsoft.com/office/drawing/2014/main" id="{EDCA2648-E994-E6D3-AF41-D6F53E8D59C0}"/>
              </a:ext>
            </a:extLst>
          </p:cNvPr>
          <p:cNvSpPr>
            <a:spLocks noGrp="1"/>
          </p:cNvSpPr>
          <p:nvPr>
            <p:ph type="title"/>
          </p:nvPr>
        </p:nvSpPr>
        <p:spPr>
          <a:xfrm>
            <a:off x="348342" y="561068"/>
            <a:ext cx="3590109" cy="712561"/>
          </a:xfrm>
          <a:prstGeom prst="rect">
            <a:avLst/>
          </a:prstGeom>
        </p:spPr>
        <p:txBody>
          <a:bodyPr anchor="ctr"/>
          <a:lstStyle>
            <a:lvl1pPr algn="l">
              <a:defRPr sz="3200"/>
            </a:lvl1pPr>
          </a:lstStyle>
          <a:p>
            <a:r>
              <a:rPr lang="de-DE"/>
              <a:t>Mastertitelformat bearbeiten</a:t>
            </a:r>
          </a:p>
        </p:txBody>
      </p:sp>
      <p:sp>
        <p:nvSpPr>
          <p:cNvPr id="3" name="Foliennummernplatzhalter 2">
            <a:extLst>
              <a:ext uri="{FF2B5EF4-FFF2-40B4-BE49-F238E27FC236}">
                <a16:creationId xmlns:a16="http://schemas.microsoft.com/office/drawing/2014/main" id="{BC4125B1-FB93-0A54-C1FC-012CFB2AD8A6}"/>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C59775D2-5919-D9B2-1D19-B697C0DC8CFE}"/>
              </a:ext>
            </a:extLst>
          </p:cNvPr>
          <p:cNvSpPr>
            <a:spLocks noGrp="1"/>
          </p:cNvSpPr>
          <p:nvPr>
            <p:ph type="ftr" sz="quarter" idx="11"/>
          </p:nvPr>
        </p:nvSpPr>
        <p:spPr/>
        <p:txBody>
          <a:bodyPr/>
          <a:lstStyle/>
          <a:p>
            <a:r>
              <a:rPr lang="de-DE"/>
              <a:t>Materialdiagnostik: Task 3</a:t>
            </a:r>
          </a:p>
        </p:txBody>
      </p:sp>
      <p:sp>
        <p:nvSpPr>
          <p:cNvPr id="5" name="Datumsplatzhalter 4">
            <a:extLst>
              <a:ext uri="{FF2B5EF4-FFF2-40B4-BE49-F238E27FC236}">
                <a16:creationId xmlns:a16="http://schemas.microsoft.com/office/drawing/2014/main" id="{1AE38025-E921-C3E6-B686-C475F88CE870}"/>
              </a:ext>
            </a:extLst>
          </p:cNvPr>
          <p:cNvSpPr>
            <a:spLocks noGrp="1"/>
          </p:cNvSpPr>
          <p:nvPr>
            <p:ph type="dt" sz="half" idx="12"/>
          </p:nvPr>
        </p:nvSpPr>
        <p:spPr/>
        <p:txBody>
          <a:bodyPr/>
          <a:lstStyle/>
          <a:p>
            <a:r>
              <a:rPr lang="de-DE"/>
              <a:t>16.07.2026</a:t>
            </a:r>
          </a:p>
        </p:txBody>
      </p:sp>
      <p:sp>
        <p:nvSpPr>
          <p:cNvPr id="11" name="Textplatzhalter 10">
            <a:extLst>
              <a:ext uri="{FF2B5EF4-FFF2-40B4-BE49-F238E27FC236}">
                <a16:creationId xmlns:a16="http://schemas.microsoft.com/office/drawing/2014/main" id="{7BE556C1-D820-A75A-539E-EEDFD22CDD64}"/>
              </a:ext>
            </a:extLst>
          </p:cNvPr>
          <p:cNvSpPr>
            <a:spLocks noGrp="1"/>
          </p:cNvSpPr>
          <p:nvPr>
            <p:ph type="body" sz="quarter" idx="13"/>
          </p:nvPr>
        </p:nvSpPr>
        <p:spPr>
          <a:xfrm>
            <a:off x="4672148" y="1620000"/>
            <a:ext cx="5747658" cy="4330337"/>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396546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8E03C5-7BDA-A77F-7DB0-658C45A5E0C4}"/>
              </a:ext>
            </a:extLst>
          </p:cNvPr>
          <p:cNvSpPr>
            <a:spLocks noGrp="1"/>
          </p:cNvSpPr>
          <p:nvPr>
            <p:ph type="title"/>
          </p:nvPr>
        </p:nvSpPr>
        <p:spPr>
          <a:xfrm>
            <a:off x="341811" y="567600"/>
            <a:ext cx="4315098" cy="706030"/>
          </a:xfrm>
          <a:prstGeom prst="rect">
            <a:avLst/>
          </a:prstGeom>
        </p:spPr>
        <p:txBody>
          <a:bodyPr anchor="ctr"/>
          <a:lstStyle>
            <a:lvl1pPr>
              <a:defRPr sz="2400"/>
            </a:lvl1pPr>
          </a:lstStyle>
          <a:p>
            <a:r>
              <a:rPr lang="de-DE"/>
              <a:t>Mastertitelformat bearbeiten</a:t>
            </a:r>
          </a:p>
        </p:txBody>
      </p:sp>
      <p:sp>
        <p:nvSpPr>
          <p:cNvPr id="3" name="Foliennummernplatzhalter 2">
            <a:extLst>
              <a:ext uri="{FF2B5EF4-FFF2-40B4-BE49-F238E27FC236}">
                <a16:creationId xmlns:a16="http://schemas.microsoft.com/office/drawing/2014/main" id="{2F163DC2-8D97-BB7D-E638-8BCDF8587551}"/>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74427F6E-DEF6-9732-439A-15C1079AC98E}"/>
              </a:ext>
            </a:extLst>
          </p:cNvPr>
          <p:cNvSpPr>
            <a:spLocks noGrp="1"/>
          </p:cNvSpPr>
          <p:nvPr>
            <p:ph type="ftr" sz="quarter" idx="11"/>
          </p:nvPr>
        </p:nvSpPr>
        <p:spPr/>
        <p:txBody>
          <a:bodyPr/>
          <a:lstStyle/>
          <a:p>
            <a:r>
              <a:rPr lang="de-DE"/>
              <a:t>Materialdiagnostik: Task 3</a:t>
            </a:r>
          </a:p>
        </p:txBody>
      </p:sp>
      <p:sp>
        <p:nvSpPr>
          <p:cNvPr id="5" name="Datumsplatzhalter 4">
            <a:extLst>
              <a:ext uri="{FF2B5EF4-FFF2-40B4-BE49-F238E27FC236}">
                <a16:creationId xmlns:a16="http://schemas.microsoft.com/office/drawing/2014/main" id="{9833FDA4-3C0A-D485-A83B-E93F011A19E7}"/>
              </a:ext>
            </a:extLst>
          </p:cNvPr>
          <p:cNvSpPr>
            <a:spLocks noGrp="1"/>
          </p:cNvSpPr>
          <p:nvPr>
            <p:ph type="dt" sz="half" idx="12"/>
          </p:nvPr>
        </p:nvSpPr>
        <p:spPr/>
        <p:txBody>
          <a:bodyPr/>
          <a:lstStyle/>
          <a:p>
            <a:r>
              <a:rPr lang="de-DE"/>
              <a:t>16.07.2026</a:t>
            </a:r>
          </a:p>
        </p:txBody>
      </p:sp>
      <p:sp>
        <p:nvSpPr>
          <p:cNvPr id="7" name="Inhaltsplatzhalter 6">
            <a:extLst>
              <a:ext uri="{FF2B5EF4-FFF2-40B4-BE49-F238E27FC236}">
                <a16:creationId xmlns:a16="http://schemas.microsoft.com/office/drawing/2014/main" id="{48C9B890-E4BD-AF52-A4AD-7A4FFFB1C674}"/>
              </a:ext>
            </a:extLst>
          </p:cNvPr>
          <p:cNvSpPr>
            <a:spLocks noGrp="1"/>
          </p:cNvSpPr>
          <p:nvPr>
            <p:ph sz="quarter" idx="13"/>
          </p:nvPr>
        </p:nvSpPr>
        <p:spPr>
          <a:xfrm>
            <a:off x="341313" y="1620000"/>
            <a:ext cx="5391104" cy="4316412"/>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Inhaltsplatzhalter 6">
            <a:extLst>
              <a:ext uri="{FF2B5EF4-FFF2-40B4-BE49-F238E27FC236}">
                <a16:creationId xmlns:a16="http://schemas.microsoft.com/office/drawing/2014/main" id="{9A74469E-8B25-F402-08AE-D6E8658AC6B1}"/>
              </a:ext>
            </a:extLst>
          </p:cNvPr>
          <p:cNvSpPr>
            <a:spLocks noGrp="1"/>
          </p:cNvSpPr>
          <p:nvPr>
            <p:ph sz="quarter" idx="14"/>
          </p:nvPr>
        </p:nvSpPr>
        <p:spPr>
          <a:xfrm>
            <a:off x="6459584" y="1620000"/>
            <a:ext cx="5391104" cy="4316412"/>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718874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Benutzerdefiniertes Layout">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C6044954-ED93-46FB-83FB-4A733E86723E}"/>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C6CC6F70-1A0A-8538-A145-259BBA1B332E}"/>
              </a:ext>
            </a:extLst>
          </p:cNvPr>
          <p:cNvSpPr>
            <a:spLocks noGrp="1"/>
          </p:cNvSpPr>
          <p:nvPr>
            <p:ph type="ftr" sz="quarter" idx="11"/>
          </p:nvPr>
        </p:nvSpPr>
        <p:spPr/>
        <p:txBody>
          <a:bodyPr/>
          <a:lstStyle/>
          <a:p>
            <a:r>
              <a:rPr lang="de-DE"/>
              <a:t>Materialdiagnostik: Task 3</a:t>
            </a:r>
          </a:p>
        </p:txBody>
      </p:sp>
      <p:sp>
        <p:nvSpPr>
          <p:cNvPr id="5" name="Datumsplatzhalter 4">
            <a:extLst>
              <a:ext uri="{FF2B5EF4-FFF2-40B4-BE49-F238E27FC236}">
                <a16:creationId xmlns:a16="http://schemas.microsoft.com/office/drawing/2014/main" id="{4BC4B84F-E88D-95C9-4F2A-678239DD52D5}"/>
              </a:ext>
            </a:extLst>
          </p:cNvPr>
          <p:cNvSpPr>
            <a:spLocks noGrp="1"/>
          </p:cNvSpPr>
          <p:nvPr>
            <p:ph type="dt" sz="half" idx="12"/>
          </p:nvPr>
        </p:nvSpPr>
        <p:spPr/>
        <p:txBody>
          <a:bodyPr/>
          <a:lstStyle/>
          <a:p>
            <a:r>
              <a:rPr lang="de-DE"/>
              <a:t>16.07.2026</a:t>
            </a:r>
          </a:p>
        </p:txBody>
      </p:sp>
      <p:sp>
        <p:nvSpPr>
          <p:cNvPr id="6" name="Titel 1">
            <a:extLst>
              <a:ext uri="{FF2B5EF4-FFF2-40B4-BE49-F238E27FC236}">
                <a16:creationId xmlns:a16="http://schemas.microsoft.com/office/drawing/2014/main" id="{84ECAC2C-EA91-2538-AA1B-D131492BAE74}"/>
              </a:ext>
            </a:extLst>
          </p:cNvPr>
          <p:cNvSpPr>
            <a:spLocks noGrp="1"/>
          </p:cNvSpPr>
          <p:nvPr>
            <p:ph type="title"/>
          </p:nvPr>
        </p:nvSpPr>
        <p:spPr>
          <a:xfrm>
            <a:off x="341811" y="567600"/>
            <a:ext cx="4315098" cy="706030"/>
          </a:xfrm>
          <a:prstGeom prst="rect">
            <a:avLst/>
          </a:prstGeom>
        </p:spPr>
        <p:txBody>
          <a:bodyPr anchor="ctr"/>
          <a:lstStyle>
            <a:lvl1pPr>
              <a:defRPr sz="2400"/>
            </a:lvl1pPr>
          </a:lstStyle>
          <a:p>
            <a:r>
              <a:rPr lang="de-DE"/>
              <a:t>Mastertitelformat bearbeiten</a:t>
            </a:r>
          </a:p>
        </p:txBody>
      </p:sp>
      <p:sp>
        <p:nvSpPr>
          <p:cNvPr id="8" name="Diagrammplatzhalter 7">
            <a:extLst>
              <a:ext uri="{FF2B5EF4-FFF2-40B4-BE49-F238E27FC236}">
                <a16:creationId xmlns:a16="http://schemas.microsoft.com/office/drawing/2014/main" id="{8F665CA4-B29F-61A8-C1F7-805E9C9E2AAD}"/>
              </a:ext>
            </a:extLst>
          </p:cNvPr>
          <p:cNvSpPr>
            <a:spLocks noGrp="1"/>
          </p:cNvSpPr>
          <p:nvPr>
            <p:ph type="chart" sz="quarter" idx="13"/>
          </p:nvPr>
        </p:nvSpPr>
        <p:spPr>
          <a:xfrm>
            <a:off x="342000" y="1620000"/>
            <a:ext cx="6464300" cy="4357688"/>
          </a:xfrm>
          <a:prstGeom prst="rect">
            <a:avLst/>
          </a:prstGeom>
        </p:spPr>
        <p:txBody>
          <a:bodyPr/>
          <a:lstStyle/>
          <a:p>
            <a:r>
              <a:rPr lang="de-DE"/>
              <a:t>Diagramm durch Klicken auf Symbol hinzufügen</a:t>
            </a:r>
          </a:p>
        </p:txBody>
      </p:sp>
      <p:sp>
        <p:nvSpPr>
          <p:cNvPr id="10" name="Textplatzhalter 9">
            <a:extLst>
              <a:ext uri="{FF2B5EF4-FFF2-40B4-BE49-F238E27FC236}">
                <a16:creationId xmlns:a16="http://schemas.microsoft.com/office/drawing/2014/main" id="{968CD71D-F381-DDC3-57C8-6E2E31AE9B70}"/>
              </a:ext>
            </a:extLst>
          </p:cNvPr>
          <p:cNvSpPr>
            <a:spLocks noGrp="1"/>
          </p:cNvSpPr>
          <p:nvPr>
            <p:ph type="body" sz="quarter" idx="14"/>
          </p:nvPr>
        </p:nvSpPr>
        <p:spPr>
          <a:xfrm>
            <a:off x="7537450" y="1619250"/>
            <a:ext cx="4313238" cy="435768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504715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Benutzerdefiniertes Layout">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298C56F7-04DC-07E6-E754-FAEBDCAFD6E5}"/>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E5B3395E-75D0-0881-9E63-D45B3C890C78}"/>
              </a:ext>
            </a:extLst>
          </p:cNvPr>
          <p:cNvSpPr>
            <a:spLocks noGrp="1"/>
          </p:cNvSpPr>
          <p:nvPr>
            <p:ph type="ftr" sz="quarter" idx="11"/>
          </p:nvPr>
        </p:nvSpPr>
        <p:spPr/>
        <p:txBody>
          <a:bodyPr/>
          <a:lstStyle/>
          <a:p>
            <a:r>
              <a:rPr lang="de-DE"/>
              <a:t>Materialdiagnostik: Task 3</a:t>
            </a:r>
          </a:p>
        </p:txBody>
      </p:sp>
      <p:sp>
        <p:nvSpPr>
          <p:cNvPr id="5" name="Datumsplatzhalter 4">
            <a:extLst>
              <a:ext uri="{FF2B5EF4-FFF2-40B4-BE49-F238E27FC236}">
                <a16:creationId xmlns:a16="http://schemas.microsoft.com/office/drawing/2014/main" id="{D388320E-D078-EA6A-9A8C-DD57443F9308}"/>
              </a:ext>
            </a:extLst>
          </p:cNvPr>
          <p:cNvSpPr>
            <a:spLocks noGrp="1"/>
          </p:cNvSpPr>
          <p:nvPr>
            <p:ph type="dt" sz="half" idx="12"/>
          </p:nvPr>
        </p:nvSpPr>
        <p:spPr/>
        <p:txBody>
          <a:bodyPr/>
          <a:lstStyle/>
          <a:p>
            <a:r>
              <a:rPr lang="de-DE"/>
              <a:t>16.07.2026</a:t>
            </a:r>
          </a:p>
        </p:txBody>
      </p:sp>
      <p:sp>
        <p:nvSpPr>
          <p:cNvPr id="6" name="Titel 1">
            <a:extLst>
              <a:ext uri="{FF2B5EF4-FFF2-40B4-BE49-F238E27FC236}">
                <a16:creationId xmlns:a16="http://schemas.microsoft.com/office/drawing/2014/main" id="{6501B65D-DEB8-9B99-668F-C2A8BA5977E3}"/>
              </a:ext>
            </a:extLst>
          </p:cNvPr>
          <p:cNvSpPr>
            <a:spLocks noGrp="1"/>
          </p:cNvSpPr>
          <p:nvPr>
            <p:ph type="title"/>
          </p:nvPr>
        </p:nvSpPr>
        <p:spPr>
          <a:xfrm>
            <a:off x="341811" y="567600"/>
            <a:ext cx="4315098" cy="706030"/>
          </a:xfrm>
          <a:prstGeom prst="rect">
            <a:avLst/>
          </a:prstGeom>
        </p:spPr>
        <p:txBody>
          <a:bodyPr anchor="ctr"/>
          <a:lstStyle>
            <a:lvl1pPr>
              <a:defRPr sz="2400"/>
            </a:lvl1pPr>
          </a:lstStyle>
          <a:p>
            <a:r>
              <a:rPr lang="de-DE"/>
              <a:t>Mastertitelformat bearbeiten</a:t>
            </a:r>
          </a:p>
        </p:txBody>
      </p:sp>
      <p:sp>
        <p:nvSpPr>
          <p:cNvPr id="8" name="Tabellenplatzhalter 7">
            <a:extLst>
              <a:ext uri="{FF2B5EF4-FFF2-40B4-BE49-F238E27FC236}">
                <a16:creationId xmlns:a16="http://schemas.microsoft.com/office/drawing/2014/main" id="{77EC83A4-CD88-BEBE-32B4-1CB0630E0C25}"/>
              </a:ext>
            </a:extLst>
          </p:cNvPr>
          <p:cNvSpPr>
            <a:spLocks noGrp="1"/>
          </p:cNvSpPr>
          <p:nvPr>
            <p:ph type="tbl" sz="quarter" idx="13"/>
          </p:nvPr>
        </p:nvSpPr>
        <p:spPr>
          <a:xfrm>
            <a:off x="341313" y="1620000"/>
            <a:ext cx="11509374" cy="4329112"/>
          </a:xfrm>
          <a:prstGeom prst="rect">
            <a:avLst/>
          </a:prstGeom>
        </p:spPr>
        <p:txBody>
          <a:bodyPr/>
          <a:lstStyle/>
          <a:p>
            <a:r>
              <a:rPr lang="de-DE"/>
              <a:t>Tabelle durch Klicken auf Symbol hinzufügen</a:t>
            </a:r>
          </a:p>
        </p:txBody>
      </p:sp>
    </p:spTree>
    <p:extLst>
      <p:ext uri="{BB962C8B-B14F-4D97-AF65-F5344CB8AC3E}">
        <p14:creationId xmlns:p14="http://schemas.microsoft.com/office/powerpoint/2010/main" val="2365388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Benutzerdefiniertes Layout">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A4C0288E-0BC3-A2B2-6635-8CA0B598348C}"/>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DE378F51-1F21-2A9E-140B-3E85C6EDA68C}"/>
              </a:ext>
            </a:extLst>
          </p:cNvPr>
          <p:cNvSpPr>
            <a:spLocks noGrp="1"/>
          </p:cNvSpPr>
          <p:nvPr>
            <p:ph type="ftr" sz="quarter" idx="11"/>
          </p:nvPr>
        </p:nvSpPr>
        <p:spPr/>
        <p:txBody>
          <a:bodyPr/>
          <a:lstStyle/>
          <a:p>
            <a:r>
              <a:rPr lang="de-DE"/>
              <a:t>Materialdiagnostik: Task 3</a:t>
            </a:r>
          </a:p>
        </p:txBody>
      </p:sp>
      <p:sp>
        <p:nvSpPr>
          <p:cNvPr id="5" name="Datumsplatzhalter 4">
            <a:extLst>
              <a:ext uri="{FF2B5EF4-FFF2-40B4-BE49-F238E27FC236}">
                <a16:creationId xmlns:a16="http://schemas.microsoft.com/office/drawing/2014/main" id="{5995910A-7460-9DA2-7D0D-21EA392FA163}"/>
              </a:ext>
            </a:extLst>
          </p:cNvPr>
          <p:cNvSpPr>
            <a:spLocks noGrp="1"/>
          </p:cNvSpPr>
          <p:nvPr>
            <p:ph type="dt" sz="half" idx="12"/>
          </p:nvPr>
        </p:nvSpPr>
        <p:spPr/>
        <p:txBody>
          <a:bodyPr/>
          <a:lstStyle/>
          <a:p>
            <a:r>
              <a:rPr lang="de-DE"/>
              <a:t>16.07.2026</a:t>
            </a:r>
          </a:p>
        </p:txBody>
      </p:sp>
      <p:sp>
        <p:nvSpPr>
          <p:cNvPr id="6" name="Titel 1">
            <a:extLst>
              <a:ext uri="{FF2B5EF4-FFF2-40B4-BE49-F238E27FC236}">
                <a16:creationId xmlns:a16="http://schemas.microsoft.com/office/drawing/2014/main" id="{18B7627B-6839-36FA-8BDF-10F29038E6C1}"/>
              </a:ext>
            </a:extLst>
          </p:cNvPr>
          <p:cNvSpPr>
            <a:spLocks noGrp="1"/>
          </p:cNvSpPr>
          <p:nvPr>
            <p:ph type="title"/>
          </p:nvPr>
        </p:nvSpPr>
        <p:spPr>
          <a:xfrm>
            <a:off x="341811" y="567600"/>
            <a:ext cx="4315098" cy="706030"/>
          </a:xfrm>
          <a:prstGeom prst="rect">
            <a:avLst/>
          </a:prstGeom>
        </p:spPr>
        <p:txBody>
          <a:bodyPr anchor="ctr"/>
          <a:lstStyle>
            <a:lvl1pPr>
              <a:defRPr sz="2400"/>
            </a:lvl1pPr>
          </a:lstStyle>
          <a:p>
            <a:r>
              <a:rPr lang="de-DE"/>
              <a:t>Mastertitelformat bearbeiten</a:t>
            </a:r>
          </a:p>
        </p:txBody>
      </p:sp>
      <p:sp>
        <p:nvSpPr>
          <p:cNvPr id="8" name="Medienplatzhalter 7">
            <a:extLst>
              <a:ext uri="{FF2B5EF4-FFF2-40B4-BE49-F238E27FC236}">
                <a16:creationId xmlns:a16="http://schemas.microsoft.com/office/drawing/2014/main" id="{8A710AA4-AAF2-4B75-C3F3-871BBE9241F8}"/>
              </a:ext>
            </a:extLst>
          </p:cNvPr>
          <p:cNvSpPr>
            <a:spLocks noGrp="1"/>
          </p:cNvSpPr>
          <p:nvPr>
            <p:ph type="media" sz="quarter" idx="13"/>
          </p:nvPr>
        </p:nvSpPr>
        <p:spPr>
          <a:xfrm>
            <a:off x="342900" y="1620000"/>
            <a:ext cx="11506200" cy="4364038"/>
          </a:xfrm>
          <a:prstGeom prst="rect">
            <a:avLst/>
          </a:prstGeom>
        </p:spPr>
        <p:txBody>
          <a:bodyPr/>
          <a:lstStyle/>
          <a:p>
            <a:r>
              <a:rPr lang="de-DE"/>
              <a:t>Mediaclip durch Klicken auf Symbol hinzufügen</a:t>
            </a:r>
          </a:p>
        </p:txBody>
      </p:sp>
    </p:spTree>
    <p:extLst>
      <p:ext uri="{BB962C8B-B14F-4D97-AF65-F5344CB8AC3E}">
        <p14:creationId xmlns:p14="http://schemas.microsoft.com/office/powerpoint/2010/main" val="1053121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Benutzerdefiniertes Layout">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F33115BF-78EF-27BB-F487-EADE5934B133}"/>
              </a:ext>
            </a:extLst>
          </p:cNvPr>
          <p:cNvSpPr>
            <a:spLocks noGrp="1"/>
          </p:cNvSpPr>
          <p:nvPr>
            <p:ph type="sldNum" sz="quarter" idx="10"/>
          </p:nvPr>
        </p:nvSpPr>
        <p:spPr/>
        <p:txBody>
          <a:bodyPr/>
          <a:lstStyle/>
          <a:p>
            <a:fld id="{80B4FCE6-DC73-4135-BC56-1F242D45A84C}" type="slidenum">
              <a:rPr lang="de-DE" smtClean="0"/>
              <a:t>‹Nr.›</a:t>
            </a:fld>
            <a:endParaRPr lang="de-DE"/>
          </a:p>
        </p:txBody>
      </p:sp>
      <p:sp>
        <p:nvSpPr>
          <p:cNvPr id="4" name="Fußzeilenplatzhalter 3">
            <a:extLst>
              <a:ext uri="{FF2B5EF4-FFF2-40B4-BE49-F238E27FC236}">
                <a16:creationId xmlns:a16="http://schemas.microsoft.com/office/drawing/2014/main" id="{77968A7B-1911-8BE6-C669-DC5B4D85D1D4}"/>
              </a:ext>
            </a:extLst>
          </p:cNvPr>
          <p:cNvSpPr>
            <a:spLocks noGrp="1"/>
          </p:cNvSpPr>
          <p:nvPr>
            <p:ph type="ftr" sz="quarter" idx="11"/>
          </p:nvPr>
        </p:nvSpPr>
        <p:spPr/>
        <p:txBody>
          <a:bodyPr/>
          <a:lstStyle/>
          <a:p>
            <a:r>
              <a:rPr lang="de-DE"/>
              <a:t>Materialdiagnostik: Task 3</a:t>
            </a:r>
            <a:endParaRPr lang="de-DE" dirty="0"/>
          </a:p>
        </p:txBody>
      </p:sp>
      <p:sp>
        <p:nvSpPr>
          <p:cNvPr id="5" name="Datumsplatzhalter 4">
            <a:extLst>
              <a:ext uri="{FF2B5EF4-FFF2-40B4-BE49-F238E27FC236}">
                <a16:creationId xmlns:a16="http://schemas.microsoft.com/office/drawing/2014/main" id="{51324397-1ED7-8CF8-6036-BBCE91679937}"/>
              </a:ext>
            </a:extLst>
          </p:cNvPr>
          <p:cNvSpPr>
            <a:spLocks noGrp="1"/>
          </p:cNvSpPr>
          <p:nvPr>
            <p:ph type="dt" sz="half" idx="12"/>
          </p:nvPr>
        </p:nvSpPr>
        <p:spPr/>
        <p:txBody>
          <a:bodyPr/>
          <a:lstStyle/>
          <a:p>
            <a:r>
              <a:rPr lang="de-DE"/>
              <a:t>16.07.2026</a:t>
            </a:r>
          </a:p>
        </p:txBody>
      </p:sp>
      <p:sp>
        <p:nvSpPr>
          <p:cNvPr id="7" name="Inhaltsplatzhalter 6">
            <a:extLst>
              <a:ext uri="{FF2B5EF4-FFF2-40B4-BE49-F238E27FC236}">
                <a16:creationId xmlns:a16="http://schemas.microsoft.com/office/drawing/2014/main" id="{7E6FF748-506D-DF48-0CE6-B5937A97C3BD}"/>
              </a:ext>
            </a:extLst>
          </p:cNvPr>
          <p:cNvSpPr>
            <a:spLocks noGrp="1"/>
          </p:cNvSpPr>
          <p:nvPr>
            <p:ph sz="quarter" idx="13"/>
          </p:nvPr>
        </p:nvSpPr>
        <p:spPr>
          <a:xfrm>
            <a:off x="341811" y="1620000"/>
            <a:ext cx="11512052" cy="4395788"/>
          </a:xfrm>
          <a:prstGeom prst="rect">
            <a:avLst/>
          </a:prstGeo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1">
            <a:extLst>
              <a:ext uri="{FF2B5EF4-FFF2-40B4-BE49-F238E27FC236}">
                <a16:creationId xmlns:a16="http://schemas.microsoft.com/office/drawing/2014/main" id="{21AF7B95-D724-2667-6A8F-48BC1B491D0E}"/>
              </a:ext>
            </a:extLst>
          </p:cNvPr>
          <p:cNvSpPr>
            <a:spLocks noGrp="1"/>
          </p:cNvSpPr>
          <p:nvPr>
            <p:ph type="title"/>
          </p:nvPr>
        </p:nvSpPr>
        <p:spPr>
          <a:xfrm>
            <a:off x="341811" y="567600"/>
            <a:ext cx="4315098" cy="706030"/>
          </a:xfrm>
          <a:prstGeom prst="rect">
            <a:avLst/>
          </a:prstGeom>
        </p:spPr>
        <p:txBody>
          <a:bodyPr anchor="ctr"/>
          <a:lstStyle>
            <a:lvl1pPr>
              <a:defRPr sz="2400"/>
            </a:lvl1pPr>
          </a:lstStyle>
          <a:p>
            <a:r>
              <a:rPr lang="de-DE"/>
              <a:t>Mastertitelformat bearbeiten</a:t>
            </a:r>
          </a:p>
        </p:txBody>
      </p:sp>
    </p:spTree>
    <p:extLst>
      <p:ext uri="{BB962C8B-B14F-4D97-AF65-F5344CB8AC3E}">
        <p14:creationId xmlns:p14="http://schemas.microsoft.com/office/powerpoint/2010/main" val="415779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029" name="Picture 8">
            <a:extLst>
              <a:ext uri="{FF2B5EF4-FFF2-40B4-BE49-F238E27FC236}">
                <a16:creationId xmlns:a16="http://schemas.microsoft.com/office/drawing/2014/main" id="{24F5A3AF-D943-BD2A-8943-FC6AD197AD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p:blipFill>
        <p:spPr bwMode="auto">
          <a:xfrm>
            <a:off x="7937576" y="609600"/>
            <a:ext cx="3644824" cy="622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liennummernplatzhalter 2">
            <a:extLst>
              <a:ext uri="{FF2B5EF4-FFF2-40B4-BE49-F238E27FC236}">
                <a16:creationId xmlns:a16="http://schemas.microsoft.com/office/drawing/2014/main" id="{C4F520D8-5DD0-8AC6-5A23-456771581E55}"/>
              </a:ext>
            </a:extLst>
          </p:cNvPr>
          <p:cNvSpPr>
            <a:spLocks noGrp="1" noRot="1" noMove="1" noResize="1" noEditPoints="1" noAdjustHandles="1" noChangeArrowheads="1" noChangeShapeType="1"/>
          </p:cNvSpPr>
          <p:nvPr>
            <p:ph type="sldNum" sz="quarter" idx="4"/>
          </p:nvPr>
        </p:nvSpPr>
        <p:spPr>
          <a:xfrm>
            <a:off x="11582400" y="6447859"/>
            <a:ext cx="496388" cy="365125"/>
          </a:xfrm>
          <a:prstGeom prst="rect">
            <a:avLst/>
          </a:prstGeom>
        </p:spPr>
        <p:txBody>
          <a:bodyPr vert="horz" lIns="91440" tIns="45720" rIns="91440" bIns="45720" rtlCol="0" anchor="ctr"/>
          <a:lstStyle>
            <a:lvl1pPr algn="r">
              <a:defRPr sz="1200" b="1">
                <a:solidFill>
                  <a:srgbClr val="A8CC2F"/>
                </a:solidFill>
              </a:defRPr>
            </a:lvl1pPr>
          </a:lstStyle>
          <a:p>
            <a:pPr>
              <a:defRPr/>
            </a:pPr>
            <a:fld id="{AF7B6FBB-3871-4A64-9491-1B11EE455FFC}" type="slidenum">
              <a:rPr lang="de-DE" altLang="de-DE" smtClean="0"/>
              <a:pPr>
                <a:defRPr/>
              </a:pPr>
              <a:t>‹Nr.›</a:t>
            </a:fld>
            <a:endParaRPr lang="de-DE" altLang="de-DE" dirty="0"/>
          </a:p>
        </p:txBody>
      </p:sp>
      <p:sp>
        <p:nvSpPr>
          <p:cNvPr id="4" name="Fußzeilenplatzhalter 3">
            <a:extLst>
              <a:ext uri="{FF2B5EF4-FFF2-40B4-BE49-F238E27FC236}">
                <a16:creationId xmlns:a16="http://schemas.microsoft.com/office/drawing/2014/main" id="{0CA301AD-975A-4725-14C1-3B11D71EE0DE}"/>
              </a:ext>
            </a:extLst>
          </p:cNvPr>
          <p:cNvSpPr>
            <a:spLocks noGrp="1" noRot="1" noMove="1" noResize="1" noEditPoints="1" noAdjustHandles="1" noChangeArrowheads="1" noChangeShapeType="1"/>
          </p:cNvSpPr>
          <p:nvPr>
            <p:ph type="ftr" sz="quarter" idx="3"/>
          </p:nvPr>
        </p:nvSpPr>
        <p:spPr>
          <a:xfrm>
            <a:off x="4038600" y="6447858"/>
            <a:ext cx="4114800" cy="365125"/>
          </a:xfrm>
          <a:prstGeom prst="rect">
            <a:avLst/>
          </a:prstGeom>
        </p:spPr>
        <p:txBody>
          <a:bodyPr vert="horz" lIns="91440" tIns="45720" rIns="91440" bIns="45720" rtlCol="0" anchor="ctr"/>
          <a:lstStyle>
            <a:lvl1pPr algn="ctr">
              <a:defRPr sz="1200" b="1">
                <a:solidFill>
                  <a:srgbClr val="A8CC2F"/>
                </a:solidFill>
              </a:defRPr>
            </a:lvl1pPr>
          </a:lstStyle>
          <a:p>
            <a:r>
              <a:rPr lang="de-DE" dirty="0"/>
              <a:t>Materialdiagnostik: Task 3</a:t>
            </a:r>
          </a:p>
        </p:txBody>
      </p:sp>
      <p:sp>
        <p:nvSpPr>
          <p:cNvPr id="5" name="Datumsplatzhalter 4">
            <a:extLst>
              <a:ext uri="{FF2B5EF4-FFF2-40B4-BE49-F238E27FC236}">
                <a16:creationId xmlns:a16="http://schemas.microsoft.com/office/drawing/2014/main" id="{41824E65-93DD-275C-14CB-0DD245806FD8}"/>
              </a:ext>
            </a:extLst>
          </p:cNvPr>
          <p:cNvSpPr>
            <a:spLocks noGrp="1" noRot="1" noMove="1" noResize="1" noEditPoints="1" noAdjustHandles="1" noChangeArrowheads="1" noChangeShapeType="1"/>
          </p:cNvSpPr>
          <p:nvPr>
            <p:ph type="dt" sz="half" idx="2"/>
          </p:nvPr>
        </p:nvSpPr>
        <p:spPr>
          <a:xfrm>
            <a:off x="113212" y="6447857"/>
            <a:ext cx="951411"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de-DE"/>
              <a:t>16.07.2026</a:t>
            </a:r>
          </a:p>
        </p:txBody>
      </p:sp>
    </p:spTree>
    <p:extLst>
      <p:ext uri="{BB962C8B-B14F-4D97-AF65-F5344CB8AC3E}">
        <p14:creationId xmlns:p14="http://schemas.microsoft.com/office/powerpoint/2010/main" val="159967084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Lst>
  <p:hf hdr="0"/>
  <p:txStyles>
    <p:titleStyle>
      <a:lvl1pPr algn="l" rtl="0" eaLnBrk="1" fontAlgn="base" hangingPunct="1">
        <a:spcBef>
          <a:spcPct val="0"/>
        </a:spcBef>
        <a:spcAft>
          <a:spcPct val="0"/>
        </a:spcAft>
        <a:defRPr b="1">
          <a:solidFill>
            <a:srgbClr val="A8CC2F"/>
          </a:solidFill>
          <a:latin typeface="+mj-lt"/>
          <a:ea typeface="+mj-ea"/>
          <a:cs typeface="+mj-cs"/>
        </a:defRPr>
      </a:lvl1pPr>
      <a:lvl2pPr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2pPr>
      <a:lvl3pPr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3pPr>
      <a:lvl4pPr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4pPr>
      <a:lvl5pPr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5pPr>
      <a:lvl6pPr marL="457200"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6pPr>
      <a:lvl7pPr marL="914400"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7pPr>
      <a:lvl8pPr marL="1371600"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8pPr>
      <a:lvl9pPr marL="1828800" algn="l" rtl="0" eaLnBrk="1" fontAlgn="base" hangingPunct="1">
        <a:spcBef>
          <a:spcPct val="0"/>
        </a:spcBef>
        <a:spcAft>
          <a:spcPct val="0"/>
        </a:spcAft>
        <a:defRPr b="1">
          <a:solidFill>
            <a:srgbClr val="A8CC2F"/>
          </a:solidFill>
          <a:latin typeface="Arial" pitchFamily="-109" charset="0"/>
          <a:ea typeface="ヒラギノ角ゴ Pro W3" pitchFamily="-109" charset="-128"/>
          <a:cs typeface="ヒラギノ角ゴ Pro W3" pitchFamily="-109" charset="-128"/>
        </a:defRPr>
      </a:lvl9pPr>
    </p:titleStyle>
    <p:bodyStyle>
      <a:lvl1pPr marL="342900" indent="-342900" algn="l" rtl="0" eaLnBrk="1" fontAlgn="base" hangingPunct="1">
        <a:spcBef>
          <a:spcPct val="20000"/>
        </a:spcBef>
        <a:spcAft>
          <a:spcPct val="0"/>
        </a:spcAft>
        <a:buFont typeface="Lucida Grande" charset="0"/>
        <a:buChar char="·"/>
        <a:defRPr sz="2400">
          <a:solidFill>
            <a:srgbClr val="414141"/>
          </a:solidFill>
          <a:latin typeface="+mn-lt"/>
          <a:ea typeface="+mn-ea"/>
          <a:cs typeface="+mn-cs"/>
        </a:defRPr>
      </a:lvl1pPr>
      <a:lvl2pPr marL="742950" indent="-285750" algn="l" rtl="0" eaLnBrk="1" fontAlgn="base" hangingPunct="1">
        <a:spcBef>
          <a:spcPct val="20000"/>
        </a:spcBef>
        <a:spcAft>
          <a:spcPct val="0"/>
        </a:spcAft>
        <a:buFont typeface="Lucida Grande" charset="0"/>
        <a:buChar char="·"/>
        <a:defRPr sz="2000">
          <a:solidFill>
            <a:srgbClr val="414141"/>
          </a:solidFill>
          <a:latin typeface="+mn-lt"/>
          <a:ea typeface="+mn-ea"/>
          <a:cs typeface="+mn-cs"/>
        </a:defRPr>
      </a:lvl2pPr>
      <a:lvl3pPr marL="1143000" indent="-228600" algn="l" rtl="0" eaLnBrk="1" fontAlgn="base" hangingPunct="1">
        <a:spcBef>
          <a:spcPct val="20000"/>
        </a:spcBef>
        <a:spcAft>
          <a:spcPct val="0"/>
        </a:spcAft>
        <a:buFont typeface="Lucida Grande" charset="0"/>
        <a:buChar char="·"/>
        <a:defRPr>
          <a:solidFill>
            <a:srgbClr val="414141"/>
          </a:solidFill>
          <a:latin typeface="+mn-lt"/>
          <a:ea typeface="+mn-ea"/>
          <a:cs typeface="+mn-cs"/>
        </a:defRPr>
      </a:lvl3pPr>
      <a:lvl4pPr marL="1144588" algn="l" rtl="0" eaLnBrk="1" fontAlgn="base" hangingPunct="1">
        <a:spcBef>
          <a:spcPct val="20000"/>
        </a:spcBef>
        <a:spcAft>
          <a:spcPct val="0"/>
        </a:spcAft>
        <a:buClr>
          <a:srgbClr val="414141"/>
        </a:buClr>
        <a:defRPr>
          <a:solidFill>
            <a:srgbClr val="414141"/>
          </a:solidFill>
          <a:latin typeface="Courier New"/>
          <a:ea typeface="+mn-ea"/>
          <a:cs typeface="+mn-cs"/>
        </a:defRPr>
      </a:lvl4pPr>
      <a:lvl5pPr marL="1144588" indent="-228600" algn="l" rtl="0" eaLnBrk="1" fontAlgn="base" hangingPunct="1">
        <a:spcBef>
          <a:spcPct val="20000"/>
        </a:spcBef>
        <a:spcAft>
          <a:spcPct val="0"/>
        </a:spcAft>
        <a:buFont typeface="Lucida Grande" charset="0"/>
        <a:buChar char="·"/>
        <a:defRPr>
          <a:solidFill>
            <a:srgbClr val="A8CC2F"/>
          </a:solidFill>
          <a:latin typeface="+mn-lt"/>
          <a:ea typeface="+mn-ea"/>
          <a:cs typeface="+mn-cs"/>
        </a:defRPr>
      </a:lvl5pPr>
      <a:lvl6pPr marL="2438400" indent="-228600" algn="l" rtl="0" eaLnBrk="1" fontAlgn="base" hangingPunct="1">
        <a:spcBef>
          <a:spcPct val="20000"/>
        </a:spcBef>
        <a:spcAft>
          <a:spcPct val="0"/>
        </a:spcAft>
        <a:defRPr sz="1600">
          <a:solidFill>
            <a:srgbClr val="414141"/>
          </a:solidFill>
          <a:latin typeface="+mn-lt"/>
          <a:ea typeface="+mn-ea"/>
          <a:cs typeface="+mn-cs"/>
        </a:defRPr>
      </a:lvl6pPr>
      <a:lvl7pPr marL="2895600" indent="-228600" algn="l" rtl="0" eaLnBrk="1" fontAlgn="base" hangingPunct="1">
        <a:spcBef>
          <a:spcPct val="20000"/>
        </a:spcBef>
        <a:spcAft>
          <a:spcPct val="0"/>
        </a:spcAft>
        <a:defRPr sz="1600">
          <a:solidFill>
            <a:srgbClr val="414141"/>
          </a:solidFill>
          <a:latin typeface="+mn-lt"/>
          <a:ea typeface="+mn-ea"/>
          <a:cs typeface="+mn-cs"/>
        </a:defRPr>
      </a:lvl7pPr>
      <a:lvl8pPr marL="3352800" indent="-228600" algn="l" rtl="0" eaLnBrk="1" fontAlgn="base" hangingPunct="1">
        <a:spcBef>
          <a:spcPct val="20000"/>
        </a:spcBef>
        <a:spcAft>
          <a:spcPct val="0"/>
        </a:spcAft>
        <a:defRPr sz="1600">
          <a:solidFill>
            <a:srgbClr val="414141"/>
          </a:solidFill>
          <a:latin typeface="+mn-lt"/>
          <a:ea typeface="+mn-ea"/>
          <a:cs typeface="+mn-cs"/>
        </a:defRPr>
      </a:lvl8pPr>
      <a:lvl9pPr marL="3810000" indent="-228600" algn="l" rtl="0" eaLnBrk="1" fontAlgn="base" hangingPunct="1">
        <a:spcBef>
          <a:spcPct val="20000"/>
        </a:spcBef>
        <a:spcAft>
          <a:spcPct val="0"/>
        </a:spcAft>
        <a:defRPr sz="1600">
          <a:solidFill>
            <a:srgbClr val="41414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B476EBB-4D93-C7B4-2E1A-4A6262020142}"/>
              </a:ext>
            </a:extLst>
          </p:cNvPr>
          <p:cNvSpPr>
            <a:spLocks noGrp="1"/>
          </p:cNvSpPr>
          <p:nvPr>
            <p:ph type="title"/>
          </p:nvPr>
        </p:nvSpPr>
        <p:spPr>
          <a:xfrm>
            <a:off x="4470883" y="2288322"/>
            <a:ext cx="5392784" cy="1444082"/>
          </a:xfrm>
        </p:spPr>
        <p:txBody>
          <a:bodyPr/>
          <a:lstStyle/>
          <a:p>
            <a:r>
              <a:rPr lang="de-DE" sz="4800" dirty="0"/>
              <a:t>Seminaraufgabe 3</a:t>
            </a:r>
          </a:p>
        </p:txBody>
      </p:sp>
      <p:sp>
        <p:nvSpPr>
          <p:cNvPr id="2" name="Untertitel 1">
            <a:extLst>
              <a:ext uri="{FF2B5EF4-FFF2-40B4-BE49-F238E27FC236}">
                <a16:creationId xmlns:a16="http://schemas.microsoft.com/office/drawing/2014/main" id="{B127D0AE-943F-5B24-AF1D-9467215FE8B7}"/>
              </a:ext>
            </a:extLst>
          </p:cNvPr>
          <p:cNvSpPr>
            <a:spLocks noGrp="1"/>
          </p:cNvSpPr>
          <p:nvPr>
            <p:ph type="subTitle" idx="4294967295"/>
          </p:nvPr>
        </p:nvSpPr>
        <p:spPr>
          <a:xfrm>
            <a:off x="4470883" y="3732404"/>
            <a:ext cx="4063517" cy="1752600"/>
          </a:xfrm>
          <a:prstGeom prst="rect">
            <a:avLst/>
          </a:prstGeom>
        </p:spPr>
        <p:txBody>
          <a:bodyPr/>
          <a:lstStyle/>
          <a:p>
            <a:pPr marL="0" indent="0">
              <a:buNone/>
            </a:pPr>
            <a:r>
              <a:rPr lang="de-DE" sz="2000" b="1" dirty="0">
                <a:solidFill>
                  <a:schemeClr val="bg1">
                    <a:lumMod val="50000"/>
                  </a:schemeClr>
                </a:solidFill>
                <a:effectLst/>
              </a:rPr>
              <a:t>Benjamin Gielczynski, </a:t>
            </a:r>
            <a:br>
              <a:rPr lang="de-DE" sz="2000" b="1" dirty="0">
                <a:solidFill>
                  <a:schemeClr val="bg1">
                    <a:lumMod val="50000"/>
                  </a:schemeClr>
                </a:solidFill>
                <a:effectLst/>
              </a:rPr>
            </a:br>
            <a:r>
              <a:rPr lang="de-DE" sz="2000" b="1" dirty="0">
                <a:solidFill>
                  <a:schemeClr val="bg1">
                    <a:lumMod val="50000"/>
                  </a:schemeClr>
                </a:solidFill>
                <a:effectLst/>
              </a:rPr>
              <a:t>David von Rüden, </a:t>
            </a:r>
            <a:br>
              <a:rPr lang="de-DE" sz="2000" b="1" dirty="0">
                <a:solidFill>
                  <a:schemeClr val="bg1">
                    <a:lumMod val="50000"/>
                  </a:schemeClr>
                </a:solidFill>
                <a:effectLst/>
              </a:rPr>
            </a:br>
            <a:r>
              <a:rPr lang="de-DE" sz="2000" b="1" dirty="0">
                <a:solidFill>
                  <a:schemeClr val="bg1">
                    <a:lumMod val="50000"/>
                  </a:schemeClr>
                </a:solidFill>
                <a:effectLst/>
              </a:rPr>
              <a:t>Tim Giese, </a:t>
            </a:r>
            <a:br>
              <a:rPr lang="de-DE" sz="2000" b="1" dirty="0">
                <a:solidFill>
                  <a:schemeClr val="bg1">
                    <a:lumMod val="50000"/>
                  </a:schemeClr>
                </a:solidFill>
                <a:effectLst/>
              </a:rPr>
            </a:br>
            <a:r>
              <a:rPr lang="de-DE" sz="2000" b="1" dirty="0">
                <a:solidFill>
                  <a:schemeClr val="bg1">
                    <a:lumMod val="50000"/>
                  </a:schemeClr>
                </a:solidFill>
                <a:effectLst/>
              </a:rPr>
              <a:t>Victor Domke, </a:t>
            </a:r>
            <a:br>
              <a:rPr lang="de-DE" sz="2000" b="1" dirty="0">
                <a:solidFill>
                  <a:schemeClr val="bg1">
                    <a:lumMod val="50000"/>
                  </a:schemeClr>
                </a:solidFill>
                <a:effectLst/>
              </a:rPr>
            </a:br>
            <a:r>
              <a:rPr lang="de-DE" sz="2000" b="1" dirty="0">
                <a:solidFill>
                  <a:schemeClr val="bg1">
                    <a:lumMod val="50000"/>
                  </a:schemeClr>
                </a:solidFill>
                <a:effectLst/>
              </a:rPr>
              <a:t>Simon Brockhoff</a:t>
            </a:r>
            <a:endParaRPr lang="de-DE" sz="2000" b="0" dirty="0">
              <a:solidFill>
                <a:schemeClr val="bg1">
                  <a:lumMod val="50000"/>
                </a:schemeClr>
              </a:solidFill>
              <a:effectLst/>
            </a:endParaRPr>
          </a:p>
        </p:txBody>
      </p:sp>
    </p:spTree>
    <p:extLst>
      <p:ext uri="{BB962C8B-B14F-4D97-AF65-F5344CB8AC3E}">
        <p14:creationId xmlns:p14="http://schemas.microsoft.com/office/powerpoint/2010/main" val="1875075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28E74-1723-4026-C41F-72C0E5F4B37F}"/>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6BDFD0D-1F3F-671D-BE21-271B3E00F8BC}"/>
              </a:ext>
            </a:extLst>
          </p:cNvPr>
          <p:cNvSpPr>
            <a:spLocks noGrp="1"/>
          </p:cNvSpPr>
          <p:nvPr>
            <p:ph type="title"/>
          </p:nvPr>
        </p:nvSpPr>
        <p:spPr/>
        <p:txBody>
          <a:bodyPr/>
          <a:lstStyle/>
          <a:p>
            <a:r>
              <a:rPr lang="de-DE" sz="3200" dirty="0"/>
              <a:t>Gliederung</a:t>
            </a:r>
            <a:endParaRPr lang="de-DE" dirty="0"/>
          </a:p>
        </p:txBody>
      </p:sp>
      <p:sp>
        <p:nvSpPr>
          <p:cNvPr id="6" name="Datumsplatzhalter 5">
            <a:extLst>
              <a:ext uri="{FF2B5EF4-FFF2-40B4-BE49-F238E27FC236}">
                <a16:creationId xmlns:a16="http://schemas.microsoft.com/office/drawing/2014/main" id="{2ADE982B-BFE5-5848-F763-33D2FC31C6DC}"/>
              </a:ext>
            </a:extLst>
          </p:cNvPr>
          <p:cNvSpPr>
            <a:spLocks noGrp="1"/>
          </p:cNvSpPr>
          <p:nvPr>
            <p:ph type="dt" sz="half" idx="12"/>
          </p:nvPr>
        </p:nvSpPr>
        <p:spPr/>
        <p:txBody>
          <a:bodyPr/>
          <a:lstStyle/>
          <a:p>
            <a:r>
              <a:rPr lang="de-DE"/>
              <a:t>16.07.2026</a:t>
            </a:r>
          </a:p>
        </p:txBody>
      </p:sp>
      <p:sp>
        <p:nvSpPr>
          <p:cNvPr id="7" name="Fußzeilenplatzhalter 6">
            <a:extLst>
              <a:ext uri="{FF2B5EF4-FFF2-40B4-BE49-F238E27FC236}">
                <a16:creationId xmlns:a16="http://schemas.microsoft.com/office/drawing/2014/main" id="{9D942951-2681-5B98-DB4E-AACA25F87A2D}"/>
              </a:ext>
            </a:extLst>
          </p:cNvPr>
          <p:cNvSpPr>
            <a:spLocks noGrp="1"/>
          </p:cNvSpPr>
          <p:nvPr>
            <p:ph type="ftr" sz="quarter" idx="11"/>
          </p:nvPr>
        </p:nvSpPr>
        <p:spPr/>
        <p:txBody>
          <a:bodyPr/>
          <a:lstStyle/>
          <a:p>
            <a:r>
              <a:rPr lang="de-DE"/>
              <a:t>Materialdiagnostik: Task 3</a:t>
            </a:r>
          </a:p>
        </p:txBody>
      </p:sp>
      <p:sp>
        <p:nvSpPr>
          <p:cNvPr id="2" name="Foliennummernplatzhalter 1">
            <a:extLst>
              <a:ext uri="{FF2B5EF4-FFF2-40B4-BE49-F238E27FC236}">
                <a16:creationId xmlns:a16="http://schemas.microsoft.com/office/drawing/2014/main" id="{4A95B1DA-C9BF-39EB-E4C5-A5750A2C5C28}"/>
              </a:ext>
            </a:extLst>
          </p:cNvPr>
          <p:cNvSpPr>
            <a:spLocks noGrp="1"/>
          </p:cNvSpPr>
          <p:nvPr>
            <p:ph type="sldNum" sz="quarter" idx="10"/>
          </p:nvPr>
        </p:nvSpPr>
        <p:spPr/>
        <p:txBody>
          <a:bodyPr/>
          <a:lstStyle/>
          <a:p>
            <a:fld id="{80B4FCE6-DC73-4135-BC56-1F242D45A84C}" type="slidenum">
              <a:rPr lang="de-DE" smtClean="0"/>
              <a:t>2</a:t>
            </a:fld>
            <a:endParaRPr lang="de-DE"/>
          </a:p>
        </p:txBody>
      </p:sp>
      <p:pic>
        <p:nvPicPr>
          <p:cNvPr id="5" name="Grafik 4">
            <a:extLst>
              <a:ext uri="{FF2B5EF4-FFF2-40B4-BE49-F238E27FC236}">
                <a16:creationId xmlns:a16="http://schemas.microsoft.com/office/drawing/2014/main" id="{3CD1AE25-2D20-AE6D-214C-FA96F52C5243}"/>
              </a:ext>
            </a:extLst>
          </p:cNvPr>
          <p:cNvPicPr>
            <a:picLocks noChangeAspect="1"/>
          </p:cNvPicPr>
          <p:nvPr/>
        </p:nvPicPr>
        <p:blipFill>
          <a:blip r:embed="rId3"/>
          <a:stretch>
            <a:fillRect/>
          </a:stretch>
        </p:blipFill>
        <p:spPr>
          <a:xfrm>
            <a:off x="4838289" y="1627906"/>
            <a:ext cx="4365653" cy="4350753"/>
          </a:xfrm>
          <a:prstGeom prst="rect">
            <a:avLst/>
          </a:prstGeom>
        </p:spPr>
      </p:pic>
    </p:spTree>
    <p:extLst>
      <p:ext uri="{BB962C8B-B14F-4D97-AF65-F5344CB8AC3E}">
        <p14:creationId xmlns:p14="http://schemas.microsoft.com/office/powerpoint/2010/main" val="1606180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68DE30-D93E-3C7A-A549-46E39921BF6A}"/>
              </a:ext>
            </a:extLst>
          </p:cNvPr>
          <p:cNvSpPr>
            <a:spLocks noGrp="1"/>
          </p:cNvSpPr>
          <p:nvPr>
            <p:ph sz="quarter" idx="13"/>
          </p:nvPr>
        </p:nvSpPr>
        <p:spPr>
          <a:prstGeom prst="rect">
            <a:avLst/>
          </a:prstGeom>
        </p:spPr>
        <p:txBody>
          <a:bodyPr/>
          <a:lstStyle/>
          <a:p>
            <a:pPr>
              <a:buFont typeface="Arial" panose="020B0604020202020204" pitchFamily="34" charset="0"/>
              <a:buChar char="•"/>
            </a:pPr>
            <a:endParaRPr lang="de-DE" dirty="0"/>
          </a:p>
          <a:p>
            <a:pPr>
              <a:buFont typeface="Arial" panose="020B0604020202020204" pitchFamily="34" charset="0"/>
              <a:buChar char="•"/>
            </a:pPr>
            <a:r>
              <a:rPr lang="de-DE" dirty="0"/>
              <a:t>Binäre Klassifikation von Zahnrad-Audiosignalen</a:t>
            </a:r>
          </a:p>
          <a:p>
            <a:pPr>
              <a:buFont typeface="Arial" panose="020B0604020202020204" pitchFamily="34" charset="0"/>
              <a:buChar char="•"/>
            </a:pPr>
            <a:r>
              <a:rPr lang="de-DE" dirty="0"/>
              <a:t>Modell: </a:t>
            </a:r>
            <a:r>
              <a:rPr lang="de-DE" dirty="0" err="1"/>
              <a:t>Multilayer</a:t>
            </a:r>
            <a:r>
              <a:rPr lang="de-DE" dirty="0"/>
              <a:t> </a:t>
            </a:r>
            <a:r>
              <a:rPr lang="de-DE" dirty="0" err="1"/>
              <a:t>Perceptron</a:t>
            </a:r>
            <a:r>
              <a:rPr lang="de-DE" dirty="0"/>
              <a:t> (MLP)</a:t>
            </a:r>
          </a:p>
          <a:p>
            <a:pPr>
              <a:buFont typeface="Arial" panose="020B0604020202020204" pitchFamily="34" charset="0"/>
              <a:buChar char="•"/>
            </a:pPr>
            <a:r>
              <a:rPr lang="de-DE" dirty="0"/>
              <a:t>Klassen:</a:t>
            </a:r>
          </a:p>
          <a:p>
            <a:pPr lvl="1">
              <a:buFont typeface="Arial" panose="020B0604020202020204" pitchFamily="34" charset="0"/>
              <a:buChar char="•"/>
            </a:pPr>
            <a:r>
              <a:rPr lang="de-DE" dirty="0"/>
              <a:t>1 = gut</a:t>
            </a:r>
          </a:p>
          <a:p>
            <a:pPr lvl="1">
              <a:buFont typeface="Arial" panose="020B0604020202020204" pitchFamily="34" charset="0"/>
              <a:buChar char="•"/>
            </a:pPr>
            <a:r>
              <a:rPr lang="de-DE" dirty="0"/>
              <a:t>0 = beschädigt</a:t>
            </a:r>
          </a:p>
          <a:p>
            <a:pPr>
              <a:buFont typeface="Arial" panose="020B0604020202020204" pitchFamily="34" charset="0"/>
              <a:buChar char="•"/>
            </a:pPr>
            <a:r>
              <a:rPr lang="de-DE" dirty="0"/>
              <a:t>Bewertung mit Testsatz, ROC und AUC</a:t>
            </a:r>
          </a:p>
        </p:txBody>
      </p:sp>
      <p:sp>
        <p:nvSpPr>
          <p:cNvPr id="2" name="Titel 1">
            <a:extLst>
              <a:ext uri="{FF2B5EF4-FFF2-40B4-BE49-F238E27FC236}">
                <a16:creationId xmlns:a16="http://schemas.microsoft.com/office/drawing/2014/main" id="{EEDBBAAD-698E-2BBD-EFF1-ADB56162D5C1}"/>
              </a:ext>
            </a:extLst>
          </p:cNvPr>
          <p:cNvSpPr>
            <a:spLocks noGrp="1"/>
          </p:cNvSpPr>
          <p:nvPr>
            <p:ph type="title"/>
          </p:nvPr>
        </p:nvSpPr>
        <p:spPr/>
        <p:txBody>
          <a:bodyPr/>
          <a:lstStyle/>
          <a:p>
            <a:r>
              <a:rPr lang="de-DE" sz="3200" dirty="0">
                <a:latin typeface="Arial" panose="020B0604020202020204" pitchFamily="34" charset="0"/>
                <a:cs typeface="Arial" panose="020B0604020202020204" pitchFamily="34" charset="0"/>
              </a:rPr>
              <a:t>Ziel</a:t>
            </a:r>
          </a:p>
        </p:txBody>
      </p:sp>
      <p:sp>
        <p:nvSpPr>
          <p:cNvPr id="8" name="Datumsplatzhalter 7">
            <a:extLst>
              <a:ext uri="{FF2B5EF4-FFF2-40B4-BE49-F238E27FC236}">
                <a16:creationId xmlns:a16="http://schemas.microsoft.com/office/drawing/2014/main" id="{EC3D51E1-5F7F-CC79-B190-7E596C240B7F}"/>
              </a:ext>
            </a:extLst>
          </p:cNvPr>
          <p:cNvSpPr>
            <a:spLocks noGrp="1"/>
          </p:cNvSpPr>
          <p:nvPr>
            <p:ph type="dt" sz="half" idx="12"/>
          </p:nvPr>
        </p:nvSpPr>
        <p:spPr/>
        <p:txBody>
          <a:bodyPr/>
          <a:lstStyle/>
          <a:p>
            <a:r>
              <a:rPr lang="de-DE"/>
              <a:t>16.07.2026</a:t>
            </a:r>
          </a:p>
        </p:txBody>
      </p:sp>
      <p:sp>
        <p:nvSpPr>
          <p:cNvPr id="9" name="Fußzeilenplatzhalter 8">
            <a:extLst>
              <a:ext uri="{FF2B5EF4-FFF2-40B4-BE49-F238E27FC236}">
                <a16:creationId xmlns:a16="http://schemas.microsoft.com/office/drawing/2014/main" id="{F03726B5-E16A-44C4-B810-6AFDF6B91428}"/>
              </a:ext>
            </a:extLst>
          </p:cNvPr>
          <p:cNvSpPr>
            <a:spLocks noGrp="1"/>
          </p:cNvSpPr>
          <p:nvPr>
            <p:ph type="ftr" sz="quarter" idx="11"/>
          </p:nvPr>
        </p:nvSpPr>
        <p:spPr/>
        <p:txBody>
          <a:bodyPr/>
          <a:lstStyle/>
          <a:p>
            <a:r>
              <a:rPr lang="de-DE"/>
              <a:t>Materialdiagnostik: Task 3</a:t>
            </a:r>
            <a:endParaRPr lang="de-DE" dirty="0"/>
          </a:p>
        </p:txBody>
      </p:sp>
      <p:sp>
        <p:nvSpPr>
          <p:cNvPr id="5" name="Foliennummernplatzhalter 4">
            <a:extLst>
              <a:ext uri="{FF2B5EF4-FFF2-40B4-BE49-F238E27FC236}">
                <a16:creationId xmlns:a16="http://schemas.microsoft.com/office/drawing/2014/main" id="{F8958667-57AC-BE1E-6BEA-1C93A1AE3BF9}"/>
              </a:ext>
            </a:extLst>
          </p:cNvPr>
          <p:cNvSpPr>
            <a:spLocks noGrp="1"/>
          </p:cNvSpPr>
          <p:nvPr>
            <p:ph type="sldNum" sz="quarter" idx="10"/>
          </p:nvPr>
        </p:nvSpPr>
        <p:spPr/>
        <p:txBody>
          <a:bodyPr/>
          <a:lstStyle/>
          <a:p>
            <a:fld id="{80B4FCE6-DC73-4135-BC56-1F242D45A84C}" type="slidenum">
              <a:rPr lang="de-DE" smtClean="0"/>
              <a:t>3</a:t>
            </a:fld>
            <a:endParaRPr lang="de-DE"/>
          </a:p>
        </p:txBody>
      </p:sp>
    </p:spTree>
    <p:extLst>
      <p:ext uri="{BB962C8B-B14F-4D97-AF65-F5344CB8AC3E}">
        <p14:creationId xmlns:p14="http://schemas.microsoft.com/office/powerpoint/2010/main" val="2304305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nhaltsplatzhalter 9">
            <a:extLst>
              <a:ext uri="{FF2B5EF4-FFF2-40B4-BE49-F238E27FC236}">
                <a16:creationId xmlns:a16="http://schemas.microsoft.com/office/drawing/2014/main" id="{7B8D0937-7521-B2D4-9DC6-F495F659D7E3}"/>
              </a:ext>
            </a:extLst>
          </p:cNvPr>
          <p:cNvSpPr>
            <a:spLocks noGrp="1"/>
          </p:cNvSpPr>
          <p:nvPr>
            <p:ph sz="quarter" idx="13"/>
          </p:nvPr>
        </p:nvSpPr>
        <p:spPr/>
        <p:txBody>
          <a:bodyPr/>
          <a:lstStyle/>
          <a:p>
            <a:pPr>
              <a:buFont typeface="Arial" panose="020B0604020202020204" pitchFamily="34" charset="0"/>
              <a:buChar char="•"/>
            </a:pPr>
            <a:r>
              <a:rPr lang="de-DE" dirty="0"/>
              <a:t>Datenquelle: Task_2/</a:t>
            </a:r>
            <a:r>
              <a:rPr lang="de-DE" dirty="0" err="1"/>
              <a:t>data</a:t>
            </a:r>
            <a:r>
              <a:rPr lang="de-DE" dirty="0"/>
              <a:t>/</a:t>
            </a:r>
            <a:r>
              <a:rPr lang="de-DE" dirty="0" err="1"/>
              <a:t>sig</a:t>
            </a:r>
            <a:endParaRPr lang="de-DE" dirty="0"/>
          </a:p>
          <a:p>
            <a:pPr>
              <a:buFont typeface="Arial" panose="020B0604020202020204" pitchFamily="34" charset="0"/>
              <a:buChar char="•"/>
            </a:pPr>
            <a:r>
              <a:rPr lang="de-DE" dirty="0"/>
              <a:t>Proben: Z01 bis Z05</a:t>
            </a:r>
          </a:p>
          <a:p>
            <a:pPr>
              <a:buFont typeface="Arial" panose="020B0604020202020204" pitchFamily="34" charset="0"/>
              <a:buChar char="•"/>
            </a:pPr>
            <a:r>
              <a:rPr lang="de-DE" dirty="0"/>
              <a:t>Label-Zuordnung:</a:t>
            </a:r>
          </a:p>
          <a:p>
            <a:pPr lvl="1">
              <a:buFont typeface="Arial" panose="020B0604020202020204" pitchFamily="34" charset="0"/>
              <a:buChar char="•"/>
            </a:pPr>
            <a:r>
              <a:rPr lang="de-DE" dirty="0"/>
              <a:t>Z01, Z02, Z03, Z04 = gut</a:t>
            </a:r>
          </a:p>
          <a:p>
            <a:pPr lvl="1">
              <a:buFont typeface="Arial" panose="020B0604020202020204" pitchFamily="34" charset="0"/>
              <a:buChar char="•"/>
            </a:pPr>
            <a:r>
              <a:rPr lang="de-DE" dirty="0"/>
              <a:t>Z05 = beschädigt</a:t>
            </a:r>
          </a:p>
          <a:p>
            <a:pPr>
              <a:buFont typeface="Arial" panose="020B0604020202020204" pitchFamily="34" charset="0"/>
              <a:buChar char="•"/>
            </a:pPr>
            <a:r>
              <a:rPr lang="de-DE" dirty="0"/>
              <a:t>Kanäle: Ch1, Ch2</a:t>
            </a:r>
          </a:p>
        </p:txBody>
      </p:sp>
      <p:sp>
        <p:nvSpPr>
          <p:cNvPr id="5" name="Titel 4">
            <a:extLst>
              <a:ext uri="{FF2B5EF4-FFF2-40B4-BE49-F238E27FC236}">
                <a16:creationId xmlns:a16="http://schemas.microsoft.com/office/drawing/2014/main" id="{FF548E49-692C-4BBE-8063-A0FA8DCFE074}"/>
              </a:ext>
            </a:extLst>
          </p:cNvPr>
          <p:cNvSpPr>
            <a:spLocks noGrp="1"/>
          </p:cNvSpPr>
          <p:nvPr>
            <p:ph type="title"/>
          </p:nvPr>
        </p:nvSpPr>
        <p:spPr>
          <a:xfrm>
            <a:off x="341810" y="567600"/>
            <a:ext cx="5586023" cy="706030"/>
          </a:xfrm>
        </p:spPr>
        <p:txBody>
          <a:bodyPr/>
          <a:lstStyle/>
          <a:p>
            <a:r>
              <a:rPr lang="de-DE" sz="3200" dirty="0">
                <a:ea typeface="ヒラギノ角ゴ Pro W3"/>
              </a:rPr>
              <a:t>Datensatz und Label-Zuordnung</a:t>
            </a:r>
            <a:endParaRPr lang="de-DE" dirty="0"/>
          </a:p>
        </p:txBody>
      </p:sp>
      <p:sp>
        <p:nvSpPr>
          <p:cNvPr id="6" name="Datumsplatzhalter 5">
            <a:extLst>
              <a:ext uri="{FF2B5EF4-FFF2-40B4-BE49-F238E27FC236}">
                <a16:creationId xmlns:a16="http://schemas.microsoft.com/office/drawing/2014/main" id="{AD575DA6-9507-24A3-D823-ACF99B904417}"/>
              </a:ext>
            </a:extLst>
          </p:cNvPr>
          <p:cNvSpPr>
            <a:spLocks noGrp="1"/>
          </p:cNvSpPr>
          <p:nvPr>
            <p:ph type="dt" sz="half" idx="12"/>
          </p:nvPr>
        </p:nvSpPr>
        <p:spPr/>
        <p:txBody>
          <a:bodyPr/>
          <a:lstStyle/>
          <a:p>
            <a:r>
              <a:rPr lang="de-DE"/>
              <a:t>16.07.2026</a:t>
            </a:r>
          </a:p>
        </p:txBody>
      </p:sp>
      <p:sp>
        <p:nvSpPr>
          <p:cNvPr id="7" name="Fußzeilenplatzhalter 6">
            <a:extLst>
              <a:ext uri="{FF2B5EF4-FFF2-40B4-BE49-F238E27FC236}">
                <a16:creationId xmlns:a16="http://schemas.microsoft.com/office/drawing/2014/main" id="{B06C2A5A-D44E-21C3-8924-01BF5842EAE8}"/>
              </a:ext>
            </a:extLst>
          </p:cNvPr>
          <p:cNvSpPr>
            <a:spLocks noGrp="1"/>
          </p:cNvSpPr>
          <p:nvPr>
            <p:ph type="ftr" sz="quarter" idx="11"/>
          </p:nvPr>
        </p:nvSpPr>
        <p:spPr/>
        <p:txBody>
          <a:bodyPr/>
          <a:lstStyle/>
          <a:p>
            <a:r>
              <a:rPr lang="de-DE"/>
              <a:t>Materialdiagnostik: Task 3</a:t>
            </a:r>
            <a:endParaRPr lang="de-DE" dirty="0"/>
          </a:p>
        </p:txBody>
      </p:sp>
      <p:pic>
        <p:nvPicPr>
          <p:cNvPr id="3" name="Grafik 2">
            <a:extLst>
              <a:ext uri="{FF2B5EF4-FFF2-40B4-BE49-F238E27FC236}">
                <a16:creationId xmlns:a16="http://schemas.microsoft.com/office/drawing/2014/main" id="{2481C4C0-FA67-CF38-BE6F-A06F2535F1CE}"/>
              </a:ext>
            </a:extLst>
          </p:cNvPr>
          <p:cNvPicPr>
            <a:picLocks noChangeAspect="1"/>
          </p:cNvPicPr>
          <p:nvPr/>
        </p:nvPicPr>
        <p:blipFill>
          <a:blip r:embed="rId3"/>
          <a:stretch>
            <a:fillRect/>
          </a:stretch>
        </p:blipFill>
        <p:spPr>
          <a:xfrm>
            <a:off x="7290086" y="1620000"/>
            <a:ext cx="4054191" cy="2766300"/>
          </a:xfrm>
          <a:prstGeom prst="rect">
            <a:avLst/>
          </a:prstGeom>
        </p:spPr>
      </p:pic>
      <p:sp>
        <p:nvSpPr>
          <p:cNvPr id="2" name="Foliennummernplatzhalter 1">
            <a:extLst>
              <a:ext uri="{FF2B5EF4-FFF2-40B4-BE49-F238E27FC236}">
                <a16:creationId xmlns:a16="http://schemas.microsoft.com/office/drawing/2014/main" id="{604D00BA-4E18-605F-D34D-D84794623B18}"/>
              </a:ext>
            </a:extLst>
          </p:cNvPr>
          <p:cNvSpPr>
            <a:spLocks noGrp="1"/>
          </p:cNvSpPr>
          <p:nvPr>
            <p:ph type="sldNum" sz="quarter" idx="10"/>
          </p:nvPr>
        </p:nvSpPr>
        <p:spPr/>
        <p:txBody>
          <a:bodyPr/>
          <a:lstStyle/>
          <a:p>
            <a:fld id="{80B4FCE6-DC73-4135-BC56-1F242D45A84C}" type="slidenum">
              <a:rPr lang="de-DE" smtClean="0"/>
              <a:t>4</a:t>
            </a:fld>
            <a:endParaRPr lang="de-DE"/>
          </a:p>
        </p:txBody>
      </p:sp>
    </p:spTree>
    <p:extLst>
      <p:ext uri="{BB962C8B-B14F-4D97-AF65-F5344CB8AC3E}">
        <p14:creationId xmlns:p14="http://schemas.microsoft.com/office/powerpoint/2010/main" val="2845843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FC91D-551D-3A12-3B4F-FD19284DCF06}"/>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0B690C3-0EC0-B10F-E8C5-83DB6885A9A5}"/>
              </a:ext>
            </a:extLst>
          </p:cNvPr>
          <p:cNvSpPr>
            <a:spLocks noGrp="1"/>
          </p:cNvSpPr>
          <p:nvPr>
            <p:ph type="title"/>
          </p:nvPr>
        </p:nvSpPr>
        <p:spPr>
          <a:xfrm>
            <a:off x="341811" y="567600"/>
            <a:ext cx="4934382" cy="706030"/>
          </a:xfrm>
        </p:spPr>
        <p:txBody>
          <a:bodyPr anchor="ctr">
            <a:normAutofit fontScale="90000"/>
          </a:bodyPr>
          <a:lstStyle/>
          <a:p>
            <a:pPr>
              <a:lnSpc>
                <a:spcPct val="90000"/>
              </a:lnSpc>
            </a:pPr>
            <a:r>
              <a:rPr lang="de-DE" sz="3200" dirty="0"/>
              <a:t>Problem vor der Modellierung</a:t>
            </a:r>
            <a:endParaRPr lang="de-DE" sz="2200" dirty="0"/>
          </a:p>
        </p:txBody>
      </p:sp>
      <p:sp>
        <p:nvSpPr>
          <p:cNvPr id="10" name="Inhaltsplatzhalter 9">
            <a:extLst>
              <a:ext uri="{FF2B5EF4-FFF2-40B4-BE49-F238E27FC236}">
                <a16:creationId xmlns:a16="http://schemas.microsoft.com/office/drawing/2014/main" id="{854D615C-F8E5-5FC5-C401-2791DF60C45B}"/>
              </a:ext>
            </a:extLst>
          </p:cNvPr>
          <p:cNvSpPr>
            <a:spLocks noGrp="1"/>
          </p:cNvSpPr>
          <p:nvPr>
            <p:ph sz="quarter" idx="13"/>
          </p:nvPr>
        </p:nvSpPr>
        <p:spPr>
          <a:xfrm>
            <a:off x="341312" y="1620000"/>
            <a:ext cx="7289197" cy="4316412"/>
          </a:xfrm>
        </p:spPr>
        <p:txBody>
          <a:bodyPr>
            <a:normAutofit/>
          </a:bodyPr>
          <a:lstStyle/>
          <a:p>
            <a:pPr>
              <a:buFont typeface="Arial" panose="020B0604020202020204" pitchFamily="34" charset="0"/>
              <a:buChar char="•"/>
            </a:pPr>
            <a:endParaRPr lang="de-DE" dirty="0"/>
          </a:p>
          <a:p>
            <a:pPr>
              <a:buFont typeface="Arial" panose="020B0604020202020204" pitchFamily="34" charset="0"/>
              <a:buChar char="•"/>
            </a:pPr>
            <a:r>
              <a:rPr lang="de-DE" dirty="0"/>
              <a:t>Unterschiedlich viele </a:t>
            </a:r>
            <a:r>
              <a:rPr lang="de-DE" dirty="0" err="1"/>
              <a:t>mID</a:t>
            </a:r>
            <a:r>
              <a:rPr lang="de-DE" dirty="0"/>
              <a:t> pro Zahnrad</a:t>
            </a:r>
          </a:p>
          <a:p>
            <a:pPr>
              <a:buFont typeface="Arial" panose="020B0604020202020204" pitchFamily="34" charset="0"/>
              <a:buChar char="•"/>
            </a:pPr>
            <a:r>
              <a:rPr lang="de-DE" dirty="0"/>
              <a:t>Z01 und Z04 haben mehr Wiederholungsmessungen</a:t>
            </a:r>
          </a:p>
          <a:p>
            <a:pPr>
              <a:buFont typeface="Arial" panose="020B0604020202020204" pitchFamily="34" charset="0"/>
              <a:buChar char="•"/>
            </a:pPr>
            <a:r>
              <a:rPr lang="de-DE" dirty="0"/>
              <a:t>Gefahr: Modell gewichtet diese Proben stärker</a:t>
            </a:r>
          </a:p>
          <a:p>
            <a:pPr>
              <a:buFont typeface="Arial" panose="020B0604020202020204" pitchFamily="34" charset="0"/>
              <a:buChar char="•"/>
            </a:pPr>
            <a:r>
              <a:rPr lang="de-DE" dirty="0"/>
              <a:t>Lösung: Mittelung über </a:t>
            </a:r>
            <a:r>
              <a:rPr lang="de-DE" dirty="0" err="1"/>
              <a:t>mID</a:t>
            </a:r>
            <a:r>
              <a:rPr lang="de-DE" dirty="0"/>
              <a:t> nach Merkmalextraktion</a:t>
            </a:r>
          </a:p>
        </p:txBody>
      </p:sp>
      <p:sp>
        <p:nvSpPr>
          <p:cNvPr id="3" name="Datumsplatzhalter 2">
            <a:extLst>
              <a:ext uri="{FF2B5EF4-FFF2-40B4-BE49-F238E27FC236}">
                <a16:creationId xmlns:a16="http://schemas.microsoft.com/office/drawing/2014/main" id="{B976C4FB-8771-9C12-EC14-FF917FA91936}"/>
              </a:ext>
            </a:extLst>
          </p:cNvPr>
          <p:cNvSpPr>
            <a:spLocks noGrp="1"/>
          </p:cNvSpPr>
          <p:nvPr>
            <p:ph type="dt" sz="half" idx="12"/>
          </p:nvPr>
        </p:nvSpPr>
        <p:spPr/>
        <p:txBody>
          <a:bodyPr/>
          <a:lstStyle/>
          <a:p>
            <a:r>
              <a:rPr lang="de-DE"/>
              <a:t>16.07.2026</a:t>
            </a:r>
          </a:p>
        </p:txBody>
      </p:sp>
      <p:sp>
        <p:nvSpPr>
          <p:cNvPr id="6" name="Fußzeilenplatzhalter 5">
            <a:extLst>
              <a:ext uri="{FF2B5EF4-FFF2-40B4-BE49-F238E27FC236}">
                <a16:creationId xmlns:a16="http://schemas.microsoft.com/office/drawing/2014/main" id="{43258A7A-FB46-C9EE-27DB-D5BFD61A3880}"/>
              </a:ext>
            </a:extLst>
          </p:cNvPr>
          <p:cNvSpPr>
            <a:spLocks noGrp="1"/>
          </p:cNvSpPr>
          <p:nvPr>
            <p:ph type="ftr" sz="quarter" idx="11"/>
          </p:nvPr>
        </p:nvSpPr>
        <p:spPr/>
        <p:txBody>
          <a:bodyPr/>
          <a:lstStyle/>
          <a:p>
            <a:r>
              <a:rPr lang="de-DE"/>
              <a:t>Materialdiagnostik: Task 3</a:t>
            </a:r>
          </a:p>
        </p:txBody>
      </p:sp>
      <p:sp>
        <p:nvSpPr>
          <p:cNvPr id="2" name="Foliennummernplatzhalter 1">
            <a:extLst>
              <a:ext uri="{FF2B5EF4-FFF2-40B4-BE49-F238E27FC236}">
                <a16:creationId xmlns:a16="http://schemas.microsoft.com/office/drawing/2014/main" id="{A01E9335-BE43-12DC-80C0-D25BC6A0C1D7}"/>
              </a:ext>
            </a:extLst>
          </p:cNvPr>
          <p:cNvSpPr>
            <a:spLocks noGrp="1"/>
          </p:cNvSpPr>
          <p:nvPr>
            <p:ph type="sldNum" sz="quarter" idx="10"/>
          </p:nvPr>
        </p:nvSpPr>
        <p:spPr/>
        <p:txBody>
          <a:bodyPr/>
          <a:lstStyle/>
          <a:p>
            <a:fld id="{80B4FCE6-DC73-4135-BC56-1F242D45A84C}" type="slidenum">
              <a:rPr lang="de-DE" smtClean="0"/>
              <a:t>5</a:t>
            </a:fld>
            <a:endParaRPr lang="de-DE"/>
          </a:p>
        </p:txBody>
      </p:sp>
    </p:spTree>
    <p:extLst>
      <p:ext uri="{BB962C8B-B14F-4D97-AF65-F5344CB8AC3E}">
        <p14:creationId xmlns:p14="http://schemas.microsoft.com/office/powerpoint/2010/main" val="1000162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17B61-8CE5-3B97-6F85-3C618D6BECFE}"/>
            </a:ext>
          </a:extLst>
        </p:cNvPr>
        <p:cNvGrpSpPr/>
        <p:nvPr/>
      </p:nvGrpSpPr>
      <p:grpSpPr>
        <a:xfrm>
          <a:off x="0" y="0"/>
          <a:ext cx="0" cy="0"/>
          <a:chOff x="0" y="0"/>
          <a:chExt cx="0" cy="0"/>
        </a:xfrm>
      </p:grpSpPr>
      <p:sp>
        <p:nvSpPr>
          <p:cNvPr id="10" name="Inhaltsplatzhalter 9">
            <a:extLst>
              <a:ext uri="{FF2B5EF4-FFF2-40B4-BE49-F238E27FC236}">
                <a16:creationId xmlns:a16="http://schemas.microsoft.com/office/drawing/2014/main" id="{3CFC55D7-9A46-28B7-DCDC-9006970AADA8}"/>
              </a:ext>
            </a:extLst>
          </p:cNvPr>
          <p:cNvSpPr>
            <a:spLocks noGrp="1"/>
          </p:cNvSpPr>
          <p:nvPr>
            <p:ph sz="quarter" idx="13"/>
          </p:nvPr>
        </p:nvSpPr>
        <p:spPr/>
        <p:txBody>
          <a:bodyPr/>
          <a:lstStyle/>
          <a:p>
            <a:pPr>
              <a:buFont typeface="Arial" panose="020B0604020202020204" pitchFamily="34" charset="0"/>
              <a:buChar char="•"/>
            </a:pPr>
            <a:endParaRPr lang="de-DE" dirty="0"/>
          </a:p>
          <a:p>
            <a:pPr>
              <a:buFont typeface="Arial" panose="020B0604020202020204" pitchFamily="34" charset="0"/>
              <a:buChar char="•"/>
            </a:pPr>
            <a:r>
              <a:rPr lang="de-DE" dirty="0"/>
              <a:t>Gleiche Merkmalsfamilien wie in Aufgabe 2</a:t>
            </a:r>
          </a:p>
          <a:p>
            <a:pPr lvl="1">
              <a:buFont typeface="Arial" panose="020B0604020202020204" pitchFamily="34" charset="0"/>
              <a:buChar char="•"/>
            </a:pPr>
            <a:r>
              <a:rPr lang="de-DE" dirty="0"/>
              <a:t>MFCC und Delta-MFCC</a:t>
            </a:r>
          </a:p>
          <a:p>
            <a:pPr lvl="1">
              <a:buFont typeface="Arial" panose="020B0604020202020204" pitchFamily="34" charset="0"/>
              <a:buChar char="•"/>
            </a:pPr>
            <a:r>
              <a:rPr lang="de-DE" dirty="0"/>
              <a:t>Spektralzentrum, Bandbreite, Roll-off</a:t>
            </a:r>
          </a:p>
          <a:p>
            <a:pPr lvl="1">
              <a:buFont typeface="Arial" panose="020B0604020202020204" pitchFamily="34" charset="0"/>
              <a:buChar char="•"/>
            </a:pPr>
            <a:r>
              <a:rPr lang="de-DE" dirty="0"/>
              <a:t>Spektralkontrast</a:t>
            </a:r>
          </a:p>
          <a:p>
            <a:pPr lvl="1">
              <a:buFont typeface="Arial" panose="020B0604020202020204" pitchFamily="34" charset="0"/>
              <a:buChar char="•"/>
            </a:pPr>
            <a:r>
              <a:rPr lang="de-DE" dirty="0"/>
              <a:t>Chroma-STFT und Chroma-CENS</a:t>
            </a:r>
          </a:p>
          <a:p>
            <a:pPr lvl="1">
              <a:buFont typeface="Arial" panose="020B0604020202020204" pitchFamily="34" charset="0"/>
              <a:buChar char="•"/>
            </a:pPr>
            <a:r>
              <a:rPr lang="de-DE" dirty="0"/>
              <a:t>Zero-Crossing-Rate und RMS-Energie</a:t>
            </a:r>
          </a:p>
        </p:txBody>
      </p:sp>
      <p:sp>
        <p:nvSpPr>
          <p:cNvPr id="5" name="Titel 4">
            <a:extLst>
              <a:ext uri="{FF2B5EF4-FFF2-40B4-BE49-F238E27FC236}">
                <a16:creationId xmlns:a16="http://schemas.microsoft.com/office/drawing/2014/main" id="{898D85CC-7045-19F5-6B89-A95D6A5F2312}"/>
              </a:ext>
            </a:extLst>
          </p:cNvPr>
          <p:cNvSpPr>
            <a:spLocks noGrp="1"/>
          </p:cNvSpPr>
          <p:nvPr>
            <p:ph type="title"/>
          </p:nvPr>
        </p:nvSpPr>
        <p:spPr/>
        <p:txBody>
          <a:bodyPr/>
          <a:lstStyle/>
          <a:p>
            <a:r>
              <a:rPr kumimoji="0" lang="de-DE" sz="3200" b="1" i="0" u="none" strike="noStrike" kern="0" cap="none" spc="0" normalizeH="0" baseline="0" noProof="0" dirty="0">
                <a:ln>
                  <a:noFill/>
                </a:ln>
                <a:solidFill>
                  <a:srgbClr val="A8CC2F"/>
                </a:solidFill>
                <a:effectLst/>
                <a:uLnTx/>
                <a:uFillTx/>
                <a:ea typeface="ヒラギノ角ゴ Pro W3"/>
              </a:rPr>
              <a:t>Merkmalsextraktion</a:t>
            </a:r>
            <a:endParaRPr lang="de-DE" dirty="0"/>
          </a:p>
        </p:txBody>
      </p:sp>
      <p:sp>
        <p:nvSpPr>
          <p:cNvPr id="6" name="Datumsplatzhalter 5">
            <a:extLst>
              <a:ext uri="{FF2B5EF4-FFF2-40B4-BE49-F238E27FC236}">
                <a16:creationId xmlns:a16="http://schemas.microsoft.com/office/drawing/2014/main" id="{38EAA6FE-52E8-2872-6AAC-AF23B87F158D}"/>
              </a:ext>
            </a:extLst>
          </p:cNvPr>
          <p:cNvSpPr>
            <a:spLocks noGrp="1"/>
          </p:cNvSpPr>
          <p:nvPr>
            <p:ph type="dt" sz="half" idx="12"/>
          </p:nvPr>
        </p:nvSpPr>
        <p:spPr/>
        <p:txBody>
          <a:bodyPr/>
          <a:lstStyle/>
          <a:p>
            <a:r>
              <a:rPr lang="de-DE"/>
              <a:t>16.07.2026</a:t>
            </a:r>
          </a:p>
        </p:txBody>
      </p:sp>
      <p:sp>
        <p:nvSpPr>
          <p:cNvPr id="7" name="Fußzeilenplatzhalter 6">
            <a:extLst>
              <a:ext uri="{FF2B5EF4-FFF2-40B4-BE49-F238E27FC236}">
                <a16:creationId xmlns:a16="http://schemas.microsoft.com/office/drawing/2014/main" id="{F0CF3568-ABC8-8799-4537-678150D7687D}"/>
              </a:ext>
            </a:extLst>
          </p:cNvPr>
          <p:cNvSpPr>
            <a:spLocks noGrp="1"/>
          </p:cNvSpPr>
          <p:nvPr>
            <p:ph type="ftr" sz="quarter" idx="11"/>
          </p:nvPr>
        </p:nvSpPr>
        <p:spPr/>
        <p:txBody>
          <a:bodyPr/>
          <a:lstStyle/>
          <a:p>
            <a:r>
              <a:rPr lang="de-DE"/>
              <a:t>Materialdiagnostik: Task 3</a:t>
            </a:r>
            <a:endParaRPr lang="de-DE" dirty="0"/>
          </a:p>
        </p:txBody>
      </p:sp>
      <p:sp>
        <p:nvSpPr>
          <p:cNvPr id="2" name="Foliennummernplatzhalter 1">
            <a:extLst>
              <a:ext uri="{FF2B5EF4-FFF2-40B4-BE49-F238E27FC236}">
                <a16:creationId xmlns:a16="http://schemas.microsoft.com/office/drawing/2014/main" id="{384EE6BD-0A8A-C35A-ACE5-8487FF073395}"/>
              </a:ext>
            </a:extLst>
          </p:cNvPr>
          <p:cNvSpPr>
            <a:spLocks noGrp="1"/>
          </p:cNvSpPr>
          <p:nvPr>
            <p:ph type="sldNum" sz="quarter" idx="10"/>
          </p:nvPr>
        </p:nvSpPr>
        <p:spPr/>
        <p:txBody>
          <a:bodyPr/>
          <a:lstStyle/>
          <a:p>
            <a:fld id="{80B4FCE6-DC73-4135-BC56-1F242D45A84C}" type="slidenum">
              <a:rPr lang="de-DE" smtClean="0"/>
              <a:t>6</a:t>
            </a:fld>
            <a:endParaRPr lang="de-DE"/>
          </a:p>
        </p:txBody>
      </p:sp>
    </p:spTree>
    <p:extLst>
      <p:ext uri="{BB962C8B-B14F-4D97-AF65-F5344CB8AC3E}">
        <p14:creationId xmlns:p14="http://schemas.microsoft.com/office/powerpoint/2010/main" val="870363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DC8C5-6B84-38F9-328D-9E6B4534A4D9}"/>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45EFF85-64A8-E302-6981-1B6B7F7F8DDD}"/>
              </a:ext>
            </a:extLst>
          </p:cNvPr>
          <p:cNvSpPr>
            <a:spLocks noGrp="1"/>
          </p:cNvSpPr>
          <p:nvPr>
            <p:ph type="title"/>
          </p:nvPr>
        </p:nvSpPr>
        <p:spPr>
          <a:xfrm>
            <a:off x="341811" y="567600"/>
            <a:ext cx="5470410" cy="706030"/>
          </a:xfrm>
        </p:spPr>
        <p:txBody>
          <a:bodyPr/>
          <a:lstStyle/>
          <a:p>
            <a:r>
              <a:rPr lang="de-DE" sz="3200" dirty="0"/>
              <a:t>Split und Channel-Behandlung</a:t>
            </a:r>
          </a:p>
        </p:txBody>
      </p:sp>
      <p:sp>
        <p:nvSpPr>
          <p:cNvPr id="6" name="Fußzeilenplatzhalter 5">
            <a:extLst>
              <a:ext uri="{FF2B5EF4-FFF2-40B4-BE49-F238E27FC236}">
                <a16:creationId xmlns:a16="http://schemas.microsoft.com/office/drawing/2014/main" id="{C652A9E7-E0BD-8249-90D0-97B3A7CD27DF}"/>
              </a:ext>
            </a:extLst>
          </p:cNvPr>
          <p:cNvSpPr>
            <a:spLocks noGrp="1"/>
          </p:cNvSpPr>
          <p:nvPr>
            <p:ph type="ftr" sz="quarter" idx="11"/>
          </p:nvPr>
        </p:nvSpPr>
        <p:spPr/>
        <p:txBody>
          <a:bodyPr/>
          <a:lstStyle/>
          <a:p>
            <a:r>
              <a:rPr lang="de-DE"/>
              <a:t>Materialdiagnostik: Task 3</a:t>
            </a:r>
            <a:endParaRPr lang="de-DE" dirty="0"/>
          </a:p>
        </p:txBody>
      </p:sp>
      <p:sp>
        <p:nvSpPr>
          <p:cNvPr id="2" name="Datumsplatzhalter 1">
            <a:extLst>
              <a:ext uri="{FF2B5EF4-FFF2-40B4-BE49-F238E27FC236}">
                <a16:creationId xmlns:a16="http://schemas.microsoft.com/office/drawing/2014/main" id="{CEF0FCFB-49D3-B0D3-1565-3799B0181601}"/>
              </a:ext>
            </a:extLst>
          </p:cNvPr>
          <p:cNvSpPr>
            <a:spLocks noGrp="1"/>
          </p:cNvSpPr>
          <p:nvPr>
            <p:ph type="dt" sz="half" idx="12"/>
          </p:nvPr>
        </p:nvSpPr>
        <p:spPr/>
        <p:txBody>
          <a:bodyPr/>
          <a:lstStyle/>
          <a:p>
            <a:r>
              <a:rPr lang="de-DE"/>
              <a:t>16.07.2026</a:t>
            </a:r>
          </a:p>
        </p:txBody>
      </p:sp>
      <p:sp>
        <p:nvSpPr>
          <p:cNvPr id="8" name="Inhaltsplatzhalter 7">
            <a:extLst>
              <a:ext uri="{FF2B5EF4-FFF2-40B4-BE49-F238E27FC236}">
                <a16:creationId xmlns:a16="http://schemas.microsoft.com/office/drawing/2014/main" id="{A1313EF0-A9CF-8B6D-B55B-1752680076A4}"/>
              </a:ext>
            </a:extLst>
          </p:cNvPr>
          <p:cNvSpPr>
            <a:spLocks noGrp="1"/>
          </p:cNvSpPr>
          <p:nvPr>
            <p:ph sz="quarter" idx="13"/>
          </p:nvPr>
        </p:nvSpPr>
        <p:spPr>
          <a:xfrm>
            <a:off x="341312" y="1620000"/>
            <a:ext cx="7467874" cy="4316412"/>
          </a:xfrm>
        </p:spPr>
        <p:txBody>
          <a:bodyPr/>
          <a:lstStyle/>
          <a:p>
            <a:pPr>
              <a:buFont typeface="Arial" panose="020B0604020202020204" pitchFamily="34" charset="0"/>
              <a:buChar char="•"/>
            </a:pPr>
            <a:endParaRPr lang="de-DE" dirty="0"/>
          </a:p>
          <a:p>
            <a:pPr>
              <a:buFont typeface="Arial" panose="020B0604020202020204" pitchFamily="34" charset="0"/>
              <a:buChar char="•"/>
            </a:pPr>
            <a:r>
              <a:rPr lang="de-DE" dirty="0"/>
              <a:t>Feature-Mittelung über `</a:t>
            </a:r>
            <a:r>
              <a:rPr lang="de-DE" dirty="0" err="1"/>
              <a:t>mID</a:t>
            </a:r>
            <a:r>
              <a:rPr lang="de-DE" dirty="0"/>
              <a:t>`</a:t>
            </a:r>
          </a:p>
          <a:p>
            <a:pPr>
              <a:buFont typeface="Arial" panose="020B0604020202020204" pitchFamily="34" charset="0"/>
              <a:buChar char="•"/>
            </a:pPr>
            <a:r>
              <a:rPr lang="de-DE" dirty="0"/>
              <a:t>Merkmalsextraktion pro Datei vor der Mittelung</a:t>
            </a:r>
          </a:p>
          <a:p>
            <a:pPr>
              <a:buFont typeface="Arial" panose="020B0604020202020204" pitchFamily="34" charset="0"/>
              <a:buChar char="•"/>
            </a:pPr>
            <a:r>
              <a:rPr lang="de-DE" dirty="0"/>
              <a:t>Zwei Modelle:</a:t>
            </a:r>
          </a:p>
          <a:p>
            <a:pPr lvl="1">
              <a:buFont typeface="Arial" panose="020B0604020202020204" pitchFamily="34" charset="0"/>
              <a:buChar char="•"/>
            </a:pPr>
            <a:r>
              <a:rPr lang="de-DE" dirty="0"/>
              <a:t>Ch1</a:t>
            </a:r>
          </a:p>
          <a:p>
            <a:pPr lvl="1">
              <a:buFont typeface="Arial" panose="020B0604020202020204" pitchFamily="34" charset="0"/>
              <a:buChar char="•"/>
            </a:pPr>
            <a:r>
              <a:rPr lang="de-DE" dirty="0"/>
              <a:t>Ch2</a:t>
            </a:r>
          </a:p>
          <a:p>
            <a:endParaRPr lang="de-DE" dirty="0"/>
          </a:p>
        </p:txBody>
      </p:sp>
      <p:sp>
        <p:nvSpPr>
          <p:cNvPr id="10" name="Foliennummernplatzhalter 9">
            <a:extLst>
              <a:ext uri="{FF2B5EF4-FFF2-40B4-BE49-F238E27FC236}">
                <a16:creationId xmlns:a16="http://schemas.microsoft.com/office/drawing/2014/main" id="{6165C6EB-C140-CDAA-785E-DDE0FB76E230}"/>
              </a:ext>
            </a:extLst>
          </p:cNvPr>
          <p:cNvSpPr>
            <a:spLocks noGrp="1"/>
          </p:cNvSpPr>
          <p:nvPr>
            <p:ph type="sldNum" sz="quarter" idx="10"/>
          </p:nvPr>
        </p:nvSpPr>
        <p:spPr/>
        <p:txBody>
          <a:bodyPr/>
          <a:lstStyle/>
          <a:p>
            <a:fld id="{80B4FCE6-DC73-4135-BC56-1F242D45A84C}" type="slidenum">
              <a:rPr lang="de-DE" smtClean="0"/>
              <a:t>7</a:t>
            </a:fld>
            <a:endParaRPr lang="de-DE"/>
          </a:p>
        </p:txBody>
      </p:sp>
    </p:spTree>
    <p:extLst>
      <p:ext uri="{BB962C8B-B14F-4D97-AF65-F5344CB8AC3E}">
        <p14:creationId xmlns:p14="http://schemas.microsoft.com/office/powerpoint/2010/main" val="3056035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2A3BB-CCD8-3885-6A02-EE175FE1CB1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3FF9676-A75A-6AB8-50C5-C4EED7B6A7C1}"/>
              </a:ext>
            </a:extLst>
          </p:cNvPr>
          <p:cNvSpPr>
            <a:spLocks noGrp="1"/>
          </p:cNvSpPr>
          <p:nvPr>
            <p:ph type="title"/>
          </p:nvPr>
        </p:nvSpPr>
        <p:spPr/>
        <p:txBody>
          <a:bodyPr/>
          <a:lstStyle/>
          <a:p>
            <a:r>
              <a:rPr lang="de-DE" sz="3200" dirty="0"/>
              <a:t>Train-, Dev- und Testsplit</a:t>
            </a:r>
            <a:endParaRPr lang="de-DE" dirty="0"/>
          </a:p>
        </p:txBody>
      </p:sp>
      <p:sp>
        <p:nvSpPr>
          <p:cNvPr id="7" name="Fußzeilenplatzhalter 6">
            <a:extLst>
              <a:ext uri="{FF2B5EF4-FFF2-40B4-BE49-F238E27FC236}">
                <a16:creationId xmlns:a16="http://schemas.microsoft.com/office/drawing/2014/main" id="{6F3361E2-F2B2-2257-211E-2EC99788AC7F}"/>
              </a:ext>
            </a:extLst>
          </p:cNvPr>
          <p:cNvSpPr>
            <a:spLocks noGrp="1"/>
          </p:cNvSpPr>
          <p:nvPr>
            <p:ph type="ftr" sz="quarter" idx="11"/>
          </p:nvPr>
        </p:nvSpPr>
        <p:spPr/>
        <p:txBody>
          <a:bodyPr/>
          <a:lstStyle/>
          <a:p>
            <a:r>
              <a:rPr lang="de-DE"/>
              <a:t>Materialdiagnostik: Task 3</a:t>
            </a:r>
            <a:endParaRPr lang="de-DE" dirty="0"/>
          </a:p>
        </p:txBody>
      </p:sp>
      <p:sp>
        <p:nvSpPr>
          <p:cNvPr id="2" name="Datumsplatzhalter 1">
            <a:extLst>
              <a:ext uri="{FF2B5EF4-FFF2-40B4-BE49-F238E27FC236}">
                <a16:creationId xmlns:a16="http://schemas.microsoft.com/office/drawing/2014/main" id="{BE9FD257-CB15-1E41-8906-263322E6C4EE}"/>
              </a:ext>
            </a:extLst>
          </p:cNvPr>
          <p:cNvSpPr>
            <a:spLocks noGrp="1"/>
          </p:cNvSpPr>
          <p:nvPr>
            <p:ph type="dt" sz="half" idx="12"/>
          </p:nvPr>
        </p:nvSpPr>
        <p:spPr/>
        <p:txBody>
          <a:bodyPr/>
          <a:lstStyle/>
          <a:p>
            <a:r>
              <a:rPr lang="de-DE"/>
              <a:t>16.07.2026</a:t>
            </a:r>
          </a:p>
        </p:txBody>
      </p:sp>
      <p:pic>
        <p:nvPicPr>
          <p:cNvPr id="9" name="Inhaltsplatzhalter 8">
            <a:extLst>
              <a:ext uri="{FF2B5EF4-FFF2-40B4-BE49-F238E27FC236}">
                <a16:creationId xmlns:a16="http://schemas.microsoft.com/office/drawing/2014/main" id="{5AD18B85-441C-A6ED-1F44-169EB76A5913}"/>
              </a:ext>
            </a:extLst>
          </p:cNvPr>
          <p:cNvPicPr>
            <a:picLocks noGrp="1" noChangeAspect="1"/>
          </p:cNvPicPr>
          <p:nvPr>
            <p:ph sz="quarter" idx="13"/>
          </p:nvPr>
        </p:nvPicPr>
        <p:blipFill>
          <a:blip r:embed="rId3"/>
          <a:stretch>
            <a:fillRect/>
          </a:stretch>
        </p:blipFill>
        <p:spPr>
          <a:xfrm>
            <a:off x="341312" y="1942409"/>
            <a:ext cx="6028951" cy="2973181"/>
          </a:xfrm>
          <a:prstGeom prst="rect">
            <a:avLst/>
          </a:prstGeom>
        </p:spPr>
      </p:pic>
      <p:sp>
        <p:nvSpPr>
          <p:cNvPr id="10" name="Inhaltsplatzhalter 9">
            <a:extLst>
              <a:ext uri="{FF2B5EF4-FFF2-40B4-BE49-F238E27FC236}">
                <a16:creationId xmlns:a16="http://schemas.microsoft.com/office/drawing/2014/main" id="{F6F33955-C302-D8CD-0F72-37CDC29CBBA0}"/>
              </a:ext>
            </a:extLst>
          </p:cNvPr>
          <p:cNvSpPr>
            <a:spLocks noGrp="1"/>
          </p:cNvSpPr>
          <p:nvPr>
            <p:ph sz="quarter" idx="14"/>
          </p:nvPr>
        </p:nvSpPr>
        <p:spPr/>
        <p:txBody>
          <a:bodyPr/>
          <a:lstStyle/>
          <a:p>
            <a:pPr marL="400050">
              <a:buFont typeface="Arial" panose="020B0604020202020204" pitchFamily="34" charset="0"/>
              <a:buChar char="•"/>
            </a:pPr>
            <a:r>
              <a:rPr lang="de-DE" dirty="0"/>
              <a:t>Train: </a:t>
            </a:r>
          </a:p>
          <a:p>
            <a:pPr lvl="1">
              <a:buFont typeface="Arial" panose="020B0604020202020204" pitchFamily="34" charset="0"/>
              <a:buChar char="•"/>
            </a:pPr>
            <a:r>
              <a:rPr lang="de-DE" dirty="0"/>
              <a:t>Z01, Z02 + </a:t>
            </a:r>
            <a:br>
              <a:rPr lang="de-DE" dirty="0"/>
            </a:br>
            <a:r>
              <a:rPr lang="de-DE" dirty="0"/>
              <a:t>Z05-Positionen </a:t>
            </a:r>
            <a:br>
              <a:rPr lang="de-DE" dirty="0"/>
            </a:br>
            <a:r>
              <a:rPr lang="de-DE" dirty="0"/>
              <a:t>Pos00, Pos01, Pos02, Pos04, Pos06, Pos08</a:t>
            </a:r>
          </a:p>
          <a:p>
            <a:pPr>
              <a:buFont typeface="Arial" panose="020B0604020202020204" pitchFamily="34" charset="0"/>
              <a:buChar char="•"/>
            </a:pPr>
            <a:r>
              <a:rPr lang="de-DE" dirty="0"/>
              <a:t>Dev:  </a:t>
            </a:r>
          </a:p>
          <a:p>
            <a:pPr lvl="1">
              <a:buFont typeface="Arial" panose="020B0604020202020204" pitchFamily="34" charset="0"/>
              <a:buChar char="•"/>
            </a:pPr>
            <a:r>
              <a:rPr lang="de-DE" dirty="0"/>
              <a:t>Z04      + Z05-Positionen Pos03, Pos05</a:t>
            </a:r>
          </a:p>
          <a:p>
            <a:pPr>
              <a:buFont typeface="Arial" panose="020B0604020202020204" pitchFamily="34" charset="0"/>
              <a:buChar char="•"/>
            </a:pPr>
            <a:r>
              <a:rPr lang="de-DE" dirty="0"/>
              <a:t>Test:  </a:t>
            </a:r>
          </a:p>
          <a:p>
            <a:pPr lvl="1">
              <a:buFont typeface="Arial" panose="020B0604020202020204" pitchFamily="34" charset="0"/>
              <a:buChar char="•"/>
            </a:pPr>
            <a:r>
              <a:rPr lang="de-DE" dirty="0"/>
              <a:t>Z03      + Z05-Positionen Pos07, Pos09</a:t>
            </a:r>
          </a:p>
          <a:p>
            <a:endParaRPr lang="de-DE" dirty="0"/>
          </a:p>
        </p:txBody>
      </p:sp>
      <p:sp>
        <p:nvSpPr>
          <p:cNvPr id="11" name="Foliennummernplatzhalter 10">
            <a:extLst>
              <a:ext uri="{FF2B5EF4-FFF2-40B4-BE49-F238E27FC236}">
                <a16:creationId xmlns:a16="http://schemas.microsoft.com/office/drawing/2014/main" id="{156E314E-BF1C-F73F-2354-4146EF630ABE}"/>
              </a:ext>
            </a:extLst>
          </p:cNvPr>
          <p:cNvSpPr>
            <a:spLocks noGrp="1"/>
          </p:cNvSpPr>
          <p:nvPr>
            <p:ph type="sldNum" sz="quarter" idx="10"/>
          </p:nvPr>
        </p:nvSpPr>
        <p:spPr/>
        <p:txBody>
          <a:bodyPr/>
          <a:lstStyle/>
          <a:p>
            <a:fld id="{80B4FCE6-DC73-4135-BC56-1F242D45A84C}" type="slidenum">
              <a:rPr lang="de-DE" smtClean="0"/>
              <a:t>8</a:t>
            </a:fld>
            <a:endParaRPr lang="de-DE"/>
          </a:p>
        </p:txBody>
      </p:sp>
    </p:spTree>
    <p:extLst>
      <p:ext uri="{BB962C8B-B14F-4D97-AF65-F5344CB8AC3E}">
        <p14:creationId xmlns:p14="http://schemas.microsoft.com/office/powerpoint/2010/main" val="2853938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01B9E-346B-3528-8989-0CC87ABBC468}"/>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0C57D15E-CCA8-224B-43C2-BF840F74E7FD}"/>
              </a:ext>
            </a:extLst>
          </p:cNvPr>
          <p:cNvSpPr>
            <a:spLocks noGrp="1"/>
          </p:cNvSpPr>
          <p:nvPr>
            <p:ph type="title"/>
          </p:nvPr>
        </p:nvSpPr>
        <p:spPr>
          <a:xfrm>
            <a:off x="341810" y="567600"/>
            <a:ext cx="5646759" cy="706030"/>
          </a:xfrm>
        </p:spPr>
        <p:txBody>
          <a:bodyPr/>
          <a:lstStyle/>
          <a:p>
            <a:r>
              <a:rPr lang="de-DE" sz="3200" dirty="0">
                <a:ea typeface="ヒラギノ角ゴ Pro W3"/>
              </a:rPr>
              <a:t>MLP-Modell</a:t>
            </a:r>
            <a:endParaRPr lang="de-DE" dirty="0"/>
          </a:p>
        </p:txBody>
      </p:sp>
      <p:sp>
        <p:nvSpPr>
          <p:cNvPr id="6" name="Inhaltsplatzhalter 9">
            <a:extLst>
              <a:ext uri="{FF2B5EF4-FFF2-40B4-BE49-F238E27FC236}">
                <a16:creationId xmlns:a16="http://schemas.microsoft.com/office/drawing/2014/main" id="{7AFC9A66-8356-7CE3-2D1D-54900DD9AADA}"/>
              </a:ext>
            </a:extLst>
          </p:cNvPr>
          <p:cNvSpPr txBox="1">
            <a:spLocks/>
          </p:cNvSpPr>
          <p:nvPr/>
        </p:nvSpPr>
        <p:spPr bwMode="auto">
          <a:xfrm>
            <a:off x="341811" y="1509009"/>
            <a:ext cx="8203099" cy="425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Lucida Grande" charset="0"/>
              <a:buChar char="·"/>
              <a:defRPr sz="2400">
                <a:solidFill>
                  <a:srgbClr val="414141"/>
                </a:solidFill>
                <a:latin typeface="+mn-lt"/>
                <a:ea typeface="+mn-ea"/>
                <a:cs typeface="+mn-cs"/>
              </a:defRPr>
            </a:lvl1pPr>
            <a:lvl2pPr marL="742950" indent="-285750" algn="l" rtl="0" eaLnBrk="1" fontAlgn="base" hangingPunct="1">
              <a:spcBef>
                <a:spcPct val="20000"/>
              </a:spcBef>
              <a:spcAft>
                <a:spcPct val="0"/>
              </a:spcAft>
              <a:buFont typeface="Lucida Grande" charset="0"/>
              <a:buChar char="·"/>
              <a:defRPr sz="2000">
                <a:solidFill>
                  <a:srgbClr val="414141"/>
                </a:solidFill>
                <a:latin typeface="+mn-lt"/>
                <a:ea typeface="+mn-ea"/>
                <a:cs typeface="+mn-cs"/>
              </a:defRPr>
            </a:lvl2pPr>
            <a:lvl3pPr marL="1143000" indent="-228600" algn="l" rtl="0" eaLnBrk="1" fontAlgn="base" hangingPunct="1">
              <a:spcBef>
                <a:spcPct val="20000"/>
              </a:spcBef>
              <a:spcAft>
                <a:spcPct val="0"/>
              </a:spcAft>
              <a:buFont typeface="Lucida Grande" charset="0"/>
              <a:buChar char="·"/>
              <a:defRPr>
                <a:solidFill>
                  <a:srgbClr val="414141"/>
                </a:solidFill>
                <a:latin typeface="+mn-lt"/>
                <a:ea typeface="+mn-ea"/>
                <a:cs typeface="+mn-cs"/>
              </a:defRPr>
            </a:lvl3pPr>
            <a:lvl4pPr marL="1144588" algn="l" rtl="0" eaLnBrk="1" fontAlgn="base" hangingPunct="1">
              <a:spcBef>
                <a:spcPct val="20000"/>
              </a:spcBef>
              <a:spcAft>
                <a:spcPct val="0"/>
              </a:spcAft>
              <a:buClr>
                <a:srgbClr val="414141"/>
              </a:buClr>
              <a:defRPr>
                <a:solidFill>
                  <a:srgbClr val="414141"/>
                </a:solidFill>
                <a:latin typeface="Courier New"/>
                <a:ea typeface="+mn-ea"/>
                <a:cs typeface="+mn-cs"/>
              </a:defRPr>
            </a:lvl4pPr>
            <a:lvl5pPr marL="1144588" indent="-228600" algn="l" rtl="0" eaLnBrk="1" fontAlgn="base" hangingPunct="1">
              <a:spcBef>
                <a:spcPct val="20000"/>
              </a:spcBef>
              <a:spcAft>
                <a:spcPct val="0"/>
              </a:spcAft>
              <a:buFont typeface="Lucida Grande" charset="0"/>
              <a:buChar char="·"/>
              <a:defRPr>
                <a:solidFill>
                  <a:srgbClr val="A8CC2F"/>
                </a:solidFill>
                <a:latin typeface="+mn-lt"/>
                <a:ea typeface="+mn-ea"/>
                <a:cs typeface="+mn-cs"/>
              </a:defRPr>
            </a:lvl5pPr>
            <a:lvl6pPr marL="2438400" indent="-228600" algn="l" rtl="0" eaLnBrk="1" fontAlgn="base" hangingPunct="1">
              <a:spcBef>
                <a:spcPct val="20000"/>
              </a:spcBef>
              <a:spcAft>
                <a:spcPct val="0"/>
              </a:spcAft>
              <a:defRPr sz="1600">
                <a:solidFill>
                  <a:srgbClr val="414141"/>
                </a:solidFill>
                <a:latin typeface="+mn-lt"/>
                <a:ea typeface="+mn-ea"/>
                <a:cs typeface="+mn-cs"/>
              </a:defRPr>
            </a:lvl6pPr>
            <a:lvl7pPr marL="2895600" indent="-228600" algn="l" rtl="0" eaLnBrk="1" fontAlgn="base" hangingPunct="1">
              <a:spcBef>
                <a:spcPct val="20000"/>
              </a:spcBef>
              <a:spcAft>
                <a:spcPct val="0"/>
              </a:spcAft>
              <a:defRPr sz="1600">
                <a:solidFill>
                  <a:srgbClr val="414141"/>
                </a:solidFill>
                <a:latin typeface="+mn-lt"/>
                <a:ea typeface="+mn-ea"/>
                <a:cs typeface="+mn-cs"/>
              </a:defRPr>
            </a:lvl7pPr>
            <a:lvl8pPr marL="3352800" indent="-228600" algn="l" rtl="0" eaLnBrk="1" fontAlgn="base" hangingPunct="1">
              <a:spcBef>
                <a:spcPct val="20000"/>
              </a:spcBef>
              <a:spcAft>
                <a:spcPct val="0"/>
              </a:spcAft>
              <a:defRPr sz="1600">
                <a:solidFill>
                  <a:srgbClr val="414141"/>
                </a:solidFill>
                <a:latin typeface="+mn-lt"/>
                <a:ea typeface="+mn-ea"/>
                <a:cs typeface="+mn-cs"/>
              </a:defRPr>
            </a:lvl8pPr>
            <a:lvl9pPr marL="3810000" indent="-228600" algn="l" rtl="0" eaLnBrk="1" fontAlgn="base" hangingPunct="1">
              <a:spcBef>
                <a:spcPct val="20000"/>
              </a:spcBef>
              <a:spcAft>
                <a:spcPct val="0"/>
              </a:spcAft>
              <a:defRPr sz="1600">
                <a:solidFill>
                  <a:srgbClr val="414141"/>
                </a:solidFill>
                <a:latin typeface="+mn-lt"/>
                <a:ea typeface="+mn-ea"/>
                <a:cs typeface="+mn-cs"/>
              </a:defRPr>
            </a:lvl9pPr>
          </a:lstStyle>
          <a:p>
            <a:pPr>
              <a:buFont typeface="Arial" panose="020B0604020202020204" pitchFamily="34" charset="0"/>
              <a:buChar char="•"/>
            </a:pPr>
            <a:r>
              <a:rPr lang="de-DE" dirty="0"/>
              <a:t>Pipeline je Channel:</a:t>
            </a:r>
          </a:p>
          <a:p>
            <a:pPr lvl="1">
              <a:buFont typeface="Arial" panose="020B0604020202020204" pitchFamily="34" charset="0"/>
              <a:buChar char="•"/>
            </a:pPr>
            <a:r>
              <a:rPr lang="de-DE" dirty="0" err="1"/>
              <a:t>StandardScaler</a:t>
            </a:r>
            <a:r>
              <a:rPr lang="de-DE" dirty="0"/>
              <a:t> -&gt; </a:t>
            </a:r>
            <a:r>
              <a:rPr lang="de-DE" dirty="0" err="1"/>
              <a:t>MLPClassifier</a:t>
            </a:r>
            <a:endParaRPr lang="de-DE" dirty="0"/>
          </a:p>
          <a:p>
            <a:pPr>
              <a:buFont typeface="Arial" panose="020B0604020202020204" pitchFamily="34" charset="0"/>
              <a:buChar char="•"/>
            </a:pPr>
            <a:r>
              <a:rPr lang="de-DE" dirty="0"/>
              <a:t>Skalierung nur auf Training fitten</a:t>
            </a:r>
          </a:p>
          <a:p>
            <a:pPr>
              <a:buFont typeface="Arial" panose="020B0604020202020204" pitchFamily="34" charset="0"/>
              <a:buChar char="•"/>
            </a:pPr>
            <a:r>
              <a:rPr lang="de-DE" dirty="0"/>
              <a:t>Finale Features: nur Signalmerkmale des jeweiligen Channels</a:t>
            </a:r>
          </a:p>
          <a:p>
            <a:pPr>
              <a:buFont typeface="Arial" panose="020B0604020202020204" pitchFamily="34" charset="0"/>
              <a:buChar char="•"/>
            </a:pPr>
            <a:r>
              <a:rPr lang="de-DE" dirty="0"/>
              <a:t>Kleine Netze wegen kleinem Datensatz</a:t>
            </a:r>
          </a:p>
        </p:txBody>
      </p:sp>
      <p:sp>
        <p:nvSpPr>
          <p:cNvPr id="2" name="Datumsplatzhalter 1">
            <a:extLst>
              <a:ext uri="{FF2B5EF4-FFF2-40B4-BE49-F238E27FC236}">
                <a16:creationId xmlns:a16="http://schemas.microsoft.com/office/drawing/2014/main" id="{D3CA445C-F940-E013-1AC9-1A366EEA3614}"/>
              </a:ext>
            </a:extLst>
          </p:cNvPr>
          <p:cNvSpPr>
            <a:spLocks noGrp="1"/>
          </p:cNvSpPr>
          <p:nvPr>
            <p:ph type="dt" sz="half" idx="12"/>
          </p:nvPr>
        </p:nvSpPr>
        <p:spPr/>
        <p:txBody>
          <a:bodyPr/>
          <a:lstStyle/>
          <a:p>
            <a:r>
              <a:rPr lang="de-DE"/>
              <a:t>16.07.2026</a:t>
            </a:r>
          </a:p>
        </p:txBody>
      </p:sp>
      <p:sp>
        <p:nvSpPr>
          <p:cNvPr id="7" name="Fußzeilenplatzhalter 6">
            <a:extLst>
              <a:ext uri="{FF2B5EF4-FFF2-40B4-BE49-F238E27FC236}">
                <a16:creationId xmlns:a16="http://schemas.microsoft.com/office/drawing/2014/main" id="{6ABEE24C-37F3-78D2-21C6-88F44D571121}"/>
              </a:ext>
            </a:extLst>
          </p:cNvPr>
          <p:cNvSpPr>
            <a:spLocks noGrp="1"/>
          </p:cNvSpPr>
          <p:nvPr>
            <p:ph type="ftr" sz="quarter" idx="11"/>
          </p:nvPr>
        </p:nvSpPr>
        <p:spPr/>
        <p:txBody>
          <a:bodyPr/>
          <a:lstStyle/>
          <a:p>
            <a:r>
              <a:rPr lang="de-DE"/>
              <a:t>Materialdiagnostik: Task 3</a:t>
            </a:r>
            <a:endParaRPr lang="de-DE" dirty="0"/>
          </a:p>
        </p:txBody>
      </p:sp>
      <p:sp>
        <p:nvSpPr>
          <p:cNvPr id="10" name="Foliennummernplatzhalter 9">
            <a:extLst>
              <a:ext uri="{FF2B5EF4-FFF2-40B4-BE49-F238E27FC236}">
                <a16:creationId xmlns:a16="http://schemas.microsoft.com/office/drawing/2014/main" id="{774AB4C3-4602-6C57-8EB1-7749D74FE5AF}"/>
              </a:ext>
            </a:extLst>
          </p:cNvPr>
          <p:cNvSpPr>
            <a:spLocks noGrp="1"/>
          </p:cNvSpPr>
          <p:nvPr>
            <p:ph type="sldNum" sz="quarter" idx="10"/>
          </p:nvPr>
        </p:nvSpPr>
        <p:spPr/>
        <p:txBody>
          <a:bodyPr/>
          <a:lstStyle/>
          <a:p>
            <a:fld id="{80B4FCE6-DC73-4135-BC56-1F242D45A84C}" type="slidenum">
              <a:rPr lang="de-DE" smtClean="0"/>
              <a:t>9</a:t>
            </a:fld>
            <a:endParaRPr lang="de-DE"/>
          </a:p>
        </p:txBody>
      </p:sp>
    </p:spTree>
    <p:extLst>
      <p:ext uri="{BB962C8B-B14F-4D97-AF65-F5344CB8AC3E}">
        <p14:creationId xmlns:p14="http://schemas.microsoft.com/office/powerpoint/2010/main" val="3200753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A0095-53C7-3F5E-182B-1605E00E0FC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D757B5A5-6051-FFCC-0340-6B2A2309AADC}"/>
              </a:ext>
            </a:extLst>
          </p:cNvPr>
          <p:cNvSpPr>
            <a:spLocks noGrp="1"/>
          </p:cNvSpPr>
          <p:nvPr>
            <p:ph type="title"/>
          </p:nvPr>
        </p:nvSpPr>
        <p:spPr/>
        <p:txBody>
          <a:bodyPr/>
          <a:lstStyle/>
          <a:p>
            <a:r>
              <a:rPr lang="de-DE" sz="3200" dirty="0"/>
              <a:t>Hyperparameter-Suche</a:t>
            </a:r>
          </a:p>
        </p:txBody>
      </p:sp>
      <p:sp>
        <p:nvSpPr>
          <p:cNvPr id="6" name="Fußzeilenplatzhalter 5">
            <a:extLst>
              <a:ext uri="{FF2B5EF4-FFF2-40B4-BE49-F238E27FC236}">
                <a16:creationId xmlns:a16="http://schemas.microsoft.com/office/drawing/2014/main" id="{8AEF4587-D828-91EE-B123-AA8CB8A7F45A}"/>
              </a:ext>
            </a:extLst>
          </p:cNvPr>
          <p:cNvSpPr>
            <a:spLocks noGrp="1"/>
          </p:cNvSpPr>
          <p:nvPr>
            <p:ph type="ftr" sz="quarter" idx="11"/>
          </p:nvPr>
        </p:nvSpPr>
        <p:spPr/>
        <p:txBody>
          <a:bodyPr/>
          <a:lstStyle/>
          <a:p>
            <a:r>
              <a:rPr lang="de-DE"/>
              <a:t>Materialdiagnostik: Task 3</a:t>
            </a:r>
            <a:endParaRPr lang="de-DE" dirty="0"/>
          </a:p>
        </p:txBody>
      </p:sp>
      <p:sp>
        <p:nvSpPr>
          <p:cNvPr id="2" name="Datumsplatzhalter 1">
            <a:extLst>
              <a:ext uri="{FF2B5EF4-FFF2-40B4-BE49-F238E27FC236}">
                <a16:creationId xmlns:a16="http://schemas.microsoft.com/office/drawing/2014/main" id="{CE98F3A7-4DE5-447B-E8E2-5AA1A1F5B2C0}"/>
              </a:ext>
            </a:extLst>
          </p:cNvPr>
          <p:cNvSpPr>
            <a:spLocks noGrp="1"/>
          </p:cNvSpPr>
          <p:nvPr>
            <p:ph type="dt" sz="half" idx="12"/>
          </p:nvPr>
        </p:nvSpPr>
        <p:spPr/>
        <p:txBody>
          <a:bodyPr/>
          <a:lstStyle/>
          <a:p>
            <a:r>
              <a:rPr lang="de-DE"/>
              <a:t>16.07.2026</a:t>
            </a:r>
          </a:p>
        </p:txBody>
      </p:sp>
      <p:sp>
        <p:nvSpPr>
          <p:cNvPr id="10" name="Inhaltsplatzhalter 9">
            <a:extLst>
              <a:ext uri="{FF2B5EF4-FFF2-40B4-BE49-F238E27FC236}">
                <a16:creationId xmlns:a16="http://schemas.microsoft.com/office/drawing/2014/main" id="{20B76E1B-945A-5A48-7E66-249178791166}"/>
              </a:ext>
            </a:extLst>
          </p:cNvPr>
          <p:cNvSpPr>
            <a:spLocks noGrp="1"/>
          </p:cNvSpPr>
          <p:nvPr>
            <p:ph sz="quarter" idx="13"/>
          </p:nvPr>
        </p:nvSpPr>
        <p:spPr>
          <a:xfrm>
            <a:off x="341312" y="1620000"/>
            <a:ext cx="8476867" cy="965545"/>
          </a:xfrm>
        </p:spPr>
        <p:txBody>
          <a:bodyPr/>
          <a:lstStyle/>
          <a:p>
            <a:pPr>
              <a:buFont typeface="Arial" panose="020B0604020202020204" pitchFamily="34" charset="0"/>
              <a:buChar char="•"/>
            </a:pPr>
            <a:r>
              <a:rPr lang="de-DE" dirty="0"/>
              <a:t>Optimierung auf Entwicklungssatz</a:t>
            </a:r>
          </a:p>
          <a:p>
            <a:pPr>
              <a:buFont typeface="Arial" panose="020B0604020202020204" pitchFamily="34" charset="0"/>
              <a:buChar char="•"/>
            </a:pPr>
            <a:r>
              <a:rPr lang="de-DE" dirty="0"/>
              <a:t>Hidden Layer, Lernrate, Batchgröße, Regularisierung </a:t>
            </a:r>
            <a:r>
              <a:rPr lang="de-DE" dirty="0" err="1"/>
              <a:t>alpha</a:t>
            </a:r>
            <a:endParaRPr lang="de-DE" dirty="0"/>
          </a:p>
          <a:p>
            <a:endParaRPr lang="de-DE" dirty="0"/>
          </a:p>
        </p:txBody>
      </p:sp>
      <p:pic>
        <p:nvPicPr>
          <p:cNvPr id="13" name="Inhaltsplatzhalter 12">
            <a:extLst>
              <a:ext uri="{FF2B5EF4-FFF2-40B4-BE49-F238E27FC236}">
                <a16:creationId xmlns:a16="http://schemas.microsoft.com/office/drawing/2014/main" id="{3A09BFB8-89AB-C482-3A0A-A8AB1AA7F62E}"/>
              </a:ext>
            </a:extLst>
          </p:cNvPr>
          <p:cNvPicPr>
            <a:picLocks noGrp="1" noChangeAspect="1"/>
          </p:cNvPicPr>
          <p:nvPr>
            <p:ph sz="quarter" idx="14"/>
          </p:nvPr>
        </p:nvPicPr>
        <p:blipFill>
          <a:blip r:embed="rId3"/>
          <a:stretch>
            <a:fillRect/>
          </a:stretch>
        </p:blipFill>
        <p:spPr>
          <a:xfrm>
            <a:off x="1857566" y="2631831"/>
            <a:ext cx="8476867" cy="3816026"/>
          </a:xfrm>
          <a:prstGeom prst="rect">
            <a:avLst/>
          </a:prstGeom>
        </p:spPr>
      </p:pic>
      <p:sp>
        <p:nvSpPr>
          <p:cNvPr id="14" name="Foliennummernplatzhalter 13">
            <a:extLst>
              <a:ext uri="{FF2B5EF4-FFF2-40B4-BE49-F238E27FC236}">
                <a16:creationId xmlns:a16="http://schemas.microsoft.com/office/drawing/2014/main" id="{F5D0BE65-A2B4-48E0-17C8-1A3BCBA53756}"/>
              </a:ext>
            </a:extLst>
          </p:cNvPr>
          <p:cNvSpPr>
            <a:spLocks noGrp="1"/>
          </p:cNvSpPr>
          <p:nvPr>
            <p:ph type="sldNum" sz="quarter" idx="10"/>
          </p:nvPr>
        </p:nvSpPr>
        <p:spPr/>
        <p:txBody>
          <a:bodyPr/>
          <a:lstStyle/>
          <a:p>
            <a:fld id="{80B4FCE6-DC73-4135-BC56-1F242D45A84C}" type="slidenum">
              <a:rPr lang="de-DE" smtClean="0"/>
              <a:t>10</a:t>
            </a:fld>
            <a:endParaRPr lang="de-DE"/>
          </a:p>
        </p:txBody>
      </p:sp>
    </p:spTree>
    <p:extLst>
      <p:ext uri="{BB962C8B-B14F-4D97-AF65-F5344CB8AC3E}">
        <p14:creationId xmlns:p14="http://schemas.microsoft.com/office/powerpoint/2010/main" val="1026886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324D3E-0F2F-AB0F-B173-23CAC68258D5}"/>
              </a:ext>
            </a:extLst>
          </p:cNvPr>
          <p:cNvSpPr>
            <a:spLocks noGrp="1"/>
          </p:cNvSpPr>
          <p:nvPr>
            <p:ph type="title"/>
          </p:nvPr>
        </p:nvSpPr>
        <p:spPr>
          <a:xfrm>
            <a:off x="341811" y="567600"/>
            <a:ext cx="6328812" cy="706030"/>
          </a:xfrm>
        </p:spPr>
        <p:txBody>
          <a:bodyPr/>
          <a:lstStyle/>
          <a:p>
            <a:r>
              <a:rPr lang="de-DE" sz="3200" dirty="0"/>
              <a:t>Code-Überblick</a:t>
            </a:r>
          </a:p>
        </p:txBody>
      </p:sp>
      <p:sp>
        <p:nvSpPr>
          <p:cNvPr id="3" name="Datumsplatzhalter 2">
            <a:extLst>
              <a:ext uri="{FF2B5EF4-FFF2-40B4-BE49-F238E27FC236}">
                <a16:creationId xmlns:a16="http://schemas.microsoft.com/office/drawing/2014/main" id="{10DEE32E-D555-A5C0-5E56-51A5968FB217}"/>
              </a:ext>
            </a:extLst>
          </p:cNvPr>
          <p:cNvSpPr>
            <a:spLocks noGrp="1"/>
          </p:cNvSpPr>
          <p:nvPr>
            <p:ph type="dt" sz="half" idx="12"/>
          </p:nvPr>
        </p:nvSpPr>
        <p:spPr/>
        <p:txBody>
          <a:bodyPr/>
          <a:lstStyle/>
          <a:p>
            <a:r>
              <a:rPr lang="de-DE"/>
              <a:t>16.07.2026</a:t>
            </a:r>
          </a:p>
        </p:txBody>
      </p:sp>
      <p:sp>
        <p:nvSpPr>
          <p:cNvPr id="5" name="Fußzeilenplatzhalter 4">
            <a:extLst>
              <a:ext uri="{FF2B5EF4-FFF2-40B4-BE49-F238E27FC236}">
                <a16:creationId xmlns:a16="http://schemas.microsoft.com/office/drawing/2014/main" id="{769D6D17-25F8-CC0D-9807-336DAF75B7C5}"/>
              </a:ext>
            </a:extLst>
          </p:cNvPr>
          <p:cNvSpPr>
            <a:spLocks noGrp="1"/>
          </p:cNvSpPr>
          <p:nvPr>
            <p:ph type="ftr" sz="quarter" idx="11"/>
          </p:nvPr>
        </p:nvSpPr>
        <p:spPr/>
        <p:txBody>
          <a:bodyPr/>
          <a:lstStyle/>
          <a:p>
            <a:r>
              <a:rPr lang="de-DE"/>
              <a:t>Materialdiagnostik: Task 3</a:t>
            </a:r>
            <a:endParaRPr lang="de-DE" dirty="0"/>
          </a:p>
        </p:txBody>
      </p:sp>
      <p:sp>
        <p:nvSpPr>
          <p:cNvPr id="7" name="Inhaltsplatzhalter 6">
            <a:extLst>
              <a:ext uri="{FF2B5EF4-FFF2-40B4-BE49-F238E27FC236}">
                <a16:creationId xmlns:a16="http://schemas.microsoft.com/office/drawing/2014/main" id="{D292BAE9-0055-7A55-987D-2D8376847BEA}"/>
              </a:ext>
            </a:extLst>
          </p:cNvPr>
          <p:cNvSpPr>
            <a:spLocks noGrp="1"/>
          </p:cNvSpPr>
          <p:nvPr>
            <p:ph sz="quarter" idx="13"/>
          </p:nvPr>
        </p:nvSpPr>
        <p:spPr>
          <a:xfrm>
            <a:off x="341811" y="1696595"/>
            <a:ext cx="11512052" cy="4395788"/>
          </a:xfrm>
        </p:spPr>
        <p:txBody>
          <a:bodyPr/>
          <a:lstStyle/>
          <a:p>
            <a:pPr>
              <a:buFont typeface="Arial" panose="020B0604020202020204" pitchFamily="34" charset="0"/>
              <a:buChar char="•"/>
            </a:pPr>
            <a:r>
              <a:rPr lang="de-DE" dirty="0"/>
              <a:t>main.py: </a:t>
            </a:r>
          </a:p>
          <a:p>
            <a:pPr lvl="1">
              <a:buFont typeface="Arial" panose="020B0604020202020204" pitchFamily="34" charset="0"/>
              <a:buChar char="•"/>
            </a:pPr>
            <a:r>
              <a:rPr lang="de-DE" dirty="0"/>
              <a:t>steuert die komplette Pipeline</a:t>
            </a:r>
          </a:p>
          <a:p>
            <a:pPr>
              <a:buFont typeface="Arial" panose="020B0604020202020204" pitchFamily="34" charset="0"/>
              <a:buChar char="•"/>
            </a:pPr>
            <a:r>
              <a:rPr lang="de-DE" dirty="0"/>
              <a:t>dataframe_manager.py: </a:t>
            </a:r>
          </a:p>
          <a:p>
            <a:pPr lvl="1">
              <a:buFont typeface="Arial" panose="020B0604020202020204" pitchFamily="34" charset="0"/>
              <a:buChar char="•"/>
            </a:pPr>
            <a:r>
              <a:rPr lang="de-DE" dirty="0"/>
              <a:t>lädt WAV-Dateien und Metadaten</a:t>
            </a:r>
          </a:p>
          <a:p>
            <a:pPr>
              <a:buFont typeface="Arial" panose="020B0604020202020204" pitchFamily="34" charset="0"/>
              <a:buChar char="•"/>
            </a:pPr>
            <a:r>
              <a:rPr lang="de-DE" dirty="0"/>
              <a:t>split.py: </a:t>
            </a:r>
          </a:p>
          <a:p>
            <a:pPr lvl="1">
              <a:buFont typeface="Arial" panose="020B0604020202020204" pitchFamily="34" charset="0"/>
              <a:buChar char="•"/>
            </a:pPr>
            <a:r>
              <a:rPr lang="de-DE" dirty="0"/>
              <a:t>ordnet Rohsignale Train, Dev und Test zu</a:t>
            </a:r>
          </a:p>
          <a:p>
            <a:pPr>
              <a:buFont typeface="Arial" panose="020B0604020202020204" pitchFamily="34" charset="0"/>
              <a:buChar char="•"/>
            </a:pPr>
            <a:r>
              <a:rPr lang="de-DE" dirty="0"/>
              <a:t>extraction.py: </a:t>
            </a:r>
          </a:p>
          <a:p>
            <a:pPr lvl="1">
              <a:buFont typeface="Arial" panose="020B0604020202020204" pitchFamily="34" charset="0"/>
              <a:buChar char="•"/>
            </a:pPr>
            <a:r>
              <a:rPr lang="de-DE" dirty="0"/>
              <a:t>berechnet Signalmerkmale pro Datei</a:t>
            </a:r>
          </a:p>
          <a:p>
            <a:pPr>
              <a:buFont typeface="Arial" panose="020B0604020202020204" pitchFamily="34" charset="0"/>
              <a:buChar char="•"/>
            </a:pPr>
            <a:r>
              <a:rPr lang="de-DE" dirty="0"/>
              <a:t>model.py: </a:t>
            </a:r>
          </a:p>
          <a:p>
            <a:pPr lvl="1">
              <a:buFont typeface="Arial" panose="020B0604020202020204" pitchFamily="34" charset="0"/>
              <a:buChar char="•"/>
            </a:pPr>
            <a:r>
              <a:rPr lang="de-DE" dirty="0"/>
              <a:t>trainiert, optimiert und bewertet die MLP-Modelle</a:t>
            </a:r>
          </a:p>
          <a:p>
            <a:endParaRPr lang="de-DE" dirty="0"/>
          </a:p>
        </p:txBody>
      </p:sp>
      <p:sp>
        <p:nvSpPr>
          <p:cNvPr id="8" name="Foliennummernplatzhalter 7">
            <a:extLst>
              <a:ext uri="{FF2B5EF4-FFF2-40B4-BE49-F238E27FC236}">
                <a16:creationId xmlns:a16="http://schemas.microsoft.com/office/drawing/2014/main" id="{2F72B419-304B-ACE9-A0CD-B2C1E713F427}"/>
              </a:ext>
            </a:extLst>
          </p:cNvPr>
          <p:cNvSpPr>
            <a:spLocks noGrp="1"/>
          </p:cNvSpPr>
          <p:nvPr>
            <p:ph type="sldNum" sz="quarter" idx="10"/>
          </p:nvPr>
        </p:nvSpPr>
        <p:spPr/>
        <p:txBody>
          <a:bodyPr/>
          <a:lstStyle/>
          <a:p>
            <a:fld id="{80B4FCE6-DC73-4135-BC56-1F242D45A84C}" type="slidenum">
              <a:rPr lang="de-DE" smtClean="0"/>
              <a:t>11</a:t>
            </a:fld>
            <a:endParaRPr lang="de-DE"/>
          </a:p>
        </p:txBody>
      </p:sp>
    </p:spTree>
    <p:extLst>
      <p:ext uri="{BB962C8B-B14F-4D97-AF65-F5344CB8AC3E}">
        <p14:creationId xmlns:p14="http://schemas.microsoft.com/office/powerpoint/2010/main" val="4106251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F3C4D-956F-CF44-1DA8-88DDD2237ABF}"/>
            </a:ext>
          </a:extLst>
        </p:cNvPr>
        <p:cNvGrpSpPr/>
        <p:nvPr/>
      </p:nvGrpSpPr>
      <p:grpSpPr>
        <a:xfrm>
          <a:off x="0" y="0"/>
          <a:ext cx="0" cy="0"/>
          <a:chOff x="0" y="0"/>
          <a:chExt cx="0" cy="0"/>
        </a:xfrm>
      </p:grpSpPr>
      <p:sp>
        <p:nvSpPr>
          <p:cNvPr id="13" name="Rechteck: eine Ecke abgerundet 12">
            <a:extLst>
              <a:ext uri="{FF2B5EF4-FFF2-40B4-BE49-F238E27FC236}">
                <a16:creationId xmlns:a16="http://schemas.microsoft.com/office/drawing/2014/main" id="{C084ADCD-CF21-F408-4472-3372DC76ABC1}"/>
              </a:ext>
            </a:extLst>
          </p:cNvPr>
          <p:cNvSpPr/>
          <p:nvPr/>
        </p:nvSpPr>
        <p:spPr bwMode="auto">
          <a:xfrm>
            <a:off x="6459536" y="1740625"/>
            <a:ext cx="750559" cy="704193"/>
          </a:xfrm>
          <a:prstGeom prst="round1Rect">
            <a:avLst/>
          </a:prstGeom>
          <a:solidFill>
            <a:schemeClr val="bg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de-DE" sz="1800" b="0" i="0" u="none" strike="noStrike" cap="none" normalizeH="0" baseline="0" dirty="0" err="1">
                <a:ln>
                  <a:noFill/>
                </a:ln>
                <a:solidFill>
                  <a:schemeClr val="tx1"/>
                </a:solidFill>
                <a:effectLst/>
                <a:latin typeface="Arial" pitchFamily="-109" charset="0"/>
                <a:ea typeface="ヒラギノ角ゴ Pro W3" pitchFamily="-109" charset="-128"/>
                <a:cs typeface="ヒラギノ角ゴ Pro W3" pitchFamily="-109" charset="-128"/>
              </a:rPr>
              <a:t>Ch</a:t>
            </a:r>
            <a:r>
              <a:rPr kumimoji="0" lang="de-DE" sz="18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rPr>
              <a:t> 1</a:t>
            </a:r>
            <a:endParaRPr kumimoji="0" lang="de-DE" sz="24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endParaRPr>
          </a:p>
        </p:txBody>
      </p:sp>
      <p:sp>
        <p:nvSpPr>
          <p:cNvPr id="2" name="Titel 1">
            <a:extLst>
              <a:ext uri="{FF2B5EF4-FFF2-40B4-BE49-F238E27FC236}">
                <a16:creationId xmlns:a16="http://schemas.microsoft.com/office/drawing/2014/main" id="{10501F1A-FCB7-133D-6F5D-FABA9A2F000C}"/>
              </a:ext>
            </a:extLst>
          </p:cNvPr>
          <p:cNvSpPr>
            <a:spLocks noGrp="1"/>
          </p:cNvSpPr>
          <p:nvPr>
            <p:ph type="title"/>
          </p:nvPr>
        </p:nvSpPr>
        <p:spPr/>
        <p:txBody>
          <a:bodyPr/>
          <a:lstStyle/>
          <a:p>
            <a:r>
              <a:rPr lang="de-DE" sz="3200" dirty="0"/>
              <a:t>Loss </a:t>
            </a:r>
            <a:r>
              <a:rPr lang="de-DE" sz="3200" dirty="0" err="1"/>
              <a:t>Curves</a:t>
            </a:r>
            <a:endParaRPr lang="de-DE" dirty="0"/>
          </a:p>
        </p:txBody>
      </p:sp>
      <p:sp>
        <p:nvSpPr>
          <p:cNvPr id="5" name="Fußzeilenplatzhalter 4">
            <a:extLst>
              <a:ext uri="{FF2B5EF4-FFF2-40B4-BE49-F238E27FC236}">
                <a16:creationId xmlns:a16="http://schemas.microsoft.com/office/drawing/2014/main" id="{B326B563-4C74-A0AC-BD19-B0D9D3AA03C6}"/>
              </a:ext>
            </a:extLst>
          </p:cNvPr>
          <p:cNvSpPr>
            <a:spLocks noGrp="1"/>
          </p:cNvSpPr>
          <p:nvPr>
            <p:ph type="ftr" sz="quarter" idx="11"/>
          </p:nvPr>
        </p:nvSpPr>
        <p:spPr/>
        <p:txBody>
          <a:bodyPr/>
          <a:lstStyle/>
          <a:p>
            <a:r>
              <a:rPr lang="de-DE"/>
              <a:t>Materialdiagnostik: Task 3</a:t>
            </a:r>
            <a:endParaRPr lang="de-DE" dirty="0"/>
          </a:p>
        </p:txBody>
      </p:sp>
      <p:sp>
        <p:nvSpPr>
          <p:cNvPr id="3" name="Datumsplatzhalter 2">
            <a:extLst>
              <a:ext uri="{FF2B5EF4-FFF2-40B4-BE49-F238E27FC236}">
                <a16:creationId xmlns:a16="http://schemas.microsoft.com/office/drawing/2014/main" id="{A6F37E5F-3907-6F85-DAC7-339604EB1496}"/>
              </a:ext>
            </a:extLst>
          </p:cNvPr>
          <p:cNvSpPr>
            <a:spLocks noGrp="1"/>
          </p:cNvSpPr>
          <p:nvPr>
            <p:ph type="dt" sz="half" idx="12"/>
          </p:nvPr>
        </p:nvSpPr>
        <p:spPr/>
        <p:txBody>
          <a:bodyPr/>
          <a:lstStyle/>
          <a:p>
            <a:r>
              <a:rPr lang="de-DE"/>
              <a:t>16.07.2026</a:t>
            </a:r>
          </a:p>
        </p:txBody>
      </p:sp>
      <p:sp>
        <p:nvSpPr>
          <p:cNvPr id="8" name="Inhaltsplatzhalter 7">
            <a:extLst>
              <a:ext uri="{FF2B5EF4-FFF2-40B4-BE49-F238E27FC236}">
                <a16:creationId xmlns:a16="http://schemas.microsoft.com/office/drawing/2014/main" id="{9E321134-F1B0-51A0-36A7-EE8C324D145B}"/>
              </a:ext>
            </a:extLst>
          </p:cNvPr>
          <p:cNvSpPr>
            <a:spLocks noGrp="1"/>
          </p:cNvSpPr>
          <p:nvPr>
            <p:ph sz="quarter" idx="13"/>
          </p:nvPr>
        </p:nvSpPr>
        <p:spPr/>
        <p:txBody>
          <a:bodyPr/>
          <a:lstStyle/>
          <a:p>
            <a:pPr>
              <a:buFont typeface="Arial" panose="020B0604020202020204" pitchFamily="34" charset="0"/>
              <a:buChar char="•"/>
            </a:pPr>
            <a:r>
              <a:rPr lang="de-DE" dirty="0"/>
              <a:t>Loss misst den Fehler der Modellvorhersagen</a:t>
            </a:r>
          </a:p>
          <a:p>
            <a:pPr>
              <a:buFont typeface="Arial" panose="020B0604020202020204" pitchFamily="34" charset="0"/>
              <a:buChar char="•"/>
            </a:pPr>
            <a:r>
              <a:rPr lang="de-DE" dirty="0"/>
              <a:t>Sinkende Kurve zeigt: Modell lernt</a:t>
            </a:r>
          </a:p>
          <a:p>
            <a:pPr>
              <a:buFont typeface="Arial" panose="020B0604020202020204" pitchFamily="34" charset="0"/>
              <a:buChar char="•"/>
            </a:pPr>
            <a:r>
              <a:rPr lang="de-DE" dirty="0"/>
              <a:t>Stabiler Verlauf zeigt: Training konvergiert</a:t>
            </a:r>
          </a:p>
          <a:p>
            <a:pPr>
              <a:buFont typeface="Arial" panose="020B0604020202020204" pitchFamily="34" charset="0"/>
              <a:buChar char="•"/>
            </a:pPr>
            <a:r>
              <a:rPr lang="de-DE" dirty="0"/>
              <a:t>Niedriger Loss allein beweist keine Generalisierung</a:t>
            </a:r>
          </a:p>
          <a:p>
            <a:pPr>
              <a:buFont typeface="Arial" panose="020B0604020202020204" pitchFamily="34" charset="0"/>
              <a:buChar char="•"/>
            </a:pPr>
            <a:r>
              <a:rPr lang="de-DE" dirty="0"/>
              <a:t>Deshalb zusätzlich: Dev/Test-Metriken, ROC/AUC, Learning </a:t>
            </a:r>
            <a:r>
              <a:rPr lang="de-DE" dirty="0" err="1"/>
              <a:t>Curves</a:t>
            </a:r>
            <a:endParaRPr lang="de-DE" dirty="0"/>
          </a:p>
        </p:txBody>
      </p:sp>
      <p:pic>
        <p:nvPicPr>
          <p:cNvPr id="11" name="Inhaltsplatzhalter 10">
            <a:extLst>
              <a:ext uri="{FF2B5EF4-FFF2-40B4-BE49-F238E27FC236}">
                <a16:creationId xmlns:a16="http://schemas.microsoft.com/office/drawing/2014/main" id="{C29B9310-6F11-0E1E-D9E3-58059F9BE356}"/>
              </a:ext>
            </a:extLst>
          </p:cNvPr>
          <p:cNvPicPr>
            <a:picLocks noGrp="1" noChangeAspect="1"/>
          </p:cNvPicPr>
          <p:nvPr>
            <p:ph sz="quarter" idx="14"/>
          </p:nvPr>
        </p:nvPicPr>
        <p:blipFill>
          <a:blip r:embed="rId3"/>
          <a:stretch>
            <a:fillRect/>
          </a:stretch>
        </p:blipFill>
        <p:spPr>
          <a:xfrm>
            <a:off x="6459538" y="2092722"/>
            <a:ext cx="5391150" cy="3369468"/>
          </a:xfrm>
          <a:prstGeom prst="rect">
            <a:avLst/>
          </a:prstGeom>
        </p:spPr>
      </p:pic>
      <p:sp>
        <p:nvSpPr>
          <p:cNvPr id="15" name="Rechteck: eine Ecke abgerundet 14">
            <a:extLst>
              <a:ext uri="{FF2B5EF4-FFF2-40B4-BE49-F238E27FC236}">
                <a16:creationId xmlns:a16="http://schemas.microsoft.com/office/drawing/2014/main" id="{00B6B237-AAA7-0524-D844-6633D85D7E7C}"/>
              </a:ext>
            </a:extLst>
          </p:cNvPr>
          <p:cNvSpPr/>
          <p:nvPr/>
        </p:nvSpPr>
        <p:spPr bwMode="auto">
          <a:xfrm>
            <a:off x="6459535" y="1740625"/>
            <a:ext cx="750559" cy="704193"/>
          </a:xfrm>
          <a:prstGeom prst="round1Rect">
            <a:avLst/>
          </a:prstGeom>
          <a:solidFill>
            <a:schemeClr val="bg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de-DE" sz="1800" b="0" i="0" u="none" strike="noStrike" cap="none" normalizeH="0" baseline="0" dirty="0" err="1">
                <a:ln>
                  <a:noFill/>
                </a:ln>
                <a:solidFill>
                  <a:schemeClr val="tx1"/>
                </a:solidFill>
                <a:effectLst/>
                <a:latin typeface="Arial" pitchFamily="-109" charset="0"/>
                <a:ea typeface="ヒラギノ角ゴ Pro W3" pitchFamily="-109" charset="-128"/>
                <a:cs typeface="ヒラギノ角ゴ Pro W3" pitchFamily="-109" charset="-128"/>
              </a:rPr>
              <a:t>Ch</a:t>
            </a:r>
            <a:r>
              <a:rPr kumimoji="0" lang="de-DE" sz="18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rPr>
              <a:t> 2</a:t>
            </a:r>
            <a:endParaRPr kumimoji="0" lang="de-DE" sz="24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endParaRPr>
          </a:p>
        </p:txBody>
      </p:sp>
      <p:pic>
        <p:nvPicPr>
          <p:cNvPr id="12" name="Inhaltsplatzhalter 10">
            <a:extLst>
              <a:ext uri="{FF2B5EF4-FFF2-40B4-BE49-F238E27FC236}">
                <a16:creationId xmlns:a16="http://schemas.microsoft.com/office/drawing/2014/main" id="{737B854A-413A-5164-83D6-D96C58A53D53}"/>
              </a:ext>
            </a:extLst>
          </p:cNvPr>
          <p:cNvPicPr>
            <a:picLocks noChangeAspect="1"/>
          </p:cNvPicPr>
          <p:nvPr/>
        </p:nvPicPr>
        <p:blipFill>
          <a:blip r:embed="rId4"/>
          <a:srcRect/>
          <a:stretch/>
        </p:blipFill>
        <p:spPr>
          <a:xfrm>
            <a:off x="6459538" y="2092721"/>
            <a:ext cx="5391149" cy="3369468"/>
          </a:xfrm>
          <a:prstGeom prst="rect">
            <a:avLst/>
          </a:prstGeom>
        </p:spPr>
      </p:pic>
      <p:sp>
        <p:nvSpPr>
          <p:cNvPr id="16" name="Foliennummernplatzhalter 15">
            <a:extLst>
              <a:ext uri="{FF2B5EF4-FFF2-40B4-BE49-F238E27FC236}">
                <a16:creationId xmlns:a16="http://schemas.microsoft.com/office/drawing/2014/main" id="{13BD7E67-86CA-510A-9CDB-07DDA5F2BEF9}"/>
              </a:ext>
            </a:extLst>
          </p:cNvPr>
          <p:cNvSpPr>
            <a:spLocks noGrp="1"/>
          </p:cNvSpPr>
          <p:nvPr>
            <p:ph type="sldNum" sz="quarter" idx="10"/>
          </p:nvPr>
        </p:nvSpPr>
        <p:spPr/>
        <p:txBody>
          <a:bodyPr/>
          <a:lstStyle/>
          <a:p>
            <a:fld id="{80B4FCE6-DC73-4135-BC56-1F242D45A84C}" type="slidenum">
              <a:rPr lang="de-DE" smtClean="0"/>
              <a:t>12</a:t>
            </a:fld>
            <a:endParaRPr lang="de-DE"/>
          </a:p>
        </p:txBody>
      </p:sp>
    </p:spTree>
    <p:extLst>
      <p:ext uri="{BB962C8B-B14F-4D97-AF65-F5344CB8AC3E}">
        <p14:creationId xmlns:p14="http://schemas.microsoft.com/office/powerpoint/2010/main" val="1533880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692F4-4654-12E9-0B81-867C770DCA55}"/>
            </a:ext>
          </a:extLst>
        </p:cNvPr>
        <p:cNvGrpSpPr/>
        <p:nvPr/>
      </p:nvGrpSpPr>
      <p:grpSpPr>
        <a:xfrm>
          <a:off x="0" y="0"/>
          <a:ext cx="0" cy="0"/>
          <a:chOff x="0" y="0"/>
          <a:chExt cx="0" cy="0"/>
        </a:xfrm>
      </p:grpSpPr>
      <p:sp>
        <p:nvSpPr>
          <p:cNvPr id="13" name="Rechteck: eine Ecke abgerundet 12">
            <a:extLst>
              <a:ext uri="{FF2B5EF4-FFF2-40B4-BE49-F238E27FC236}">
                <a16:creationId xmlns:a16="http://schemas.microsoft.com/office/drawing/2014/main" id="{D05955E5-D0B7-9962-B4D8-6BCD6AE466DA}"/>
              </a:ext>
            </a:extLst>
          </p:cNvPr>
          <p:cNvSpPr/>
          <p:nvPr/>
        </p:nvSpPr>
        <p:spPr bwMode="auto">
          <a:xfrm>
            <a:off x="6459536" y="1740625"/>
            <a:ext cx="750559" cy="704193"/>
          </a:xfrm>
          <a:prstGeom prst="round1Rect">
            <a:avLst/>
          </a:prstGeom>
          <a:solidFill>
            <a:schemeClr val="bg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de-DE" sz="1800" b="0" i="0" u="none" strike="noStrike" cap="none" normalizeH="0" baseline="0" dirty="0" err="1">
                <a:ln>
                  <a:noFill/>
                </a:ln>
                <a:solidFill>
                  <a:schemeClr val="tx1"/>
                </a:solidFill>
                <a:effectLst/>
                <a:latin typeface="Arial" pitchFamily="-109" charset="0"/>
                <a:ea typeface="ヒラギノ角ゴ Pro W3" pitchFamily="-109" charset="-128"/>
                <a:cs typeface="ヒラギノ角ゴ Pro W3" pitchFamily="-109" charset="-128"/>
              </a:rPr>
              <a:t>Ch</a:t>
            </a:r>
            <a:r>
              <a:rPr kumimoji="0" lang="de-DE" sz="18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rPr>
              <a:t> 1</a:t>
            </a:r>
            <a:endParaRPr kumimoji="0" lang="de-DE" sz="24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endParaRPr>
          </a:p>
        </p:txBody>
      </p:sp>
      <p:sp>
        <p:nvSpPr>
          <p:cNvPr id="2" name="Titel 1">
            <a:extLst>
              <a:ext uri="{FF2B5EF4-FFF2-40B4-BE49-F238E27FC236}">
                <a16:creationId xmlns:a16="http://schemas.microsoft.com/office/drawing/2014/main" id="{6EABEA5B-6080-FBE9-6DA6-10DB7E45DD2D}"/>
              </a:ext>
            </a:extLst>
          </p:cNvPr>
          <p:cNvSpPr>
            <a:spLocks noGrp="1"/>
          </p:cNvSpPr>
          <p:nvPr>
            <p:ph type="title"/>
          </p:nvPr>
        </p:nvSpPr>
        <p:spPr/>
        <p:txBody>
          <a:bodyPr/>
          <a:lstStyle/>
          <a:p>
            <a:r>
              <a:rPr lang="de-DE" sz="3200" dirty="0"/>
              <a:t>Learning </a:t>
            </a:r>
            <a:r>
              <a:rPr lang="de-DE" sz="3200" dirty="0" err="1"/>
              <a:t>Curves</a:t>
            </a:r>
            <a:endParaRPr lang="de-DE" dirty="0"/>
          </a:p>
        </p:txBody>
      </p:sp>
      <p:sp>
        <p:nvSpPr>
          <p:cNvPr id="5" name="Fußzeilenplatzhalter 4">
            <a:extLst>
              <a:ext uri="{FF2B5EF4-FFF2-40B4-BE49-F238E27FC236}">
                <a16:creationId xmlns:a16="http://schemas.microsoft.com/office/drawing/2014/main" id="{C21741FB-233F-9B62-BDE5-78CC9DF1F194}"/>
              </a:ext>
            </a:extLst>
          </p:cNvPr>
          <p:cNvSpPr>
            <a:spLocks noGrp="1"/>
          </p:cNvSpPr>
          <p:nvPr>
            <p:ph type="ftr" sz="quarter" idx="11"/>
          </p:nvPr>
        </p:nvSpPr>
        <p:spPr/>
        <p:txBody>
          <a:bodyPr/>
          <a:lstStyle/>
          <a:p>
            <a:r>
              <a:rPr lang="de-DE"/>
              <a:t>Materialdiagnostik: Task 3</a:t>
            </a:r>
            <a:endParaRPr lang="de-DE" dirty="0"/>
          </a:p>
        </p:txBody>
      </p:sp>
      <p:sp>
        <p:nvSpPr>
          <p:cNvPr id="3" name="Datumsplatzhalter 2">
            <a:extLst>
              <a:ext uri="{FF2B5EF4-FFF2-40B4-BE49-F238E27FC236}">
                <a16:creationId xmlns:a16="http://schemas.microsoft.com/office/drawing/2014/main" id="{0F533060-8BC0-E7A8-47E6-F36742E1101E}"/>
              </a:ext>
            </a:extLst>
          </p:cNvPr>
          <p:cNvSpPr>
            <a:spLocks noGrp="1"/>
          </p:cNvSpPr>
          <p:nvPr>
            <p:ph type="dt" sz="half" idx="12"/>
          </p:nvPr>
        </p:nvSpPr>
        <p:spPr/>
        <p:txBody>
          <a:bodyPr/>
          <a:lstStyle/>
          <a:p>
            <a:r>
              <a:rPr lang="de-DE"/>
              <a:t>16.07.2026</a:t>
            </a:r>
          </a:p>
        </p:txBody>
      </p:sp>
      <p:sp>
        <p:nvSpPr>
          <p:cNvPr id="8" name="Inhaltsplatzhalter 7">
            <a:extLst>
              <a:ext uri="{FF2B5EF4-FFF2-40B4-BE49-F238E27FC236}">
                <a16:creationId xmlns:a16="http://schemas.microsoft.com/office/drawing/2014/main" id="{66F2D5E8-ACE1-A626-1A4C-3BEEED0736C2}"/>
              </a:ext>
            </a:extLst>
          </p:cNvPr>
          <p:cNvSpPr>
            <a:spLocks noGrp="1"/>
          </p:cNvSpPr>
          <p:nvPr>
            <p:ph sz="quarter" idx="13"/>
          </p:nvPr>
        </p:nvSpPr>
        <p:spPr/>
        <p:txBody>
          <a:bodyPr/>
          <a:lstStyle/>
          <a:p>
            <a:pPr>
              <a:buFont typeface="Arial" panose="020B0604020202020204" pitchFamily="34" charset="0"/>
              <a:buChar char="•"/>
            </a:pPr>
            <a:r>
              <a:rPr lang="de-DE" dirty="0"/>
              <a:t>Train- und Dev-Score pro Trainingsmenge</a:t>
            </a:r>
          </a:p>
          <a:p>
            <a:pPr>
              <a:buFont typeface="Arial" panose="020B0604020202020204" pitchFamily="34" charset="0"/>
              <a:buChar char="•"/>
            </a:pPr>
            <a:r>
              <a:rPr lang="de-DE" dirty="0"/>
              <a:t>Kurven zeigen Datenbedarf des Modells</a:t>
            </a:r>
          </a:p>
          <a:p>
            <a:pPr>
              <a:buFont typeface="Arial" panose="020B0604020202020204" pitchFamily="34" charset="0"/>
              <a:buChar char="•"/>
            </a:pPr>
            <a:r>
              <a:rPr lang="de-DE" dirty="0"/>
              <a:t>Bereits kleine Trainingsmenge trennt fast perfekt</a:t>
            </a:r>
          </a:p>
          <a:p>
            <a:pPr>
              <a:buFont typeface="Arial" panose="020B0604020202020204" pitchFamily="34" charset="0"/>
              <a:buChar char="•"/>
            </a:pPr>
            <a:r>
              <a:rPr lang="de-DE" dirty="0"/>
              <a:t>Ch1 erreicht früh perfekte Dev-Werte</a:t>
            </a:r>
          </a:p>
          <a:p>
            <a:pPr>
              <a:buFont typeface="Arial" panose="020B0604020202020204" pitchFamily="34" charset="0"/>
              <a:buChar char="•"/>
            </a:pPr>
            <a:r>
              <a:rPr lang="de-DE" dirty="0"/>
              <a:t>Ch2 braucht im aktuellen Split die volle Trainingsmenge für perfekte Dev-Werte</a:t>
            </a:r>
          </a:p>
          <a:p>
            <a:endParaRPr lang="de-DE" dirty="0"/>
          </a:p>
        </p:txBody>
      </p:sp>
      <p:pic>
        <p:nvPicPr>
          <p:cNvPr id="11" name="Inhaltsplatzhalter 10">
            <a:extLst>
              <a:ext uri="{FF2B5EF4-FFF2-40B4-BE49-F238E27FC236}">
                <a16:creationId xmlns:a16="http://schemas.microsoft.com/office/drawing/2014/main" id="{4DF0D70F-DBE3-307B-70EE-0B255331894E}"/>
              </a:ext>
            </a:extLst>
          </p:cNvPr>
          <p:cNvPicPr>
            <a:picLocks noGrp="1" noChangeAspect="1"/>
          </p:cNvPicPr>
          <p:nvPr>
            <p:ph sz="quarter" idx="14"/>
          </p:nvPr>
        </p:nvPicPr>
        <p:blipFill>
          <a:blip r:embed="rId3"/>
          <a:srcRect/>
          <a:stretch/>
        </p:blipFill>
        <p:spPr>
          <a:xfrm>
            <a:off x="6459538" y="2092722"/>
            <a:ext cx="5391150" cy="3369468"/>
          </a:xfrm>
          <a:prstGeom prst="rect">
            <a:avLst/>
          </a:prstGeom>
        </p:spPr>
      </p:pic>
      <p:sp>
        <p:nvSpPr>
          <p:cNvPr id="15" name="Rechteck: eine Ecke abgerundet 14">
            <a:extLst>
              <a:ext uri="{FF2B5EF4-FFF2-40B4-BE49-F238E27FC236}">
                <a16:creationId xmlns:a16="http://schemas.microsoft.com/office/drawing/2014/main" id="{221FC070-FA1A-089D-1456-55000A5089FD}"/>
              </a:ext>
            </a:extLst>
          </p:cNvPr>
          <p:cNvSpPr/>
          <p:nvPr/>
        </p:nvSpPr>
        <p:spPr bwMode="auto">
          <a:xfrm>
            <a:off x="6459535" y="1740625"/>
            <a:ext cx="750559" cy="704193"/>
          </a:xfrm>
          <a:prstGeom prst="round1Rect">
            <a:avLst/>
          </a:prstGeom>
          <a:solidFill>
            <a:schemeClr val="bg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de-DE" sz="1800" b="0" i="0" u="none" strike="noStrike" cap="none" normalizeH="0" baseline="0" dirty="0" err="1">
                <a:ln>
                  <a:noFill/>
                </a:ln>
                <a:solidFill>
                  <a:schemeClr val="tx1"/>
                </a:solidFill>
                <a:effectLst/>
                <a:latin typeface="Arial" pitchFamily="-109" charset="0"/>
                <a:ea typeface="ヒラギノ角ゴ Pro W3" pitchFamily="-109" charset="-128"/>
                <a:cs typeface="ヒラギノ角ゴ Pro W3" pitchFamily="-109" charset="-128"/>
              </a:rPr>
              <a:t>Ch</a:t>
            </a:r>
            <a:r>
              <a:rPr kumimoji="0" lang="de-DE" sz="18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rPr>
              <a:t> 2</a:t>
            </a:r>
            <a:endParaRPr kumimoji="0" lang="de-DE" sz="24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endParaRPr>
          </a:p>
        </p:txBody>
      </p:sp>
      <p:pic>
        <p:nvPicPr>
          <p:cNvPr id="12" name="Inhaltsplatzhalter 10">
            <a:extLst>
              <a:ext uri="{FF2B5EF4-FFF2-40B4-BE49-F238E27FC236}">
                <a16:creationId xmlns:a16="http://schemas.microsoft.com/office/drawing/2014/main" id="{B661D436-2233-506D-7A2F-E10C843CD71E}"/>
              </a:ext>
            </a:extLst>
          </p:cNvPr>
          <p:cNvPicPr>
            <a:picLocks noChangeAspect="1"/>
          </p:cNvPicPr>
          <p:nvPr/>
        </p:nvPicPr>
        <p:blipFill>
          <a:blip r:embed="rId4"/>
          <a:srcRect/>
          <a:stretch/>
        </p:blipFill>
        <p:spPr>
          <a:xfrm>
            <a:off x="6459538" y="2092721"/>
            <a:ext cx="5391149" cy="3369467"/>
          </a:xfrm>
          <a:prstGeom prst="rect">
            <a:avLst/>
          </a:prstGeom>
        </p:spPr>
      </p:pic>
      <p:sp>
        <p:nvSpPr>
          <p:cNvPr id="6" name="Foliennummernplatzhalter 5">
            <a:extLst>
              <a:ext uri="{FF2B5EF4-FFF2-40B4-BE49-F238E27FC236}">
                <a16:creationId xmlns:a16="http://schemas.microsoft.com/office/drawing/2014/main" id="{FDDD861D-7BC1-A08C-170C-81699AAD47C7}"/>
              </a:ext>
            </a:extLst>
          </p:cNvPr>
          <p:cNvSpPr>
            <a:spLocks noGrp="1"/>
          </p:cNvSpPr>
          <p:nvPr>
            <p:ph type="sldNum" sz="quarter" idx="10"/>
          </p:nvPr>
        </p:nvSpPr>
        <p:spPr/>
        <p:txBody>
          <a:bodyPr/>
          <a:lstStyle/>
          <a:p>
            <a:fld id="{80B4FCE6-DC73-4135-BC56-1F242D45A84C}" type="slidenum">
              <a:rPr lang="de-DE" smtClean="0"/>
              <a:t>13</a:t>
            </a:fld>
            <a:endParaRPr lang="de-DE"/>
          </a:p>
        </p:txBody>
      </p:sp>
    </p:spTree>
    <p:extLst>
      <p:ext uri="{BB962C8B-B14F-4D97-AF65-F5344CB8AC3E}">
        <p14:creationId xmlns:p14="http://schemas.microsoft.com/office/powerpoint/2010/main" val="3382246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114C7-DE47-0944-DF0C-B611520E41A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7D077AA-8134-0C8E-A018-B8169899F662}"/>
              </a:ext>
            </a:extLst>
          </p:cNvPr>
          <p:cNvSpPr>
            <a:spLocks noGrp="1"/>
          </p:cNvSpPr>
          <p:nvPr>
            <p:ph type="title"/>
          </p:nvPr>
        </p:nvSpPr>
        <p:spPr>
          <a:xfrm>
            <a:off x="341811" y="567600"/>
            <a:ext cx="5753662" cy="706030"/>
          </a:xfrm>
        </p:spPr>
        <p:txBody>
          <a:bodyPr/>
          <a:lstStyle/>
          <a:p>
            <a:r>
              <a:rPr lang="de-DE" sz="3200" dirty="0"/>
              <a:t>Entscheidungsgrenze im Training</a:t>
            </a:r>
            <a:endParaRPr lang="de-DE" dirty="0"/>
          </a:p>
        </p:txBody>
      </p:sp>
      <p:sp>
        <p:nvSpPr>
          <p:cNvPr id="7" name="Fußzeilenplatzhalter 6">
            <a:extLst>
              <a:ext uri="{FF2B5EF4-FFF2-40B4-BE49-F238E27FC236}">
                <a16:creationId xmlns:a16="http://schemas.microsoft.com/office/drawing/2014/main" id="{577BF275-4CD1-7013-A879-C0A89D49357B}"/>
              </a:ext>
            </a:extLst>
          </p:cNvPr>
          <p:cNvSpPr>
            <a:spLocks noGrp="1"/>
          </p:cNvSpPr>
          <p:nvPr>
            <p:ph type="ftr" sz="quarter" idx="11"/>
          </p:nvPr>
        </p:nvSpPr>
        <p:spPr/>
        <p:txBody>
          <a:bodyPr/>
          <a:lstStyle/>
          <a:p>
            <a:r>
              <a:rPr lang="de-DE"/>
              <a:t>Materialdiagnostik: Task 3</a:t>
            </a:r>
            <a:endParaRPr lang="de-DE" dirty="0"/>
          </a:p>
        </p:txBody>
      </p:sp>
      <p:sp>
        <p:nvSpPr>
          <p:cNvPr id="6" name="Datumsplatzhalter 5">
            <a:extLst>
              <a:ext uri="{FF2B5EF4-FFF2-40B4-BE49-F238E27FC236}">
                <a16:creationId xmlns:a16="http://schemas.microsoft.com/office/drawing/2014/main" id="{71B4C461-0198-1068-BC96-763CE6D3F62D}"/>
              </a:ext>
            </a:extLst>
          </p:cNvPr>
          <p:cNvSpPr>
            <a:spLocks noGrp="1"/>
          </p:cNvSpPr>
          <p:nvPr>
            <p:ph type="dt" sz="half" idx="12"/>
          </p:nvPr>
        </p:nvSpPr>
        <p:spPr/>
        <p:txBody>
          <a:bodyPr/>
          <a:lstStyle/>
          <a:p>
            <a:r>
              <a:rPr lang="de-DE"/>
              <a:t>16.07.2026</a:t>
            </a:r>
          </a:p>
        </p:txBody>
      </p:sp>
      <p:sp>
        <p:nvSpPr>
          <p:cNvPr id="3" name="Inhaltsplatzhalter 2">
            <a:extLst>
              <a:ext uri="{FF2B5EF4-FFF2-40B4-BE49-F238E27FC236}">
                <a16:creationId xmlns:a16="http://schemas.microsoft.com/office/drawing/2014/main" id="{E2941D31-2190-EAE9-0CC8-F35EF0683372}"/>
              </a:ext>
            </a:extLst>
          </p:cNvPr>
          <p:cNvSpPr>
            <a:spLocks noGrp="1"/>
          </p:cNvSpPr>
          <p:nvPr>
            <p:ph sz="quarter" idx="13"/>
          </p:nvPr>
        </p:nvSpPr>
        <p:spPr/>
        <p:txBody>
          <a:bodyPr/>
          <a:lstStyle/>
          <a:p>
            <a:pPr>
              <a:buFont typeface="Arial" panose="020B0604020202020204" pitchFamily="34" charset="0"/>
              <a:buChar char="•"/>
            </a:pPr>
            <a:r>
              <a:rPr lang="de-DE" dirty="0"/>
              <a:t>Punkte: Trainingsdaten in 2D-PCA-Projektion</a:t>
            </a:r>
          </a:p>
          <a:p>
            <a:pPr>
              <a:buFont typeface="Arial" panose="020B0604020202020204" pitchFamily="34" charset="0"/>
              <a:buChar char="•"/>
            </a:pPr>
            <a:r>
              <a:rPr lang="de-DE" dirty="0"/>
              <a:t>Linie: lineare Entscheidungsgrenze in der PCA-Ebene</a:t>
            </a:r>
          </a:p>
          <a:p>
            <a:pPr>
              <a:buFont typeface="Arial" panose="020B0604020202020204" pitchFamily="34" charset="0"/>
              <a:buChar char="•"/>
            </a:pPr>
            <a:r>
              <a:rPr lang="de-DE" dirty="0"/>
              <a:t>Rot: beschädigt `0`</a:t>
            </a:r>
          </a:p>
          <a:p>
            <a:pPr>
              <a:buFont typeface="Arial" panose="020B0604020202020204" pitchFamily="34" charset="0"/>
              <a:buChar char="•"/>
            </a:pPr>
            <a:r>
              <a:rPr lang="de-DE" dirty="0"/>
              <a:t>Blau: gut `1`</a:t>
            </a:r>
          </a:p>
          <a:p>
            <a:endParaRPr lang="de-DE" dirty="0"/>
          </a:p>
        </p:txBody>
      </p:sp>
      <p:pic>
        <p:nvPicPr>
          <p:cNvPr id="10" name="Inhaltsplatzhalter 9">
            <a:extLst>
              <a:ext uri="{FF2B5EF4-FFF2-40B4-BE49-F238E27FC236}">
                <a16:creationId xmlns:a16="http://schemas.microsoft.com/office/drawing/2014/main" id="{D4CDC262-EB45-F7AD-7318-38B1E600D84C}"/>
              </a:ext>
            </a:extLst>
          </p:cNvPr>
          <p:cNvPicPr>
            <a:picLocks noGrp="1" noChangeAspect="1"/>
          </p:cNvPicPr>
          <p:nvPr>
            <p:ph sz="quarter" idx="14"/>
          </p:nvPr>
        </p:nvPicPr>
        <p:blipFill>
          <a:blip r:embed="rId3"/>
          <a:stretch>
            <a:fillRect/>
          </a:stretch>
        </p:blipFill>
        <p:spPr>
          <a:xfrm>
            <a:off x="6095473" y="1755774"/>
            <a:ext cx="5755215" cy="4316411"/>
          </a:xfrm>
          <a:prstGeom prst="rect">
            <a:avLst/>
          </a:prstGeom>
        </p:spPr>
      </p:pic>
      <p:sp>
        <p:nvSpPr>
          <p:cNvPr id="11" name="Foliennummernplatzhalter 10">
            <a:extLst>
              <a:ext uri="{FF2B5EF4-FFF2-40B4-BE49-F238E27FC236}">
                <a16:creationId xmlns:a16="http://schemas.microsoft.com/office/drawing/2014/main" id="{58E06D0E-653E-42A5-34F5-C3CC178A4CE6}"/>
              </a:ext>
            </a:extLst>
          </p:cNvPr>
          <p:cNvSpPr>
            <a:spLocks noGrp="1"/>
          </p:cNvSpPr>
          <p:nvPr>
            <p:ph type="sldNum" sz="quarter" idx="10"/>
          </p:nvPr>
        </p:nvSpPr>
        <p:spPr/>
        <p:txBody>
          <a:bodyPr/>
          <a:lstStyle/>
          <a:p>
            <a:fld id="{80B4FCE6-DC73-4135-BC56-1F242D45A84C}" type="slidenum">
              <a:rPr lang="de-DE" smtClean="0"/>
              <a:t>14</a:t>
            </a:fld>
            <a:endParaRPr lang="de-DE"/>
          </a:p>
        </p:txBody>
      </p:sp>
    </p:spTree>
    <p:extLst>
      <p:ext uri="{BB962C8B-B14F-4D97-AF65-F5344CB8AC3E}">
        <p14:creationId xmlns:p14="http://schemas.microsoft.com/office/powerpoint/2010/main" val="641672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937EF-8FA5-3B82-EE02-E696CA86C50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8ED65B-A4A9-8253-D3F5-86AF9FABE744}"/>
              </a:ext>
            </a:extLst>
          </p:cNvPr>
          <p:cNvSpPr>
            <a:spLocks noGrp="1"/>
          </p:cNvSpPr>
          <p:nvPr>
            <p:ph type="title"/>
          </p:nvPr>
        </p:nvSpPr>
        <p:spPr>
          <a:xfrm>
            <a:off x="341811" y="567600"/>
            <a:ext cx="5753662" cy="706030"/>
          </a:xfrm>
        </p:spPr>
        <p:txBody>
          <a:bodyPr/>
          <a:lstStyle/>
          <a:p>
            <a:r>
              <a:rPr lang="de-DE" sz="3200" dirty="0"/>
              <a:t>Entscheidungsgrenze im Training</a:t>
            </a:r>
            <a:endParaRPr lang="de-DE" dirty="0"/>
          </a:p>
        </p:txBody>
      </p:sp>
      <p:sp>
        <p:nvSpPr>
          <p:cNvPr id="7" name="Fußzeilenplatzhalter 6">
            <a:extLst>
              <a:ext uri="{FF2B5EF4-FFF2-40B4-BE49-F238E27FC236}">
                <a16:creationId xmlns:a16="http://schemas.microsoft.com/office/drawing/2014/main" id="{B92395F9-CFA2-195F-9385-397DB9FE5811}"/>
              </a:ext>
            </a:extLst>
          </p:cNvPr>
          <p:cNvSpPr>
            <a:spLocks noGrp="1"/>
          </p:cNvSpPr>
          <p:nvPr>
            <p:ph type="ftr" sz="quarter" idx="11"/>
          </p:nvPr>
        </p:nvSpPr>
        <p:spPr/>
        <p:txBody>
          <a:bodyPr/>
          <a:lstStyle/>
          <a:p>
            <a:r>
              <a:rPr lang="de-DE"/>
              <a:t>Materialdiagnostik: Task 3</a:t>
            </a:r>
            <a:endParaRPr lang="de-DE" dirty="0"/>
          </a:p>
        </p:txBody>
      </p:sp>
      <p:sp>
        <p:nvSpPr>
          <p:cNvPr id="6" name="Datumsplatzhalter 5">
            <a:extLst>
              <a:ext uri="{FF2B5EF4-FFF2-40B4-BE49-F238E27FC236}">
                <a16:creationId xmlns:a16="http://schemas.microsoft.com/office/drawing/2014/main" id="{1847D22D-9F17-A821-E459-143396AD6852}"/>
              </a:ext>
            </a:extLst>
          </p:cNvPr>
          <p:cNvSpPr>
            <a:spLocks noGrp="1"/>
          </p:cNvSpPr>
          <p:nvPr>
            <p:ph type="dt" sz="half" idx="12"/>
          </p:nvPr>
        </p:nvSpPr>
        <p:spPr/>
        <p:txBody>
          <a:bodyPr/>
          <a:lstStyle/>
          <a:p>
            <a:r>
              <a:rPr lang="de-DE"/>
              <a:t>16.07.2026</a:t>
            </a:r>
          </a:p>
        </p:txBody>
      </p:sp>
      <p:sp>
        <p:nvSpPr>
          <p:cNvPr id="3" name="Inhaltsplatzhalter 2">
            <a:extLst>
              <a:ext uri="{FF2B5EF4-FFF2-40B4-BE49-F238E27FC236}">
                <a16:creationId xmlns:a16="http://schemas.microsoft.com/office/drawing/2014/main" id="{471E2137-723A-08A3-959D-6D24A2077FF4}"/>
              </a:ext>
            </a:extLst>
          </p:cNvPr>
          <p:cNvSpPr>
            <a:spLocks noGrp="1"/>
          </p:cNvSpPr>
          <p:nvPr>
            <p:ph sz="quarter" idx="13"/>
          </p:nvPr>
        </p:nvSpPr>
        <p:spPr/>
        <p:txBody>
          <a:bodyPr/>
          <a:lstStyle/>
          <a:p>
            <a:pPr>
              <a:buFont typeface="Arial" panose="020B0604020202020204" pitchFamily="34" charset="0"/>
              <a:buChar char="•"/>
            </a:pPr>
            <a:r>
              <a:rPr lang="de-DE" dirty="0"/>
              <a:t>Punkte: Trainingsdaten in 2D-PCA-Projektion</a:t>
            </a:r>
          </a:p>
          <a:p>
            <a:pPr>
              <a:buFont typeface="Arial" panose="020B0604020202020204" pitchFamily="34" charset="0"/>
              <a:buChar char="•"/>
            </a:pPr>
            <a:r>
              <a:rPr lang="de-DE" dirty="0"/>
              <a:t>Linie: lineare Entscheidungsgrenze in der PCA-Ebene</a:t>
            </a:r>
          </a:p>
          <a:p>
            <a:pPr>
              <a:buFont typeface="Arial" panose="020B0604020202020204" pitchFamily="34" charset="0"/>
              <a:buChar char="•"/>
            </a:pPr>
            <a:r>
              <a:rPr lang="de-DE" dirty="0"/>
              <a:t>Rot: beschädigt `0`</a:t>
            </a:r>
          </a:p>
          <a:p>
            <a:pPr>
              <a:buFont typeface="Arial" panose="020B0604020202020204" pitchFamily="34" charset="0"/>
              <a:buChar char="•"/>
            </a:pPr>
            <a:r>
              <a:rPr lang="de-DE" dirty="0"/>
              <a:t>Blau: gut `1`</a:t>
            </a:r>
          </a:p>
          <a:p>
            <a:endParaRPr lang="de-DE" dirty="0"/>
          </a:p>
        </p:txBody>
      </p:sp>
      <p:pic>
        <p:nvPicPr>
          <p:cNvPr id="10" name="Inhaltsplatzhalter 9">
            <a:extLst>
              <a:ext uri="{FF2B5EF4-FFF2-40B4-BE49-F238E27FC236}">
                <a16:creationId xmlns:a16="http://schemas.microsoft.com/office/drawing/2014/main" id="{D7DFFD06-9975-6A88-DD50-841259834DAE}"/>
              </a:ext>
            </a:extLst>
          </p:cNvPr>
          <p:cNvPicPr>
            <a:picLocks noGrp="1" noChangeAspect="1"/>
          </p:cNvPicPr>
          <p:nvPr>
            <p:ph sz="quarter" idx="14"/>
          </p:nvPr>
        </p:nvPicPr>
        <p:blipFill>
          <a:blip r:embed="rId3"/>
          <a:srcRect/>
          <a:stretch/>
        </p:blipFill>
        <p:spPr>
          <a:xfrm>
            <a:off x="6095473" y="1755774"/>
            <a:ext cx="5755215" cy="4316411"/>
          </a:xfrm>
          <a:prstGeom prst="rect">
            <a:avLst/>
          </a:prstGeom>
        </p:spPr>
      </p:pic>
      <p:sp>
        <p:nvSpPr>
          <p:cNvPr id="5" name="Foliennummernplatzhalter 4">
            <a:extLst>
              <a:ext uri="{FF2B5EF4-FFF2-40B4-BE49-F238E27FC236}">
                <a16:creationId xmlns:a16="http://schemas.microsoft.com/office/drawing/2014/main" id="{01107926-37B1-CA57-B637-A5F611C3389F}"/>
              </a:ext>
            </a:extLst>
          </p:cNvPr>
          <p:cNvSpPr>
            <a:spLocks noGrp="1"/>
          </p:cNvSpPr>
          <p:nvPr>
            <p:ph type="sldNum" sz="quarter" idx="10"/>
          </p:nvPr>
        </p:nvSpPr>
        <p:spPr/>
        <p:txBody>
          <a:bodyPr/>
          <a:lstStyle/>
          <a:p>
            <a:fld id="{80B4FCE6-DC73-4135-BC56-1F242D45A84C}" type="slidenum">
              <a:rPr lang="de-DE" smtClean="0"/>
              <a:t>15</a:t>
            </a:fld>
            <a:endParaRPr lang="de-DE"/>
          </a:p>
        </p:txBody>
      </p:sp>
    </p:spTree>
    <p:extLst>
      <p:ext uri="{BB962C8B-B14F-4D97-AF65-F5344CB8AC3E}">
        <p14:creationId xmlns:p14="http://schemas.microsoft.com/office/powerpoint/2010/main" val="3463300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3E163-6174-0335-CC5D-4CCB2676747C}"/>
            </a:ext>
          </a:extLst>
        </p:cNvPr>
        <p:cNvGrpSpPr/>
        <p:nvPr/>
      </p:nvGrpSpPr>
      <p:grpSpPr>
        <a:xfrm>
          <a:off x="0" y="0"/>
          <a:ext cx="0" cy="0"/>
          <a:chOff x="0" y="0"/>
          <a:chExt cx="0" cy="0"/>
        </a:xfrm>
      </p:grpSpPr>
      <p:sp>
        <p:nvSpPr>
          <p:cNvPr id="13" name="Rechteck: eine Ecke abgerundet 12">
            <a:extLst>
              <a:ext uri="{FF2B5EF4-FFF2-40B4-BE49-F238E27FC236}">
                <a16:creationId xmlns:a16="http://schemas.microsoft.com/office/drawing/2014/main" id="{F8E8A0BF-6C91-BB25-F574-EF1EB3FFC47E}"/>
              </a:ext>
            </a:extLst>
          </p:cNvPr>
          <p:cNvSpPr/>
          <p:nvPr/>
        </p:nvSpPr>
        <p:spPr bwMode="auto">
          <a:xfrm>
            <a:off x="6459536" y="1740625"/>
            <a:ext cx="750559" cy="704193"/>
          </a:xfrm>
          <a:prstGeom prst="round1Rect">
            <a:avLst/>
          </a:prstGeom>
          <a:solidFill>
            <a:schemeClr val="bg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de-DE" sz="1800" b="0" i="0" u="none" strike="noStrike" cap="none" normalizeH="0" baseline="0" dirty="0" err="1">
                <a:ln>
                  <a:noFill/>
                </a:ln>
                <a:solidFill>
                  <a:schemeClr val="tx1"/>
                </a:solidFill>
                <a:effectLst/>
                <a:latin typeface="Arial" pitchFamily="-109" charset="0"/>
                <a:ea typeface="ヒラギノ角ゴ Pro W3" pitchFamily="-109" charset="-128"/>
                <a:cs typeface="ヒラギノ角ゴ Pro W3" pitchFamily="-109" charset="-128"/>
              </a:rPr>
              <a:t>Ch</a:t>
            </a:r>
            <a:r>
              <a:rPr kumimoji="0" lang="de-DE" sz="18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rPr>
              <a:t> 1</a:t>
            </a:r>
            <a:endParaRPr kumimoji="0" lang="de-DE" sz="24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endParaRPr>
          </a:p>
        </p:txBody>
      </p:sp>
      <p:sp>
        <p:nvSpPr>
          <p:cNvPr id="2" name="Titel 1">
            <a:extLst>
              <a:ext uri="{FF2B5EF4-FFF2-40B4-BE49-F238E27FC236}">
                <a16:creationId xmlns:a16="http://schemas.microsoft.com/office/drawing/2014/main" id="{FF7BE80C-ADD9-4B83-0F35-FABC25DABF97}"/>
              </a:ext>
            </a:extLst>
          </p:cNvPr>
          <p:cNvSpPr>
            <a:spLocks noGrp="1"/>
          </p:cNvSpPr>
          <p:nvPr>
            <p:ph type="title"/>
          </p:nvPr>
        </p:nvSpPr>
        <p:spPr/>
        <p:txBody>
          <a:bodyPr/>
          <a:lstStyle/>
          <a:p>
            <a:r>
              <a:rPr lang="de-DE" sz="3200" dirty="0"/>
              <a:t>Testergebnisse</a:t>
            </a:r>
            <a:endParaRPr lang="de-DE" dirty="0"/>
          </a:p>
        </p:txBody>
      </p:sp>
      <p:sp>
        <p:nvSpPr>
          <p:cNvPr id="5" name="Fußzeilenplatzhalter 4">
            <a:extLst>
              <a:ext uri="{FF2B5EF4-FFF2-40B4-BE49-F238E27FC236}">
                <a16:creationId xmlns:a16="http://schemas.microsoft.com/office/drawing/2014/main" id="{3700FFC5-AF95-B68C-5F71-A8EF47B9C797}"/>
              </a:ext>
            </a:extLst>
          </p:cNvPr>
          <p:cNvSpPr>
            <a:spLocks noGrp="1"/>
          </p:cNvSpPr>
          <p:nvPr>
            <p:ph type="ftr" sz="quarter" idx="11"/>
          </p:nvPr>
        </p:nvSpPr>
        <p:spPr/>
        <p:txBody>
          <a:bodyPr/>
          <a:lstStyle/>
          <a:p>
            <a:r>
              <a:rPr lang="de-DE"/>
              <a:t>Materialdiagnostik: Task 3</a:t>
            </a:r>
            <a:endParaRPr lang="de-DE" dirty="0"/>
          </a:p>
        </p:txBody>
      </p:sp>
      <p:sp>
        <p:nvSpPr>
          <p:cNvPr id="3" name="Datumsplatzhalter 2">
            <a:extLst>
              <a:ext uri="{FF2B5EF4-FFF2-40B4-BE49-F238E27FC236}">
                <a16:creationId xmlns:a16="http://schemas.microsoft.com/office/drawing/2014/main" id="{34CADDE5-67A5-2686-564A-CA60BE28A110}"/>
              </a:ext>
            </a:extLst>
          </p:cNvPr>
          <p:cNvSpPr>
            <a:spLocks noGrp="1"/>
          </p:cNvSpPr>
          <p:nvPr>
            <p:ph type="dt" sz="half" idx="12"/>
          </p:nvPr>
        </p:nvSpPr>
        <p:spPr/>
        <p:txBody>
          <a:bodyPr/>
          <a:lstStyle/>
          <a:p>
            <a:r>
              <a:rPr lang="de-DE"/>
              <a:t>16.07.2026</a:t>
            </a:r>
          </a:p>
        </p:txBody>
      </p:sp>
      <p:sp>
        <p:nvSpPr>
          <p:cNvPr id="8" name="Inhaltsplatzhalter 7">
            <a:extLst>
              <a:ext uri="{FF2B5EF4-FFF2-40B4-BE49-F238E27FC236}">
                <a16:creationId xmlns:a16="http://schemas.microsoft.com/office/drawing/2014/main" id="{75AFD3C3-3EFB-85A6-8836-7191C35AF37E}"/>
              </a:ext>
            </a:extLst>
          </p:cNvPr>
          <p:cNvSpPr>
            <a:spLocks noGrp="1"/>
          </p:cNvSpPr>
          <p:nvPr>
            <p:ph sz="quarter" idx="13"/>
          </p:nvPr>
        </p:nvSpPr>
        <p:spPr/>
        <p:txBody>
          <a:bodyPr/>
          <a:lstStyle/>
          <a:p>
            <a:pPr>
              <a:buFont typeface="Arial" panose="020B0604020202020204" pitchFamily="34" charset="0"/>
              <a:buChar char="•"/>
            </a:pPr>
            <a:r>
              <a:rPr lang="de-DE" dirty="0"/>
              <a:t>Finale Bewertung auf Testsatz</a:t>
            </a:r>
          </a:p>
          <a:p>
            <a:pPr>
              <a:buFont typeface="Arial" panose="020B0604020202020204" pitchFamily="34" charset="0"/>
              <a:buChar char="•"/>
            </a:pPr>
            <a:r>
              <a:rPr lang="de-DE" dirty="0"/>
              <a:t>Aktuelle </a:t>
            </a:r>
            <a:r>
              <a:rPr lang="de-DE" dirty="0" err="1"/>
              <a:t>Testmetriken</a:t>
            </a:r>
            <a:r>
              <a:rPr lang="de-DE" dirty="0"/>
              <a:t>:</a:t>
            </a:r>
          </a:p>
          <a:p>
            <a:pPr lvl="1">
              <a:buFont typeface="Arial" panose="020B0604020202020204" pitchFamily="34" charset="0"/>
              <a:buChar char="•"/>
            </a:pPr>
            <a:r>
              <a:rPr lang="de-DE" dirty="0" err="1"/>
              <a:t>Accuracy</a:t>
            </a:r>
            <a:r>
              <a:rPr lang="de-DE" dirty="0"/>
              <a:t>: `1.00`</a:t>
            </a:r>
          </a:p>
          <a:p>
            <a:pPr lvl="1">
              <a:buFont typeface="Arial" panose="020B0604020202020204" pitchFamily="34" charset="0"/>
              <a:buChar char="•"/>
            </a:pPr>
            <a:r>
              <a:rPr lang="de-DE" dirty="0" err="1"/>
              <a:t>Balanced</a:t>
            </a:r>
            <a:r>
              <a:rPr lang="de-DE" dirty="0"/>
              <a:t> </a:t>
            </a:r>
            <a:r>
              <a:rPr lang="de-DE" dirty="0" err="1"/>
              <a:t>Accuracy</a:t>
            </a:r>
            <a:r>
              <a:rPr lang="de-DE" dirty="0"/>
              <a:t>: `1.00`</a:t>
            </a:r>
          </a:p>
          <a:p>
            <a:pPr lvl="1">
              <a:buFont typeface="Arial" panose="020B0604020202020204" pitchFamily="34" charset="0"/>
              <a:buChar char="•"/>
            </a:pPr>
            <a:r>
              <a:rPr lang="de-DE" dirty="0"/>
              <a:t>F1 für beschädigt: `1.00`</a:t>
            </a:r>
          </a:p>
          <a:p>
            <a:pPr>
              <a:buFont typeface="Arial" panose="020B0604020202020204" pitchFamily="34" charset="0"/>
              <a:buChar char="•"/>
            </a:pPr>
            <a:r>
              <a:rPr lang="de-DE" dirty="0"/>
              <a:t>Keine Fehlklassifikation im aktuellen Split</a:t>
            </a:r>
          </a:p>
        </p:txBody>
      </p:sp>
      <p:pic>
        <p:nvPicPr>
          <p:cNvPr id="11" name="Inhaltsplatzhalter 10">
            <a:extLst>
              <a:ext uri="{FF2B5EF4-FFF2-40B4-BE49-F238E27FC236}">
                <a16:creationId xmlns:a16="http://schemas.microsoft.com/office/drawing/2014/main" id="{6A6044F3-D308-6354-A347-71E8B0322F88}"/>
              </a:ext>
            </a:extLst>
          </p:cNvPr>
          <p:cNvPicPr>
            <a:picLocks noGrp="1" noChangeAspect="1"/>
          </p:cNvPicPr>
          <p:nvPr>
            <p:ph sz="quarter" idx="14"/>
          </p:nvPr>
        </p:nvPicPr>
        <p:blipFill>
          <a:blip r:embed="rId3"/>
          <a:srcRect/>
          <a:stretch/>
        </p:blipFill>
        <p:spPr>
          <a:xfrm>
            <a:off x="6459536" y="2092721"/>
            <a:ext cx="5196437" cy="4354385"/>
          </a:xfrm>
          <a:prstGeom prst="rect">
            <a:avLst/>
          </a:prstGeom>
        </p:spPr>
      </p:pic>
      <p:sp>
        <p:nvSpPr>
          <p:cNvPr id="15" name="Rechteck: eine Ecke abgerundet 14">
            <a:extLst>
              <a:ext uri="{FF2B5EF4-FFF2-40B4-BE49-F238E27FC236}">
                <a16:creationId xmlns:a16="http://schemas.microsoft.com/office/drawing/2014/main" id="{8A72FF3C-2C7B-8705-2775-AB010BAE17F4}"/>
              </a:ext>
            </a:extLst>
          </p:cNvPr>
          <p:cNvSpPr/>
          <p:nvPr/>
        </p:nvSpPr>
        <p:spPr bwMode="auto">
          <a:xfrm>
            <a:off x="6459536" y="1740625"/>
            <a:ext cx="750559" cy="704193"/>
          </a:xfrm>
          <a:prstGeom prst="round1Rect">
            <a:avLst/>
          </a:prstGeom>
          <a:solidFill>
            <a:schemeClr val="bg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de-DE" sz="1800" b="0" i="0" u="none" strike="noStrike" cap="none" normalizeH="0" baseline="0" dirty="0" err="1">
                <a:ln>
                  <a:noFill/>
                </a:ln>
                <a:solidFill>
                  <a:schemeClr val="tx1"/>
                </a:solidFill>
                <a:effectLst/>
                <a:latin typeface="Arial" pitchFamily="-109" charset="0"/>
                <a:ea typeface="ヒラギノ角ゴ Pro W3" pitchFamily="-109" charset="-128"/>
                <a:cs typeface="ヒラギノ角ゴ Pro W3" pitchFamily="-109" charset="-128"/>
              </a:rPr>
              <a:t>Ch</a:t>
            </a:r>
            <a:r>
              <a:rPr kumimoji="0" lang="de-DE" sz="18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rPr>
              <a:t> 2</a:t>
            </a:r>
            <a:endParaRPr kumimoji="0" lang="de-DE" sz="2400" b="0" i="0" u="none" strike="noStrike" cap="none" normalizeH="0" baseline="0" dirty="0">
              <a:ln>
                <a:noFill/>
              </a:ln>
              <a:solidFill>
                <a:schemeClr val="tx1"/>
              </a:solidFill>
              <a:effectLst/>
              <a:latin typeface="Arial" pitchFamily="-109" charset="0"/>
              <a:ea typeface="ヒラギノ角ゴ Pro W3" pitchFamily="-109" charset="-128"/>
              <a:cs typeface="ヒラギノ角ゴ Pro W3" pitchFamily="-109" charset="-128"/>
            </a:endParaRPr>
          </a:p>
        </p:txBody>
      </p:sp>
      <p:pic>
        <p:nvPicPr>
          <p:cNvPr id="12" name="Inhaltsplatzhalter 10">
            <a:extLst>
              <a:ext uri="{FF2B5EF4-FFF2-40B4-BE49-F238E27FC236}">
                <a16:creationId xmlns:a16="http://schemas.microsoft.com/office/drawing/2014/main" id="{C2D05996-D3A4-BF54-4EB7-5C95131B19A7}"/>
              </a:ext>
            </a:extLst>
          </p:cNvPr>
          <p:cNvPicPr>
            <a:picLocks noChangeAspect="1"/>
          </p:cNvPicPr>
          <p:nvPr/>
        </p:nvPicPr>
        <p:blipFill>
          <a:blip r:embed="rId3"/>
          <a:srcRect/>
          <a:stretch/>
        </p:blipFill>
        <p:spPr>
          <a:xfrm>
            <a:off x="6459536" y="2091968"/>
            <a:ext cx="5196437" cy="4330365"/>
          </a:xfrm>
          <a:prstGeom prst="rect">
            <a:avLst/>
          </a:prstGeom>
        </p:spPr>
      </p:pic>
      <p:sp>
        <p:nvSpPr>
          <p:cNvPr id="6" name="Foliennummernplatzhalter 5">
            <a:extLst>
              <a:ext uri="{FF2B5EF4-FFF2-40B4-BE49-F238E27FC236}">
                <a16:creationId xmlns:a16="http://schemas.microsoft.com/office/drawing/2014/main" id="{375A9587-B8AB-9FF9-3DB6-4B6D8BB7397F}"/>
              </a:ext>
            </a:extLst>
          </p:cNvPr>
          <p:cNvSpPr>
            <a:spLocks noGrp="1"/>
          </p:cNvSpPr>
          <p:nvPr>
            <p:ph type="sldNum" sz="quarter" idx="10"/>
          </p:nvPr>
        </p:nvSpPr>
        <p:spPr/>
        <p:txBody>
          <a:bodyPr/>
          <a:lstStyle/>
          <a:p>
            <a:fld id="{80B4FCE6-DC73-4135-BC56-1F242D45A84C}" type="slidenum">
              <a:rPr lang="de-DE" smtClean="0"/>
              <a:t>16</a:t>
            </a:fld>
            <a:endParaRPr lang="de-DE"/>
          </a:p>
        </p:txBody>
      </p:sp>
    </p:spTree>
    <p:extLst>
      <p:ext uri="{BB962C8B-B14F-4D97-AF65-F5344CB8AC3E}">
        <p14:creationId xmlns:p14="http://schemas.microsoft.com/office/powerpoint/2010/main" val="2351703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AAFDA-5709-6898-CE4E-940E6A34EAD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1DF8090-BADC-27B4-F673-12947654E7F5}"/>
              </a:ext>
            </a:extLst>
          </p:cNvPr>
          <p:cNvSpPr>
            <a:spLocks noGrp="1"/>
          </p:cNvSpPr>
          <p:nvPr>
            <p:ph type="title"/>
          </p:nvPr>
        </p:nvSpPr>
        <p:spPr/>
        <p:txBody>
          <a:bodyPr/>
          <a:lstStyle/>
          <a:p>
            <a:r>
              <a:rPr lang="de-DE" dirty="0"/>
              <a:t>ROC und AUC</a:t>
            </a:r>
            <a:endParaRPr lang="de-DE" b="0" dirty="0"/>
          </a:p>
        </p:txBody>
      </p:sp>
      <p:sp>
        <p:nvSpPr>
          <p:cNvPr id="3" name="Foliennummernplatzhalter 2">
            <a:extLst>
              <a:ext uri="{FF2B5EF4-FFF2-40B4-BE49-F238E27FC236}">
                <a16:creationId xmlns:a16="http://schemas.microsoft.com/office/drawing/2014/main" id="{86D9B423-944C-1C30-B5CC-D3E5B59E7598}"/>
              </a:ext>
            </a:extLst>
          </p:cNvPr>
          <p:cNvSpPr>
            <a:spLocks noGrp="1"/>
          </p:cNvSpPr>
          <p:nvPr>
            <p:ph type="sldNum" sz="quarter" idx="10"/>
          </p:nvPr>
        </p:nvSpPr>
        <p:spPr/>
        <p:txBody>
          <a:bodyPr/>
          <a:lstStyle/>
          <a:p>
            <a:fld id="{80B4FCE6-DC73-4135-BC56-1F242D45A84C}" type="slidenum">
              <a:rPr lang="de-DE" smtClean="0"/>
              <a:t>17</a:t>
            </a:fld>
            <a:endParaRPr lang="de-DE"/>
          </a:p>
        </p:txBody>
      </p:sp>
      <p:sp>
        <p:nvSpPr>
          <p:cNvPr id="7" name="Fußzeilenplatzhalter 6">
            <a:extLst>
              <a:ext uri="{FF2B5EF4-FFF2-40B4-BE49-F238E27FC236}">
                <a16:creationId xmlns:a16="http://schemas.microsoft.com/office/drawing/2014/main" id="{61398641-4C2C-6031-67B2-033E0BC9BEAF}"/>
              </a:ext>
            </a:extLst>
          </p:cNvPr>
          <p:cNvSpPr>
            <a:spLocks noGrp="1"/>
          </p:cNvSpPr>
          <p:nvPr>
            <p:ph type="ftr" sz="quarter" idx="11"/>
          </p:nvPr>
        </p:nvSpPr>
        <p:spPr/>
        <p:txBody>
          <a:bodyPr/>
          <a:lstStyle/>
          <a:p>
            <a:r>
              <a:rPr lang="de-DE"/>
              <a:t>Materialdiagnostik: Task 3</a:t>
            </a:r>
            <a:endParaRPr lang="de-DE" dirty="0"/>
          </a:p>
        </p:txBody>
      </p:sp>
      <p:sp>
        <p:nvSpPr>
          <p:cNvPr id="6" name="Datumsplatzhalter 5">
            <a:extLst>
              <a:ext uri="{FF2B5EF4-FFF2-40B4-BE49-F238E27FC236}">
                <a16:creationId xmlns:a16="http://schemas.microsoft.com/office/drawing/2014/main" id="{9CD15804-53A8-F6A6-4020-8B7067A69EC8}"/>
              </a:ext>
            </a:extLst>
          </p:cNvPr>
          <p:cNvSpPr>
            <a:spLocks noGrp="1"/>
          </p:cNvSpPr>
          <p:nvPr>
            <p:ph type="dt" sz="half" idx="12"/>
          </p:nvPr>
        </p:nvSpPr>
        <p:spPr/>
        <p:txBody>
          <a:bodyPr/>
          <a:lstStyle/>
          <a:p>
            <a:r>
              <a:rPr lang="de-DE"/>
              <a:t>16.07.2026</a:t>
            </a:r>
          </a:p>
        </p:txBody>
      </p:sp>
      <p:sp>
        <p:nvSpPr>
          <p:cNvPr id="4" name="Inhaltsplatzhalter 3">
            <a:extLst>
              <a:ext uri="{FF2B5EF4-FFF2-40B4-BE49-F238E27FC236}">
                <a16:creationId xmlns:a16="http://schemas.microsoft.com/office/drawing/2014/main" id="{9E24C8D9-E4E3-E9CF-1805-31E38BF75F4C}"/>
              </a:ext>
            </a:extLst>
          </p:cNvPr>
          <p:cNvSpPr>
            <a:spLocks noGrp="1"/>
          </p:cNvSpPr>
          <p:nvPr>
            <p:ph sz="quarter" idx="13"/>
          </p:nvPr>
        </p:nvSpPr>
        <p:spPr/>
        <p:txBody>
          <a:bodyPr/>
          <a:lstStyle/>
          <a:p>
            <a:pPr>
              <a:buFont typeface="Arial" panose="020B0604020202020204" pitchFamily="34" charset="0"/>
              <a:buChar char="•"/>
            </a:pPr>
            <a:endParaRPr lang="de-DE" dirty="0"/>
          </a:p>
          <a:p>
            <a:pPr>
              <a:buFont typeface="Arial" panose="020B0604020202020204" pitchFamily="34" charset="0"/>
              <a:buChar char="•"/>
            </a:pPr>
            <a:r>
              <a:rPr lang="de-DE" dirty="0"/>
              <a:t>ROC für Klasse 0 = beschädigt</a:t>
            </a:r>
          </a:p>
          <a:p>
            <a:pPr>
              <a:buFont typeface="Arial" panose="020B0604020202020204" pitchFamily="34" charset="0"/>
              <a:buChar char="•"/>
            </a:pPr>
            <a:r>
              <a:rPr lang="de-DE" dirty="0"/>
              <a:t>AUC: 1.00</a:t>
            </a:r>
          </a:p>
          <a:p>
            <a:pPr>
              <a:buFont typeface="Arial" panose="020B0604020202020204" pitchFamily="34" charset="0"/>
              <a:buChar char="•"/>
            </a:pPr>
            <a:r>
              <a:rPr lang="de-DE" dirty="0"/>
              <a:t>Kurve liegt ideal links oben</a:t>
            </a:r>
          </a:p>
          <a:p>
            <a:endParaRPr lang="de-DE" dirty="0"/>
          </a:p>
        </p:txBody>
      </p:sp>
      <p:pic>
        <p:nvPicPr>
          <p:cNvPr id="10" name="Inhaltsplatzhalter 9">
            <a:extLst>
              <a:ext uri="{FF2B5EF4-FFF2-40B4-BE49-F238E27FC236}">
                <a16:creationId xmlns:a16="http://schemas.microsoft.com/office/drawing/2014/main" id="{C5D9F17E-32D1-AC34-CA50-AD008C0C61A7}"/>
              </a:ext>
            </a:extLst>
          </p:cNvPr>
          <p:cNvPicPr>
            <a:picLocks noGrp="1" noChangeAspect="1"/>
          </p:cNvPicPr>
          <p:nvPr>
            <p:ph sz="quarter" idx="14"/>
          </p:nvPr>
        </p:nvPicPr>
        <p:blipFill>
          <a:blip r:embed="rId3"/>
          <a:stretch>
            <a:fillRect/>
          </a:stretch>
        </p:blipFill>
        <p:spPr>
          <a:xfrm>
            <a:off x="6637205" y="1619250"/>
            <a:ext cx="5035815" cy="4316413"/>
          </a:xfrm>
          <a:prstGeom prst="rect">
            <a:avLst/>
          </a:prstGeom>
        </p:spPr>
      </p:pic>
    </p:spTree>
    <p:extLst>
      <p:ext uri="{BB962C8B-B14F-4D97-AF65-F5344CB8AC3E}">
        <p14:creationId xmlns:p14="http://schemas.microsoft.com/office/powerpoint/2010/main" val="2916641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A22DC-F88E-99AF-A1B7-63C4E1E70CFE}"/>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58211961-23B0-E5D4-DD50-236DA340FDDE}"/>
              </a:ext>
            </a:extLst>
          </p:cNvPr>
          <p:cNvSpPr>
            <a:spLocks noGrp="1"/>
          </p:cNvSpPr>
          <p:nvPr>
            <p:ph type="sldNum" sz="quarter" idx="10"/>
          </p:nvPr>
        </p:nvSpPr>
        <p:spPr/>
        <p:txBody>
          <a:bodyPr/>
          <a:lstStyle/>
          <a:p>
            <a:fld id="{80B4FCE6-DC73-4135-BC56-1F242D45A84C}" type="slidenum">
              <a:rPr lang="de-DE" smtClean="0"/>
              <a:t>18</a:t>
            </a:fld>
            <a:endParaRPr lang="de-DE"/>
          </a:p>
        </p:txBody>
      </p:sp>
      <p:sp>
        <p:nvSpPr>
          <p:cNvPr id="7" name="Fußzeilenplatzhalter 6">
            <a:extLst>
              <a:ext uri="{FF2B5EF4-FFF2-40B4-BE49-F238E27FC236}">
                <a16:creationId xmlns:a16="http://schemas.microsoft.com/office/drawing/2014/main" id="{F90F7BFF-E634-F432-B716-E8CCB89A7606}"/>
              </a:ext>
            </a:extLst>
          </p:cNvPr>
          <p:cNvSpPr>
            <a:spLocks noGrp="1"/>
          </p:cNvSpPr>
          <p:nvPr>
            <p:ph type="ftr" sz="quarter" idx="11"/>
          </p:nvPr>
        </p:nvSpPr>
        <p:spPr/>
        <p:txBody>
          <a:bodyPr/>
          <a:lstStyle/>
          <a:p>
            <a:r>
              <a:rPr lang="de-DE" dirty="0"/>
              <a:t>Materialdiagnostik: Task 3</a:t>
            </a:r>
          </a:p>
        </p:txBody>
      </p:sp>
      <p:sp>
        <p:nvSpPr>
          <p:cNvPr id="6" name="Datumsplatzhalter 5">
            <a:extLst>
              <a:ext uri="{FF2B5EF4-FFF2-40B4-BE49-F238E27FC236}">
                <a16:creationId xmlns:a16="http://schemas.microsoft.com/office/drawing/2014/main" id="{6285D009-B3CD-3F2A-D8EE-96546325CCDB}"/>
              </a:ext>
            </a:extLst>
          </p:cNvPr>
          <p:cNvSpPr>
            <a:spLocks noGrp="1"/>
          </p:cNvSpPr>
          <p:nvPr>
            <p:ph type="dt" sz="half" idx="12"/>
          </p:nvPr>
        </p:nvSpPr>
        <p:spPr/>
        <p:txBody>
          <a:bodyPr/>
          <a:lstStyle/>
          <a:p>
            <a:r>
              <a:rPr lang="de-DE"/>
              <a:t>16.07.2026</a:t>
            </a:r>
          </a:p>
        </p:txBody>
      </p:sp>
      <p:sp>
        <p:nvSpPr>
          <p:cNvPr id="11" name="Inhaltsplatzhalter 10">
            <a:extLst>
              <a:ext uri="{FF2B5EF4-FFF2-40B4-BE49-F238E27FC236}">
                <a16:creationId xmlns:a16="http://schemas.microsoft.com/office/drawing/2014/main" id="{32197734-3134-43BC-590B-CFFB46F37A9B}"/>
              </a:ext>
            </a:extLst>
          </p:cNvPr>
          <p:cNvSpPr>
            <a:spLocks noGrp="1"/>
          </p:cNvSpPr>
          <p:nvPr>
            <p:ph sz="quarter" idx="13"/>
          </p:nvPr>
        </p:nvSpPr>
        <p:spPr/>
        <p:txBody>
          <a:bodyPr/>
          <a:lstStyle/>
          <a:p>
            <a:pPr>
              <a:buFont typeface="Arial" panose="020B0604020202020204" pitchFamily="34" charset="0"/>
              <a:buChar char="•"/>
            </a:pPr>
            <a:endParaRPr lang="de-DE" dirty="0"/>
          </a:p>
          <a:p>
            <a:pPr>
              <a:buFont typeface="Arial" panose="020B0604020202020204" pitchFamily="34" charset="0"/>
              <a:buChar char="•"/>
            </a:pPr>
            <a:r>
              <a:rPr lang="de-DE" dirty="0"/>
              <a:t>Sehr gute Ergebnisse im aktuellen Split</a:t>
            </a:r>
          </a:p>
          <a:p>
            <a:pPr>
              <a:buFont typeface="Arial" panose="020B0604020202020204" pitchFamily="34" charset="0"/>
              <a:buChar char="•"/>
            </a:pPr>
            <a:r>
              <a:rPr lang="de-DE" dirty="0"/>
              <a:t>Aber:</a:t>
            </a:r>
          </a:p>
          <a:p>
            <a:pPr lvl="1">
              <a:buFont typeface="Arial" panose="020B0604020202020204" pitchFamily="34" charset="0"/>
              <a:buChar char="•"/>
            </a:pPr>
            <a:r>
              <a:rPr lang="de-DE" dirty="0"/>
              <a:t>kleiner Datensatz</a:t>
            </a:r>
          </a:p>
          <a:p>
            <a:pPr lvl="1">
              <a:buFont typeface="Arial" panose="020B0604020202020204" pitchFamily="34" charset="0"/>
              <a:buChar char="•"/>
            </a:pPr>
            <a:r>
              <a:rPr lang="de-DE" dirty="0"/>
              <a:t>nur Z05 ist beschädigt</a:t>
            </a:r>
          </a:p>
          <a:p>
            <a:pPr lvl="1">
              <a:buFont typeface="Arial" panose="020B0604020202020204" pitchFamily="34" charset="0"/>
              <a:buChar char="•"/>
            </a:pPr>
            <a:r>
              <a:rPr lang="de-DE" dirty="0"/>
              <a:t>gute Testdaten stammen aus unbekanntem Zahnrad Z03</a:t>
            </a:r>
          </a:p>
          <a:p>
            <a:pPr lvl="1">
              <a:buFont typeface="Arial" panose="020B0604020202020204" pitchFamily="34" charset="0"/>
              <a:buChar char="•"/>
            </a:pPr>
            <a:r>
              <a:rPr lang="de-DE" dirty="0"/>
              <a:t>beschädigte Klasse stammt weiterhin nur aus Z05</a:t>
            </a:r>
          </a:p>
          <a:p>
            <a:pPr lvl="1">
              <a:buFont typeface="Arial" panose="020B0604020202020204" pitchFamily="34" charset="0"/>
              <a:buChar char="•"/>
            </a:pPr>
            <a:r>
              <a:rPr lang="de-DE" dirty="0"/>
              <a:t>Generalisierung auf neue beschädigte Zahnräder offen</a:t>
            </a:r>
          </a:p>
          <a:p>
            <a:endParaRPr lang="de-DE" dirty="0"/>
          </a:p>
        </p:txBody>
      </p:sp>
      <p:sp>
        <p:nvSpPr>
          <p:cNvPr id="2" name="Titel 1">
            <a:extLst>
              <a:ext uri="{FF2B5EF4-FFF2-40B4-BE49-F238E27FC236}">
                <a16:creationId xmlns:a16="http://schemas.microsoft.com/office/drawing/2014/main" id="{6697FF2F-4ABD-DBF1-1A9F-CD59B441583D}"/>
              </a:ext>
            </a:extLst>
          </p:cNvPr>
          <p:cNvSpPr>
            <a:spLocks noGrp="1"/>
          </p:cNvSpPr>
          <p:nvPr>
            <p:ph type="title"/>
          </p:nvPr>
        </p:nvSpPr>
        <p:spPr/>
        <p:txBody>
          <a:bodyPr/>
          <a:lstStyle/>
          <a:p>
            <a:r>
              <a:rPr lang="de-DE" sz="3200" dirty="0"/>
              <a:t>Kritische Diskussion</a:t>
            </a:r>
            <a:endParaRPr lang="de-DE" dirty="0"/>
          </a:p>
        </p:txBody>
      </p:sp>
    </p:spTree>
    <p:extLst>
      <p:ext uri="{BB962C8B-B14F-4D97-AF65-F5344CB8AC3E}">
        <p14:creationId xmlns:p14="http://schemas.microsoft.com/office/powerpoint/2010/main" val="2865727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EC792880-C870-78F8-FD9F-3732660E48D9}"/>
              </a:ext>
            </a:extLst>
          </p:cNvPr>
          <p:cNvSpPr>
            <a:spLocks noGrp="1"/>
          </p:cNvSpPr>
          <p:nvPr>
            <p:ph sz="quarter" idx="13"/>
          </p:nvPr>
        </p:nvSpPr>
        <p:spPr/>
        <p:txBody>
          <a:bodyPr/>
          <a:lstStyle/>
          <a:p>
            <a:pPr>
              <a:buFont typeface="Arial" panose="020B0604020202020204" pitchFamily="34" charset="0"/>
              <a:buChar char="•"/>
            </a:pPr>
            <a:endParaRPr lang="de-DE" dirty="0"/>
          </a:p>
          <a:p>
            <a:pPr>
              <a:buFont typeface="Arial" panose="020B0604020202020204" pitchFamily="34" charset="0"/>
              <a:buChar char="•"/>
            </a:pPr>
            <a:r>
              <a:rPr lang="de-DE" dirty="0"/>
              <a:t>Saubere Pipeline von gemittelten Merkmalen zu zwei Channel-MLPs</a:t>
            </a:r>
          </a:p>
          <a:p>
            <a:pPr>
              <a:buFont typeface="Arial" panose="020B0604020202020204" pitchFamily="34" charset="0"/>
              <a:buChar char="•"/>
            </a:pPr>
            <a:r>
              <a:rPr lang="de-DE" dirty="0"/>
              <a:t>Zahnrad basierter Split statt zufälligem Dateisplit</a:t>
            </a:r>
          </a:p>
          <a:p>
            <a:pPr>
              <a:buFont typeface="Arial" panose="020B0604020202020204" pitchFamily="34" charset="0"/>
              <a:buChar char="•"/>
            </a:pPr>
            <a:r>
              <a:rPr lang="de-DE" dirty="0"/>
              <a:t>Testsignale werden nach Channel geroutet</a:t>
            </a:r>
          </a:p>
          <a:p>
            <a:pPr>
              <a:buFont typeface="Arial" panose="020B0604020202020204" pitchFamily="34" charset="0"/>
              <a:buChar char="•"/>
            </a:pPr>
            <a:r>
              <a:rPr lang="de-DE" dirty="0"/>
              <a:t>Beide MLPs erreichen perfekte Testwerte im aktuellen Datensatz</a:t>
            </a:r>
          </a:p>
          <a:p>
            <a:pPr>
              <a:buFont typeface="Arial" panose="020B0604020202020204" pitchFamily="34" charset="0"/>
              <a:buChar char="•"/>
            </a:pPr>
            <a:r>
              <a:rPr lang="de-DE" dirty="0"/>
              <a:t>Nächster Schritt: mehr beschädigte Proben testen</a:t>
            </a:r>
          </a:p>
        </p:txBody>
      </p:sp>
      <p:sp>
        <p:nvSpPr>
          <p:cNvPr id="2" name="Titel 1">
            <a:extLst>
              <a:ext uri="{FF2B5EF4-FFF2-40B4-BE49-F238E27FC236}">
                <a16:creationId xmlns:a16="http://schemas.microsoft.com/office/drawing/2014/main" id="{C254BBB6-51EB-B8DF-B124-F43AAB73DC5D}"/>
              </a:ext>
            </a:extLst>
          </p:cNvPr>
          <p:cNvSpPr>
            <a:spLocks noGrp="1"/>
          </p:cNvSpPr>
          <p:nvPr>
            <p:ph type="title"/>
          </p:nvPr>
        </p:nvSpPr>
        <p:spPr/>
        <p:txBody>
          <a:bodyPr/>
          <a:lstStyle/>
          <a:p>
            <a:r>
              <a:rPr lang="de-DE" sz="3200" dirty="0"/>
              <a:t>Fazit</a:t>
            </a:r>
          </a:p>
        </p:txBody>
      </p:sp>
      <p:sp>
        <p:nvSpPr>
          <p:cNvPr id="5" name="Datumsplatzhalter 4">
            <a:extLst>
              <a:ext uri="{FF2B5EF4-FFF2-40B4-BE49-F238E27FC236}">
                <a16:creationId xmlns:a16="http://schemas.microsoft.com/office/drawing/2014/main" id="{A1BB0821-ACF4-FAAA-FCFD-FE000BACD3BE}"/>
              </a:ext>
            </a:extLst>
          </p:cNvPr>
          <p:cNvSpPr>
            <a:spLocks noGrp="1"/>
          </p:cNvSpPr>
          <p:nvPr>
            <p:ph type="dt" sz="half" idx="12"/>
          </p:nvPr>
        </p:nvSpPr>
        <p:spPr/>
        <p:txBody>
          <a:bodyPr/>
          <a:lstStyle/>
          <a:p>
            <a:r>
              <a:rPr lang="de-DE"/>
              <a:t>16.07.2026</a:t>
            </a:r>
          </a:p>
        </p:txBody>
      </p:sp>
      <p:sp>
        <p:nvSpPr>
          <p:cNvPr id="6" name="Fußzeilenplatzhalter 5">
            <a:extLst>
              <a:ext uri="{FF2B5EF4-FFF2-40B4-BE49-F238E27FC236}">
                <a16:creationId xmlns:a16="http://schemas.microsoft.com/office/drawing/2014/main" id="{44504410-AB8A-471C-1D33-002F641A2C98}"/>
              </a:ext>
            </a:extLst>
          </p:cNvPr>
          <p:cNvSpPr>
            <a:spLocks noGrp="1"/>
          </p:cNvSpPr>
          <p:nvPr>
            <p:ph type="ftr" sz="quarter" idx="11"/>
          </p:nvPr>
        </p:nvSpPr>
        <p:spPr/>
        <p:txBody>
          <a:bodyPr/>
          <a:lstStyle/>
          <a:p>
            <a:r>
              <a:rPr lang="de-DE"/>
              <a:t>Materialdiagnostik: Task 3</a:t>
            </a:r>
            <a:endParaRPr lang="de-DE" dirty="0"/>
          </a:p>
        </p:txBody>
      </p:sp>
      <p:sp>
        <p:nvSpPr>
          <p:cNvPr id="7" name="Foliennummernplatzhalter 6">
            <a:extLst>
              <a:ext uri="{FF2B5EF4-FFF2-40B4-BE49-F238E27FC236}">
                <a16:creationId xmlns:a16="http://schemas.microsoft.com/office/drawing/2014/main" id="{A8EACD8A-4E1D-8443-CADB-49E8F22A8887}"/>
              </a:ext>
            </a:extLst>
          </p:cNvPr>
          <p:cNvSpPr>
            <a:spLocks noGrp="1"/>
          </p:cNvSpPr>
          <p:nvPr>
            <p:ph type="sldNum" sz="quarter" idx="10"/>
          </p:nvPr>
        </p:nvSpPr>
        <p:spPr/>
        <p:txBody>
          <a:bodyPr/>
          <a:lstStyle/>
          <a:p>
            <a:fld id="{80B4FCE6-DC73-4135-BC56-1F242D45A84C}" type="slidenum">
              <a:rPr lang="de-DE" smtClean="0"/>
              <a:t>19</a:t>
            </a:fld>
            <a:endParaRPr lang="de-DE"/>
          </a:p>
        </p:txBody>
      </p:sp>
    </p:spTree>
    <p:extLst>
      <p:ext uri="{BB962C8B-B14F-4D97-AF65-F5344CB8AC3E}">
        <p14:creationId xmlns:p14="http://schemas.microsoft.com/office/powerpoint/2010/main" val="176930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9BDB3-AF05-698B-206C-6C9919554531}"/>
              </a:ext>
            </a:extLst>
          </p:cNvPr>
          <p:cNvSpPr>
            <a:spLocks noGrp="1"/>
          </p:cNvSpPr>
          <p:nvPr>
            <p:ph type="title"/>
          </p:nvPr>
        </p:nvSpPr>
        <p:spPr/>
        <p:txBody>
          <a:bodyPr/>
          <a:lstStyle/>
          <a:p>
            <a:r>
              <a:rPr lang="de-DE" dirty="0"/>
              <a:t>Ende</a:t>
            </a:r>
          </a:p>
        </p:txBody>
      </p:sp>
    </p:spTree>
    <p:extLst>
      <p:ext uri="{BB962C8B-B14F-4D97-AF65-F5344CB8AC3E}">
        <p14:creationId xmlns:p14="http://schemas.microsoft.com/office/powerpoint/2010/main" val="467022224"/>
      </p:ext>
    </p:extLst>
  </p:cSld>
  <p:clrMapOvr>
    <a:masterClrMapping/>
  </p:clrMapOvr>
</p:sld>
</file>

<file path=ppt/theme/theme1.xml><?xml version="1.0" encoding="utf-8"?>
<a:theme xmlns:a="http://schemas.openxmlformats.org/drawingml/2006/main" name="B-TU_Design_new">
  <a:themeElements>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pitchFamily="-109" charset="0"/>
            <a:ea typeface="ヒラギノ角ゴ Pro W3" pitchFamily="-109" charset="-128"/>
            <a:cs typeface="ヒラギノ角ゴ Pro W3" pitchFamily="-10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pitchFamily="-109" charset="0"/>
            <a:ea typeface="ヒラギノ角ゴ Pro W3" pitchFamily="-109" charset="-128"/>
            <a:cs typeface="ヒラギノ角ゴ Pro W3" pitchFamily="-109"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B-TU_Design_new" id="{646A7671-C426-4EDE-91D9-79A1794CE4D5}" vid="{0D282BB0-0299-4ACE-B272-414AB2767CE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B-TU_Design</Template>
  <TotalTime>0</TotalTime>
  <Words>1802</Words>
  <Application>Microsoft Office PowerPoint</Application>
  <PresentationFormat>Breitbild</PresentationFormat>
  <Paragraphs>232</Paragraphs>
  <Slides>20</Slides>
  <Notes>20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20</vt:i4>
      </vt:variant>
    </vt:vector>
  </HeadingPairs>
  <TitlesOfParts>
    <vt:vector size="26" baseType="lpstr">
      <vt:lpstr>Aptos</vt:lpstr>
      <vt:lpstr>Arial</vt:lpstr>
      <vt:lpstr>Courier New</vt:lpstr>
      <vt:lpstr>Lucida Grande</vt:lpstr>
      <vt:lpstr>ヒラギノ角ゴ Pro W3</vt:lpstr>
      <vt:lpstr>B-TU_Design_new</vt:lpstr>
      <vt:lpstr>Seminaraufgabe 3</vt:lpstr>
      <vt:lpstr>Gliederung</vt:lpstr>
      <vt:lpstr>Ziel</vt:lpstr>
      <vt:lpstr>Datensatz und Label-Zuordnung</vt:lpstr>
      <vt:lpstr>Problem vor der Modellierung</vt:lpstr>
      <vt:lpstr>Merkmalsextraktion</vt:lpstr>
      <vt:lpstr>Split und Channel-Behandlung</vt:lpstr>
      <vt:lpstr>Train-, Dev- und Testsplit</vt:lpstr>
      <vt:lpstr>MLP-Modell</vt:lpstr>
      <vt:lpstr>Hyperparameter-Suche</vt:lpstr>
      <vt:lpstr>Code-Überblick</vt:lpstr>
      <vt:lpstr>Loss Curves</vt:lpstr>
      <vt:lpstr>Learning Curves</vt:lpstr>
      <vt:lpstr>Entscheidungsgrenze im Training</vt:lpstr>
      <vt:lpstr>Entscheidungsgrenze im Training</vt:lpstr>
      <vt:lpstr>Testergebnisse</vt:lpstr>
      <vt:lpstr>ROC und AUC</vt:lpstr>
      <vt:lpstr>Kritische Diskussion</vt:lpstr>
      <vt:lpstr>Fazit</vt:lpstr>
      <vt:lpstr>Ende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Tim Giese</dc:creator>
  <cp:lastModifiedBy>Benjamin Gielczynski</cp:lastModifiedBy>
  <cp:revision>57</cp:revision>
  <dcterms:created xsi:type="dcterms:W3CDTF">2026-06-13T09:02:33Z</dcterms:created>
  <dcterms:modified xsi:type="dcterms:W3CDTF">2026-07-15T13:24:26Z</dcterms:modified>
</cp:coreProperties>
</file>