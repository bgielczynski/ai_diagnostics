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80" r:id="rId17"/>
    <p:sldId id="273" r:id="rId18"/>
    <p:sldId id="274" r:id="rId19"/>
    <p:sldId id="275"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23"/>
    <p:restoredTop sz="77175" autoAdjust="0"/>
  </p:normalViewPr>
  <p:slideViewPr>
    <p:cSldViewPr snapToGrid="0">
      <p:cViewPr varScale="1">
        <p:scale>
          <a:sx n="73" d="100"/>
          <a:sy n="73" d="100"/>
        </p:scale>
        <p:origin x="1147"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09.07.2026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09.07.2026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In Aufgabe 3 geht es darum, die Daten aus Aufgabe 2 nicht nur visuell zu untersuchen, sondern automatisch zu klassifizieren. Das Ziel ist eine binäre Entscheidung: Ist ein Signal einem guten oder einem beschädigten Zahnrad zuzuordnen? Dafür verwenden wir ein MLP und bewerten das Modell erst am Ende auf einem separaten Testsatz.</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Ein direktes Training auf allen Dateien wäre problematisch. `Z01` und `Z04` besitzen mehr Wiederholungsmessungen als `Z02`, `Z03` und `Z05`. Wenn wir jede Datei als unabhängigen Datenpunkt verwenden, bekommen diese Proben mehr Gewicht. Deshalb extrahieren wir zuerst die Merkmale pro 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derselben Messsituation.</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Wir verwenden bewusst die Merkmale aus Aufgabe 2 weiter, weil diese bereits zu guten visuellen Trennungen geführt haben. Die Merkmale beschreiben sowohl zeitliche Eigenschaften als auch spektrale Eigenschaften des Signals. Dadurch muss das MLP nicht direkt auf den Rohsignalen lernen, sondern bekommt kompakte Signalbeschreibungen.</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Wir extrahieren die Merkmale pro Roh-datei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Dadurch werden Wiederholungsmessungen in der Merkmalsebene zusammengefasst. Der Split trennt die guten Zahnräder stärker nach Zahnrad-Identität: `Z04` ist nur im Entwicklungssatz, `Z03` nur im Testsatz. `Z05` muss als einziges beschädigtes Zahnrad weiterhin positionsbasiert auf Train, Dev und Test verteilt werden. `Ch1` und `Ch2` werden nicht als Feature codiert, sondern bekommen je ein eigenes Modell.</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Das Verteilungsdiagramm macht sichtbar, warum wir vor dem Training mitteln. `Z01` und `Z04` hätten sonst deutlich mehr Einfluss als die anderen Zahnräder, weil dort mehr Wiederholungsmessungen vorhanden sind. Nach der Mittelung stehen für jedes gute Zahnrad pro Channel 20 Feature-Zeilen zur Verfügung. Danach werden die guten Zahnräder getrennt: `Z01` und `Z02` liegen im Training, `Z04` im Entwicklungssatz und `Z03` im Testsatz. Für die beschädigte Klasse ist eine solche Zahnrad-Trennung nicht möglich, weil nur `Z05` beschädigt ist. Deshalb wird `Z05` pro Channel positionsbasiert in 12 Training, 4 Entwicklung und 4 Test aufgeteilt. Daraus entstehen pro Channel 52 Trainings-, 24 Entwicklungs- und 24 Testbeispiele.</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 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Im aktuellen Split erreicht `Ch1` schon mit kleinen Trainingsmengen perfekte Entwicklungswerte. `Ch2`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B</a:t>
            </a:r>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dirty="0"/>
              <a:t>B</a:t>
            </a:r>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223C-46EC-F132-120C-79DCC285922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31AB49A-A181-E6C4-52A9-32F54132F86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A1B5407-2556-B13C-8BA6-1F2CF5FC46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Die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zeigt, dass im aktuellen Testsatz alle Beispiele korrekt klassifiziert wurden. Besonders wichtig ist der Recall </a:t>
            </a:r>
            <a:r>
              <a:rPr lang="de-DE" sz="1200" b="0" kern="1200" dirty="0" err="1">
                <a:solidFill>
                  <a:schemeClr val="tx1"/>
                </a:solidFill>
                <a:effectLst/>
                <a:latin typeface="+mn-lt"/>
                <a:ea typeface="+mn-ea"/>
                <a:cs typeface="+mn-cs"/>
              </a:rPr>
              <a:t>fuer</a:t>
            </a:r>
            <a:r>
              <a:rPr lang="de-DE" sz="1200" b="0" kern="1200" dirty="0">
                <a:solidFill>
                  <a:schemeClr val="tx1"/>
                </a:solidFill>
                <a:effectLst/>
                <a:latin typeface="+mn-lt"/>
                <a:ea typeface="+mn-ea"/>
                <a:cs typeface="+mn-cs"/>
              </a:rPr>
              <a:t> Klasse 0, also für beschädigte Signale. Dieser ist hier 1.0. Trotzdem müssen wir das Ergebnis kritisch einordnen, weil der Datensatz klein ist.</a:t>
            </a:r>
          </a:p>
        </p:txBody>
      </p:sp>
      <p:sp>
        <p:nvSpPr>
          <p:cNvPr id="4" name="Foliennummernplatzhalter 3">
            <a:extLst>
              <a:ext uri="{FF2B5EF4-FFF2-40B4-BE49-F238E27FC236}">
                <a16:creationId xmlns:a16="http://schemas.microsoft.com/office/drawing/2014/main" id="{71FC3C16-880E-E124-F68B-73B6A73B0C69}"/>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2066585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Die ROC-Kurve zeigt, wie gut das Modell zwischen </a:t>
            </a:r>
            <a:r>
              <a:rPr lang="de-DE" sz="1200" b="0" kern="1200" dirty="0" err="1">
                <a:solidFill>
                  <a:schemeClr val="tx1"/>
                </a:solidFill>
                <a:effectLst/>
                <a:latin typeface="+mn-lt"/>
                <a:ea typeface="+mn-ea"/>
                <a:cs typeface="+mn-cs"/>
              </a:rPr>
              <a:t>beschaedigt</a:t>
            </a:r>
            <a:r>
              <a:rPr lang="de-DE" sz="1200" b="0" kern="1200" dirty="0">
                <a:solidFill>
                  <a:schemeClr val="tx1"/>
                </a:solidFill>
                <a:effectLst/>
                <a:latin typeface="+mn-lt"/>
                <a:ea typeface="+mn-ea"/>
                <a:cs typeface="+mn-cs"/>
              </a:rPr>
              <a:t> und gut trennt, wenn man den Entscheidungsschwellwert </a:t>
            </a:r>
            <a:r>
              <a:rPr lang="de-DE" sz="1200" b="0" kern="1200" dirty="0" err="1">
                <a:solidFill>
                  <a:schemeClr val="tx1"/>
                </a:solidFill>
                <a:effectLst/>
                <a:latin typeface="+mn-lt"/>
                <a:ea typeface="+mn-ea"/>
                <a:cs typeface="+mn-cs"/>
              </a:rPr>
              <a:t>veraendert</a:t>
            </a:r>
            <a:r>
              <a:rPr lang="de-DE" sz="1200" b="0" kern="1200" dirty="0">
                <a:solidFill>
                  <a:schemeClr val="tx1"/>
                </a:solidFill>
                <a:effectLst/>
                <a:latin typeface="+mn-lt"/>
                <a:ea typeface="+mn-ea"/>
                <a:cs typeface="+mn-cs"/>
              </a:rPr>
              <a:t>. Eine AUC von 1.0 bedeutet perfekte Trennung im aktuellen Testsatz. Auch hier gilt: Das ist ein starkes Ergebnis, aber wegen der Datenlage vorsichtig zu interpretieren.</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Der wichtigste Diskussionsteil ist die Einordnung. Der neue Split prüft die guten Zahnräder strenger, weil `Z03` im Test nicht im Training vorkommt. Für die beschädigte Klasse bleibt die Aussage begrenzt, weil alle beschädigten Signale aus `Z05` stammen. Für eine robuste Aussage bräuchte man weitere beschädigte Zahnräder.</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Zusammenfassend haben wir eine vollständige Klassifikationspipeline aufgebaut. Die wichtigsten methodischen Entscheidungen waren die Feature-Mittelung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 zahnradbasierte Split und zwei getrennte Modelle für `Ch1` und `Ch2`. Das Ergebnis ist sehr gut, muss aber wegen der begrenzten Datenbasis kritisch diskutiert werden. Für eine robustere Aussage wären weitere beschädigte Zahnräder notwendig.</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16.07.2026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16.07.2026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dirty="0"/>
              <a:t>Materialdiagnostik: Task 3</a:t>
            </a:r>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16.07.2026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3</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pic>
        <p:nvPicPr>
          <p:cNvPr id="5" name="Grafik 4">
            <a:extLst>
              <a:ext uri="{FF2B5EF4-FFF2-40B4-BE49-F238E27FC236}">
                <a16:creationId xmlns:a16="http://schemas.microsoft.com/office/drawing/2014/main" id="{3CD1AE25-2D20-AE6D-214C-FA96F52C5243}"/>
              </a:ext>
            </a:extLst>
          </p:cNvPr>
          <p:cNvPicPr>
            <a:picLocks noChangeAspect="1"/>
          </p:cNvPicPr>
          <p:nvPr/>
        </p:nvPicPr>
        <p:blipFill>
          <a:blip r:embed="rId3"/>
          <a:stretch>
            <a:fillRect/>
          </a:stretch>
        </p:blipFill>
        <p:spPr>
          <a:xfrm>
            <a:off x="4838289" y="1627906"/>
            <a:ext cx="4365653" cy="4350753"/>
          </a:xfrm>
          <a:prstGeom prst="rect">
            <a:avLst/>
          </a:prstGeom>
        </p:spPr>
      </p:pic>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Binäre Klassifikation von Zahnrad-Audiosignalen</a:t>
            </a:r>
          </a:p>
          <a:p>
            <a:pPr>
              <a:buFont typeface="Arial" panose="020B0604020202020204" pitchFamily="34" charset="0"/>
              <a:buChar char="•"/>
            </a:pPr>
            <a:r>
              <a:rPr lang="de-DE" dirty="0"/>
              <a:t>Modell: </a:t>
            </a:r>
            <a:r>
              <a:rPr lang="de-DE" dirty="0" err="1"/>
              <a:t>Multilayer</a:t>
            </a:r>
            <a:r>
              <a:rPr lang="de-DE" dirty="0"/>
              <a:t> </a:t>
            </a:r>
            <a:r>
              <a:rPr lang="de-DE" dirty="0" err="1"/>
              <a:t>Perceptron</a:t>
            </a:r>
            <a:r>
              <a:rPr lang="de-DE" dirty="0"/>
              <a:t> (MLP)</a:t>
            </a:r>
          </a:p>
          <a:p>
            <a:pPr>
              <a:buFont typeface="Arial" panose="020B0604020202020204" pitchFamily="34" charset="0"/>
              <a:buChar char="•"/>
            </a:pPr>
            <a:r>
              <a:rPr lang="de-DE" dirty="0"/>
              <a:t>Klassen:</a:t>
            </a:r>
          </a:p>
          <a:p>
            <a:pPr lvl="1">
              <a:buFont typeface="Arial" panose="020B0604020202020204" pitchFamily="34" charset="0"/>
              <a:buChar char="•"/>
            </a:pPr>
            <a:r>
              <a:rPr lang="de-DE" dirty="0"/>
              <a:t>1 = gut</a:t>
            </a:r>
          </a:p>
          <a:p>
            <a:pPr lvl="1">
              <a:buFont typeface="Arial" panose="020B0604020202020204" pitchFamily="34" charset="0"/>
              <a:buChar char="•"/>
            </a:pPr>
            <a:r>
              <a:rPr lang="de-DE" dirty="0"/>
              <a:t>0 = beschädigt</a:t>
            </a:r>
          </a:p>
          <a:p>
            <a:pPr>
              <a:buFont typeface="Arial" panose="020B0604020202020204" pitchFamily="34" charset="0"/>
              <a:buChar char="•"/>
            </a:pPr>
            <a:r>
              <a:rPr lang="de-DE" dirty="0"/>
              <a:t>Bewertung mit Testsatz, ROC und AUC</a:t>
            </a:r>
          </a:p>
        </p:txBody>
      </p:sp>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Ziel</a:t>
            </a:r>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16.07.2026</a:t>
            </a:r>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3</a:t>
            </a:r>
            <a:endParaRPr lang="de-DE" dirty="0"/>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Task_2/</a:t>
            </a:r>
            <a:r>
              <a:rPr lang="de-DE" dirty="0" err="1"/>
              <a:t>data</a:t>
            </a:r>
            <a:r>
              <a:rPr lang="de-DE" dirty="0"/>
              <a:t>/</a:t>
            </a:r>
            <a:r>
              <a:rPr lang="de-DE" dirty="0" err="1"/>
              <a:t>sig</a:t>
            </a:r>
            <a:endParaRPr lang="de-DE" dirty="0"/>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3</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a:xfrm>
            <a:off x="341811" y="567600"/>
            <a:ext cx="4934382" cy="706030"/>
          </a:xfrm>
        </p:spPr>
        <p:txBody>
          <a:bodyPr anchor="ctr">
            <a:normAutofit fontScale="90000"/>
          </a:bodyPr>
          <a:lstStyle/>
          <a:p>
            <a:pPr>
              <a:lnSpc>
                <a:spcPct val="90000"/>
              </a:lnSpc>
            </a:pPr>
            <a:r>
              <a:rPr lang="de-DE" sz="3200" dirty="0"/>
              <a:t>Problem vor der Modellierung</a:t>
            </a:r>
            <a:endParaRPr lang="de-DE" sz="2200" dirty="0"/>
          </a:p>
        </p:txBody>
      </p:sp>
      <p:sp>
        <p:nvSpPr>
          <p:cNvPr id="10" name="Inhaltsplatzhalter 9">
            <a:extLst>
              <a:ext uri="{FF2B5EF4-FFF2-40B4-BE49-F238E27FC236}">
                <a16:creationId xmlns:a16="http://schemas.microsoft.com/office/drawing/2014/main" id="{854D615C-F8E5-5FC5-C401-2791DF60C45B}"/>
              </a:ext>
            </a:extLst>
          </p:cNvPr>
          <p:cNvSpPr>
            <a:spLocks noGrp="1"/>
          </p:cNvSpPr>
          <p:nvPr>
            <p:ph sz="quarter" idx="13"/>
          </p:nvPr>
        </p:nvSpPr>
        <p:spPr>
          <a:xfrm>
            <a:off x="341312" y="1620000"/>
            <a:ext cx="7289197" cy="4316412"/>
          </a:xfrm>
        </p:spPr>
        <p:txBody>
          <a:bodyPr>
            <a:normAutofit/>
          </a:bodyPr>
          <a:lstStyle/>
          <a:p>
            <a:pPr>
              <a:buFont typeface="Arial" panose="020B0604020202020204" pitchFamily="34" charset="0"/>
              <a:buChar char="•"/>
            </a:pPr>
            <a:endParaRPr lang="de-DE" dirty="0"/>
          </a:p>
          <a:p>
            <a:pPr>
              <a:buFont typeface="Arial" panose="020B0604020202020204" pitchFamily="34" charset="0"/>
              <a:buChar char="•"/>
            </a:pPr>
            <a:r>
              <a:rPr lang="de-DE" dirty="0"/>
              <a:t>Unterschiedlich viele </a:t>
            </a:r>
            <a:r>
              <a:rPr lang="de-DE" dirty="0" err="1"/>
              <a:t>mID</a:t>
            </a:r>
            <a:r>
              <a:rPr lang="de-DE" dirty="0"/>
              <a:t> pro Zahnrad</a:t>
            </a:r>
          </a:p>
          <a:p>
            <a:pPr>
              <a:buFont typeface="Arial" panose="020B0604020202020204" pitchFamily="34" charset="0"/>
              <a:buChar char="•"/>
            </a:pPr>
            <a:r>
              <a:rPr lang="de-DE" dirty="0"/>
              <a:t>Z01 und Z04 haben mehr Wiederholungsmessungen</a:t>
            </a:r>
          </a:p>
          <a:p>
            <a:pPr>
              <a:buFont typeface="Arial" panose="020B0604020202020204" pitchFamily="34" charset="0"/>
              <a:buChar char="•"/>
            </a:pPr>
            <a:r>
              <a:rPr lang="de-DE" dirty="0"/>
              <a:t>Gefahr: Modell gewichtet diese Proben stärker</a:t>
            </a:r>
          </a:p>
          <a:p>
            <a:pPr>
              <a:buFont typeface="Arial" panose="020B0604020202020204" pitchFamily="34" charset="0"/>
              <a:buChar char="•"/>
            </a:pPr>
            <a:r>
              <a:rPr lang="de-DE" dirty="0"/>
              <a:t>Lösung: Mittelung über </a:t>
            </a:r>
            <a:r>
              <a:rPr lang="de-DE" dirty="0" err="1"/>
              <a:t>mID</a:t>
            </a:r>
            <a:r>
              <a:rPr lang="de-DE" dirty="0"/>
              <a:t> nach Merkmalextraktion</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Gleiche Merkmalsfamilien wie in Aufgabe 2</a:t>
            </a:r>
          </a:p>
          <a:p>
            <a:pPr lvl="1">
              <a:buFont typeface="Arial" panose="020B0604020202020204" pitchFamily="34" charset="0"/>
              <a:buChar char="•"/>
            </a:pPr>
            <a:r>
              <a:rPr lang="de-DE" dirty="0"/>
              <a:t>MFCC und Delta-MFCC</a:t>
            </a:r>
          </a:p>
          <a:p>
            <a:pPr lvl="1">
              <a:buFont typeface="Arial" panose="020B0604020202020204" pitchFamily="34" charset="0"/>
              <a:buChar char="•"/>
            </a:pPr>
            <a:r>
              <a:rPr lang="de-DE" dirty="0"/>
              <a:t>Spektralzentrum, Bandbreite, Roll-off</a:t>
            </a:r>
          </a:p>
          <a:p>
            <a:pPr lvl="1">
              <a:buFont typeface="Arial" panose="020B0604020202020204" pitchFamily="34" charset="0"/>
              <a:buChar char="•"/>
            </a:pPr>
            <a:r>
              <a:rPr lang="de-DE" dirty="0"/>
              <a:t>Spektralkontrast</a:t>
            </a:r>
          </a:p>
          <a:p>
            <a:pPr lvl="1">
              <a:buFont typeface="Arial" panose="020B0604020202020204" pitchFamily="34" charset="0"/>
              <a:buChar char="•"/>
            </a:pPr>
            <a:r>
              <a:rPr lang="de-DE" dirty="0"/>
              <a:t>Chroma-STFT und Chroma-CENS</a:t>
            </a:r>
          </a:p>
          <a:p>
            <a:pPr lvl="1">
              <a:buFont typeface="Arial" panose="020B0604020202020204" pitchFamily="34" charset="0"/>
              <a:buChar char="•"/>
            </a:pPr>
            <a:r>
              <a:rPr lang="de-DE" dirty="0"/>
              <a:t>Zero-Crossing-Rate und RMS-Energie</a:t>
            </a:r>
          </a:p>
        </p:txBody>
      </p:sp>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Merkmalsextraktion</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3</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Split und Channel-Behandlung</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7467874" cy="4316412"/>
          </a:xfrm>
        </p:spPr>
        <p:txBody>
          <a:bodyPr/>
          <a:lstStyle/>
          <a:p>
            <a:pPr>
              <a:buFont typeface="Arial" panose="020B0604020202020204" pitchFamily="34" charset="0"/>
              <a:buChar char="•"/>
            </a:pPr>
            <a:r>
              <a:rPr lang="de-DE" dirty="0"/>
              <a:t>Feature-Mittelung über `</a:t>
            </a:r>
            <a:r>
              <a:rPr lang="de-DE" dirty="0" err="1"/>
              <a:t>mID</a:t>
            </a:r>
            <a:r>
              <a:rPr lang="de-DE" dirty="0"/>
              <a:t>`</a:t>
            </a:r>
          </a:p>
          <a:p>
            <a:pPr>
              <a:buFont typeface="Arial" panose="020B0604020202020204" pitchFamily="34" charset="0"/>
              <a:buChar char="•"/>
            </a:pPr>
            <a:r>
              <a:rPr lang="de-DE" dirty="0"/>
              <a:t>Merkmalsextraktion pro Datei vor der Mittelung</a:t>
            </a:r>
          </a:p>
          <a:p>
            <a:pPr>
              <a:buFont typeface="Arial" panose="020B0604020202020204" pitchFamily="34" charset="0"/>
              <a:buChar char="•"/>
            </a:pPr>
            <a:r>
              <a:rPr lang="de-DE" dirty="0"/>
              <a:t>Fester Split über Zahnräder:</a:t>
            </a:r>
          </a:p>
          <a:p>
            <a:pPr lvl="1">
              <a:buFont typeface="Arial" panose="020B0604020202020204" pitchFamily="34" charset="0"/>
              <a:buChar char="•"/>
            </a:pPr>
            <a:r>
              <a:rPr lang="de-DE" dirty="0"/>
              <a:t>Train: Z01, Z02</a:t>
            </a:r>
          </a:p>
          <a:p>
            <a:pPr lvl="1">
              <a:buFont typeface="Arial" panose="020B0604020202020204" pitchFamily="34" charset="0"/>
              <a:buChar char="•"/>
            </a:pPr>
            <a:r>
              <a:rPr lang="de-DE" dirty="0"/>
              <a:t>Dev: Z04</a:t>
            </a:r>
          </a:p>
          <a:p>
            <a:pPr lvl="1">
              <a:buFont typeface="Arial" panose="020B0604020202020204" pitchFamily="34" charset="0"/>
              <a:buChar char="•"/>
            </a:pPr>
            <a:r>
              <a:rPr lang="de-DE" dirty="0"/>
              <a:t>Test: Z03</a:t>
            </a:r>
          </a:p>
          <a:p>
            <a:pPr>
              <a:buFont typeface="Arial" panose="020B0604020202020204" pitchFamily="34" charset="0"/>
              <a:buChar char="•"/>
            </a:pPr>
            <a:r>
              <a:rPr lang="de-DE" dirty="0"/>
              <a:t>Z05 positionsbasiert auf alle Splits verteilt</a:t>
            </a:r>
          </a:p>
          <a:p>
            <a:pPr>
              <a:buFont typeface="Arial" panose="020B0604020202020204" pitchFamily="34" charset="0"/>
              <a:buChar char="•"/>
            </a:pPr>
            <a:r>
              <a:rPr lang="de-DE" dirty="0"/>
              <a:t>Zwei Modelle:</a:t>
            </a:r>
          </a:p>
          <a:p>
            <a:pPr lvl="1">
              <a:buFont typeface="Arial" panose="020B0604020202020204" pitchFamily="34" charset="0"/>
              <a:buChar char="•"/>
            </a:pPr>
            <a:r>
              <a:rPr lang="de-DE" dirty="0"/>
              <a:t>Ch1</a:t>
            </a:r>
          </a:p>
          <a:p>
            <a:pPr lvl="1">
              <a:buFont typeface="Arial" panose="020B0604020202020204" pitchFamily="34" charset="0"/>
              <a:buChar char="•"/>
            </a:pPr>
            <a:r>
              <a:rPr lang="de-DE" dirty="0"/>
              <a:t>Ch2</a:t>
            </a:r>
          </a:p>
          <a:p>
            <a:endParaRPr lang="de-DE" dirty="0"/>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Train-, Dev- und Testsplit</a:t>
            </a:r>
            <a:endParaRPr lang="de-DE" dirty="0"/>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16.07.2026</a:t>
            </a:r>
          </a:p>
        </p:txBody>
      </p:sp>
      <p:pic>
        <p:nvPicPr>
          <p:cNvPr id="9" name="Inhaltsplatzhalter 8">
            <a:extLst>
              <a:ext uri="{FF2B5EF4-FFF2-40B4-BE49-F238E27FC236}">
                <a16:creationId xmlns:a16="http://schemas.microsoft.com/office/drawing/2014/main" id="{5AD18B85-441C-A6ED-1F44-169EB76A5913}"/>
              </a:ext>
            </a:extLst>
          </p:cNvPr>
          <p:cNvPicPr>
            <a:picLocks noGrp="1" noChangeAspect="1"/>
          </p:cNvPicPr>
          <p:nvPr>
            <p:ph sz="quarter" idx="13"/>
          </p:nvPr>
        </p:nvPicPr>
        <p:blipFill>
          <a:blip r:embed="rId3"/>
          <a:stretch>
            <a:fillRect/>
          </a:stretch>
        </p:blipFill>
        <p:spPr>
          <a:xfrm>
            <a:off x="341312" y="1942409"/>
            <a:ext cx="6028951" cy="2973181"/>
          </a:xfrm>
          <a:prstGeom prst="rect">
            <a:avLst/>
          </a:prstGeom>
        </p:spPr>
      </p:pic>
      <p:sp>
        <p:nvSpPr>
          <p:cNvPr id="10" name="Inhaltsplatzhalter 9">
            <a:extLst>
              <a:ext uri="{FF2B5EF4-FFF2-40B4-BE49-F238E27FC236}">
                <a16:creationId xmlns:a16="http://schemas.microsoft.com/office/drawing/2014/main" id="{F6F33955-C302-D8CD-0F72-37CDC29CBBA0}"/>
              </a:ext>
            </a:extLst>
          </p:cNvPr>
          <p:cNvSpPr>
            <a:spLocks noGrp="1"/>
          </p:cNvSpPr>
          <p:nvPr>
            <p:ph sz="quarter" idx="14"/>
          </p:nvPr>
        </p:nvSpPr>
        <p:spPr/>
        <p:txBody>
          <a:bodyPr/>
          <a:lstStyle/>
          <a:p>
            <a:pPr marL="400050">
              <a:buFont typeface="Arial" panose="020B0604020202020204" pitchFamily="34" charset="0"/>
              <a:buChar char="•"/>
            </a:pPr>
            <a:r>
              <a:rPr lang="de-DE" dirty="0"/>
              <a:t>Train: </a:t>
            </a:r>
          </a:p>
          <a:p>
            <a:pPr lvl="1">
              <a:buFont typeface="Arial" panose="020B0604020202020204" pitchFamily="34" charset="0"/>
              <a:buChar char="•"/>
            </a:pPr>
            <a:r>
              <a:rPr lang="de-DE" dirty="0"/>
              <a:t>Z01, Z02 + </a:t>
            </a:r>
            <a:br>
              <a:rPr lang="de-DE" dirty="0"/>
            </a:br>
            <a:r>
              <a:rPr lang="de-DE" dirty="0"/>
              <a:t>Z05-Positionen </a:t>
            </a:r>
            <a:br>
              <a:rPr lang="de-DE" dirty="0"/>
            </a:br>
            <a:r>
              <a:rPr lang="de-DE" dirty="0"/>
              <a:t>Pos00, Pos01, Pos02, Pos04, Pos06, Pos08</a:t>
            </a:r>
          </a:p>
          <a:p>
            <a:pPr>
              <a:buFont typeface="Arial" panose="020B0604020202020204" pitchFamily="34" charset="0"/>
              <a:buChar char="•"/>
            </a:pPr>
            <a:r>
              <a:rPr lang="de-DE" dirty="0"/>
              <a:t>Dev:  </a:t>
            </a:r>
          </a:p>
          <a:p>
            <a:pPr lvl="1">
              <a:buFont typeface="Arial" panose="020B0604020202020204" pitchFamily="34" charset="0"/>
              <a:buChar char="•"/>
            </a:pPr>
            <a:r>
              <a:rPr lang="de-DE" dirty="0"/>
              <a:t>Z04      + Z05-Positionen Pos03, Pos05</a:t>
            </a:r>
          </a:p>
          <a:p>
            <a:pPr>
              <a:buFont typeface="Arial" panose="020B0604020202020204" pitchFamily="34" charset="0"/>
              <a:buChar char="•"/>
            </a:pPr>
            <a:r>
              <a:rPr lang="de-DE" dirty="0"/>
              <a:t>Test:  </a:t>
            </a:r>
          </a:p>
          <a:p>
            <a:pPr lvl="1">
              <a:buFont typeface="Arial" panose="020B0604020202020204" pitchFamily="34" charset="0"/>
              <a:buChar char="•"/>
            </a:pPr>
            <a:r>
              <a:rPr lang="de-DE" dirty="0"/>
              <a:t>Z03      + Z05-Positionen Pos07, Pos09</a:t>
            </a:r>
          </a:p>
          <a:p>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3</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16.07.2026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tretch>
            <a:fill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16.07.2026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3</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E163-6174-0335-CC5D-4CCB2676747C}"/>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F8E8A0BF-6C91-BB25-F574-EF1EB3FFC47E}"/>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FF7BE80C-ADD9-4B83-0F35-FABC25DABF97}"/>
              </a:ext>
            </a:extLst>
          </p:cNvPr>
          <p:cNvSpPr>
            <a:spLocks noGrp="1"/>
          </p:cNvSpPr>
          <p:nvPr>
            <p:ph type="title"/>
          </p:nvPr>
        </p:nvSpPr>
        <p:spPr/>
        <p:txBody>
          <a:bodyPr/>
          <a:lstStyle/>
          <a:p>
            <a:r>
              <a:rPr lang="de-DE" sz="3200" dirty="0"/>
              <a:t>Testergebnisse</a:t>
            </a:r>
            <a:endParaRPr lang="de-DE" dirty="0"/>
          </a:p>
        </p:txBody>
      </p:sp>
      <p:sp>
        <p:nvSpPr>
          <p:cNvPr id="5" name="Fußzeilenplatzhalter 4">
            <a:extLst>
              <a:ext uri="{FF2B5EF4-FFF2-40B4-BE49-F238E27FC236}">
                <a16:creationId xmlns:a16="http://schemas.microsoft.com/office/drawing/2014/main" id="{3700FFC5-AF95-B68C-5F71-A8EF47B9C797}"/>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34CADDE5-67A5-2686-564A-CA60BE28A110}"/>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75AFD3C3-3EFB-85A6-8836-7191C35AF37E}"/>
              </a:ext>
            </a:extLst>
          </p:cNvPr>
          <p:cNvSpPr>
            <a:spLocks noGrp="1"/>
          </p:cNvSpPr>
          <p:nvPr>
            <p:ph sz="quarter" idx="13"/>
          </p:nvPr>
        </p:nvSpPr>
        <p:spPr/>
        <p:txBody>
          <a:bodyPr/>
          <a:lstStyle/>
          <a:p>
            <a:pPr>
              <a:buFont typeface="Arial" panose="020B0604020202020204" pitchFamily="34" charset="0"/>
              <a:buChar char="•"/>
            </a:pPr>
            <a:r>
              <a:rPr lang="de-DE" dirty="0"/>
              <a:t>Finale Bewertung auf Testsatz</a:t>
            </a:r>
          </a:p>
          <a:p>
            <a:pPr>
              <a:buFont typeface="Arial" panose="020B0604020202020204" pitchFamily="34" charset="0"/>
              <a:buChar char="•"/>
            </a:pPr>
            <a:r>
              <a:rPr lang="de-DE" dirty="0"/>
              <a:t>Aktuelle </a:t>
            </a:r>
            <a:r>
              <a:rPr lang="de-DE" dirty="0" err="1"/>
              <a:t>Testmetriken</a:t>
            </a:r>
            <a:r>
              <a:rPr lang="de-DE" dirty="0"/>
              <a:t>:</a:t>
            </a:r>
          </a:p>
          <a:p>
            <a:pPr lvl="1">
              <a:buFont typeface="Arial" panose="020B0604020202020204" pitchFamily="34" charset="0"/>
              <a:buChar char="•"/>
            </a:pPr>
            <a:r>
              <a:rPr lang="de-DE" dirty="0" err="1"/>
              <a:t>Accuracy</a:t>
            </a:r>
            <a:r>
              <a:rPr lang="de-DE" dirty="0"/>
              <a:t>: `1.00`</a:t>
            </a:r>
          </a:p>
          <a:p>
            <a:pPr lvl="1">
              <a:buFont typeface="Arial" panose="020B0604020202020204" pitchFamily="34" charset="0"/>
              <a:buChar char="•"/>
            </a:pPr>
            <a:r>
              <a:rPr lang="de-DE" dirty="0" err="1"/>
              <a:t>Balanced</a:t>
            </a:r>
            <a:r>
              <a:rPr lang="de-DE" dirty="0"/>
              <a:t> </a:t>
            </a:r>
            <a:r>
              <a:rPr lang="de-DE" dirty="0" err="1"/>
              <a:t>Accuracy</a:t>
            </a:r>
            <a:r>
              <a:rPr lang="de-DE" dirty="0"/>
              <a:t>: `1.00`</a:t>
            </a:r>
          </a:p>
          <a:p>
            <a:pPr lvl="1">
              <a:buFont typeface="Arial" panose="020B0604020202020204" pitchFamily="34" charset="0"/>
              <a:buChar char="•"/>
            </a:pPr>
            <a:r>
              <a:rPr lang="de-DE" dirty="0"/>
              <a:t>F1 für beschädigt: `1.00`</a:t>
            </a:r>
          </a:p>
          <a:p>
            <a:pPr>
              <a:buFont typeface="Arial" panose="020B0604020202020204" pitchFamily="34" charset="0"/>
              <a:buChar char="•"/>
            </a:pPr>
            <a:r>
              <a:rPr lang="de-DE" dirty="0"/>
              <a:t>Keine Fehlklassifikation im aktuellen Split</a:t>
            </a:r>
          </a:p>
        </p:txBody>
      </p:sp>
      <p:pic>
        <p:nvPicPr>
          <p:cNvPr id="11" name="Inhaltsplatzhalter 10">
            <a:extLst>
              <a:ext uri="{FF2B5EF4-FFF2-40B4-BE49-F238E27FC236}">
                <a16:creationId xmlns:a16="http://schemas.microsoft.com/office/drawing/2014/main" id="{6A6044F3-D308-6354-A347-71E8B0322F88}"/>
              </a:ext>
            </a:extLst>
          </p:cNvPr>
          <p:cNvPicPr>
            <a:picLocks noGrp="1" noChangeAspect="1"/>
          </p:cNvPicPr>
          <p:nvPr>
            <p:ph sz="quarter" idx="14"/>
          </p:nvPr>
        </p:nvPicPr>
        <p:blipFill>
          <a:blip r:embed="rId3"/>
          <a:srcRect/>
          <a:stretch/>
        </p:blipFill>
        <p:spPr>
          <a:xfrm>
            <a:off x="6459536" y="2092721"/>
            <a:ext cx="5196437" cy="4354385"/>
          </a:xfrm>
          <a:prstGeom prst="rect">
            <a:avLst/>
          </a:prstGeom>
        </p:spPr>
      </p:pic>
      <p:sp>
        <p:nvSpPr>
          <p:cNvPr id="15" name="Rechteck: eine Ecke abgerundet 14">
            <a:extLst>
              <a:ext uri="{FF2B5EF4-FFF2-40B4-BE49-F238E27FC236}">
                <a16:creationId xmlns:a16="http://schemas.microsoft.com/office/drawing/2014/main" id="{8A72FF3C-2C7B-8705-2775-AB010BAE17F4}"/>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C2D05996-D3A4-BF54-4EB7-5C95131B19A7}"/>
              </a:ext>
            </a:extLst>
          </p:cNvPr>
          <p:cNvPicPr>
            <a:picLocks noChangeAspect="1"/>
          </p:cNvPicPr>
          <p:nvPr/>
        </p:nvPicPr>
        <p:blipFill>
          <a:blip r:embed="rId3"/>
          <a:srcRect/>
          <a:stretch/>
        </p:blipFill>
        <p:spPr>
          <a:xfrm>
            <a:off x="6459536" y="2091968"/>
            <a:ext cx="5196437" cy="4330365"/>
          </a:xfrm>
          <a:prstGeom prst="rect">
            <a:avLst/>
          </a:prstGeom>
        </p:spPr>
      </p:pic>
      <p:sp>
        <p:nvSpPr>
          <p:cNvPr id="6" name="Foliennummernplatzhalter 5">
            <a:extLst>
              <a:ext uri="{FF2B5EF4-FFF2-40B4-BE49-F238E27FC236}">
                <a16:creationId xmlns:a16="http://schemas.microsoft.com/office/drawing/2014/main" id="{375A9587-B8AB-9FF9-3DB6-4B6D8BB7397F}"/>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3517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p:txBody>
          <a:bodyPr/>
          <a:lstStyle/>
          <a:p>
            <a:r>
              <a:rPr lang="de-DE" dirty="0"/>
              <a:t>ROC und AUC</a:t>
            </a:r>
            <a:endParaRPr lang="de-DE" b="0"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16.07.2026</a:t>
            </a:r>
          </a:p>
        </p:txBody>
      </p:sp>
      <p:sp>
        <p:nvSpPr>
          <p:cNvPr id="4" name="Inhaltsplatzhalter 3">
            <a:extLst>
              <a:ext uri="{FF2B5EF4-FFF2-40B4-BE49-F238E27FC236}">
                <a16:creationId xmlns:a16="http://schemas.microsoft.com/office/drawing/2014/main" id="{9E24C8D9-E4E3-E9CF-1805-31E38BF75F4C}"/>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ROC für Klasse 0 = beschädigt</a:t>
            </a:r>
          </a:p>
          <a:p>
            <a:pPr>
              <a:buFont typeface="Arial" panose="020B0604020202020204" pitchFamily="34" charset="0"/>
              <a:buChar char="•"/>
            </a:pPr>
            <a:r>
              <a:rPr lang="de-DE" dirty="0"/>
              <a:t>AUC: 1.00</a:t>
            </a:r>
          </a:p>
          <a:p>
            <a:pPr>
              <a:buFont typeface="Arial" panose="020B0604020202020204" pitchFamily="34" charset="0"/>
              <a:buChar char="•"/>
            </a:pPr>
            <a:r>
              <a:rPr lang="de-DE" dirty="0"/>
              <a:t>Kurve liegt ideal links oben</a:t>
            </a:r>
          </a:p>
          <a:p>
            <a:endParaRPr lang="de-DE" dirty="0"/>
          </a:p>
        </p:txBody>
      </p:sp>
      <p:pic>
        <p:nvPicPr>
          <p:cNvPr id="10" name="Inhaltsplatzhalter 9">
            <a:extLst>
              <a:ext uri="{FF2B5EF4-FFF2-40B4-BE49-F238E27FC236}">
                <a16:creationId xmlns:a16="http://schemas.microsoft.com/office/drawing/2014/main" id="{C5D9F17E-32D1-AC34-CA50-AD008C0C61A7}"/>
              </a:ext>
            </a:extLst>
          </p:cNvPr>
          <p:cNvPicPr>
            <a:picLocks noGrp="1" noChangeAspect="1"/>
          </p:cNvPicPr>
          <p:nvPr>
            <p:ph sz="quarter" idx="14"/>
          </p:nvPr>
        </p:nvPicPr>
        <p:blipFill>
          <a:blip r:embed="rId3"/>
          <a:stretch>
            <a:fillRect/>
          </a:stretch>
        </p:blipFill>
        <p:spPr>
          <a:xfrm>
            <a:off x="6637205" y="1619250"/>
            <a:ext cx="5035815" cy="4316413"/>
          </a:xfrm>
          <a:prstGeom prst="rect">
            <a:avLst/>
          </a:prstGeom>
        </p:spPr>
      </p:pic>
    </p:spTree>
    <p:extLst>
      <p:ext uri="{BB962C8B-B14F-4D97-AF65-F5344CB8AC3E}">
        <p14:creationId xmlns:p14="http://schemas.microsoft.com/office/powerpoint/2010/main" val="2916641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dirty="0"/>
              <a:t>Materialdiagnostik: Task 3</a:t>
            </a:r>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16.07.2026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Sehr gute Ergebnisse im aktuellen Split</a:t>
            </a:r>
          </a:p>
          <a:p>
            <a:pPr>
              <a:buFont typeface="Arial" panose="020B0604020202020204" pitchFamily="34" charset="0"/>
              <a:buChar char="•"/>
            </a:pPr>
            <a:r>
              <a:rPr lang="de-DE" dirty="0"/>
              <a:t>Aber:</a:t>
            </a:r>
          </a:p>
          <a:p>
            <a:pPr lvl="1">
              <a:buFont typeface="Arial" panose="020B0604020202020204" pitchFamily="34" charset="0"/>
              <a:buChar char="•"/>
            </a:pPr>
            <a:r>
              <a:rPr lang="de-DE" dirty="0"/>
              <a:t>kleiner Datensatz</a:t>
            </a:r>
          </a:p>
          <a:p>
            <a:pPr lvl="1">
              <a:buFont typeface="Arial" panose="020B0604020202020204" pitchFamily="34" charset="0"/>
              <a:buChar char="•"/>
            </a:pPr>
            <a:r>
              <a:rPr lang="de-DE" dirty="0"/>
              <a:t>nur Z05 ist beschädigt</a:t>
            </a:r>
          </a:p>
          <a:p>
            <a:pPr lvl="1">
              <a:buFont typeface="Arial" panose="020B0604020202020204" pitchFamily="34" charset="0"/>
              <a:buChar char="•"/>
            </a:pPr>
            <a:r>
              <a:rPr lang="de-DE" dirty="0"/>
              <a:t>gute Testdaten stammen aus unbekanntem Zahnrad Z03</a:t>
            </a:r>
          </a:p>
          <a:p>
            <a:pPr lvl="1">
              <a:buFont typeface="Arial" panose="020B0604020202020204" pitchFamily="34" charset="0"/>
              <a:buChar char="•"/>
            </a:pPr>
            <a:r>
              <a:rPr lang="de-DE" dirty="0"/>
              <a:t>beschädigte Klasse stammt weiterhin nur aus Z05</a:t>
            </a:r>
          </a:p>
          <a:p>
            <a:pPr lvl="1">
              <a:buFont typeface="Arial" panose="020B0604020202020204" pitchFamily="34" charset="0"/>
              <a:buChar char="•"/>
            </a:pPr>
            <a:r>
              <a:rPr lang="de-DE" dirty="0"/>
              <a:t>Generalisierung auf neue beschädigte Zahnräder offen</a:t>
            </a:r>
          </a:p>
          <a:p>
            <a:endParaRPr lang="de-DE" dirty="0"/>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Saubere Pipeline von gemittelten Merkmalen zu zwei Channel-MLPs</a:t>
            </a:r>
          </a:p>
          <a:p>
            <a:pPr>
              <a:buFont typeface="Arial" panose="020B0604020202020204" pitchFamily="34" charset="0"/>
              <a:buChar char="•"/>
            </a:pPr>
            <a:r>
              <a:rPr lang="de-DE" dirty="0"/>
              <a:t>Zahnrad basierter Split statt zufälligem Dateisplit</a:t>
            </a:r>
          </a:p>
          <a:p>
            <a:pPr>
              <a:buFont typeface="Arial" panose="020B0604020202020204" pitchFamily="34" charset="0"/>
              <a:buChar char="•"/>
            </a:pPr>
            <a:r>
              <a:rPr lang="de-DE" dirty="0"/>
              <a:t>Testsignale werden nach Channel geroutet</a:t>
            </a:r>
          </a:p>
          <a:p>
            <a:pPr>
              <a:buFont typeface="Arial" panose="020B0604020202020204" pitchFamily="34" charset="0"/>
              <a:buChar char="•"/>
            </a:pPr>
            <a:r>
              <a:rPr lang="de-DE" dirty="0"/>
              <a:t>Beide MLPs erreichen perfekte Testwerte im aktuellen Datensatz</a:t>
            </a:r>
          </a:p>
          <a:p>
            <a:pPr>
              <a:buFont typeface="Arial" panose="020B0604020202020204" pitchFamily="34" charset="0"/>
              <a:buChar char="•"/>
            </a:pPr>
            <a:r>
              <a:rPr lang="de-DE" dirty="0"/>
              <a:t>Nächster Schritt: mehr beschädigte Proben testen</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3</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176930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1806</Words>
  <Application>Microsoft Office PowerPoint</Application>
  <PresentationFormat>Breitbild</PresentationFormat>
  <Paragraphs>219</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3</vt:lpstr>
      <vt:lpstr>Gliederung</vt:lpstr>
      <vt:lpstr>Ziel</vt:lpstr>
      <vt:lpstr>Datensatz und Label-Zuordnung</vt:lpstr>
      <vt:lpstr>Problem vor der Modellierung</vt:lpstr>
      <vt:lpstr>Merkmalsextraktion</vt:lpstr>
      <vt:lpstr>Split und Channel-Behandlung</vt:lpstr>
      <vt:lpstr>Train-, Dev- und Testsplit</vt:lpstr>
      <vt:lpstr>MLP-Modell</vt:lpstr>
      <vt:lpstr>Hyperparameter-Suche</vt:lpstr>
      <vt:lpstr>Code-Überblick</vt:lpstr>
      <vt:lpstr>Loss Curves</vt:lpstr>
      <vt:lpstr>Learning Curves</vt:lpstr>
      <vt:lpstr>Entscheidungsgrenze im Training</vt:lpstr>
      <vt:lpstr>Entscheidungsgrenze im Training</vt:lpstr>
      <vt:lpstr>Testergebnisse</vt:lpstr>
      <vt:lpstr>ROC und AUC</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56</cp:revision>
  <dcterms:created xsi:type="dcterms:W3CDTF">2026-06-13T09:02:33Z</dcterms:created>
  <dcterms:modified xsi:type="dcterms:W3CDTF">2026-07-09T09:49:07Z</dcterms:modified>
</cp:coreProperties>
</file>