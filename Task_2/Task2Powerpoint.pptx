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1" r:id="rId5"/>
    <p:sldId id="262" r:id="rId6"/>
    <p:sldId id="259" r:id="rId7"/>
    <p:sldId id="260" r:id="rId8"/>
  </p:sldIdLst>
  <p:sldSz cx="12192000" cy="6858000"/>
  <p:notesSz cx="9144000" cy="6858000"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>
          <p15:clr>
            <a:srgbClr val="A4A3A4"/>
          </p15:clr>
        </p15:guide>
        <p15:guide id="2" pos="595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445"/>
    <p:restoredTop sz="94694"/>
  </p:normalViewPr>
  <p:slideViewPr>
    <p:cSldViewPr snapToGrid="0">
      <p:cViewPr varScale="1">
        <p:scale>
          <a:sx n="90" d="100"/>
          <a:sy n="90" d="100"/>
        </p:scale>
        <p:origin x="518" y="67"/>
      </p:cViewPr>
      <p:guideLst>
        <p:guide orient="horz" pos="1296"/>
        <p:guide pos="5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29" d="100"/>
          <a:sy n="129" d="100"/>
        </p:scale>
        <p:origin x="2296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D5829F-2F94-0B44-A96D-AE852A87AC61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92B7F2-6741-7346-B13A-366117EE2BB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2550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10931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525EC9E2-31FF-3EA5-3975-E86E167F9610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AE6AF26-C926-4A56-9975-C85146180884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402712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E075048B-B3AF-D45D-EEB0-384F8E09762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0424531-ACBB-43B0-9536-C2FB0D769E6C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1776048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1E2EDF3A-9325-1B45-8BEF-BAD58BAD331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45649C-264A-4E4C-9902-AA3F818819D1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628024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914400" y="1981200"/>
            <a:ext cx="5232400" cy="41148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350000" y="1981200"/>
            <a:ext cx="5232400" cy="41148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596493AE-D593-6ADB-6030-F4D20E7DFEAC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6E3D0BF-4D1A-45ED-AD8F-0FD3B3BB66E2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409252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3A15AB-4207-F294-7D08-E72DE9340EA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DC79237-C483-4955-AFED-2A4A37FECB46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8008564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B17DEB6D-9627-4A47-CFB5-10285D34D69C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29E4B4A-732C-499D-9D78-1714C721CB73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558464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>
            <a:extLst>
              <a:ext uri="{FF2B5EF4-FFF2-40B4-BE49-F238E27FC236}">
                <a16:creationId xmlns:a16="http://schemas.microsoft.com/office/drawing/2014/main" id="{C880F39A-DC2C-A2A6-0B94-C1E1A2C729C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BEC67A-447A-45B8-88A0-2BB092BD2204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7953650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70767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609600" y="1542503"/>
            <a:ext cx="5486401" cy="45908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609599" y="981599"/>
            <a:ext cx="4011084" cy="55374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2"/>
          <p:cNvSpPr>
            <a:spLocks noGrp="1"/>
          </p:cNvSpPr>
          <p:nvPr>
            <p:ph idx="11"/>
          </p:nvPr>
        </p:nvSpPr>
        <p:spPr>
          <a:xfrm>
            <a:off x="6096000" y="1542502"/>
            <a:ext cx="5760639" cy="515259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33896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B0BF1845-B872-C207-2FA9-F0CE0DE85508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D8BDE-5646-46B8-8690-93431C932126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294353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60DFE463-EA6F-7A0D-E324-9309CA19F76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3308B93-56F5-4BC0-B85D-44A31F485381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031696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915400" y="609600"/>
            <a:ext cx="2667000" cy="5486400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914400" y="609600"/>
            <a:ext cx="7797800" cy="54864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FE4CA076-6F98-AFCE-C8A3-5B1E49D5A54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44C87F1-4186-4704-A4D5-1175D6C93009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4175737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BA723C0C-88A1-F25A-D4A2-7567856B712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14400" y="609600"/>
            <a:ext cx="6604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Mastertitelformat bearbeiten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0255CE51-F867-6AB4-B806-D37629DC60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1981200"/>
            <a:ext cx="106680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/>
              <a:t>Mastertextformat bearbeiten</a:t>
            </a:r>
          </a:p>
          <a:p>
            <a:pPr lvl="1"/>
            <a:r>
              <a:rPr lang="de-DE" altLang="de-DE"/>
              <a:t>Zweite Ebene</a:t>
            </a:r>
          </a:p>
          <a:p>
            <a:pPr lvl="2"/>
            <a:r>
              <a:rPr lang="de-DE" altLang="de-DE"/>
              <a:t>Dritte Ebene</a:t>
            </a:r>
          </a:p>
          <a:p>
            <a:pPr lvl="3"/>
            <a:r>
              <a:rPr lang="de-DE" altLang="de-DE"/>
              <a:t>Vierte Ebene</a:t>
            </a:r>
          </a:p>
          <a:p>
            <a:pPr lvl="4"/>
            <a:r>
              <a:rPr lang="de-DE" altLang="de-DE"/>
              <a:t>Fünfte Ebene</a:t>
            </a:r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82E82AB3-F935-9061-40AA-BD4675D5663D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42400" y="6248400"/>
            <a:ext cx="2540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buFont typeface="Times" panose="02020603050405020304" pitchFamily="18" charset="0"/>
              <a:buNone/>
              <a:defRPr sz="1000">
                <a:solidFill>
                  <a:srgbClr val="A8CC2F"/>
                </a:solidFill>
              </a:defRPr>
            </a:lvl1pPr>
          </a:lstStyle>
          <a:p>
            <a:pPr>
              <a:defRPr/>
            </a:pPr>
            <a:fld id="{AF7B6FBB-3871-4A64-9491-1B11EE455FFC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pic>
        <p:nvPicPr>
          <p:cNvPr id="1029" name="Picture 8" descr="btu_logo_rz_horiz_rgbjpg">
            <a:extLst>
              <a:ext uri="{FF2B5EF4-FFF2-40B4-BE49-F238E27FC236}">
                <a16:creationId xmlns:a16="http://schemas.microsoft.com/office/drawing/2014/main" id="{24F5A3AF-D943-BD2A-8943-FC6AD197A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2950" y="404813"/>
            <a:ext cx="3219450" cy="1104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6">
            <a:extLst>
              <a:ext uri="{FF2B5EF4-FFF2-40B4-BE49-F238E27FC236}">
                <a16:creationId xmlns:a16="http://schemas.microsoft.com/office/drawing/2014/main" id="{A329ECA6-616C-D49B-7DA8-B83F69442116}"/>
              </a:ext>
            </a:extLst>
          </p:cNvPr>
          <p:cNvSpPr>
            <a:spLocks noGrp="1" noChangeArrowheads="1"/>
          </p:cNvSpPr>
          <p:nvPr/>
        </p:nvSpPr>
        <p:spPr bwMode="auto">
          <a:xfrm>
            <a:off x="609600" y="6450496"/>
            <a:ext cx="6908800" cy="25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1pPr>
            <a:lvl2pPr marL="37931725" indent="-37474525"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2pPr>
            <a:lvl3pPr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3pPr>
            <a:lvl4pPr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4pPr>
            <a:lvl5pPr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9pPr>
          </a:lstStyle>
          <a:p>
            <a:pPr>
              <a:defRPr/>
            </a:pPr>
            <a:r>
              <a:rPr lang="de-DE" altLang="de-DE" sz="1000" dirty="0">
                <a:solidFill>
                  <a:srgbClr val="A8CC2F"/>
                </a:solidFill>
              </a:rPr>
              <a:t>Materialdiagnostik: Task 2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31" r:id="rId8"/>
    <p:sldLayoutId id="2147483728" r:id="rId9"/>
    <p:sldLayoutId id="2147483729" r:id="rId10"/>
    <p:sldLayoutId id="2147483730" r:id="rId11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A8CC2F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 sz="2400">
          <a:solidFill>
            <a:srgbClr val="41414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 sz="2000">
          <a:solidFill>
            <a:srgbClr val="41414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>
          <a:solidFill>
            <a:srgbClr val="414141"/>
          </a:solidFill>
          <a:latin typeface="+mn-lt"/>
          <a:ea typeface="+mn-ea"/>
          <a:cs typeface="+mn-cs"/>
        </a:defRPr>
      </a:lvl3pPr>
      <a:lvl4pPr marL="1144588" algn="l" rtl="0" eaLnBrk="1" fontAlgn="base" hangingPunct="1">
        <a:spcBef>
          <a:spcPct val="20000"/>
        </a:spcBef>
        <a:spcAft>
          <a:spcPct val="0"/>
        </a:spcAft>
        <a:buClr>
          <a:srgbClr val="414141"/>
        </a:buClr>
        <a:defRPr>
          <a:solidFill>
            <a:srgbClr val="414141"/>
          </a:solidFill>
          <a:latin typeface="Courier New"/>
          <a:ea typeface="+mn-ea"/>
          <a:cs typeface="+mn-cs"/>
        </a:defRPr>
      </a:lvl4pPr>
      <a:lvl5pPr marL="1144588" indent="-2286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>
          <a:solidFill>
            <a:srgbClr val="A8CC2F"/>
          </a:solidFill>
          <a:latin typeface="+mn-lt"/>
          <a:ea typeface="+mn-ea"/>
          <a:cs typeface="+mn-cs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tertitel 1">
            <a:extLst>
              <a:ext uri="{FF2B5EF4-FFF2-40B4-BE49-F238E27FC236}">
                <a16:creationId xmlns:a16="http://schemas.microsoft.com/office/drawing/2014/main" id="{B127D0AE-943F-5B24-AF1D-9467215FE8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494690"/>
            <a:ext cx="8534400" cy="1752600"/>
          </a:xfrm>
        </p:spPr>
        <p:txBody>
          <a:bodyPr/>
          <a:lstStyle/>
          <a:p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Benjamin </a:t>
            </a:r>
            <a:r>
              <a:rPr lang="de-DE" sz="2000" b="1" dirty="0" err="1">
                <a:solidFill>
                  <a:schemeClr val="bg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Gielczynski</a:t>
            </a: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, David von Rüden, Tim Giese, Victor Domke, Simon Brockhoff</a:t>
            </a:r>
            <a:endParaRPr lang="de-DE" sz="2000" b="0" dirty="0">
              <a:solidFill>
                <a:schemeClr val="bg1">
                  <a:lumMod val="50000"/>
                </a:schemeClr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B476EBB-4D93-C7B4-2E1A-4A6262020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231" y="2350377"/>
            <a:ext cx="9817538" cy="1144313"/>
          </a:xfrm>
        </p:spPr>
        <p:txBody>
          <a:bodyPr/>
          <a:lstStyle/>
          <a:p>
            <a:pPr algn="ctr"/>
            <a:r>
              <a:rPr lang="de-DE" sz="4800" dirty="0"/>
              <a:t>Team 3: Seminaraufgabe 2</a:t>
            </a:r>
          </a:p>
        </p:txBody>
      </p:sp>
    </p:spTree>
    <p:extLst>
      <p:ext uri="{BB962C8B-B14F-4D97-AF65-F5344CB8AC3E}">
        <p14:creationId xmlns:p14="http://schemas.microsoft.com/office/powerpoint/2010/main" val="1875075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28E74-1723-4026-C41F-72C0E5F4B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6BDFD0D-1F3F-671D-BE21-271B3E00F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/>
              <a:t>Gliederung</a:t>
            </a:r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4DAFAAD0-F245-6E9A-4495-53E9DCD86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Merkmalsanalyse (Feature </a:t>
            </a:r>
            <a:r>
              <a:rPr lang="de-DE" dirty="0" err="1"/>
              <a:t>Extraction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Betrachtete Merkmale</a:t>
            </a:r>
          </a:p>
          <a:p>
            <a:pPr lvl="1"/>
            <a:r>
              <a:rPr lang="de-DE" dirty="0"/>
              <a:t>Wahl des Verfahrens</a:t>
            </a:r>
          </a:p>
          <a:p>
            <a:pPr lvl="1"/>
            <a:r>
              <a:rPr lang="de-DE" dirty="0"/>
              <a:t>Code</a:t>
            </a:r>
          </a:p>
          <a:p>
            <a:r>
              <a:rPr lang="de-DE" dirty="0"/>
              <a:t>Hauptkomponentenanalyse</a:t>
            </a:r>
          </a:p>
          <a:p>
            <a:pPr lvl="1"/>
            <a:r>
              <a:rPr lang="de-DE" dirty="0"/>
              <a:t>Erklären PC1 und PC2 der PCA</a:t>
            </a:r>
          </a:p>
          <a:p>
            <a:pPr lvl="1"/>
            <a:r>
              <a:rPr lang="de-DE" dirty="0"/>
              <a:t>Code</a:t>
            </a:r>
          </a:p>
          <a:p>
            <a:r>
              <a:rPr lang="de-DE" dirty="0"/>
              <a:t>Visualisierung</a:t>
            </a:r>
          </a:p>
          <a:p>
            <a:pPr lvl="1"/>
            <a:r>
              <a:rPr lang="de-DE" dirty="0"/>
              <a:t>Verfahren</a:t>
            </a:r>
          </a:p>
          <a:p>
            <a:r>
              <a:rPr lang="de-DE" dirty="0"/>
              <a:t>Ergebnisse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06180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FF548E49-692C-4BBE-8063-A0FA8DCFE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Mekmalsanalyse</a:t>
            </a:r>
            <a:endParaRPr 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B8D0937-7521-B2D4-9DC6-F495F659D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Wie geht das?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07ED7A-1406-D77F-FB1A-4675A86C9D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3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845843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EFE7B-3852-33FE-5E95-379941887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AA63938-7527-95E9-B79B-33A80327C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Mekmalsanalyse</a:t>
            </a:r>
            <a:r>
              <a:rPr lang="de-DE" dirty="0"/>
              <a:t>:</a:t>
            </a:r>
            <a:br>
              <a:rPr lang="de-DE" dirty="0"/>
            </a:br>
            <a:r>
              <a:rPr lang="de-DE" sz="2400" dirty="0"/>
              <a:t>Betrachtete Merkmale</a:t>
            </a:r>
            <a:endParaRPr 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06E6E3A-1194-1372-0A0A-07C56D73E1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1. Spektrale Merkmale (Frequenzbereich)</a:t>
            </a:r>
          </a:p>
          <a:p>
            <a:pPr lvl="1"/>
            <a:r>
              <a:rPr lang="de-DE" dirty="0"/>
              <a:t>MFCCs (13 Koeffizienten): Bilden die Spektraleinhüllende auf der Mel-Skala ab </a:t>
            </a:r>
          </a:p>
          <a:p>
            <a:pPr lvl="1"/>
            <a:r>
              <a:rPr lang="de-DE" dirty="0" err="1"/>
              <a:t>Spectral</a:t>
            </a:r>
            <a:r>
              <a:rPr lang="de-DE" dirty="0"/>
              <a:t> </a:t>
            </a:r>
            <a:r>
              <a:rPr lang="de-DE" dirty="0" err="1"/>
              <a:t>Centroid</a:t>
            </a:r>
            <a:r>
              <a:rPr lang="de-DE" dirty="0"/>
              <a:t> (Schwerpunkt): Gibt an, bei welcher Frequenz der "Masseschwerpunkt" des Spektrums liegt. Maß für die "Helligkeit" des Klangs.</a:t>
            </a:r>
          </a:p>
          <a:p>
            <a:pPr lvl="1"/>
            <a:r>
              <a:rPr lang="de-DE" dirty="0" err="1"/>
              <a:t>Spectral</a:t>
            </a:r>
            <a:r>
              <a:rPr lang="de-DE" dirty="0"/>
              <a:t> </a:t>
            </a:r>
            <a:r>
              <a:rPr lang="de-DE" dirty="0" err="1"/>
              <a:t>Bandwidth</a:t>
            </a:r>
            <a:r>
              <a:rPr lang="de-DE" dirty="0"/>
              <a:t> (Bandbreite): Beschreibt die Spreizung des Spektrums um den Schwerpunkt</a:t>
            </a:r>
          </a:p>
          <a:p>
            <a:pPr lvl="1"/>
            <a:r>
              <a:rPr lang="de-DE" dirty="0" err="1"/>
              <a:t>Spectral</a:t>
            </a:r>
            <a:r>
              <a:rPr lang="de-DE" dirty="0"/>
              <a:t> Roll-off: Die Frequenz, unter der ein bestimmter Prozentsatz (meist 85%) der Spektralenergie liegt</a:t>
            </a:r>
          </a:p>
          <a:p>
            <a:pPr lvl="1"/>
            <a:r>
              <a:rPr lang="de-DE" dirty="0" err="1"/>
              <a:t>Spectral</a:t>
            </a:r>
            <a:r>
              <a:rPr lang="de-DE" dirty="0"/>
              <a:t> </a:t>
            </a:r>
            <a:r>
              <a:rPr lang="de-DE" dirty="0" err="1"/>
              <a:t>Contrast</a:t>
            </a:r>
            <a:r>
              <a:rPr lang="de-DE" dirty="0"/>
              <a:t>: Misst den Unterschied zwischen Spitzen und Tälern im Spektrum.</a:t>
            </a:r>
          </a:p>
          <a:p>
            <a:pPr lvl="1"/>
            <a:r>
              <a:rPr lang="de-DE" dirty="0"/>
              <a:t>Chroma Features (STFT/CENS): Projizieren das gesamte Spektrum auf 12 Halbtonklassen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D5FC71-6E35-0F32-587F-E4DA9FEA28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4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042535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70CD2-0EFA-C90D-FDB3-9ADFD1668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319D2184-7ACE-A16F-5F1A-5155AEBDB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Mekmalsanalyse</a:t>
            </a:r>
            <a:r>
              <a:rPr lang="de-DE" dirty="0"/>
              <a:t>:</a:t>
            </a:r>
            <a:br>
              <a:rPr lang="de-DE" dirty="0"/>
            </a:br>
            <a:r>
              <a:rPr lang="de-DE" sz="2400" dirty="0"/>
              <a:t>Betrachtete Merkmale &amp; PCA</a:t>
            </a:r>
            <a:endParaRPr 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9C4C79F-28B8-72C8-A1FA-5C00426D9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2. Zeitbereichs-Merkmale</a:t>
            </a:r>
          </a:p>
          <a:p>
            <a:pPr lvl="1"/>
            <a:r>
              <a:rPr lang="de-DE" dirty="0"/>
              <a:t>Zero Crossing Rate (ZCR): Die Rate, mit der das Signal die Nulllinie kreuzt. Ein Maß für die Frequenz und Impulsivität (Rauschen)</a:t>
            </a:r>
          </a:p>
          <a:p>
            <a:pPr lvl="1"/>
            <a:r>
              <a:rPr lang="de-DE" dirty="0"/>
              <a:t>Frame Energy (RMS): Der quadratische Mittelwert der Amplitude.</a:t>
            </a:r>
          </a:p>
          <a:p>
            <a:r>
              <a:rPr lang="de-DE" dirty="0"/>
              <a:t>3. Dynamische Merkmale</a:t>
            </a:r>
          </a:p>
          <a:p>
            <a:pPr lvl="1"/>
            <a:r>
              <a:rPr lang="de-DE" dirty="0"/>
              <a:t>Delta-Features: Die erste zeitliche Ableitung der MFCCs.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E80E235-26A6-A7CB-B35C-87EBFB1385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5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8541011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EF7E1-A933-E9B5-B253-6F4949985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2F1CD10-A4AB-B4AB-9BE2-80433FCB3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Mekmalsanalyse</a:t>
            </a:r>
            <a:br>
              <a:rPr lang="de-DE" dirty="0"/>
            </a:br>
            <a:r>
              <a:rPr lang="de-DE" dirty="0"/>
              <a:t>- Wahl des Verfahrens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5C44D33-13A3-8713-B234-8D3908F0D9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BFC87EB-56B9-DCF9-7F95-DCBA353E28F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BDF3C8A3-59CC-8521-6232-3ECB66864F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1D7CCF7A-2093-A797-49E1-505BCD402F3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963019-2664-0DE3-6798-02302A9163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6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844952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E2805-E9D8-D04A-5336-8CDAB64B1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DA65B3C-0286-CC68-F9A2-DBFCC6079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Hauptkompenentenanalyse</a:t>
            </a:r>
            <a:endParaRPr lang="de-DE" dirty="0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490464E-DEAC-0130-7CE7-D7F45BF9B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Wie geht das?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7B5250-4EA0-4248-FE0E-9C9933A031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7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1705237617"/>
      </p:ext>
    </p:extLst>
  </p:cSld>
  <p:clrMapOvr>
    <a:masterClrMapping/>
  </p:clrMapOvr>
</p:sld>
</file>

<file path=ppt/theme/theme1.xml><?xml version="1.0" encoding="utf-8"?>
<a:theme xmlns:a="http://schemas.openxmlformats.org/drawingml/2006/main" name="B-TU_Design">
  <a:themeElements>
    <a:clrScheme name="Leere Prä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eere Präsentation">
      <a:majorFont>
        <a:latin typeface="Arial"/>
        <a:ea typeface="ヒラギノ角ゴ Pro W3"/>
        <a:cs typeface="ヒラギノ角ゴ Pro W3"/>
      </a:majorFont>
      <a:minorFont>
        <a:latin typeface="Arial"/>
        <a:ea typeface="ヒラギノ角ゴ Pro W3"/>
        <a:cs typeface="ヒラギノ角ゴ Pro W3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9" charset="0"/>
            <a:ea typeface="ヒラギノ角ゴ Pro W3" pitchFamily="-109" charset="-128"/>
            <a:cs typeface="ヒラギノ角ゴ Pro W3" pitchFamily="-109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9" charset="0"/>
            <a:ea typeface="ヒラギノ角ゴ Pro W3" pitchFamily="-109" charset="-128"/>
            <a:cs typeface="ヒラギノ角ゴ Pro W3" pitchFamily="-109" charset="-128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B-TU_Design" id="{F0532450-6947-47A6-81BF-02E1F018A2A7}" vid="{AA793E9C-2381-410C-B7B6-98D03D23E97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B-TU_Design</Template>
  <TotalTime>0</TotalTime>
  <Words>236</Words>
  <Application>Microsoft Office PowerPoint</Application>
  <PresentationFormat>Breitbild</PresentationFormat>
  <Paragraphs>38</Paragraphs>
  <Slides>7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4" baseType="lpstr">
      <vt:lpstr>Aptos</vt:lpstr>
      <vt:lpstr>Arial</vt:lpstr>
      <vt:lpstr>Courier New</vt:lpstr>
      <vt:lpstr>Lucida Grande</vt:lpstr>
      <vt:lpstr>Menlo</vt:lpstr>
      <vt:lpstr>Times</vt:lpstr>
      <vt:lpstr>B-TU_Design</vt:lpstr>
      <vt:lpstr>Team 3: Seminaraufgabe 2</vt:lpstr>
      <vt:lpstr>Gliederung</vt:lpstr>
      <vt:lpstr>Mekmalsanalyse</vt:lpstr>
      <vt:lpstr>Mekmalsanalyse: Betrachtete Merkmale</vt:lpstr>
      <vt:lpstr>Mekmalsanalyse: Betrachtete Merkmale &amp; PCA</vt:lpstr>
      <vt:lpstr>Mekmalsanalyse - Wahl des Verfahrens</vt:lpstr>
      <vt:lpstr>Hauptkompenentenanalyse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Giese</dc:creator>
  <cp:lastModifiedBy>Benjamin Gielczynski</cp:lastModifiedBy>
  <cp:revision>19</cp:revision>
  <dcterms:created xsi:type="dcterms:W3CDTF">2026-06-13T09:02:33Z</dcterms:created>
  <dcterms:modified xsi:type="dcterms:W3CDTF">2026-06-18T12:26:42Z</dcterms:modified>
</cp:coreProperties>
</file>