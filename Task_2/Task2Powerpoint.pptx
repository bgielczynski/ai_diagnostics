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44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66" r:id="rId4"/>
    <p:sldId id="258" r:id="rId5"/>
    <p:sldId id="263" r:id="rId6"/>
    <p:sldId id="267" r:id="rId7"/>
    <p:sldId id="264" r:id="rId8"/>
    <p:sldId id="269" r:id="rId9"/>
    <p:sldId id="268" r:id="rId10"/>
    <p:sldId id="265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/>
    <p:restoredTop sz="87260" autoAdjust="0"/>
  </p:normalViewPr>
  <p:slideViewPr>
    <p:cSldViewPr snapToGrid="0">
      <p:cViewPr varScale="1">
        <p:scale>
          <a:sx n="83" d="100"/>
          <a:sy n="83" d="100"/>
        </p:scale>
        <p:origin x="763" y="72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-926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73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C424A38-A8B2-E0EC-7A28-AFD4795398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BC391B-27A7-FAAD-7DC7-CB36FE5A6E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4CA9-CCE6-4DE5-84AD-E1F7B6CB5CBB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9044DCD-B54D-86BE-7F28-47D99C0553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20775E-50E3-8820-082D-219DAAE648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A8762-026B-44CD-B702-65A0748002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000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21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869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/>
              <a:t>Spectral Centroid (Schwerpunkt): Gibt an, bei welcher Frequenz der "Masseschwerpunkt" des Spektrums liegt. Maß für die "Helligkeit" des Klangs.</a:t>
            </a:r>
          </a:p>
          <a:p>
            <a:pPr lvl="1"/>
            <a:r>
              <a:rPr lang="de-DE" dirty="0"/>
              <a:t>Spectral Bandwidth (Bandbreite): Beschreibt die Spreizung des Spektrums um den Schwerpunkt</a:t>
            </a:r>
          </a:p>
          <a:p>
            <a:pPr lvl="1"/>
            <a:r>
              <a:rPr lang="de-DE" dirty="0"/>
              <a:t>Spectral Roll-off: Die Frequenz, unter der ein bestimmter Prozentsatz (meist 85%) der Spektralenergie liegt</a:t>
            </a:r>
          </a:p>
          <a:p>
            <a:pPr lvl="1"/>
            <a:r>
              <a:rPr lang="de-DE" dirty="0"/>
              <a:t>Spectral Contrast: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031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1991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9F389-D4E0-D2D0-D0E3-FEDCB601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C17418-FDE2-F315-1FCC-C0AE13826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DD5A0F-089C-81AB-670E-7E39A76EB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57F3D0-5F1F-FB96-9DEC-006699FAA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451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</a:t>
            </a:r>
            <a:r>
              <a:rPr lang="de-DE"/>
              <a:t>können)</a:t>
            </a:r>
          </a:p>
          <a:p>
            <a:pPr marL="171450" indent="-171450">
              <a:buFontTx/>
              <a:buChar char="-"/>
            </a:pPr>
            <a:r>
              <a:rPr lang="de-DE"/>
              <a:t>=&gt; </a:t>
            </a:r>
            <a:r>
              <a:rPr lang="de-DE" dirty="0"/>
              <a:t>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33655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können)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=&gt; 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42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63EF-EA1A-0B8A-1379-0A6160E5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D6D235D-AA7B-F048-6715-4D5C7A058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AAE592-F1C0-8F4D-517A-D2570ED29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38551F-788D-EDA4-E8B5-EFFC99D96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0632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/>
              <a:t>mID</a:t>
            </a:r>
            <a:r>
              <a:rPr lang="de-DE" dirty="0"/>
              <a:t>: Z01-Z05 = 0000 und </a:t>
            </a:r>
            <a:r>
              <a:rPr lang="de-DE" dirty="0" err="1"/>
              <a:t>rID</a:t>
            </a:r>
            <a:r>
              <a:rPr lang="de-DE" dirty="0"/>
              <a:t> = 00000 und Pos = 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5122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1118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802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910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4313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5726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2666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4829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677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>
            <a:extLst>
              <a:ext uri="{FF2B5EF4-FFF2-40B4-BE49-F238E27FC236}">
                <a16:creationId xmlns:a16="http://schemas.microsoft.com/office/drawing/2014/main" id="{B444426F-EB14-AE2B-DE0F-A801F4F81953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68" b="62769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40968-F14F-B3B0-6A1A-48445E11A3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9F848B-CD57-204F-C247-E348D52A3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5CA77C-97B0-DC89-DE46-9C01C1B748F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E28AB7D-ACDC-B820-A518-4C9D6ED03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5616" y="2716438"/>
            <a:ext cx="3590109" cy="1444082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0850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7">
            <a:extLst>
              <a:ext uri="{FF2B5EF4-FFF2-40B4-BE49-F238E27FC236}">
                <a16:creationId xmlns:a16="http://schemas.microsoft.com/office/drawing/2014/main" id="{2222C908-A429-7650-ECA8-11037E79FC19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70" b="12767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DCA2648-E994-E6D3-AF41-D6F53E8D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561068"/>
            <a:ext cx="3590109" cy="712561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C4125B1-FB93-0A54-C1FC-012CFB2AD8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9775D2-5919-D9B2-1D19-B697C0DC8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E38025-E921-C3E6-B686-C475F88CE87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BE556C1-D820-A75A-539E-EEDFD22CD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72148" y="1620000"/>
            <a:ext cx="5747658" cy="4330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9654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8E03C5-7BDA-A77F-7DB0-658C45A5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163DC2-8D97-BB7D-E638-8BCDF8587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4427F6E-DEF6-9732-439A-15C1079AC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833FDA4-3C0A-D485-A83B-E93F011A19E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8C9B890-E4BD-AF52-A4AD-7A4FFFB1C6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9A74469E-8B25-F402-08AE-D6E8658AC6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584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18874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044954-ED93-46FB-83FB-4A733E8672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CC6F70-1A0A-8538-A145-259BBA1B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4B84F-E88D-95C9-4F2A-678239DD52D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ECAC2C-EA91-2538-AA1B-D131492B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Diagrammplatzhalter 7">
            <a:extLst>
              <a:ext uri="{FF2B5EF4-FFF2-40B4-BE49-F238E27FC236}">
                <a16:creationId xmlns:a16="http://schemas.microsoft.com/office/drawing/2014/main" id="{8F665CA4-B29F-61A8-C1F7-805E9C9E2AA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42000" y="1620000"/>
            <a:ext cx="6464300" cy="4357688"/>
          </a:xfrm>
          <a:prstGeom prst="rect">
            <a:avLst/>
          </a:prstGeom>
        </p:spPr>
        <p:txBody>
          <a:bodyPr/>
          <a:lstStyle/>
          <a:p>
            <a:r>
              <a:rPr lang="de-DE"/>
              <a:t>Diagramm durch Klicken auf Symbol hinzufügen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68CD71D-F381-DDC3-57C8-6E2E31AE9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37450" y="1619250"/>
            <a:ext cx="4313238" cy="4357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0471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8C56F7-04DC-07E6-E754-FAEBDCAFD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B3395E-75D0-0881-9E63-D45B3C89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88320E-D078-EA6A-9A8C-DD57443F930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01B65D-DEB8-9B99-668F-C2A8BA59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Tabellenplatzhalter 7">
            <a:extLst>
              <a:ext uri="{FF2B5EF4-FFF2-40B4-BE49-F238E27FC236}">
                <a16:creationId xmlns:a16="http://schemas.microsoft.com/office/drawing/2014/main" id="{77EC83A4-CD88-BEBE-32B4-1CB0630E0C2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1313" y="1620000"/>
            <a:ext cx="11509374" cy="4329112"/>
          </a:xfrm>
          <a:prstGeom prst="rect">
            <a:avLst/>
          </a:prstGeom>
        </p:spPr>
        <p:txBody>
          <a:bodyPr/>
          <a:lstStyle/>
          <a:p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365388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C0288E-0BC3-A2B2-6635-8CA0B59834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378F51-1F21-2A9E-140B-3E85C6ED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95910A-7460-9DA2-7D0D-21EA392FA16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8B7627B-6839-36FA-8BDF-10F29038E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Medienplatzhalter 7">
            <a:extLst>
              <a:ext uri="{FF2B5EF4-FFF2-40B4-BE49-F238E27FC236}">
                <a16:creationId xmlns:a16="http://schemas.microsoft.com/office/drawing/2014/main" id="{8A710AA4-AAF2-4B75-C3F3-871BBE9241F8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342900" y="1620000"/>
            <a:ext cx="11506200" cy="43640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Mediaclip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53121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33115BF-78EF-27BB-F487-EADE5934B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968A7B-1911-8BE6-C669-DC5B4D85D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324397-1ED7-8CF8-6036-BBCE9167993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E6FF748-506D-DF48-0CE6-B5937A97C3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11" y="1620000"/>
            <a:ext cx="11512052" cy="43957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21AF7B95-D724-2667-6A8F-48BC1B49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577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8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37576" y="609600"/>
            <a:ext cx="3644824" cy="622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4F520D8-5DD0-8AC6-5A23-456771581E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582400" y="6447859"/>
            <a:ext cx="4963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A301AD-975A-4725-14C1-3B11D71EE0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4038600" y="644785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A8CC2F"/>
                </a:solidFill>
              </a:defRPr>
            </a:lvl1pPr>
          </a:lstStyle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824E65-93DD-275C-14CB-0DD245806F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113212" y="6447857"/>
            <a:ext cx="9514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25.06.2026</a:t>
            </a:r>
          </a:p>
        </p:txBody>
      </p:sp>
    </p:spTree>
    <p:extLst>
      <p:ext uri="{BB962C8B-B14F-4D97-AF65-F5344CB8AC3E}">
        <p14:creationId xmlns:p14="http://schemas.microsoft.com/office/powerpoint/2010/main" val="1599670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883" y="2288322"/>
            <a:ext cx="5392784" cy="1444082"/>
          </a:xfrm>
        </p:spPr>
        <p:txBody>
          <a:bodyPr/>
          <a:lstStyle/>
          <a:p>
            <a:r>
              <a:rPr lang="de-DE" sz="4800" dirty="0"/>
              <a:t>Seminaraufgabe 2</a:t>
            </a:r>
          </a:p>
        </p:txBody>
      </p:sp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470883" y="3732404"/>
            <a:ext cx="4063517" cy="17526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Benjamin Gielczynski,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David von Rüden,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Tim Giese,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Victor Domke,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38289" y="1627906"/>
            <a:ext cx="5747658" cy="360218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Ziel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Merkmal-Extraktion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Explorative Datenanalyse</a:t>
            </a:r>
            <a:endParaRPr lang="de-DE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Standardisierung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Hauptkomponentenanalyse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Visualisierung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571C89-E11C-49E9-88F9-60110C29C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2</a:t>
            </a:fld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ADE982B-BFE5-5848-F763-33D2FC31C6D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D942951-2681-5B98-DB4E-AACA25F87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1A48E-1B1B-0EF1-7B0E-C43B96540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68DE30-D93E-3C7A-A549-46E39921BF6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Automatische Klassifizierung beschädigter Zahnräder anhand von Merkmalen (Features)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In diesem Task ist unser Ziel die Vorbereitung für die Automatisierung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DBBAAD-698E-2BBD-EFF1-ADB56162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EC3D51E1-5F7F-CC79-B190-7E596C240B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03726B5-E16A-44C4-B810-6AFDF6B9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4305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Gruppieren der Features</a:t>
            </a:r>
            <a:r>
              <a:rPr lang="de-DE" b="0" i="0" dirty="0">
                <a:effectLst/>
              </a:rPr>
              <a:t> 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Zeitbereich: RMS Energy, Zero Crossing Rate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Wie stark ist das Signal, wie viele schnelle Wechsel gibt es?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Frequenzbereich: Spectral Centroid, Bandwidth, Rolloff, Contrast </a:t>
            </a:r>
            <a:endParaRPr lang="de-DE" dirty="0"/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Wo liegt Energie im Frequenzspektrum, wie breit/auffällig ist sie verteilt?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MFCCs / Delta-MFCCs: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Kompakte Beschreibung der spektralen Form und ihrer Veränderung.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Chroma: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Erfasst wiederkehrende spektrale Muster; bei technischen Signalen weniger intuitiv, </a:t>
            </a:r>
            <a:br>
              <a:rPr lang="de-DE" b="0" i="0" dirty="0">
                <a:effectLst/>
              </a:rPr>
            </a:br>
            <a:r>
              <a:rPr lang="de-DE" b="0" i="0" dirty="0">
                <a:effectLst/>
              </a:rPr>
              <a:t>aber als Mustermerkmal nutzbar.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Merkmal-Extraktion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D575DA6-9507-24A3-D823-ACF99B9044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06C2A5A-D44E-21C3-8924-01BF5842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3200" dirty="0"/>
              <a:t>Merkmal-Extraktion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582400" y="6447859"/>
            <a:ext cx="49638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0424531-ACBB-43B0-9536-C2FB0D769E6C}" type="slidenum">
              <a:rPr lang="de-DE" altLang="de-DE" smtClean="0"/>
              <a:pPr>
                <a:spcAft>
                  <a:spcPts val="600"/>
                </a:spcAft>
                <a:defRPr/>
              </a:pPr>
              <a:t>5</a:t>
            </a:fld>
            <a:endParaRPr lang="de-DE" alt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Library: „</a:t>
            </a:r>
            <a:r>
              <a:rPr lang="de-DE" dirty="0" err="1"/>
              <a:t>librosa</a:t>
            </a:r>
            <a:r>
              <a:rPr lang="de-DE" dirty="0"/>
              <a:t>“</a:t>
            </a:r>
            <a:endParaRPr lang="de-DE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Berechnen der Merkmale </a:t>
            </a:r>
            <a:br>
              <a:rPr lang="de-DE" dirty="0"/>
            </a:br>
            <a:r>
              <a:rPr lang="de-DE" dirty="0"/>
              <a:t> </a:t>
            </a:r>
          </a:p>
        </p:txBody>
      </p:sp>
      <p:pic>
        <p:nvPicPr>
          <p:cNvPr id="8" name="Grafik 7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8DCE5B2-CBDE-2CE1-B10E-9BD9BD821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455" y="2133600"/>
            <a:ext cx="6350233" cy="2857604"/>
          </a:xfrm>
          <a:prstGeom prst="rect">
            <a:avLst/>
          </a:prstGeom>
          <a:noFill/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76C4FB-8771-9C12-EC14-FF917FA919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258A7A-FB46-C9EE-27DB-D5BFD61A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17B61-8CE5-3B97-6F85-3C618D6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25611F-2E54-B9F6-1387-380500D28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CFC55D7-9A46-28B7-DCDC-9006970AAD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Merkmale haben unterschiedliche Einheiten und Größenordnungen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Standardisieren auf Mittelwert 0 und Standardabweichung 1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Da z.B.</a:t>
            </a:r>
            <a:r>
              <a:rPr lang="de-DE" b="0" i="0" dirty="0">
                <a:effectLst/>
              </a:rPr>
              <a:t> Frequenzwerte nicht automatisch wichtiger als kleinere dimensionslose Werte sind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98D85CC-7045-19F5-6B89-A95D6A5F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Standardisierung</a:t>
            </a:r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3AF4FFF-43A2-A94E-D9CF-F66A42D8A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788" y="3699361"/>
            <a:ext cx="9866424" cy="1159262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8EAA6FE-52E8-2872-6AAC-AF23B87F158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0CF3568-ABC8-8799-4537-678150D76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0363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979B5319-8740-7A92-1452-B0AE766BD9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46888"/>
          <a:stretch>
            <a:fillRect/>
          </a:stretch>
        </p:blipFill>
        <p:spPr bwMode="auto">
          <a:xfrm>
            <a:off x="343622" y="1414962"/>
            <a:ext cx="11504756" cy="4028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0001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F0FCFB-49D3-B0D3-1565-3799B01816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52A9E7-E0BD-8249-90D0-97B3A7CD2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A3BB-CCD8-3885-6A02-EE175FE1C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8000FF-5C0D-F793-7E08-F6647F058B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B45411E6-140F-B59E-A64B-D3B346EC85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53112"/>
          <a:stretch>
            <a:fillRect/>
          </a:stretch>
        </p:blipFill>
        <p:spPr bwMode="auto">
          <a:xfrm>
            <a:off x="343200" y="1650836"/>
            <a:ext cx="11505600" cy="35563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23FF9676-A75A-6AB8-50C5-C4EED7B6A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4498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E9FD257-CB15-1E41-8906-263322E6C4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F3361E2-F2B2-2257-211E-2EC99788A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393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01B9E-346B-3528-8989-0CC87ABB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C558F-068E-467F-FEA0-9A2B9590A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pic>
        <p:nvPicPr>
          <p:cNvPr id="3" name="Inhaltsplatzhalter 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FA97D665-B2B0-6A98-0F8B-3D58A024C42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tretch>
            <a:fillRect/>
          </a:stretch>
        </p:blipFill>
        <p:spPr>
          <a:xfrm>
            <a:off x="1162200" y="3048854"/>
            <a:ext cx="9867600" cy="2914686"/>
          </a:xfr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0C57D15E-CCA8-224B-43C2-BF840F74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646759" cy="706030"/>
          </a:xfrm>
        </p:spPr>
        <p:txBody>
          <a:bodyPr/>
          <a:lstStyle/>
          <a:p>
            <a:r>
              <a:rPr lang="de-DE" sz="3200" dirty="0">
                <a:ea typeface="ヒラギノ角ゴ Pro W3"/>
              </a:rPr>
              <a:t>Hauptkomponentenanalyse</a:t>
            </a:r>
            <a:endParaRPr lang="de-DE" dirty="0"/>
          </a:p>
        </p:txBody>
      </p:sp>
      <p:sp>
        <p:nvSpPr>
          <p:cNvPr id="6" name="Inhaltsplatzhalter 9">
            <a:extLst>
              <a:ext uri="{FF2B5EF4-FFF2-40B4-BE49-F238E27FC236}">
                <a16:creationId xmlns:a16="http://schemas.microsoft.com/office/drawing/2014/main" id="{7AFC9A66-8356-7CE3-2D1D-54900DD9AADA}"/>
              </a:ext>
            </a:extLst>
          </p:cNvPr>
          <p:cNvSpPr txBox="1">
            <a:spLocks/>
          </p:cNvSpPr>
          <p:nvPr/>
        </p:nvSpPr>
        <p:spPr bwMode="auto">
          <a:xfrm>
            <a:off x="341811" y="1509009"/>
            <a:ext cx="9737766" cy="2105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4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0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3pPr>
            <a:lvl4pPr marL="114458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414141"/>
              </a:buClr>
              <a:defRPr>
                <a:solidFill>
                  <a:srgbClr val="414141"/>
                </a:solidFill>
                <a:latin typeface="Courier New"/>
                <a:ea typeface="+mn-ea"/>
                <a:cs typeface="+mn-cs"/>
              </a:defRPr>
            </a:lvl4pPr>
            <a:lvl5pPr marL="1144588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A8CC2F"/>
                </a:solidFill>
                <a:latin typeface="+mn-lt"/>
                <a:ea typeface="+mn-ea"/>
                <a:cs typeface="+mn-cs"/>
              </a:defRPr>
            </a:lvl5pPr>
            <a:lvl6pPr marL="2438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6pPr>
            <a:lvl7pPr marL="2895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7pPr>
            <a:lvl8pPr marL="3352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8pPr>
            <a:lvl9pPr marL="3810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 fasst viele Merkmale in zwei Hauptachsen zusammen, die möglichst viel Varianz erklären. Dadurch können wir sehen, ob sich Zahnradzustände räumlich trennen.</a:t>
            </a:r>
            <a:endParaRPr lang="de-DE" kern="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3CA445C-F940-E013-1AC9-1A366EEA36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ABEE24C-37F3-78D2-21C6-88F44D571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07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D7C1B853-D0B1-D6E0-7F1E-5BADA4184D1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66758"/>
          <a:stretch>
            <a:fillRect/>
          </a:stretch>
        </p:blipFill>
        <p:spPr bwMode="auto">
          <a:xfrm>
            <a:off x="343200" y="1361595"/>
            <a:ext cx="11505600" cy="4928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009678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Ansicht einer Position beider Channel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98F3A7-4DE5-447B-E8E2-5AA1A1F5B2C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EF4587-D828-91EE-B123-AA8CB8A7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FD1414-35C8-6A57-2C40-93B372179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A3F2AA0-8383-B2C0-5137-84EFD29BE71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33412" b="33339"/>
          <a:stretch>
            <a:fillRect/>
          </a:stretch>
        </p:blipFill>
        <p:spPr bwMode="auto">
          <a:xfrm>
            <a:off x="343200" y="1360800"/>
            <a:ext cx="11505600" cy="49298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F324D3E-0F2F-AB0F-B173-23CAC682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6328812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Unterschiedlich viele Messungen der Zahnräder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DEE32E-D555-A5C0-5E56-51A5968FB2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9D6D17-25F8-CC0D-9807-336DAF75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625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F3C4D-956F-CF44-1DA8-88DDD223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02F702-44A1-66E4-2B59-8E21067E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70C101CF-2A7E-EB74-1C4A-B189FAC9EDA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66831"/>
          <a:stretch>
            <a:fillRect/>
          </a:stretch>
        </p:blipFill>
        <p:spPr bwMode="auto">
          <a:xfrm>
            <a:off x="341809" y="1360800"/>
            <a:ext cx="11505600" cy="4918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01F1A-FCB7-133D-6F5D-FABA9A2F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63063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dirty="0"/>
              <a:t>Durchschnitt-Methode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37E5F-3907-6F85-DAC7-339604EB14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26B563-4C74-A0AC-BD19-B0D9D3AA0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8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14C7-DE47-0944-DF0C-B611520E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59F460-EDFE-F390-52E2-C60A9F313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13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7D077AA-8134-0C8E-A018-B8169899F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844786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Ausgewählte „</a:t>
            </a:r>
            <a:r>
              <a:rPr lang="de-DE" sz="2400" dirty="0" err="1"/>
              <a:t>mID</a:t>
            </a:r>
            <a:r>
              <a:rPr lang="de-DE" sz="2400" dirty="0"/>
              <a:t>“ für Z01 und Z04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031110A-4272-FAC2-BA3D-2894E70F27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6" b="75054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1B4C461-0198-1068-BC96-763CE6D3F62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77BF275-4CD1-7013-A879-C0A89D493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1672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AFDA-5709-6898-CE4E-940E6A34E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3FBD9B-FA60-4D7A-9530-63A817FC9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DF8090-BADC-27B4-F673-12947654E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54451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Durchschnitts-Methode mit beiden „</a:t>
            </a:r>
            <a:r>
              <a:rPr lang="de-DE" sz="2400" dirty="0" err="1"/>
              <a:t>rID</a:t>
            </a:r>
            <a:r>
              <a:rPr lang="de-DE" sz="2400" dirty="0"/>
              <a:t>“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7AD44-41FF-8C67-A8C2-47E0CA46A5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" t="74907" r="-67" b="111"/>
          <a:stretch>
            <a:fillRect/>
          </a:stretch>
        </p:blipFill>
        <p:spPr>
          <a:xfrm>
            <a:off x="343200" y="1360800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CD15804-53A8-F6A6-4020-8B7067A69EC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1398641-4C2C-6031-67B2-033E0BC9B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664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22DC-F88E-99AF-A1B7-63C4E1E70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2A0D2F-9C7B-D07B-E152-6D17F2779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97FF2F-4ABD-DBF1-1A9F-CD59B4415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919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Kompletter Datensatz </a:t>
            </a:r>
            <a:r>
              <a:rPr lang="de-DE" dirty="0"/>
              <a:t>mit allen „</a:t>
            </a:r>
            <a:r>
              <a:rPr lang="de-DE" dirty="0" err="1"/>
              <a:t>mID</a:t>
            </a:r>
            <a:r>
              <a:rPr lang="de-DE" dirty="0"/>
              <a:t>“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898B92-B545-00D3-5767-0C02FD697D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902" b="25116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285D009-B3CD-3F2A-D8EE-96546325CCD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90F7BFF-E634-F432-B716-E8CCB89A7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572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75FB55-D6ED-C35B-B368-0D1BE8E0F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792880-C870-78F8-FD9F-3732660E48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Die PCA-Darstellung der extrahierten Merkmale zeigt, dass Z05 klar separiert von den übrigen Zahnrädern liegt. Dies deutet darauf hin, dass sich dessen Signalcharakteristik signifikant unterscheidet.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Damit konnten die Signale in eine Merkmalsform überführt werden, die sich grundsätzlich für eine automatisierte Klassifikation oder Anomalie Erkennung eignet.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4BBB6-51EB-B8DF-B124-F43AAB73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Ergebnisse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1BB0821-ACF4-FAAA-FCFD-FE000BACD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504410-AB8A-471C-1D33-002F641A2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930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2192-37A0-7AD0-AE14-22BFEAF4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DE66EE-D1C7-077E-9546-55B1FA2DC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5CE2B4-9BA0-9AC0-F40D-53D5E929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264510" cy="706030"/>
          </a:xfrm>
        </p:spPr>
        <p:txBody>
          <a:bodyPr/>
          <a:lstStyle/>
          <a:p>
            <a:r>
              <a:rPr lang="de-DE" sz="3200" dirty="0"/>
              <a:t>Ergebnisse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048D6D3-2E0E-7BD8-7237-FA9BCBF8D1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053" b="-35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ACDBC10B-6EAA-F6BE-EF46-CD4ADE54D3B0}"/>
              </a:ext>
            </a:extLst>
          </p:cNvPr>
          <p:cNvSpPr/>
          <p:nvPr/>
        </p:nvSpPr>
        <p:spPr bwMode="auto">
          <a:xfrm>
            <a:off x="2840636" y="1533302"/>
            <a:ext cx="3584026" cy="2432147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37839B8-4B21-EBB6-F137-5A809E7017FD}"/>
              </a:ext>
            </a:extLst>
          </p:cNvPr>
          <p:cNvSpPr/>
          <p:nvPr/>
        </p:nvSpPr>
        <p:spPr bwMode="auto">
          <a:xfrm>
            <a:off x="7685880" y="1472182"/>
            <a:ext cx="4096389" cy="2357805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9F7DD7D-654D-6481-809F-2B3BF2DCB2C0}"/>
              </a:ext>
            </a:extLst>
          </p:cNvPr>
          <p:cNvCxnSpPr>
            <a:cxnSpLocks/>
          </p:cNvCxnSpPr>
          <p:nvPr/>
        </p:nvCxnSpPr>
        <p:spPr bwMode="auto">
          <a:xfrm>
            <a:off x="734518" y="2563318"/>
            <a:ext cx="5306518" cy="231598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1CA1D6C-3643-C6AE-3F44-33BAF53B12E8}"/>
              </a:ext>
            </a:extLst>
          </p:cNvPr>
          <p:cNvCxnSpPr>
            <a:cxnSpLocks/>
          </p:cNvCxnSpPr>
          <p:nvPr/>
        </p:nvCxnSpPr>
        <p:spPr bwMode="auto">
          <a:xfrm>
            <a:off x="6475751" y="3357797"/>
            <a:ext cx="5306518" cy="694821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F2D93268-F655-8E29-AEDD-BEC246926421}"/>
              </a:ext>
            </a:extLst>
          </p:cNvPr>
          <p:cNvSpPr/>
          <p:nvPr/>
        </p:nvSpPr>
        <p:spPr bwMode="auto">
          <a:xfrm>
            <a:off x="734518" y="3777521"/>
            <a:ext cx="3814997" cy="2315980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54FFD05-4AA3-52DA-5754-BAC5D449CAED}"/>
              </a:ext>
            </a:extLst>
          </p:cNvPr>
          <p:cNvSpPr/>
          <p:nvPr/>
        </p:nvSpPr>
        <p:spPr bwMode="auto">
          <a:xfrm>
            <a:off x="6244373" y="3758771"/>
            <a:ext cx="4203771" cy="2514613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05DF70C5-E878-2CD5-F644-CF5B1E5CE97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BC8C3934-629F-B7C3-1416-9C60B85BA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16" grpId="0" animBg="1"/>
      <p:bldP spid="16" grpId="1" animBg="1"/>
      <p:bldP spid="18" grpId="0" animBg="1"/>
      <p:bldP spid="18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9BDB3-AF05-698B-206C-6C9919554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Ende</a:t>
            </a:r>
          </a:p>
        </p:txBody>
      </p:sp>
    </p:spTree>
    <p:extLst>
      <p:ext uri="{BB962C8B-B14F-4D97-AF65-F5344CB8AC3E}">
        <p14:creationId xmlns:p14="http://schemas.microsoft.com/office/powerpoint/2010/main" val="467022224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_new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_new" id="{646A7671-C426-4EDE-91D9-79A1794CE4D5}" vid="{0D282BB0-0299-4ACE-B272-414AB2767C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815</Words>
  <Application>Microsoft Office PowerPoint</Application>
  <PresentationFormat>Breitbild</PresentationFormat>
  <Paragraphs>148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Arial</vt:lpstr>
      <vt:lpstr>Courier New</vt:lpstr>
      <vt:lpstr>Lucida Grande</vt:lpstr>
      <vt:lpstr>ヒラギノ角ゴ Pro W3</vt:lpstr>
      <vt:lpstr>B-TU_Design_new</vt:lpstr>
      <vt:lpstr>Seminaraufgabe 2</vt:lpstr>
      <vt:lpstr>Gliederung</vt:lpstr>
      <vt:lpstr>Ziel</vt:lpstr>
      <vt:lpstr>Merkmal-Extraktion</vt:lpstr>
      <vt:lpstr>Merkmal-Extraktion</vt:lpstr>
      <vt:lpstr>Standardisierung</vt:lpstr>
      <vt:lpstr>Explorative Datenanalyse</vt:lpstr>
      <vt:lpstr>Explorative Datenanalyse</vt:lpstr>
      <vt:lpstr>Hauptkomponentenanalyse</vt:lpstr>
      <vt:lpstr>Visualisierung Ansicht einer Position beider Channel</vt:lpstr>
      <vt:lpstr>Visualisierung Unterschiedlich viele Messungen der Zahnräder</vt:lpstr>
      <vt:lpstr>Visualisierung Durchschnitt-Methode</vt:lpstr>
      <vt:lpstr>Visualisierung Ausgewählte „mID“ für Z01 und Z04</vt:lpstr>
      <vt:lpstr>Visualisierung Durchschnitts-Methode mit beiden „rID“</vt:lpstr>
      <vt:lpstr>Visualisierung Kompletter Datensatz mit allen „mID“</vt:lpstr>
      <vt:lpstr>Ergebnisse</vt:lpstr>
      <vt:lpstr>Ergebnisse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Benjamin Gielczynski</cp:lastModifiedBy>
  <cp:revision>49</cp:revision>
  <dcterms:created xsi:type="dcterms:W3CDTF">2026-06-13T09:02:33Z</dcterms:created>
  <dcterms:modified xsi:type="dcterms:W3CDTF">2026-06-24T12:20:18Z</dcterms:modified>
</cp:coreProperties>
</file>