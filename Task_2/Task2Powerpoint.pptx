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58" r:id="rId5"/>
    <p:sldId id="263" r:id="rId6"/>
    <p:sldId id="267" r:id="rId7"/>
    <p:sldId id="264" r:id="rId8"/>
    <p:sldId id="269" r:id="rId9"/>
    <p:sldId id="268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59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1"/>
    <p:restoredTop sz="77175" autoAdjust="0"/>
  </p:normalViewPr>
  <p:slideViewPr>
    <p:cSldViewPr snapToGrid="0">
      <p:cViewPr varScale="1">
        <p:scale>
          <a:sx n="73" d="100"/>
          <a:sy n="73" d="100"/>
        </p:scale>
        <p:origin x="1147" y="72"/>
      </p:cViewPr>
      <p:guideLst>
        <p:guide orient="horz" pos="1296"/>
        <p:guide pos="5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9" d="100"/>
          <a:sy n="129" d="100"/>
        </p:scale>
        <p:origin x="229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5829F-2F94-0B44-A96D-AE852A87AC61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2B7F2-6741-7346-B13A-366117EE2B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55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B7F2-6741-7346-B13A-366117EE2BB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09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1. Spektrale Merkmale (Frequenzbereich)</a:t>
            </a:r>
          </a:p>
          <a:p>
            <a:pPr lvl="1"/>
            <a:r>
              <a:rPr lang="de-DE" dirty="0"/>
              <a:t>MFCCs (13 Koeffizienten): Bilden die Spektraleinhüllende auf der Mel-Skala ab </a:t>
            </a:r>
          </a:p>
          <a:p>
            <a:pPr lvl="1"/>
            <a:r>
              <a:rPr lang="de-DE" dirty="0" err="1"/>
              <a:t>Spectral</a:t>
            </a:r>
            <a:r>
              <a:rPr lang="de-DE" dirty="0"/>
              <a:t> </a:t>
            </a:r>
            <a:r>
              <a:rPr lang="de-DE" dirty="0" err="1"/>
              <a:t>Centroid</a:t>
            </a:r>
            <a:r>
              <a:rPr lang="de-DE" dirty="0"/>
              <a:t> (Schwerpunkt): Gibt an, bei welcher Frequenz der "Masseschwerpunkt" des Spektrums liegt. Maß für die "Helligkeit" des Klangs.</a:t>
            </a:r>
          </a:p>
          <a:p>
            <a:pPr lvl="1"/>
            <a:r>
              <a:rPr lang="de-DE" dirty="0" err="1"/>
              <a:t>Spectral</a:t>
            </a:r>
            <a:r>
              <a:rPr lang="de-DE" dirty="0"/>
              <a:t> </a:t>
            </a:r>
            <a:r>
              <a:rPr lang="de-DE" dirty="0" err="1"/>
              <a:t>Bandwidth</a:t>
            </a:r>
            <a:r>
              <a:rPr lang="de-DE" dirty="0"/>
              <a:t> (Bandbreite): Beschreibt die Spreizung des Spektrums um den Schwerpunkt</a:t>
            </a:r>
          </a:p>
          <a:p>
            <a:pPr lvl="1"/>
            <a:r>
              <a:rPr lang="de-DE" dirty="0" err="1"/>
              <a:t>Spectral</a:t>
            </a:r>
            <a:r>
              <a:rPr lang="de-DE" dirty="0"/>
              <a:t> Roll-off: Die Frequenz, unter der ein bestimmter Prozentsatz (meist 85%) der Spektralenergie liegt</a:t>
            </a:r>
          </a:p>
          <a:p>
            <a:pPr lvl="1"/>
            <a:r>
              <a:rPr lang="de-DE" dirty="0" err="1"/>
              <a:t>Spectral</a:t>
            </a:r>
            <a:r>
              <a:rPr lang="de-DE" dirty="0"/>
              <a:t> </a:t>
            </a:r>
            <a:r>
              <a:rPr lang="de-DE" dirty="0" err="1"/>
              <a:t>Contrast</a:t>
            </a:r>
            <a:r>
              <a:rPr lang="de-DE" dirty="0"/>
              <a:t>: Misst den Unterschied zwischen Spitzen und Tälern im Spektrum.</a:t>
            </a:r>
          </a:p>
          <a:p>
            <a:pPr lvl="1"/>
            <a:r>
              <a:rPr lang="de-DE" dirty="0"/>
              <a:t>Chroma Features (STFT/CENS): Projizieren das gesamte Spektrum auf 12 Halbtonklassen</a:t>
            </a:r>
          </a:p>
          <a:p>
            <a:r>
              <a:rPr lang="de-DE" dirty="0"/>
              <a:t>2. Zeitbereichs-Merkmale</a:t>
            </a:r>
          </a:p>
          <a:p>
            <a:pPr lvl="1"/>
            <a:r>
              <a:rPr lang="de-DE" dirty="0"/>
              <a:t>Zero Crossing Rate (ZCR): Die Rate, mit der das Signal die Nulllinie kreuzt. Ein Maß für die Frequenz und Impulsivität (Rauschen)</a:t>
            </a:r>
          </a:p>
          <a:p>
            <a:pPr lvl="1"/>
            <a:r>
              <a:rPr lang="de-DE" dirty="0"/>
              <a:t>Frame Energy (RMS): Der quadratische Mittelwert der Amplitude.</a:t>
            </a:r>
          </a:p>
          <a:p>
            <a:r>
              <a:rPr lang="de-DE" dirty="0"/>
              <a:t>3. Dynamische Merkmale</a:t>
            </a:r>
          </a:p>
          <a:p>
            <a:pPr lvl="1"/>
            <a:r>
              <a:rPr lang="de-DE" dirty="0"/>
              <a:t>Delta-Features: Die erste zeitliche Ableitung der MFCCs.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B7F2-6741-7346-B13A-366117EE2BB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403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F389-D4E0-D2D0-D0E3-FEDCB601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1C17418-FDE2-F315-1FCC-C0AE13826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DD5A0F-089C-81AB-670E-7E39A76EB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57F3D0-5F1F-FB96-9DEC-006699FAA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B7F2-6741-7346-B13A-366117EE2BB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451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63EF-EA1A-0B8A-1379-0A6160E5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6D235D-AA7B-F048-6715-4D5C7A058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AAE592-F1C0-8F4D-517A-D2570ED29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38551F-788D-EDA4-E8B5-EFFC99D96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B7F2-6741-7346-B13A-366117EE2BB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63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25EC9E2-31FF-3EA5-3975-E86E167F96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6AF26-C926-4A56-9975-C85146180884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271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75048B-B3AF-D45D-EEB0-384F8E0976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24531-ACBB-43B0-9536-C2FB0D769E6C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7760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2EDF3A-9325-1B45-8BEF-BAD58BAD33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5649C-264A-4E4C-9902-AA3F818819D1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2802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23240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50000" y="1981200"/>
            <a:ext cx="523240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6493AE-D593-6ADB-6030-F4D20E7DFE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3D0BF-4D1A-45ED-AD8F-0FD3B3BB66E2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40925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A15AB-4207-F294-7D08-E72DE9340E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79237-C483-4955-AFED-2A4A37FECB46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0085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17DEB6D-9627-4A47-CFB5-10285D34D6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4B4A-732C-499D-9D78-1714C721CB73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55846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C880F39A-DC2C-A2A6-0B94-C1E1A2C729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EC67A-447A-45B8-88A0-2BB092BD2204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79536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7076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542503"/>
            <a:ext cx="5486401" cy="45908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599" y="981599"/>
            <a:ext cx="4011084" cy="5537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1"/>
          </p:nvPr>
        </p:nvSpPr>
        <p:spPr>
          <a:xfrm>
            <a:off x="6096000" y="1542502"/>
            <a:ext cx="5760639" cy="5152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89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BF1845-B872-C207-2FA9-F0CE0DE855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D8BDE-5646-46B8-8690-93431C932126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29435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DFE463-EA6F-7A0D-E324-9309CA19F7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08B93-56F5-4BC0-B85D-44A31F485381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03169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915400" y="609600"/>
            <a:ext cx="2667000" cy="5486400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797800" cy="54864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4CA076-6F98-AFCE-C8A3-5B1E49D5A5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C87F1-4186-4704-A4D5-1175D6C93009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17573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A723C0C-88A1-F25A-D4A2-7567856B7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660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Mastertitelformat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55CE51-F867-6AB4-B806-D37629DC6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668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2E82AB3-F935-9061-40AA-BD4675D566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Times" panose="02020603050405020304" pitchFamily="18" charset="0"/>
              <a:buNone/>
              <a:defRPr sz="1000">
                <a:solidFill>
                  <a:srgbClr val="A8CC2F"/>
                </a:solidFill>
              </a:defRPr>
            </a:lvl1pPr>
          </a:lstStyle>
          <a:p>
            <a:pPr>
              <a:defRPr/>
            </a:pPr>
            <a:fld id="{AF7B6FBB-3871-4A64-9491-1B11EE455FFC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  <p:pic>
        <p:nvPicPr>
          <p:cNvPr id="1029" name="Picture 8" descr="btu_logo_rz_horiz_rgbjpg">
            <a:extLst>
              <a:ext uri="{FF2B5EF4-FFF2-40B4-BE49-F238E27FC236}">
                <a16:creationId xmlns:a16="http://schemas.microsoft.com/office/drawing/2014/main" id="{24F5A3AF-D943-BD2A-8943-FC6AD197A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950" y="404813"/>
            <a:ext cx="32194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329ECA6-616C-D49B-7DA8-B83F6944211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09600" y="6450496"/>
            <a:ext cx="6908800" cy="25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defRPr/>
            </a:pPr>
            <a:r>
              <a:rPr lang="de-DE" altLang="de-DE" sz="1000" dirty="0">
                <a:solidFill>
                  <a:srgbClr val="A8CC2F"/>
                </a:solidFill>
              </a:rPr>
              <a:t>Materialdiagnostik: Task 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31" r:id="rId8"/>
    <p:sldLayoutId id="2147483728" r:id="rId9"/>
    <p:sldLayoutId id="2147483729" r:id="rId10"/>
    <p:sldLayoutId id="2147483730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A8CC2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rgbClr val="A8CC2F"/>
          </a:solidFill>
          <a:latin typeface="Arial" pitchFamily="-109" charset="0"/>
          <a:ea typeface="ヒラギノ角ゴ Pro W3" pitchFamily="-109" charset="-128"/>
          <a:cs typeface="ヒラギノ角ゴ Pro W3" pitchFamily="-109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Lucida Grande" charset="0"/>
        <a:buChar char="·"/>
        <a:defRPr sz="2400">
          <a:solidFill>
            <a:srgbClr val="41414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Lucida Grande" charset="0"/>
        <a:buChar char="·"/>
        <a:defRPr sz="2000">
          <a:solidFill>
            <a:srgbClr val="41414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Lucida Grande" charset="0"/>
        <a:buChar char="·"/>
        <a:defRPr>
          <a:solidFill>
            <a:srgbClr val="414141"/>
          </a:solidFill>
          <a:latin typeface="+mn-lt"/>
          <a:ea typeface="+mn-ea"/>
          <a:cs typeface="+mn-cs"/>
        </a:defRPr>
      </a:lvl3pPr>
      <a:lvl4pPr marL="1144588" algn="l" rtl="0" eaLnBrk="1" fontAlgn="base" hangingPunct="1">
        <a:spcBef>
          <a:spcPct val="20000"/>
        </a:spcBef>
        <a:spcAft>
          <a:spcPct val="0"/>
        </a:spcAft>
        <a:buClr>
          <a:srgbClr val="414141"/>
        </a:buClr>
        <a:defRPr>
          <a:solidFill>
            <a:srgbClr val="414141"/>
          </a:solidFill>
          <a:latin typeface="Courier New"/>
          <a:ea typeface="+mn-ea"/>
          <a:cs typeface="+mn-cs"/>
        </a:defRPr>
      </a:lvl4pPr>
      <a:lvl5pPr marL="1144588" indent="-228600" algn="l" rtl="0" eaLnBrk="1" fontAlgn="base" hangingPunct="1">
        <a:spcBef>
          <a:spcPct val="20000"/>
        </a:spcBef>
        <a:spcAft>
          <a:spcPct val="0"/>
        </a:spcAft>
        <a:buFont typeface="Lucida Grande" charset="0"/>
        <a:buChar char="·"/>
        <a:defRPr>
          <a:solidFill>
            <a:srgbClr val="A8CC2F"/>
          </a:solidFill>
          <a:latin typeface="+mn-lt"/>
          <a:ea typeface="+mn-ea"/>
          <a:cs typeface="+mn-cs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14141"/>
          </a:solidFill>
          <a:latin typeface="+mn-lt"/>
          <a:ea typeface="+mn-ea"/>
          <a:cs typeface="+mn-cs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14141"/>
          </a:solidFill>
          <a:latin typeface="+mn-lt"/>
          <a:ea typeface="+mn-ea"/>
          <a:cs typeface="+mn-cs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14141"/>
          </a:solidFill>
          <a:latin typeface="+mn-lt"/>
          <a:ea typeface="+mn-ea"/>
          <a:cs typeface="+mn-cs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1414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B127D0AE-943F-5B24-AF1D-9467215FE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494690"/>
            <a:ext cx="8534400" cy="1752600"/>
          </a:xfrm>
        </p:spPr>
        <p:txBody>
          <a:bodyPr/>
          <a:lstStyle/>
          <a:p>
            <a:r>
              <a:rPr lang="de-DE" sz="2000" b="1" dirty="0">
                <a:solidFill>
                  <a:schemeClr val="bg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Benjamin </a:t>
            </a:r>
            <a:r>
              <a:rPr lang="de-DE" sz="2000" b="1" dirty="0" err="1">
                <a:solidFill>
                  <a:schemeClr val="bg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Gielczynski</a:t>
            </a:r>
            <a:r>
              <a:rPr lang="de-DE" sz="2000" b="1" dirty="0">
                <a:solidFill>
                  <a:schemeClr val="bg1">
                    <a:lumMod val="50000"/>
                  </a:schemeClr>
                </a:solidFill>
                <a:effectLst/>
                <a:latin typeface="Menlo" panose="020B0609030804020204" pitchFamily="49" charset="0"/>
              </a:rPr>
              <a:t>, David von Rüden, Tim Giese, Victor Domke, Simon Brockhoff</a:t>
            </a:r>
            <a:endParaRPr lang="de-DE" sz="2000" b="0" dirty="0">
              <a:solidFill>
                <a:schemeClr val="bg1">
                  <a:lumMod val="50000"/>
                </a:schemeClr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476EBB-4D93-C7B4-2E1A-4A626202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231" y="2350377"/>
            <a:ext cx="9817538" cy="1144313"/>
          </a:xfrm>
        </p:spPr>
        <p:txBody>
          <a:bodyPr/>
          <a:lstStyle/>
          <a:p>
            <a:pPr algn="ctr"/>
            <a:r>
              <a:rPr lang="de-DE" sz="4800" dirty="0"/>
              <a:t>Team 3: Seminaraufgabe 2</a:t>
            </a:r>
          </a:p>
        </p:txBody>
      </p:sp>
    </p:spTree>
    <p:extLst>
      <p:ext uri="{BB962C8B-B14F-4D97-AF65-F5344CB8AC3E}">
        <p14:creationId xmlns:p14="http://schemas.microsoft.com/office/powerpoint/2010/main" val="187507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8E74-1723-4026-C41F-72C0E5F4B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6BDFD0D-1F3F-671D-BE21-271B3E00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/>
              <a:t>Gliederung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DAFAAD0-F245-6E9A-4495-53E9DCD86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45265"/>
            <a:ext cx="10668000" cy="4114800"/>
          </a:xfrm>
        </p:spPr>
        <p:txBody>
          <a:bodyPr/>
          <a:lstStyle/>
          <a:p>
            <a:r>
              <a:rPr lang="de-DE" sz="2000" dirty="0"/>
              <a:t>Ziel</a:t>
            </a:r>
          </a:p>
          <a:p>
            <a:r>
              <a:rPr lang="de-DE" sz="2000" dirty="0"/>
              <a:t>Merkmal-Extraktion</a:t>
            </a:r>
          </a:p>
          <a:p>
            <a:r>
              <a:rPr lang="de-DE" sz="2000" dirty="0"/>
              <a:t>Explorative Datenanalyse</a:t>
            </a:r>
            <a:endParaRPr lang="de-DE" sz="1600" dirty="0"/>
          </a:p>
          <a:p>
            <a:r>
              <a:rPr lang="de-DE" sz="2000" dirty="0"/>
              <a:t>Standardisierung</a:t>
            </a:r>
          </a:p>
          <a:p>
            <a:r>
              <a:rPr lang="de-DE" sz="2000" dirty="0"/>
              <a:t>Hauptkomponentenanalyse </a:t>
            </a:r>
          </a:p>
          <a:p>
            <a:pPr lvl="1"/>
            <a:r>
              <a:rPr lang="de-DE" sz="1600" dirty="0"/>
              <a:t>PCA</a:t>
            </a:r>
            <a:endParaRPr lang="de-DE" sz="2200" dirty="0"/>
          </a:p>
          <a:p>
            <a:r>
              <a:rPr lang="de-DE" sz="2000" dirty="0"/>
              <a:t>Visualisierung</a:t>
            </a:r>
            <a:endParaRPr lang="de-DE" sz="1800" dirty="0"/>
          </a:p>
          <a:p>
            <a:r>
              <a:rPr lang="de-DE" sz="2000" dirty="0"/>
              <a:t>Ergebnisse</a:t>
            </a:r>
          </a:p>
        </p:txBody>
      </p:sp>
    </p:spTree>
    <p:extLst>
      <p:ext uri="{BB962C8B-B14F-4D97-AF65-F5344CB8AC3E}">
        <p14:creationId xmlns:p14="http://schemas.microsoft.com/office/powerpoint/2010/main" val="160618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BBAAD-698E-2BBD-EFF1-ADB56162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68DE30-D93E-3C7A-A549-46E39921B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Beschädigtes Zahnrad automatisiert anhand von verschiedenen Merkmalen klassifizieren (Im großen)</a:t>
            </a:r>
          </a:p>
          <a:p>
            <a:pPr lvl="1"/>
            <a:r>
              <a:rPr lang="de-DE" dirty="0"/>
              <a:t>In diesem Task ist unser Ziel die Vorbereitung für die Automatisierung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1A48E-1B1B-0EF1-7B0E-C43B96540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30430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F548E49-692C-4BBE-8063-A0FA8DCF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3200" b="1" i="0" u="none" strike="noStrike" kern="0" cap="none" spc="0" normalizeH="0" baseline="0" noProof="0" dirty="0" err="1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Mekmalanalyse</a:t>
            </a:r>
            <a:r>
              <a:rPr kumimoji="0" lang="de-DE" sz="32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:</a:t>
            </a:r>
            <a:br>
              <a:rPr kumimoji="0" lang="de-DE" sz="32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</a:br>
            <a:r>
              <a:rPr kumimoji="0" lang="de-DE" sz="24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Feature </a:t>
            </a:r>
            <a:r>
              <a:rPr kumimoji="0" lang="de-DE" sz="2400" b="1" i="0" u="none" strike="noStrike" kern="0" cap="none" spc="0" normalizeH="0" baseline="0" noProof="0" dirty="0" err="1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Extraction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B8D0937-7521-B2D4-9DC6-F495F65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dirty="0">
                <a:latin typeface="gg sans"/>
              </a:rPr>
              <a:t>Gruppieren der Features</a:t>
            </a:r>
            <a:r>
              <a:rPr lang="de-DE" b="0" i="0" dirty="0">
                <a:effectLst/>
                <a:latin typeface="gg sans"/>
              </a:rPr>
              <a:t> </a:t>
            </a:r>
          </a:p>
          <a:p>
            <a:pPr lvl="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Zeitbereich: RMS Energy, Zero Crossing Rate </a:t>
            </a:r>
            <a:br>
              <a:rPr lang="de-DE" b="0" i="0" dirty="0">
                <a:effectLst/>
                <a:latin typeface="inherit"/>
              </a:rPr>
            </a:br>
            <a:r>
              <a:rPr lang="de-DE" b="0" i="0" dirty="0">
                <a:effectLst/>
                <a:latin typeface="inherit"/>
              </a:rPr>
              <a:t>	→ Wie stark ist das Signal, wie viele schnelle Wechsel gibt es?</a:t>
            </a:r>
          </a:p>
          <a:p>
            <a:pPr lvl="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Frequenzbereich: </a:t>
            </a:r>
            <a:r>
              <a:rPr lang="de-DE" b="0" i="0" dirty="0" err="1">
                <a:effectLst/>
                <a:latin typeface="inherit"/>
              </a:rPr>
              <a:t>Spectral</a:t>
            </a: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Centroid</a:t>
            </a:r>
            <a:r>
              <a:rPr lang="de-DE" b="0" i="0" dirty="0">
                <a:effectLst/>
                <a:latin typeface="inherit"/>
              </a:rPr>
              <a:t>, </a:t>
            </a:r>
            <a:r>
              <a:rPr lang="de-DE" b="0" i="0" dirty="0" err="1">
                <a:effectLst/>
                <a:latin typeface="inherit"/>
              </a:rPr>
              <a:t>Bandwidth</a:t>
            </a:r>
            <a:r>
              <a:rPr lang="de-DE" b="0" i="0" dirty="0">
                <a:effectLst/>
                <a:latin typeface="inherit"/>
              </a:rPr>
              <a:t>, Rolloff, </a:t>
            </a:r>
            <a:r>
              <a:rPr lang="de-DE" b="0" i="0" dirty="0" err="1">
                <a:effectLst/>
                <a:latin typeface="inherit"/>
              </a:rPr>
              <a:t>Contrast</a:t>
            </a:r>
            <a:r>
              <a:rPr lang="de-DE" b="0" i="0" dirty="0">
                <a:effectLst/>
                <a:latin typeface="inherit"/>
              </a:rPr>
              <a:t> </a:t>
            </a:r>
            <a:br>
              <a:rPr lang="de-DE" b="0" i="0" dirty="0">
                <a:effectLst/>
                <a:latin typeface="inherit"/>
              </a:rPr>
            </a:br>
            <a:r>
              <a:rPr lang="de-DE" b="0" i="0" dirty="0">
                <a:effectLst/>
                <a:latin typeface="inherit"/>
              </a:rPr>
              <a:t>	→ Wo liegt Energie im Frequenzspektrum, wie breit/auffällig ist sie verteilt?</a:t>
            </a:r>
          </a:p>
          <a:p>
            <a:pPr lvl="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MFCCs / Delta-MFCCs: </a:t>
            </a:r>
            <a:br>
              <a:rPr lang="de-DE" b="0" i="0" dirty="0">
                <a:effectLst/>
                <a:latin typeface="inherit"/>
              </a:rPr>
            </a:br>
            <a:r>
              <a:rPr lang="de-DE" b="0" i="0" dirty="0">
                <a:effectLst/>
                <a:latin typeface="inherit"/>
              </a:rPr>
              <a:t>	→ Kompakte Beschreibung der spektralen Form und ihrer Veränderung.</a:t>
            </a:r>
          </a:p>
          <a:p>
            <a:pPr lvl="1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Chroma: </a:t>
            </a:r>
            <a:br>
              <a:rPr lang="de-DE" b="0" i="0" dirty="0">
                <a:effectLst/>
                <a:latin typeface="inherit"/>
              </a:rPr>
            </a:br>
            <a:r>
              <a:rPr lang="de-DE" b="0" i="0" dirty="0">
                <a:effectLst/>
                <a:latin typeface="inherit"/>
              </a:rPr>
              <a:t>	→ Erfasst wiederkehrende spektrale Muster; bei technischen Signalen weniger intuitiv, aber 	als Mustermerkmal nutzbar.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07ED7A-1406-D77F-FB1A-4675A86C9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4584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C91D-551D-3A12-3B4F-FD19284D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B690C3-0EC0-B10F-E8C5-83DB688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Mekmalsanalyse</a:t>
            </a:r>
            <a:r>
              <a:rPr lang="de-DE" dirty="0"/>
              <a:t>:</a:t>
            </a:r>
            <a:br>
              <a:rPr lang="de-DE" dirty="0"/>
            </a:br>
            <a:r>
              <a:rPr kumimoji="0" lang="de-DE" sz="24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Feature </a:t>
            </a:r>
            <a:r>
              <a:rPr kumimoji="0" lang="de-DE" sz="2400" b="1" i="0" u="none" strike="noStrike" kern="0" cap="none" spc="0" normalizeH="0" baseline="0" noProof="0" dirty="0" err="1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Extraction</a:t>
            </a:r>
            <a:r>
              <a:rPr kumimoji="0" lang="de-DE" sz="24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: </a:t>
            </a:r>
            <a:r>
              <a:rPr lang="de-DE" sz="2400" dirty="0"/>
              <a:t>Code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54D615C-F8E5-5FC5-C401-2791DF60C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81200"/>
            <a:ext cx="3304903" cy="4114800"/>
          </a:xfrm>
        </p:spPr>
        <p:txBody>
          <a:bodyPr/>
          <a:lstStyle/>
          <a:p>
            <a:r>
              <a:rPr lang="de-DE" dirty="0"/>
              <a:t>Library: </a:t>
            </a:r>
            <a:r>
              <a:rPr lang="de-DE" dirty="0" err="1"/>
              <a:t>librosa</a:t>
            </a:r>
            <a:endParaRPr lang="de-DE" dirty="0"/>
          </a:p>
          <a:p>
            <a:pPr lvl="1"/>
            <a:r>
              <a:rPr lang="de-DE" dirty="0"/>
              <a:t>Berechnen der Merkmale </a:t>
            </a:r>
            <a:br>
              <a:rPr lang="de-DE" dirty="0"/>
            </a:b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EAB245-0953-ACDB-0AB6-BCE17E472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5</a:t>
            </a:fld>
            <a:endParaRPr lang="de-DE" altLang="de-DE" dirty="0"/>
          </a:p>
        </p:txBody>
      </p:sp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8DCE5B2-CBDE-2CE1-B10E-9BD9BD82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52" y="2129246"/>
            <a:ext cx="7571631" cy="33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6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7B61-8CE5-3B97-6F85-3C618D6B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98D85CC-7045-19F5-6B89-A95D6A5F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Hauptkomponentenanalyse:</a:t>
            </a:r>
            <a:br>
              <a:rPr kumimoji="0" lang="de-DE" sz="32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</a:br>
            <a:r>
              <a:rPr kumimoji="0" lang="de-DE" sz="2400" b="1" i="0" u="none" strike="noStrike" kern="0" cap="none" spc="0" normalizeH="0" baseline="0" noProof="0" dirty="0">
                <a:ln>
                  <a:noFill/>
                </a:ln>
                <a:solidFill>
                  <a:srgbClr val="A8CC2F"/>
                </a:solidFill>
                <a:effectLst/>
                <a:uLnTx/>
                <a:uFillTx/>
                <a:latin typeface="Arial"/>
                <a:ea typeface="ヒラギノ角ゴ Pro W3"/>
              </a:rPr>
              <a:t>Standardisierung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CFC55D7-9A46-28B7-DCDC-9006970AA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gg sans"/>
              </a:rPr>
              <a:t>Merkmale haben unterschiedliche Einheiten und Größenordnungen</a:t>
            </a:r>
          </a:p>
          <a:p>
            <a:pPr marL="457200" lvl="1" indent="0">
              <a:spcAft>
                <a:spcPts val="300"/>
              </a:spcAft>
              <a:buNone/>
            </a:pPr>
            <a:r>
              <a:rPr lang="de-DE" b="0" i="0" dirty="0">
                <a:effectLst/>
                <a:latin typeface="gg sans"/>
                <a:sym typeface="Wingdings" panose="05000000000000000000" pitchFamily="2" charset="2"/>
              </a:rPr>
              <a:t> </a:t>
            </a:r>
            <a:r>
              <a:rPr lang="de-DE" b="0" i="0" dirty="0">
                <a:effectLst/>
                <a:latin typeface="gg sans"/>
              </a:rPr>
              <a:t>Standardisieren auf Mittelwert 0 und Standardabweichung 1</a:t>
            </a:r>
          </a:p>
          <a:p>
            <a:pPr marL="457200" lvl="1" indent="0">
              <a:spcAft>
                <a:spcPts val="300"/>
              </a:spcAft>
              <a:buNone/>
            </a:pPr>
            <a:r>
              <a:rPr lang="de-DE" dirty="0">
                <a:latin typeface="gg sans"/>
                <a:sym typeface="Wingdings" panose="05000000000000000000" pitchFamily="2" charset="2"/>
              </a:rPr>
              <a:t> </a:t>
            </a:r>
            <a:r>
              <a:rPr lang="de-DE" dirty="0">
                <a:latin typeface="gg sans"/>
              </a:rPr>
              <a:t>z.B.</a:t>
            </a:r>
            <a:r>
              <a:rPr lang="de-DE" b="0" i="0" dirty="0">
                <a:effectLst/>
                <a:latin typeface="gg sans"/>
              </a:rPr>
              <a:t> Frequenzwerte nicht automatisch wichtiger als kleinere dimensionslose Werte</a:t>
            </a:r>
            <a:endParaRPr lang="de-DE" b="0" i="0" dirty="0">
              <a:effectLst/>
              <a:latin typeface="inheri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25611F-2E54-B9F6-1387-380500D28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6</a:t>
            </a:fld>
            <a:endParaRPr lang="de-DE" alt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3AF4FFF-43A2-A94E-D9CF-F66A42D8A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710" y="4119965"/>
            <a:ext cx="8885690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6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C8C5-6B84-38F9-328D-9E6B4534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45EFF85-64A8-E302-6981-1B6B7F7F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Explorative Datenanalyse:</a:t>
            </a:r>
            <a:br>
              <a:rPr lang="de-DE" dirty="0"/>
            </a:br>
            <a:r>
              <a:rPr lang="de-DE" sz="2400" dirty="0"/>
              <a:t>Boxplot-Analyse</a:t>
            </a:r>
            <a:endParaRPr lang="de-DE" dirty="0"/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979B5319-8740-7A92-1452-B0AE766BD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8812"/>
          <a:stretch>
            <a:fillRect/>
          </a:stretch>
        </p:blipFill>
        <p:spPr bwMode="auto">
          <a:xfrm>
            <a:off x="111772" y="1873899"/>
            <a:ext cx="11968455" cy="4038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61BA00-8F21-42B1-B753-4444F4750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05603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A3BB-CCD8-3885-6A02-EE175FE1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3FF9676-A75A-6AB8-50C5-C4EED7B6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Explorative Datenanalyse:</a:t>
            </a:r>
            <a:br>
              <a:rPr lang="de-DE" dirty="0"/>
            </a:br>
            <a:r>
              <a:rPr lang="de-DE" sz="2400" dirty="0"/>
              <a:t>Boxplot-Analyse</a:t>
            </a:r>
            <a:endParaRPr lang="de-DE" dirty="0"/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B45411E6-140F-B59E-A64B-D3B346EC8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986"/>
          <a:stretch>
            <a:fillRect/>
          </a:stretch>
        </p:blipFill>
        <p:spPr bwMode="auto">
          <a:xfrm>
            <a:off x="161730" y="1589818"/>
            <a:ext cx="11868540" cy="367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8000FF-5C0D-F793-7E08-F6647F058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8</a:t>
            </a:fld>
            <a:endParaRPr lang="de-DE" alt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CE15F3-9C3E-D3E2-9110-0C55D36695D8}"/>
              </a:ext>
            </a:extLst>
          </p:cNvPr>
          <p:cNvSpPr txBox="1"/>
          <p:nvPr/>
        </p:nvSpPr>
        <p:spPr>
          <a:xfrm>
            <a:off x="467591" y="5434445"/>
            <a:ext cx="109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Prüfen: </a:t>
            </a:r>
            <a:r>
              <a:rPr lang="de-DE" dirty="0" err="1"/>
              <a:t>specture</a:t>
            </a:r>
            <a:r>
              <a:rPr lang="de-DE" dirty="0"/>
              <a:t> Rolloff … (Tim)</a:t>
            </a:r>
          </a:p>
        </p:txBody>
      </p:sp>
    </p:spTree>
    <p:extLst>
      <p:ext uri="{BB962C8B-B14F-4D97-AF65-F5344CB8AC3E}">
        <p14:creationId xmlns:p14="http://schemas.microsoft.com/office/powerpoint/2010/main" val="285393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01B9E-346B-3528-8989-0CC87ABB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C57D15E-CCA8-224B-43C2-BF840F74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/>
                <a:ea typeface="ヒラギノ角ゴ Pro W3"/>
              </a:rPr>
              <a:t>Hauptkomponentenanalyse:</a:t>
            </a:r>
            <a:br>
              <a:rPr lang="de-DE" dirty="0">
                <a:latin typeface="Arial"/>
                <a:ea typeface="ヒラギノ角ゴ Pro W3"/>
              </a:rPr>
            </a:br>
            <a:r>
              <a:rPr lang="de-DE" sz="2400" dirty="0">
                <a:latin typeface="Arial"/>
                <a:ea typeface="ヒラギノ角ゴ Pro W3"/>
              </a:rPr>
              <a:t>(PCA)</a:t>
            </a:r>
            <a:endParaRPr lang="de-DE" dirty="0"/>
          </a:p>
        </p:txBody>
      </p:sp>
      <p:pic>
        <p:nvPicPr>
          <p:cNvPr id="3" name="Inhaltsplatzhalter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A97D665-B2B0-6A98-0F8B-3D58A024C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6176"/>
          <a:stretch>
            <a:fillRect/>
          </a:stretch>
        </p:blipFill>
        <p:spPr>
          <a:xfrm>
            <a:off x="929754" y="4086807"/>
            <a:ext cx="9722412" cy="1545729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5C558F-068E-467F-FEA0-9A2B9590A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  <p:sp>
        <p:nvSpPr>
          <p:cNvPr id="6" name="Inhaltsplatzhalter 9">
            <a:extLst>
              <a:ext uri="{FF2B5EF4-FFF2-40B4-BE49-F238E27FC236}">
                <a16:creationId xmlns:a16="http://schemas.microsoft.com/office/drawing/2014/main" id="{7AFC9A66-8356-7CE3-2D1D-54900DD9AADA}"/>
              </a:ext>
            </a:extLst>
          </p:cNvPr>
          <p:cNvSpPr txBox="1">
            <a:spLocks/>
          </p:cNvSpPr>
          <p:nvPr/>
        </p:nvSpPr>
        <p:spPr bwMode="auto">
          <a:xfrm>
            <a:off x="914400" y="1981200"/>
            <a:ext cx="9737766" cy="210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Lucida Grande" charset="0"/>
              <a:buChar char="·"/>
              <a:defRPr sz="24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Lucida Grande" charset="0"/>
              <a:buChar char="·"/>
              <a:defRPr sz="20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Lucida Grande" charset="0"/>
              <a:buChar char="·"/>
              <a:defRPr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3pPr>
            <a:lvl4pPr marL="11445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14141"/>
              </a:buClr>
              <a:defRPr>
                <a:solidFill>
                  <a:srgbClr val="414141"/>
                </a:solidFill>
                <a:latin typeface="Courier New"/>
                <a:ea typeface="+mn-ea"/>
                <a:cs typeface="+mn-cs"/>
              </a:defRPr>
            </a:lvl4pPr>
            <a:lvl5pPr marL="1144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Lucida Grande" charset="0"/>
              <a:buChar char="·"/>
              <a:defRPr>
                <a:solidFill>
                  <a:srgbClr val="A8CC2F"/>
                </a:solidFill>
                <a:latin typeface="+mn-lt"/>
                <a:ea typeface="+mn-ea"/>
                <a:cs typeface="+mn-cs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1414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PCA fasst viele Merkmale in zwei Hauptachsen zusammen, die möglichst viel Varianz erklären. Dadurch können wir sehen, ob sich Zahnradzustände räumlich trennen.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20075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0095-53C7-3F5E-182B-1605E00E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757B5A5-6051-FFCC-0340-6B2A2309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/>
              <a:t>Ansicht einer Position beider Channel</a:t>
            </a:r>
            <a:endParaRPr lang="de-DE" dirty="0"/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D7C1B853-D0B1-D6E0-7F1E-5BADA4184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6742"/>
          <a:stretch>
            <a:fillRect/>
          </a:stretch>
        </p:blipFill>
        <p:spPr bwMode="auto">
          <a:xfrm>
            <a:off x="201201" y="1510004"/>
            <a:ext cx="11381199" cy="4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3E53DE-A460-5286-4612-B8186AA66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10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02688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24D3E-0F2F-AB0F-B173-23CAC682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/>
              <a:t>Unterschiedlich viele Messungen der Zahnräder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BA3F2AA0-8383-B2C0-5137-84EFD29BE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3031" b="33123"/>
          <a:stretch>
            <a:fillRect/>
          </a:stretch>
        </p:blipFill>
        <p:spPr bwMode="auto">
          <a:xfrm>
            <a:off x="117225" y="1472681"/>
            <a:ext cx="11465175" cy="500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D1414-35C8-6A57-2C40-93B372179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10625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3C4D-956F-CF44-1DA8-88DDD223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01F1A-FCB7-133D-6F5D-FABA9A2F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/>
              <a:t>Unterschiedlich viele Messungen der Zahnräder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70C101CF-2A7E-EB74-1C4A-B189FAC9E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6668" b="-15547"/>
          <a:stretch>
            <a:fillRect/>
          </a:stretch>
        </p:blipFill>
        <p:spPr bwMode="auto">
          <a:xfrm>
            <a:off x="117225" y="1502230"/>
            <a:ext cx="11465175" cy="7221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02F702-44A1-66E4-2B59-8E21067E4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533880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14C7-DE47-0944-DF0C-B611520E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077AA-8134-0C8E-A018-B8169899F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/>
              <a:t>Ausgewählte „</a:t>
            </a:r>
            <a:r>
              <a:rPr lang="de-DE" sz="2400" dirty="0" err="1"/>
              <a:t>mID</a:t>
            </a:r>
            <a:r>
              <a:rPr lang="de-DE" sz="2400" dirty="0"/>
              <a:t>“ für Z01 und Z04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9F460-EDFE-F390-52E2-C60A9F313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13</a:t>
            </a:fld>
            <a:endParaRPr lang="de-DE" alt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31110A-4272-FAC2-BA3D-2894E70F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018"/>
          <a:stretch>
            <a:fillRect/>
          </a:stretch>
        </p:blipFill>
        <p:spPr>
          <a:xfrm>
            <a:off x="796585" y="1609918"/>
            <a:ext cx="10598829" cy="471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72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AFDA-5709-6898-CE4E-940E6A34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F8090-BADC-27B4-F673-12947654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 err="1"/>
              <a:t>Duchschnitts</a:t>
            </a:r>
            <a:r>
              <a:rPr lang="de-DE" sz="2400" dirty="0"/>
              <a:t>-Methode mit beiden „</a:t>
            </a:r>
            <a:r>
              <a:rPr lang="de-DE" sz="2400" dirty="0" err="1"/>
              <a:t>rID</a:t>
            </a:r>
            <a:r>
              <a:rPr lang="de-DE" sz="2400" dirty="0"/>
              <a:t>“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3FBD9B-FA60-4D7A-9530-63A817FC9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14</a:t>
            </a:fld>
            <a:endParaRPr lang="de-DE" alt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77AD44-41FF-8C67-A8C2-47E0CA46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053" b="-35"/>
          <a:stretch>
            <a:fillRect/>
          </a:stretch>
        </p:blipFill>
        <p:spPr>
          <a:xfrm>
            <a:off x="796585" y="1609918"/>
            <a:ext cx="10598829" cy="471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41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22DC-F88E-99AF-A1B7-63C4E1E7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7FF2F-4ABD-DBF1-1A9F-CD59B441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/>
              <a:t>Kompletter Datensatz ohne Durchschnitt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2A0D2F-9C7B-D07B-E152-6D17F2779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15</a:t>
            </a:fld>
            <a:endParaRPr lang="de-DE" alt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898B92-B545-00D3-5767-0C02FD69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02" b="25116"/>
          <a:stretch>
            <a:fillRect/>
          </a:stretch>
        </p:blipFill>
        <p:spPr>
          <a:xfrm>
            <a:off x="796585" y="1609918"/>
            <a:ext cx="10598829" cy="471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27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4BBB6-51EB-B8DF-B124-F43AAB73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792880-C870-78F8-FD9F-3732660E4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 erkennen durch die extrahierten Merkmale, die durch die PCA auf zwei Achsen darstellbar gemacht worden sind, dass Z05 deutlich aus dem Muster der restlichen Zahnräder fällt.</a:t>
            </a:r>
          </a:p>
          <a:p>
            <a:r>
              <a:rPr lang="de-DE" dirty="0"/>
              <a:t>Wir haben demnach die Signale für eine Automatisierung vorbereitet…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75FB55-D6ED-C35B-B368-0D1BE8E0F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16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7693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2192-37A0-7AD0-AE14-22BFEAF4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CE2B4-9BA0-9AC0-F40D-53D5E9298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7137918" cy="1143000"/>
          </a:xfrm>
        </p:spPr>
        <p:txBody>
          <a:bodyPr/>
          <a:lstStyle/>
          <a:p>
            <a:r>
              <a:rPr lang="de-DE" dirty="0"/>
              <a:t>Visualisierung:</a:t>
            </a:r>
            <a:br>
              <a:rPr lang="de-DE" dirty="0"/>
            </a:br>
            <a:r>
              <a:rPr lang="de-DE" sz="2400" dirty="0" err="1"/>
              <a:t>Duchschnitts</a:t>
            </a:r>
            <a:r>
              <a:rPr lang="de-DE" sz="2400" dirty="0"/>
              <a:t>-Methode mit beiden „</a:t>
            </a:r>
            <a:r>
              <a:rPr lang="de-DE" sz="2400" dirty="0" err="1"/>
              <a:t>rID</a:t>
            </a:r>
            <a:r>
              <a:rPr lang="de-DE" sz="2400" dirty="0"/>
              <a:t>“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DE66EE-D1C7-077E-9546-55B1FA2DC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17</a:t>
            </a:fld>
            <a:endParaRPr lang="de-DE" alt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48D6D3-2E0E-7BD8-7237-FA9BCBF8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053" b="-35"/>
          <a:stretch>
            <a:fillRect/>
          </a:stretch>
        </p:blipFill>
        <p:spPr>
          <a:xfrm>
            <a:off x="796585" y="1609918"/>
            <a:ext cx="10598829" cy="4718695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ACDBC10B-6EAA-F6BE-EF46-CD4ADE54D3B0}"/>
              </a:ext>
            </a:extLst>
          </p:cNvPr>
          <p:cNvSpPr/>
          <p:nvPr/>
        </p:nvSpPr>
        <p:spPr bwMode="auto">
          <a:xfrm>
            <a:off x="2921877" y="1609918"/>
            <a:ext cx="3584026" cy="243214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9" charset="0"/>
              <a:ea typeface="ヒラギノ角ゴ Pro W3" pitchFamily="-109" charset="-128"/>
              <a:cs typeface="ヒラギノ角ゴ Pro W3" pitchFamily="-109" charset="-128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37839B8-4B21-EBB6-F137-5A809E7017FD}"/>
              </a:ext>
            </a:extLst>
          </p:cNvPr>
          <p:cNvSpPr/>
          <p:nvPr/>
        </p:nvSpPr>
        <p:spPr bwMode="auto">
          <a:xfrm>
            <a:off x="7690923" y="1608459"/>
            <a:ext cx="3584026" cy="243214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9" charset="0"/>
              <a:ea typeface="ヒラギノ角ゴ Pro W3" pitchFamily="-109" charset="-128"/>
              <a:cs typeface="ヒラギノ角ゴ Pro W3" pitchFamily="-109" charset="-128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9F7DD7D-654D-6481-809F-2B3BF2DCB2C0}"/>
              </a:ext>
            </a:extLst>
          </p:cNvPr>
          <p:cNvCxnSpPr>
            <a:cxnSpLocks/>
          </p:cNvCxnSpPr>
          <p:nvPr/>
        </p:nvCxnSpPr>
        <p:spPr bwMode="auto">
          <a:xfrm>
            <a:off x="1579418" y="2992582"/>
            <a:ext cx="4416137" cy="1849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1CA1D6C-3643-C6AE-3F44-33BAF53B12E8}"/>
              </a:ext>
            </a:extLst>
          </p:cNvPr>
          <p:cNvCxnSpPr>
            <a:cxnSpLocks/>
          </p:cNvCxnSpPr>
          <p:nvPr/>
        </p:nvCxnSpPr>
        <p:spPr bwMode="auto">
          <a:xfrm>
            <a:off x="6730450" y="3429000"/>
            <a:ext cx="4452557" cy="61160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466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5">
            <a:extLst>
              <a:ext uri="{FF2B5EF4-FFF2-40B4-BE49-F238E27FC236}">
                <a16:creationId xmlns:a16="http://schemas.microsoft.com/office/drawing/2014/main" id="{8E05B92F-5D29-4DF0-F112-74C93A8CC5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Ende (Benny noch fertig </a:t>
            </a:r>
            <a:r>
              <a:rPr lang="de-DE"/>
              <a:t>machen auch Folie 1)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4C6A74A-6374-BE37-E58E-71A93F65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332567-6737-1C8C-A05C-902704591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424531-ACBB-43B0-9536-C2FB0D769E6C}" type="slidenum">
              <a:rPr lang="de-DE" altLang="de-DE" smtClean="0"/>
              <a:pPr>
                <a:defRPr/>
              </a:pPr>
              <a:t>18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67022224"/>
      </p:ext>
    </p:extLst>
  </p:cSld>
  <p:clrMapOvr>
    <a:masterClrMapping/>
  </p:clrMapOvr>
</p:sld>
</file>

<file path=ppt/theme/theme1.xml><?xml version="1.0" encoding="utf-8"?>
<a:theme xmlns:a="http://schemas.openxmlformats.org/drawingml/2006/main" name="B-TU_Design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e Präsentation">
      <a:majorFont>
        <a:latin typeface="Arial"/>
        <a:ea typeface="ヒラギノ角ゴ Pro W3"/>
        <a:cs typeface="ヒラギノ角ゴ Pro W3"/>
      </a:majorFont>
      <a:minorFont>
        <a:latin typeface="Arial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9" charset="0"/>
            <a:ea typeface="ヒラギノ角ゴ Pro W3" pitchFamily="-109" charset="-128"/>
            <a:cs typeface="ヒラギノ角ゴ Pro W3" pitchFamily="-109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9" charset="0"/>
            <a:ea typeface="ヒラギノ角ゴ Pro W3" pitchFamily="-109" charset="-128"/>
            <a:cs typeface="ヒラギノ角ゴ Pro W3" pitchFamily="-109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-TU_Design" id="{F0532450-6947-47A6-81BF-02E1F018A2A7}" vid="{AA793E9C-2381-410C-B7B6-98D03D23E97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B-TU_Design</Template>
  <TotalTime>0</TotalTime>
  <Words>538</Words>
  <Application>Microsoft Office PowerPoint</Application>
  <PresentationFormat>Breitbild</PresentationFormat>
  <Paragraphs>75</Paragraphs>
  <Slides>18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7" baseType="lpstr">
      <vt:lpstr>Aptos</vt:lpstr>
      <vt:lpstr>Arial</vt:lpstr>
      <vt:lpstr>Courier New</vt:lpstr>
      <vt:lpstr>gg sans</vt:lpstr>
      <vt:lpstr>inherit</vt:lpstr>
      <vt:lpstr>Lucida Grande</vt:lpstr>
      <vt:lpstr>Menlo</vt:lpstr>
      <vt:lpstr>Times</vt:lpstr>
      <vt:lpstr>B-TU_Design</vt:lpstr>
      <vt:lpstr>Team 3: Seminaraufgabe 2</vt:lpstr>
      <vt:lpstr>Gliederung</vt:lpstr>
      <vt:lpstr>Ziel</vt:lpstr>
      <vt:lpstr>Mekmalanalyse: Feature Extraction</vt:lpstr>
      <vt:lpstr>Mekmalsanalyse: Feature Extraction: Code</vt:lpstr>
      <vt:lpstr>Hauptkomponentenanalyse: Standardisierung</vt:lpstr>
      <vt:lpstr>Explorative Datenanalyse: Boxplot-Analyse</vt:lpstr>
      <vt:lpstr>Explorative Datenanalyse: Boxplot-Analyse</vt:lpstr>
      <vt:lpstr>Hauptkomponentenanalyse: (PCA)</vt:lpstr>
      <vt:lpstr>Visualisierung: Ansicht einer Position beider Channel</vt:lpstr>
      <vt:lpstr>Visualisierung: Unterschiedlich viele Messungen der Zahnräder</vt:lpstr>
      <vt:lpstr>Visualisierung: Unterschiedlich viele Messungen der Zahnräder</vt:lpstr>
      <vt:lpstr>Visualisierung: Ausgewählte „mID“ für Z01 und Z04</vt:lpstr>
      <vt:lpstr>Visualisierung: Duchschnitts-Methode mit beiden „rID“</vt:lpstr>
      <vt:lpstr>Visualisierung: Kompletter Datensatz ohne Durchschnitt</vt:lpstr>
      <vt:lpstr>Ergebnisse:</vt:lpstr>
      <vt:lpstr>Visualisierung: Duchschnitts-Methode mit beiden „rID“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Giese</dc:creator>
  <cp:lastModifiedBy>Benjamin Gielczynski</cp:lastModifiedBy>
  <cp:revision>46</cp:revision>
  <dcterms:created xsi:type="dcterms:W3CDTF">2026-06-13T09:02:33Z</dcterms:created>
  <dcterms:modified xsi:type="dcterms:W3CDTF">2026-06-19T11:38:24Z</dcterms:modified>
</cp:coreProperties>
</file>