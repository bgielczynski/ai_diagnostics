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66" r:id="rId4"/>
    <p:sldId id="258" r:id="rId5"/>
    <p:sldId id="263" r:id="rId6"/>
    <p:sldId id="267" r:id="rId7"/>
    <p:sldId id="268" r:id="rId8"/>
    <p:sldId id="260" r:id="rId9"/>
    <p:sldId id="264" r:id="rId10"/>
    <p:sldId id="265" r:id="rId11"/>
  </p:sldIdLst>
  <p:sldSz cx="12192000" cy="6858000"/>
  <p:notesSz cx="9144000" cy="6858000"/>
  <p:defaultTextStyle>
    <a:defPPr>
      <a:defRPr lang="de-DE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296">
          <p15:clr>
            <a:srgbClr val="A4A3A4"/>
          </p15:clr>
        </p15:guide>
        <p15:guide id="2" pos="5952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331"/>
    <p:restoredTop sz="85822"/>
  </p:normalViewPr>
  <p:slideViewPr>
    <p:cSldViewPr snapToGrid="0">
      <p:cViewPr varScale="1">
        <p:scale>
          <a:sx n="108" d="100"/>
          <a:sy n="108" d="100"/>
        </p:scale>
        <p:origin x="1056" y="192"/>
      </p:cViewPr>
      <p:guideLst>
        <p:guide orient="horz" pos="1296"/>
        <p:guide pos="595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129" d="100"/>
          <a:sy n="129" d="100"/>
        </p:scale>
        <p:origin x="2296" y="20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D5829F-2F94-0B44-A96D-AE852A87AC61}" type="datetimeFigureOut">
              <a:rPr lang="de-DE" smtClean="0"/>
              <a:t>19.06.26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492B7F2-6741-7346-B13A-366117EE2BB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925509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910931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1. Spektrale Merkmale (Frequenzbereich)</a:t>
            </a:r>
          </a:p>
          <a:p>
            <a:pPr lvl="1"/>
            <a:r>
              <a:rPr lang="de-DE" dirty="0"/>
              <a:t>MFCCs (13 Koeffizienten): Bilden die Spektraleinhüllende auf der Mel-Skala ab </a:t>
            </a:r>
          </a:p>
          <a:p>
            <a:pPr lvl="1"/>
            <a:r>
              <a:rPr lang="de-DE" dirty="0" err="1"/>
              <a:t>Spectral</a:t>
            </a:r>
            <a:r>
              <a:rPr lang="de-DE" dirty="0"/>
              <a:t> </a:t>
            </a:r>
            <a:r>
              <a:rPr lang="de-DE" dirty="0" err="1"/>
              <a:t>Centroid</a:t>
            </a:r>
            <a:r>
              <a:rPr lang="de-DE" dirty="0"/>
              <a:t> (Schwerpunkt): Gibt an, bei welcher Frequenz der "Masseschwerpunkt" des Spektrums liegt. Maß für die "Helligkeit" des Klangs.</a:t>
            </a:r>
          </a:p>
          <a:p>
            <a:pPr lvl="1"/>
            <a:r>
              <a:rPr lang="de-DE" dirty="0" err="1"/>
              <a:t>Spectral</a:t>
            </a:r>
            <a:r>
              <a:rPr lang="de-DE" dirty="0"/>
              <a:t> </a:t>
            </a:r>
            <a:r>
              <a:rPr lang="de-DE" dirty="0" err="1"/>
              <a:t>Bandwidth</a:t>
            </a:r>
            <a:r>
              <a:rPr lang="de-DE" dirty="0"/>
              <a:t> (Bandbreite): Beschreibt die Spreizung des Spektrums um den Schwerpunkt</a:t>
            </a:r>
          </a:p>
          <a:p>
            <a:pPr lvl="1"/>
            <a:r>
              <a:rPr lang="de-DE" dirty="0" err="1"/>
              <a:t>Spectral</a:t>
            </a:r>
            <a:r>
              <a:rPr lang="de-DE" dirty="0"/>
              <a:t> Roll-off: Die Frequenz, unter der ein bestimmter Prozentsatz (meist 85%) der Spektralenergie liegt</a:t>
            </a:r>
          </a:p>
          <a:p>
            <a:pPr lvl="1"/>
            <a:r>
              <a:rPr lang="de-DE" dirty="0" err="1"/>
              <a:t>Spectral</a:t>
            </a:r>
            <a:r>
              <a:rPr lang="de-DE" dirty="0"/>
              <a:t> </a:t>
            </a:r>
            <a:r>
              <a:rPr lang="de-DE" dirty="0" err="1"/>
              <a:t>Contrast</a:t>
            </a:r>
            <a:r>
              <a:rPr lang="de-DE" dirty="0"/>
              <a:t>: Misst den Unterschied zwischen Spitzen und Tälern im Spektrum.</a:t>
            </a:r>
          </a:p>
          <a:p>
            <a:pPr lvl="1"/>
            <a:r>
              <a:rPr lang="de-DE" dirty="0"/>
              <a:t>Chroma Features (STFT/CENS): Projizieren das gesamte Spektrum auf 12 Halbtonklassen</a:t>
            </a:r>
          </a:p>
          <a:p>
            <a:r>
              <a:rPr lang="de-DE" dirty="0"/>
              <a:t>2. Zeitbereichs-Merkmale</a:t>
            </a:r>
          </a:p>
          <a:p>
            <a:pPr lvl="1"/>
            <a:r>
              <a:rPr lang="de-DE" dirty="0"/>
              <a:t>Zero Crossing Rate (ZCR): Die Rate, mit der das Signal die Nulllinie kreuzt. Ein Maß für die Frequenz und Impulsivität (Rauschen)</a:t>
            </a:r>
          </a:p>
          <a:p>
            <a:pPr lvl="1"/>
            <a:r>
              <a:rPr lang="de-DE" dirty="0"/>
              <a:t>Frame Energy (RMS): Der quadratische Mittelwert der Amplitude.</a:t>
            </a:r>
          </a:p>
          <a:p>
            <a:r>
              <a:rPr lang="de-DE" dirty="0"/>
              <a:t>3. Dynamische Merkmale</a:t>
            </a:r>
          </a:p>
          <a:p>
            <a:pPr lvl="1"/>
            <a:r>
              <a:rPr lang="de-DE" dirty="0"/>
              <a:t>Delta-Features: Die erste zeitliche Ableitung der MFCCs.</a:t>
            </a:r>
          </a:p>
          <a:p>
            <a:pPr lvl="1"/>
            <a:endParaRPr lang="de-DE" dirty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40310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49F389-D4E0-D2D0-D0E3-FEDCB60126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1C17418-FDE2-F315-1FCC-C0AE13826E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72DD5A0F-089C-81AB-670E-7E39A76EBC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A57F3D0-5F1F-FB96-9DEC-006699FAA6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784512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763EF-EA1A-0B8A-1379-0A6160E522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ED6D235D-AA7B-F048-6715-4D5C7A0581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2AAE592-F1C0-8F4D-517A-D2570ED297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438551F-788D-EDA4-E8B5-EFFC99D968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706324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2" name="Rectangle 6">
            <a:extLst>
              <a:ext uri="{FF2B5EF4-FFF2-40B4-BE49-F238E27FC236}">
                <a16:creationId xmlns:a16="http://schemas.microsoft.com/office/drawing/2014/main" id="{525EC9E2-31FF-3EA5-3975-E86E167F9610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AE6AF26-C926-4A56-9975-C85146180884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4027124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E075048B-B3AF-D45D-EEB0-384F8E09762E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0424531-ACBB-43B0-9536-C2FB0D769E6C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17760481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/>
          <a:lstStyle>
            <a:lvl1pPr algn="l">
              <a:defRPr sz="4000" b="1" cap="all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1E2EDF3A-9325-1B45-8BEF-BAD58BAD3312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045649C-264A-4E4C-9902-AA3F818819D1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6280240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914400" y="1981200"/>
            <a:ext cx="5232400" cy="41148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350000" y="1981200"/>
            <a:ext cx="5232400" cy="41148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596493AE-D593-6ADB-6030-F4D20E7DFEAC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6E3D0BF-4D1A-45ED-AD8F-0FD3B3BB66E2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24092521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03A15AB-4207-F294-7D08-E72DE9340EA7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DC79237-C483-4955-AFED-2A4A37FECB46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28008564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Rectangle 6">
            <a:extLst>
              <a:ext uri="{FF2B5EF4-FFF2-40B4-BE49-F238E27FC236}">
                <a16:creationId xmlns:a16="http://schemas.microsoft.com/office/drawing/2014/main" id="{B17DEB6D-9627-4A47-CFB5-10285D34D69C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29E4B4A-732C-499D-9D78-1714C721CB73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25584640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6">
            <a:extLst>
              <a:ext uri="{FF2B5EF4-FFF2-40B4-BE49-F238E27FC236}">
                <a16:creationId xmlns:a16="http://schemas.microsoft.com/office/drawing/2014/main" id="{C880F39A-DC2C-A2A6-0B94-C1E1A2C729C2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1BEC67A-447A-45B8-88A0-2BB092BD2204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37953650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70767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609600" y="1542503"/>
            <a:ext cx="5486401" cy="459082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609599" y="981599"/>
            <a:ext cx="4011084" cy="55374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2"/>
          <p:cNvSpPr>
            <a:spLocks noGrp="1"/>
          </p:cNvSpPr>
          <p:nvPr>
            <p:ph idx="11"/>
          </p:nvPr>
        </p:nvSpPr>
        <p:spPr>
          <a:xfrm>
            <a:off x="6096000" y="1542502"/>
            <a:ext cx="5760639" cy="515259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338968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B0BF1845-B872-C207-2FA9-F0CE0DE85508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86D8BDE-5646-46B8-8690-93431C932126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32943539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60DFE463-EA6F-7A0D-E324-9309CA19F764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3308B93-56F5-4BC0-B85D-44A31F485381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20316964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8915400" y="609600"/>
            <a:ext cx="2667000" cy="5486400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914400" y="609600"/>
            <a:ext cx="7797800" cy="548640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FE4CA076-6F98-AFCE-C8A3-5B1E49D5A546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44C87F1-4186-4704-A4D5-1175D6C93009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41757377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BA723C0C-88A1-F25A-D4A2-7567856B712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914400" y="609600"/>
            <a:ext cx="66040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de-DE" dirty="0"/>
              <a:t>Mastertitelformat bearbeiten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0255CE51-F867-6AB4-B806-D37629DC603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914400" y="1981200"/>
            <a:ext cx="10668000" cy="411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de-DE"/>
              <a:t>Mastertextformat bearbeiten</a:t>
            </a:r>
          </a:p>
          <a:p>
            <a:pPr lvl="1"/>
            <a:r>
              <a:rPr lang="de-DE" altLang="de-DE"/>
              <a:t>Zweite Ebene</a:t>
            </a:r>
          </a:p>
          <a:p>
            <a:pPr lvl="2"/>
            <a:r>
              <a:rPr lang="de-DE" altLang="de-DE"/>
              <a:t>Dritte Ebene</a:t>
            </a:r>
          </a:p>
          <a:p>
            <a:pPr lvl="3"/>
            <a:r>
              <a:rPr lang="de-DE" altLang="de-DE"/>
              <a:t>Vierte Ebene</a:t>
            </a:r>
          </a:p>
          <a:p>
            <a:pPr lvl="4"/>
            <a:r>
              <a:rPr lang="de-DE" altLang="de-DE"/>
              <a:t>Fünfte Ebene</a:t>
            </a:r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82E82AB3-F935-9061-40AA-BD4675D5663D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042400" y="6248400"/>
            <a:ext cx="2540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buFont typeface="Times" panose="02020603050405020304" pitchFamily="18" charset="0"/>
              <a:buNone/>
              <a:defRPr sz="1000">
                <a:solidFill>
                  <a:srgbClr val="A8CC2F"/>
                </a:solidFill>
              </a:defRPr>
            </a:lvl1pPr>
          </a:lstStyle>
          <a:p>
            <a:pPr>
              <a:defRPr/>
            </a:pPr>
            <a:fld id="{AF7B6FBB-3871-4A64-9491-1B11EE455FFC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  <p:pic>
        <p:nvPicPr>
          <p:cNvPr id="1029" name="Picture 8" descr="btu_logo_rz_horiz_rgbjpg">
            <a:extLst>
              <a:ext uri="{FF2B5EF4-FFF2-40B4-BE49-F238E27FC236}">
                <a16:creationId xmlns:a16="http://schemas.microsoft.com/office/drawing/2014/main" id="{24F5A3AF-D943-BD2A-8943-FC6AD197AD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62950" y="404813"/>
            <a:ext cx="3219450" cy="1104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Rectangle 6">
            <a:extLst>
              <a:ext uri="{FF2B5EF4-FFF2-40B4-BE49-F238E27FC236}">
                <a16:creationId xmlns:a16="http://schemas.microsoft.com/office/drawing/2014/main" id="{A329ECA6-616C-D49B-7DA8-B83F69442116}"/>
              </a:ext>
            </a:extLst>
          </p:cNvPr>
          <p:cNvSpPr>
            <a:spLocks noGrp="1" noChangeArrowheads="1"/>
          </p:cNvSpPr>
          <p:nvPr/>
        </p:nvSpPr>
        <p:spPr bwMode="auto">
          <a:xfrm>
            <a:off x="609600" y="6450496"/>
            <a:ext cx="6908800" cy="2551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ヒラギノ角ゴ Pro W3" charset="-128"/>
              </a:defRPr>
            </a:lvl1pPr>
            <a:lvl2pPr marL="37931725" indent="-37474525">
              <a:defRPr sz="2400">
                <a:solidFill>
                  <a:schemeClr val="tx1"/>
                </a:solidFill>
                <a:latin typeface="Arial" panose="020B0604020202020204" pitchFamily="34" charset="0"/>
                <a:ea typeface="ヒラギノ角ゴ Pro W3" charset="-128"/>
              </a:defRPr>
            </a:lvl2pPr>
            <a:lvl3pPr>
              <a:defRPr sz="2400">
                <a:solidFill>
                  <a:schemeClr val="tx1"/>
                </a:solidFill>
                <a:latin typeface="Arial" panose="020B0604020202020204" pitchFamily="34" charset="0"/>
                <a:ea typeface="ヒラギノ角ゴ Pro W3" charset="-128"/>
              </a:defRPr>
            </a:lvl3pPr>
            <a:lvl4pPr>
              <a:defRPr sz="2400">
                <a:solidFill>
                  <a:schemeClr val="tx1"/>
                </a:solidFill>
                <a:latin typeface="Arial" panose="020B0604020202020204" pitchFamily="34" charset="0"/>
                <a:ea typeface="ヒラギノ角ゴ Pro W3" charset="-128"/>
              </a:defRPr>
            </a:lvl4pPr>
            <a:lvl5pPr>
              <a:defRPr sz="2400">
                <a:solidFill>
                  <a:schemeClr val="tx1"/>
                </a:solidFill>
                <a:latin typeface="Arial" panose="020B0604020202020204" pitchFamily="34" charset="0"/>
                <a:ea typeface="ヒラギノ角ゴ Pro W3" charset="-128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ヒラギノ角ゴ Pro W3" charset="-128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ヒラギノ角ゴ Pro W3" charset="-128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ヒラギノ角ゴ Pro W3" charset="-128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ヒラギノ角ゴ Pro W3" charset="-128"/>
              </a:defRPr>
            </a:lvl9pPr>
          </a:lstStyle>
          <a:p>
            <a:pPr>
              <a:defRPr/>
            </a:pPr>
            <a:r>
              <a:rPr lang="de-DE" altLang="de-DE" sz="1000" dirty="0">
                <a:solidFill>
                  <a:srgbClr val="A8CC2F"/>
                </a:solidFill>
              </a:rPr>
              <a:t>Materialdiagnostik: Task 2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31" r:id="rId8"/>
    <p:sldLayoutId id="2147483728" r:id="rId9"/>
    <p:sldLayoutId id="2147483729" r:id="rId10"/>
    <p:sldLayoutId id="2147483730" r:id="rId11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200" b="1">
          <a:solidFill>
            <a:srgbClr val="A8CC2F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Lucida Grande" charset="0"/>
        <a:buChar char="·"/>
        <a:defRPr sz="2400">
          <a:solidFill>
            <a:srgbClr val="41414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Lucida Grande" charset="0"/>
        <a:buChar char="·"/>
        <a:defRPr sz="2000">
          <a:solidFill>
            <a:srgbClr val="41414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Lucida Grande" charset="0"/>
        <a:buChar char="·"/>
        <a:defRPr>
          <a:solidFill>
            <a:srgbClr val="414141"/>
          </a:solidFill>
          <a:latin typeface="+mn-lt"/>
          <a:ea typeface="+mn-ea"/>
          <a:cs typeface="+mn-cs"/>
        </a:defRPr>
      </a:lvl3pPr>
      <a:lvl4pPr marL="1144588" algn="l" rtl="0" eaLnBrk="1" fontAlgn="base" hangingPunct="1">
        <a:spcBef>
          <a:spcPct val="20000"/>
        </a:spcBef>
        <a:spcAft>
          <a:spcPct val="0"/>
        </a:spcAft>
        <a:buClr>
          <a:srgbClr val="414141"/>
        </a:buClr>
        <a:defRPr>
          <a:solidFill>
            <a:srgbClr val="414141"/>
          </a:solidFill>
          <a:latin typeface="Courier New"/>
          <a:ea typeface="+mn-ea"/>
          <a:cs typeface="+mn-cs"/>
        </a:defRPr>
      </a:lvl4pPr>
      <a:lvl5pPr marL="1144588" indent="-228600" algn="l" rtl="0" eaLnBrk="1" fontAlgn="base" hangingPunct="1">
        <a:spcBef>
          <a:spcPct val="20000"/>
        </a:spcBef>
        <a:spcAft>
          <a:spcPct val="0"/>
        </a:spcAft>
        <a:buFont typeface="Lucida Grande" charset="0"/>
        <a:buChar char="·"/>
        <a:defRPr>
          <a:solidFill>
            <a:srgbClr val="A8CC2F"/>
          </a:solidFill>
          <a:latin typeface="+mn-lt"/>
          <a:ea typeface="+mn-ea"/>
          <a:cs typeface="+mn-cs"/>
        </a:defRPr>
      </a:lvl5pPr>
      <a:lvl6pPr marL="2438400" indent="-228600" algn="l" rtl="0" eaLnBrk="1" fontAlgn="base" hangingPunct="1">
        <a:spcBef>
          <a:spcPct val="20000"/>
        </a:spcBef>
        <a:spcAft>
          <a:spcPct val="0"/>
        </a:spcAft>
        <a:defRPr sz="1600">
          <a:solidFill>
            <a:srgbClr val="414141"/>
          </a:solidFill>
          <a:latin typeface="+mn-lt"/>
          <a:ea typeface="+mn-ea"/>
          <a:cs typeface="+mn-cs"/>
        </a:defRPr>
      </a:lvl6pPr>
      <a:lvl7pPr marL="2895600" indent="-228600" algn="l" rtl="0" eaLnBrk="1" fontAlgn="base" hangingPunct="1">
        <a:spcBef>
          <a:spcPct val="20000"/>
        </a:spcBef>
        <a:spcAft>
          <a:spcPct val="0"/>
        </a:spcAft>
        <a:defRPr sz="1600">
          <a:solidFill>
            <a:srgbClr val="414141"/>
          </a:solidFill>
          <a:latin typeface="+mn-lt"/>
          <a:ea typeface="+mn-ea"/>
          <a:cs typeface="+mn-cs"/>
        </a:defRPr>
      </a:lvl7pPr>
      <a:lvl8pPr marL="3352800" indent="-228600" algn="l" rtl="0" eaLnBrk="1" fontAlgn="base" hangingPunct="1">
        <a:spcBef>
          <a:spcPct val="20000"/>
        </a:spcBef>
        <a:spcAft>
          <a:spcPct val="0"/>
        </a:spcAft>
        <a:defRPr sz="1600">
          <a:solidFill>
            <a:srgbClr val="414141"/>
          </a:solidFill>
          <a:latin typeface="+mn-lt"/>
          <a:ea typeface="+mn-ea"/>
          <a:cs typeface="+mn-cs"/>
        </a:defRPr>
      </a:lvl8pPr>
      <a:lvl9pPr marL="3810000" indent="-228600" algn="l" rtl="0" eaLnBrk="1" fontAlgn="base" hangingPunct="1">
        <a:spcBef>
          <a:spcPct val="20000"/>
        </a:spcBef>
        <a:spcAft>
          <a:spcPct val="0"/>
        </a:spcAft>
        <a:defRPr sz="1600">
          <a:solidFill>
            <a:srgbClr val="41414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Untertitel 1">
            <a:extLst>
              <a:ext uri="{FF2B5EF4-FFF2-40B4-BE49-F238E27FC236}">
                <a16:creationId xmlns:a16="http://schemas.microsoft.com/office/drawing/2014/main" id="{B127D0AE-943F-5B24-AF1D-9467215FE8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494690"/>
            <a:ext cx="8534400" cy="1752600"/>
          </a:xfrm>
        </p:spPr>
        <p:txBody>
          <a:bodyPr/>
          <a:lstStyle/>
          <a:p>
            <a:r>
              <a:rPr lang="de-DE" sz="2000" b="1" dirty="0">
                <a:solidFill>
                  <a:schemeClr val="bg1">
                    <a:lumMod val="50000"/>
                  </a:schemeClr>
                </a:solidFill>
                <a:effectLst/>
                <a:latin typeface="Menlo" panose="020B0609030804020204" pitchFamily="49" charset="0"/>
              </a:rPr>
              <a:t>Benjamin </a:t>
            </a:r>
            <a:r>
              <a:rPr lang="de-DE" sz="2000" b="1" dirty="0" err="1">
                <a:solidFill>
                  <a:schemeClr val="bg1">
                    <a:lumMod val="50000"/>
                  </a:schemeClr>
                </a:solidFill>
                <a:effectLst/>
                <a:latin typeface="Menlo" panose="020B0609030804020204" pitchFamily="49" charset="0"/>
              </a:rPr>
              <a:t>Gielczynski</a:t>
            </a:r>
            <a:r>
              <a:rPr lang="de-DE" sz="2000" b="1" dirty="0">
                <a:solidFill>
                  <a:schemeClr val="bg1">
                    <a:lumMod val="50000"/>
                  </a:schemeClr>
                </a:solidFill>
                <a:effectLst/>
                <a:latin typeface="Menlo" panose="020B0609030804020204" pitchFamily="49" charset="0"/>
              </a:rPr>
              <a:t>, David von Rüden, Tim Giese, Victor Domke, Simon Brockhoff</a:t>
            </a:r>
            <a:endParaRPr lang="de-DE" sz="2000" b="0" dirty="0">
              <a:solidFill>
                <a:schemeClr val="bg1">
                  <a:lumMod val="50000"/>
                </a:schemeClr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CB476EBB-4D93-C7B4-2E1A-4A62620201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7231" y="2350377"/>
            <a:ext cx="9817538" cy="1144313"/>
          </a:xfrm>
        </p:spPr>
        <p:txBody>
          <a:bodyPr/>
          <a:lstStyle/>
          <a:p>
            <a:pPr algn="ctr"/>
            <a:r>
              <a:rPr lang="de-DE" sz="4800" dirty="0"/>
              <a:t>Team 3: Seminaraufgabe 2</a:t>
            </a:r>
          </a:p>
        </p:txBody>
      </p:sp>
    </p:spTree>
    <p:extLst>
      <p:ext uri="{BB962C8B-B14F-4D97-AF65-F5344CB8AC3E}">
        <p14:creationId xmlns:p14="http://schemas.microsoft.com/office/powerpoint/2010/main" val="18750752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28E74-1723-4026-C41F-72C0E5F4B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6BDFD0D-1F3F-671D-BE21-271B3E00F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z="3200" dirty="0"/>
              <a:t>Gliederung</a:t>
            </a:r>
            <a:endParaRPr lang="de-DE" dirty="0"/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4DAFAAD0-F245-6E9A-4495-53E9DCD866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1545265"/>
            <a:ext cx="10668000" cy="4114800"/>
          </a:xfrm>
        </p:spPr>
        <p:txBody>
          <a:bodyPr/>
          <a:lstStyle/>
          <a:p>
            <a:r>
              <a:rPr lang="de-DE" sz="2000" dirty="0"/>
              <a:t>Ziel</a:t>
            </a:r>
          </a:p>
          <a:p>
            <a:r>
              <a:rPr lang="de-DE" sz="2000" dirty="0"/>
              <a:t>Merkmalsanalyse </a:t>
            </a:r>
          </a:p>
          <a:p>
            <a:pPr lvl="1"/>
            <a:r>
              <a:rPr lang="de-DE" sz="1800" dirty="0"/>
              <a:t>Feature </a:t>
            </a:r>
            <a:r>
              <a:rPr lang="de-DE" sz="1800" dirty="0" err="1"/>
              <a:t>Extraction</a:t>
            </a:r>
            <a:endParaRPr lang="de-DE" sz="1800" dirty="0"/>
          </a:p>
          <a:p>
            <a:pPr lvl="1"/>
            <a:r>
              <a:rPr lang="de-DE" sz="1800" dirty="0" err="1"/>
              <a:t>Standartisierung</a:t>
            </a:r>
            <a:endParaRPr lang="de-DE" sz="1800" dirty="0"/>
          </a:p>
          <a:p>
            <a:r>
              <a:rPr lang="de-DE" sz="2000" dirty="0"/>
              <a:t>Hauptkomponentenanalyse </a:t>
            </a:r>
          </a:p>
          <a:p>
            <a:pPr lvl="1"/>
            <a:r>
              <a:rPr lang="de-DE" sz="1600" dirty="0"/>
              <a:t>PCA</a:t>
            </a:r>
            <a:endParaRPr lang="de-DE" sz="1800" dirty="0"/>
          </a:p>
          <a:p>
            <a:r>
              <a:rPr lang="de-DE" sz="2000" dirty="0"/>
              <a:t>(Visualisierung)</a:t>
            </a:r>
          </a:p>
          <a:p>
            <a:pPr lvl="1"/>
            <a:r>
              <a:rPr lang="de-DE" sz="1800" dirty="0"/>
              <a:t>Verfahren</a:t>
            </a:r>
          </a:p>
          <a:p>
            <a:r>
              <a:rPr lang="de-DE" sz="2000" dirty="0"/>
              <a:t>Ergebnisse</a:t>
            </a:r>
          </a:p>
        </p:txBody>
      </p:sp>
    </p:spTree>
    <p:extLst>
      <p:ext uri="{BB962C8B-B14F-4D97-AF65-F5344CB8AC3E}">
        <p14:creationId xmlns:p14="http://schemas.microsoft.com/office/powerpoint/2010/main" val="16061803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DBBAAD-698E-2BBD-EFF1-ADB56162D5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Ziel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68DE30-D93E-3C7A-A549-46E39921BF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Beschädigtes Zahnrad automatisiert anhand von verschiedenen Merkmalen klassifizieren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2F1A48E-1B1B-0EF1-7B0E-C43B965408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3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23043056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FF548E49-692C-4BBE-8063-A0FA8DCFE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de-DE" sz="3200" b="1" i="0" u="none" strike="noStrike" kern="0" cap="none" spc="0" normalizeH="0" baseline="0" noProof="0" dirty="0" err="1">
                <a:ln>
                  <a:noFill/>
                </a:ln>
                <a:solidFill>
                  <a:srgbClr val="A8CC2F"/>
                </a:solidFill>
                <a:effectLst/>
                <a:uLnTx/>
                <a:uFillTx/>
                <a:latin typeface="Arial"/>
                <a:ea typeface="ヒラギノ角ゴ Pro W3"/>
              </a:rPr>
              <a:t>Mekmalsanalyse</a:t>
            </a:r>
            <a:r>
              <a:rPr kumimoji="0" lang="de-DE" sz="3200" b="1" i="0" u="none" strike="noStrike" kern="0" cap="none" spc="0" normalizeH="0" baseline="0" noProof="0" dirty="0">
                <a:ln>
                  <a:noFill/>
                </a:ln>
                <a:solidFill>
                  <a:srgbClr val="A8CC2F"/>
                </a:solidFill>
                <a:effectLst/>
                <a:uLnTx/>
                <a:uFillTx/>
                <a:latin typeface="Arial"/>
                <a:ea typeface="ヒラギノ角ゴ Pro W3"/>
              </a:rPr>
              <a:t>:</a:t>
            </a:r>
            <a:br>
              <a:rPr kumimoji="0" lang="de-DE" sz="3200" b="1" i="0" u="none" strike="noStrike" kern="0" cap="none" spc="0" normalizeH="0" baseline="0" noProof="0" dirty="0">
                <a:ln>
                  <a:noFill/>
                </a:ln>
                <a:solidFill>
                  <a:srgbClr val="A8CC2F"/>
                </a:solidFill>
                <a:effectLst/>
                <a:uLnTx/>
                <a:uFillTx/>
                <a:latin typeface="Arial"/>
                <a:ea typeface="ヒラギノ角ゴ Pro W3"/>
              </a:rPr>
            </a:br>
            <a:r>
              <a:rPr kumimoji="0" lang="de-DE" sz="2400" b="1" i="0" u="none" strike="noStrike" kern="0" cap="none" spc="0" normalizeH="0" baseline="0" noProof="0" dirty="0">
                <a:ln>
                  <a:noFill/>
                </a:ln>
                <a:solidFill>
                  <a:srgbClr val="A8CC2F"/>
                </a:solidFill>
                <a:effectLst/>
                <a:uLnTx/>
                <a:uFillTx/>
                <a:latin typeface="Arial"/>
                <a:ea typeface="ヒラギノ角ゴ Pro W3"/>
              </a:rPr>
              <a:t>Feature </a:t>
            </a:r>
            <a:r>
              <a:rPr kumimoji="0" lang="de-DE" sz="2400" b="1" i="0" u="none" strike="noStrike" kern="0" cap="none" spc="0" normalizeH="0" baseline="0" noProof="0" dirty="0" err="1">
                <a:ln>
                  <a:noFill/>
                </a:ln>
                <a:solidFill>
                  <a:srgbClr val="A8CC2F"/>
                </a:solidFill>
                <a:effectLst/>
                <a:uLnTx/>
                <a:uFillTx/>
                <a:latin typeface="Arial"/>
                <a:ea typeface="ヒラギノ角ゴ Pro W3"/>
              </a:rPr>
              <a:t>Extraction</a:t>
            </a:r>
            <a:endParaRPr lang="de-DE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7B8D0937-7521-B2D4-9DC6-F495F659D7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 fontAlgn="base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de-DE" b="0" i="0" dirty="0">
                <a:effectLst/>
                <a:latin typeface="gg sans"/>
              </a:rPr>
              <a:t>nicht jedes Feature einzeln detailliert herleiten </a:t>
            </a:r>
            <a:r>
              <a:rPr lang="de-DE" b="0" i="0" dirty="0">
                <a:effectLst/>
                <a:latin typeface="inherit"/>
              </a:rPr>
              <a:t>→</a:t>
            </a:r>
            <a:r>
              <a:rPr lang="de-DE" b="0" i="0" dirty="0">
                <a:effectLst/>
                <a:latin typeface="gg sans"/>
              </a:rPr>
              <a:t> gruppieren: </a:t>
            </a:r>
          </a:p>
          <a:p>
            <a:pPr lvl="1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de-DE" b="0" i="0" dirty="0">
                <a:effectLst/>
                <a:latin typeface="inherit"/>
              </a:rPr>
              <a:t>Zeitbereich: RMS Energy, Zero Crossing Rate → Wie stark ist das Signal, wie viele schnelle Wechsel gibt es?</a:t>
            </a:r>
          </a:p>
          <a:p>
            <a:pPr lvl="1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de-DE" b="0" i="0" dirty="0">
                <a:effectLst/>
                <a:latin typeface="inherit"/>
              </a:rPr>
              <a:t>Frequenzbereich: </a:t>
            </a:r>
            <a:r>
              <a:rPr lang="de-DE" b="0" i="0" dirty="0" err="1">
                <a:effectLst/>
                <a:latin typeface="inherit"/>
              </a:rPr>
              <a:t>Spectral</a:t>
            </a:r>
            <a:r>
              <a:rPr lang="de-DE" b="0" i="0" dirty="0">
                <a:effectLst/>
                <a:latin typeface="inherit"/>
              </a:rPr>
              <a:t> </a:t>
            </a:r>
            <a:r>
              <a:rPr lang="de-DE" b="0" i="0" dirty="0" err="1">
                <a:effectLst/>
                <a:latin typeface="inherit"/>
              </a:rPr>
              <a:t>Centroid</a:t>
            </a:r>
            <a:r>
              <a:rPr lang="de-DE" b="0" i="0" dirty="0">
                <a:effectLst/>
                <a:latin typeface="inherit"/>
              </a:rPr>
              <a:t>, </a:t>
            </a:r>
            <a:r>
              <a:rPr lang="de-DE" b="0" i="0" dirty="0" err="1">
                <a:effectLst/>
                <a:latin typeface="inherit"/>
              </a:rPr>
              <a:t>Bandwidth</a:t>
            </a:r>
            <a:r>
              <a:rPr lang="de-DE" b="0" i="0" dirty="0">
                <a:effectLst/>
                <a:latin typeface="inherit"/>
              </a:rPr>
              <a:t>, </a:t>
            </a:r>
            <a:r>
              <a:rPr lang="de-DE" b="0" i="0" dirty="0" err="1">
                <a:effectLst/>
                <a:latin typeface="inherit"/>
              </a:rPr>
              <a:t>Rolloff</a:t>
            </a:r>
            <a:r>
              <a:rPr lang="de-DE" b="0" i="0" dirty="0">
                <a:effectLst/>
                <a:latin typeface="inherit"/>
              </a:rPr>
              <a:t>, </a:t>
            </a:r>
            <a:r>
              <a:rPr lang="de-DE" b="0" i="0" dirty="0" err="1">
                <a:effectLst/>
                <a:latin typeface="inherit"/>
              </a:rPr>
              <a:t>Contrast</a:t>
            </a:r>
            <a:r>
              <a:rPr lang="de-DE" b="0" i="0" dirty="0">
                <a:effectLst/>
                <a:latin typeface="inherit"/>
              </a:rPr>
              <a:t> → Wo liegt Energie im Frequenzspektrum, wie breit/auffällig ist sie verteilt?</a:t>
            </a:r>
          </a:p>
          <a:p>
            <a:pPr lvl="1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de-DE" b="0" i="0" dirty="0">
                <a:effectLst/>
                <a:latin typeface="inherit"/>
              </a:rPr>
              <a:t>MFCCs / Delta-MFCCs: → Kompakte Beschreibung der spektralen Form und ihrer Veränderung.</a:t>
            </a:r>
          </a:p>
          <a:p>
            <a:pPr lvl="1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de-DE" b="0" i="0" dirty="0">
                <a:effectLst/>
                <a:latin typeface="inherit"/>
              </a:rPr>
              <a:t>Chroma: → Erfasst wiederkehrende spektrale Muster; bei technischen Signalen weniger intuitiv, aber als Mustermerkmal nutzbar.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D07ED7A-1406-D77F-FB1A-4675A86C9D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4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28458435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0FC91D-551D-3A12-3B4F-FD19284DC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90B690C3-0EC0-B10F-E8C5-83DB6885A9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Mekmalsanalyse</a:t>
            </a:r>
            <a:r>
              <a:rPr lang="de-DE" dirty="0"/>
              <a:t>:</a:t>
            </a:r>
            <a:br>
              <a:rPr lang="de-DE" dirty="0"/>
            </a:br>
            <a:r>
              <a:rPr kumimoji="0" lang="de-DE" sz="2400" b="1" i="0" u="none" strike="noStrike" kern="0" cap="none" spc="0" normalizeH="0" baseline="0" noProof="0" dirty="0">
                <a:ln>
                  <a:noFill/>
                </a:ln>
                <a:solidFill>
                  <a:srgbClr val="A8CC2F"/>
                </a:solidFill>
                <a:effectLst/>
                <a:uLnTx/>
                <a:uFillTx/>
                <a:latin typeface="Arial"/>
                <a:ea typeface="ヒラギノ角ゴ Pro W3"/>
              </a:rPr>
              <a:t>Feature </a:t>
            </a:r>
            <a:r>
              <a:rPr kumimoji="0" lang="de-DE" sz="2400" b="1" i="0" u="none" strike="noStrike" kern="0" cap="none" spc="0" normalizeH="0" baseline="0" noProof="0" dirty="0" err="1">
                <a:ln>
                  <a:noFill/>
                </a:ln>
                <a:solidFill>
                  <a:srgbClr val="A8CC2F"/>
                </a:solidFill>
                <a:effectLst/>
                <a:uLnTx/>
                <a:uFillTx/>
                <a:latin typeface="Arial"/>
                <a:ea typeface="ヒラギノ角ゴ Pro W3"/>
              </a:rPr>
              <a:t>Extraction</a:t>
            </a:r>
            <a:r>
              <a:rPr kumimoji="0" lang="de-DE" sz="2400" b="1" i="0" u="none" strike="noStrike" kern="0" cap="none" spc="0" normalizeH="0" baseline="0" noProof="0" dirty="0">
                <a:ln>
                  <a:noFill/>
                </a:ln>
                <a:solidFill>
                  <a:srgbClr val="A8CC2F"/>
                </a:solidFill>
                <a:effectLst/>
                <a:uLnTx/>
                <a:uFillTx/>
                <a:latin typeface="Arial"/>
                <a:ea typeface="ヒラギノ角ゴ Pro W3"/>
              </a:rPr>
              <a:t>: </a:t>
            </a:r>
            <a:r>
              <a:rPr lang="de-DE" sz="2400" dirty="0"/>
              <a:t>Code</a:t>
            </a:r>
            <a:endParaRPr lang="de-DE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854D615C-F8E5-5FC5-C401-2791DF60C4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1981200"/>
            <a:ext cx="3304903" cy="4114800"/>
          </a:xfrm>
        </p:spPr>
        <p:txBody>
          <a:bodyPr/>
          <a:lstStyle/>
          <a:p>
            <a:r>
              <a:rPr lang="de-DE" dirty="0"/>
              <a:t>Library:</a:t>
            </a:r>
          </a:p>
          <a:p>
            <a:pPr lvl="1"/>
            <a:r>
              <a:rPr lang="de-DE" dirty="0" err="1"/>
              <a:t>Librosa</a:t>
            </a:r>
            <a:r>
              <a:rPr lang="de-DE" dirty="0"/>
              <a:t>: berechnen von…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5EAB245-0953-ACDB-0AB6-BCE17E47279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5</a:t>
            </a:fld>
            <a:endParaRPr lang="de-DE" altLang="de-DE" dirty="0"/>
          </a:p>
        </p:txBody>
      </p:sp>
      <p:pic>
        <p:nvPicPr>
          <p:cNvPr id="8" name="Grafik 7" descr="Ein Bild, das Text, Screenshot, Schrift enthält.&#10;&#10;KI-generierte Inhalte können fehlerhaft sein.">
            <a:extLst>
              <a:ext uri="{FF2B5EF4-FFF2-40B4-BE49-F238E27FC236}">
                <a16:creationId xmlns:a16="http://schemas.microsoft.com/office/drawing/2014/main" id="{C8DCE5B2-CBDE-2CE1-B10E-9BD9BD821F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9752" y="2129246"/>
            <a:ext cx="7571631" cy="3391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01624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417B61-8CE5-3B97-6F85-3C618D6BE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898D85CC-7045-19F5-6B89-A95D6A5F23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de-DE" sz="3200" b="1" i="0" u="none" strike="noStrike" kern="0" cap="none" spc="0" normalizeH="0" baseline="0" noProof="0" dirty="0" err="1">
                <a:ln>
                  <a:noFill/>
                </a:ln>
                <a:solidFill>
                  <a:srgbClr val="A8CC2F"/>
                </a:solidFill>
                <a:effectLst/>
                <a:uLnTx/>
                <a:uFillTx/>
                <a:latin typeface="Arial"/>
                <a:ea typeface="ヒラギノ角ゴ Pro W3"/>
              </a:rPr>
              <a:t>Mekmalsanalyse</a:t>
            </a:r>
            <a:r>
              <a:rPr kumimoji="0" lang="de-DE" sz="3200" b="1" i="0" u="none" strike="noStrike" kern="0" cap="none" spc="0" normalizeH="0" baseline="0" noProof="0" dirty="0">
                <a:ln>
                  <a:noFill/>
                </a:ln>
                <a:solidFill>
                  <a:srgbClr val="A8CC2F"/>
                </a:solidFill>
                <a:effectLst/>
                <a:uLnTx/>
                <a:uFillTx/>
                <a:latin typeface="Arial"/>
                <a:ea typeface="ヒラギノ角ゴ Pro W3"/>
              </a:rPr>
              <a:t>:</a:t>
            </a:r>
            <a:br>
              <a:rPr kumimoji="0" lang="de-DE" sz="3200" b="1" i="0" u="none" strike="noStrike" kern="0" cap="none" spc="0" normalizeH="0" baseline="0" noProof="0" dirty="0">
                <a:ln>
                  <a:noFill/>
                </a:ln>
                <a:solidFill>
                  <a:srgbClr val="A8CC2F"/>
                </a:solidFill>
                <a:effectLst/>
                <a:uLnTx/>
                <a:uFillTx/>
                <a:latin typeface="Arial"/>
                <a:ea typeface="ヒラギノ角ゴ Pro W3"/>
              </a:rPr>
            </a:br>
            <a:r>
              <a:rPr kumimoji="0" lang="de-DE" sz="2400" b="1" i="0" u="none" strike="noStrike" kern="0" cap="none" spc="0" normalizeH="0" baseline="0" noProof="0" dirty="0" err="1">
                <a:ln>
                  <a:noFill/>
                </a:ln>
                <a:solidFill>
                  <a:srgbClr val="A8CC2F"/>
                </a:solidFill>
                <a:effectLst/>
                <a:uLnTx/>
                <a:uFillTx/>
                <a:latin typeface="Arial"/>
                <a:ea typeface="ヒラギノ角ゴ Pro W3"/>
              </a:rPr>
              <a:t>Standartisierung</a:t>
            </a:r>
            <a:r>
              <a:rPr kumimoji="0" lang="de-DE" sz="2400" b="1" i="0" u="none" strike="noStrike" kern="0" cap="none" spc="0" normalizeH="0" baseline="0" noProof="0" dirty="0">
                <a:ln>
                  <a:noFill/>
                </a:ln>
                <a:solidFill>
                  <a:srgbClr val="A8CC2F"/>
                </a:solidFill>
                <a:effectLst/>
                <a:uLnTx/>
                <a:uFillTx/>
                <a:latin typeface="Arial"/>
                <a:ea typeface="ヒラギノ角ゴ Pro W3"/>
              </a:rPr>
              <a:t> &amp; Code</a:t>
            </a:r>
            <a:endParaRPr lang="de-DE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3CFC55D7-9A46-28B7-DCDC-9006970AAD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 fontAlgn="base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de-DE" b="0" i="0" dirty="0">
                <a:effectLst/>
                <a:latin typeface="gg sans"/>
              </a:rPr>
              <a:t>Merkmale haben unterschiedliche Einheiten und Größenordnungen</a:t>
            </a:r>
          </a:p>
          <a:p>
            <a:pPr lvl="1">
              <a:spcAft>
                <a:spcPts val="300"/>
              </a:spcAft>
              <a:buFont typeface="Wingdings" pitchFamily="2" charset="2"/>
              <a:buChar char="è"/>
            </a:pPr>
            <a:r>
              <a:rPr lang="de-DE" b="0" i="0" dirty="0">
                <a:effectLst/>
                <a:latin typeface="gg sans"/>
              </a:rPr>
              <a:t>Standardisieren auf Mittelwert 0 und Standardabweichung 1</a:t>
            </a:r>
          </a:p>
          <a:p>
            <a:pPr lvl="1">
              <a:spcAft>
                <a:spcPts val="300"/>
              </a:spcAft>
              <a:buFont typeface="Wingdings" pitchFamily="2" charset="2"/>
              <a:buChar char="è"/>
            </a:pPr>
            <a:r>
              <a:rPr lang="de-DE" dirty="0">
                <a:latin typeface="gg sans"/>
              </a:rPr>
              <a:t>z.B.</a:t>
            </a:r>
            <a:r>
              <a:rPr lang="de-DE" b="0" i="0" dirty="0">
                <a:effectLst/>
                <a:latin typeface="gg sans"/>
              </a:rPr>
              <a:t> Frequenzwerte nicht automatisch wichtiger als kleinere dimensionslose Werte</a:t>
            </a:r>
            <a:endParaRPr lang="de-DE" b="0" i="0" dirty="0">
              <a:effectLst/>
              <a:latin typeface="inherit"/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925611F-2E54-B9F6-1387-380500D28B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6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8703631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701B9E-346B-3528-8989-0CC87ABBC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0C57D15E-CCA8-224B-43C2-BF840F74E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de-DE" sz="3200" b="1" i="0" u="none" strike="noStrike" kern="0" cap="none" spc="0" normalizeH="0" baseline="0" noProof="0" dirty="0" err="1">
                <a:ln>
                  <a:noFill/>
                </a:ln>
                <a:solidFill>
                  <a:srgbClr val="A8CC2F"/>
                </a:solidFill>
                <a:effectLst/>
                <a:uLnTx/>
                <a:uFillTx/>
                <a:latin typeface="Arial"/>
                <a:ea typeface="ヒラギノ角ゴ Pro W3"/>
              </a:rPr>
              <a:t>Mekmalsanalyse</a:t>
            </a:r>
            <a:r>
              <a:rPr kumimoji="0" lang="de-DE" sz="3200" b="1" i="0" u="none" strike="noStrike" kern="0" cap="none" spc="0" normalizeH="0" baseline="0" noProof="0" dirty="0">
                <a:ln>
                  <a:noFill/>
                </a:ln>
                <a:solidFill>
                  <a:srgbClr val="A8CC2F"/>
                </a:solidFill>
                <a:effectLst/>
                <a:uLnTx/>
                <a:uFillTx/>
                <a:latin typeface="Arial"/>
                <a:ea typeface="ヒラギノ角ゴ Pro W3"/>
              </a:rPr>
              <a:t>:</a:t>
            </a:r>
            <a:br>
              <a:rPr kumimoji="0" lang="de-DE" sz="3200" b="1" i="0" u="none" strike="noStrike" kern="0" cap="none" spc="0" normalizeH="0" baseline="0" noProof="0" dirty="0">
                <a:ln>
                  <a:noFill/>
                </a:ln>
                <a:solidFill>
                  <a:srgbClr val="A8CC2F"/>
                </a:solidFill>
                <a:effectLst/>
                <a:uLnTx/>
                <a:uFillTx/>
                <a:latin typeface="Arial"/>
                <a:ea typeface="ヒラギノ角ゴ Pro W3"/>
              </a:rPr>
            </a:br>
            <a:r>
              <a:rPr kumimoji="0" lang="de-DE" sz="2400" b="1" i="0" u="none" strike="noStrike" kern="0" cap="none" spc="0" normalizeH="0" baseline="0" noProof="0" dirty="0" err="1">
                <a:ln>
                  <a:noFill/>
                </a:ln>
                <a:solidFill>
                  <a:srgbClr val="A8CC2F"/>
                </a:solidFill>
                <a:effectLst/>
                <a:uLnTx/>
                <a:uFillTx/>
                <a:latin typeface="Arial"/>
                <a:ea typeface="ヒラギノ角ゴ Pro W3"/>
              </a:rPr>
              <a:t>Standartisierung</a:t>
            </a:r>
            <a:r>
              <a:rPr kumimoji="0" lang="de-DE" sz="2400" b="1" i="0" u="none" strike="noStrike" kern="0" cap="none" spc="0" normalizeH="0" baseline="0" noProof="0" dirty="0">
                <a:ln>
                  <a:noFill/>
                </a:ln>
                <a:solidFill>
                  <a:srgbClr val="A8CC2F"/>
                </a:solidFill>
                <a:effectLst/>
                <a:uLnTx/>
                <a:uFillTx/>
                <a:latin typeface="Arial"/>
                <a:ea typeface="ヒラギノ角ゴ Pro W3"/>
              </a:rPr>
              <a:t> &amp; PCA: Code</a:t>
            </a:r>
            <a:endParaRPr lang="de-DE" dirty="0"/>
          </a:p>
        </p:txBody>
      </p:sp>
      <p:pic>
        <p:nvPicPr>
          <p:cNvPr id="3" name="Inhaltsplatzhalter 2" descr="Ein Bild, das Text, Screenshot, Schrift enthält.&#10;&#10;KI-generierte Inhalte können fehlerhaft sein.">
            <a:extLst>
              <a:ext uri="{FF2B5EF4-FFF2-40B4-BE49-F238E27FC236}">
                <a16:creationId xmlns:a16="http://schemas.microsoft.com/office/drawing/2014/main" id="{FA97D665-B2B0-6A98-0F8B-3D58A024C42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929754" y="2588821"/>
            <a:ext cx="10982846" cy="3244108"/>
          </a:xfrm>
        </p:spPr>
      </p:pic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25C558F-068E-467F-FEA0-9A2B9590AB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7</a:t>
            </a:fld>
            <a:endParaRPr lang="de-DE" altLang="de-DE" dirty="0"/>
          </a:p>
        </p:txBody>
      </p:sp>
      <p:sp>
        <p:nvSpPr>
          <p:cNvPr id="6" name="Inhaltsplatzhalter 9">
            <a:extLst>
              <a:ext uri="{FF2B5EF4-FFF2-40B4-BE49-F238E27FC236}">
                <a16:creationId xmlns:a16="http://schemas.microsoft.com/office/drawing/2014/main" id="{7AFC9A66-8356-7CE3-2D1D-54900DD9AADA}"/>
              </a:ext>
            </a:extLst>
          </p:cNvPr>
          <p:cNvSpPr txBox="1">
            <a:spLocks/>
          </p:cNvSpPr>
          <p:nvPr/>
        </p:nvSpPr>
        <p:spPr bwMode="auto">
          <a:xfrm>
            <a:off x="914400" y="1981200"/>
            <a:ext cx="9737766" cy="6076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Font typeface="Lucida Grande" charset="0"/>
              <a:buChar char="·"/>
              <a:defRPr sz="2400">
                <a:solidFill>
                  <a:srgbClr val="41414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Font typeface="Lucida Grande" charset="0"/>
              <a:buChar char="·"/>
              <a:defRPr sz="2000">
                <a:solidFill>
                  <a:srgbClr val="41414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Lucida Grande" charset="0"/>
              <a:buChar char="·"/>
              <a:defRPr>
                <a:solidFill>
                  <a:srgbClr val="414141"/>
                </a:solidFill>
                <a:latin typeface="+mn-lt"/>
                <a:ea typeface="+mn-ea"/>
                <a:cs typeface="+mn-cs"/>
              </a:defRPr>
            </a:lvl3pPr>
            <a:lvl4pPr marL="114458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414141"/>
              </a:buClr>
              <a:defRPr>
                <a:solidFill>
                  <a:srgbClr val="414141"/>
                </a:solidFill>
                <a:latin typeface="Courier New"/>
                <a:ea typeface="+mn-ea"/>
                <a:cs typeface="+mn-cs"/>
              </a:defRPr>
            </a:lvl4pPr>
            <a:lvl5pPr marL="1144588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Lucida Grande" charset="0"/>
              <a:buChar char="·"/>
              <a:defRPr>
                <a:solidFill>
                  <a:srgbClr val="A8CC2F"/>
                </a:solidFill>
                <a:latin typeface="+mn-lt"/>
                <a:ea typeface="+mn-ea"/>
                <a:cs typeface="+mn-cs"/>
              </a:defRPr>
            </a:lvl5pPr>
            <a:lvl6pPr marL="2438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defRPr sz="1600">
                <a:solidFill>
                  <a:srgbClr val="414141"/>
                </a:solidFill>
                <a:latin typeface="+mn-lt"/>
                <a:ea typeface="+mn-ea"/>
                <a:cs typeface="+mn-cs"/>
              </a:defRPr>
            </a:lvl6pPr>
            <a:lvl7pPr marL="2895600" indent="-228600" algn="l" rtl="0" eaLnBrk="1" fontAlgn="base" hangingPunct="1">
              <a:spcBef>
                <a:spcPct val="20000"/>
              </a:spcBef>
              <a:spcAft>
                <a:spcPct val="0"/>
              </a:spcAft>
              <a:defRPr sz="1600">
                <a:solidFill>
                  <a:srgbClr val="414141"/>
                </a:solidFill>
                <a:latin typeface="+mn-lt"/>
                <a:ea typeface="+mn-ea"/>
                <a:cs typeface="+mn-cs"/>
              </a:defRPr>
            </a:lvl7pPr>
            <a:lvl8pPr marL="3352800" indent="-228600" algn="l" rtl="0" eaLnBrk="1" fontAlgn="base" hangingPunct="1">
              <a:spcBef>
                <a:spcPct val="20000"/>
              </a:spcBef>
              <a:spcAft>
                <a:spcPct val="0"/>
              </a:spcAft>
              <a:defRPr sz="1600">
                <a:solidFill>
                  <a:srgbClr val="414141"/>
                </a:solidFill>
                <a:latin typeface="+mn-lt"/>
                <a:ea typeface="+mn-ea"/>
                <a:cs typeface="+mn-cs"/>
              </a:defRPr>
            </a:lvl8pPr>
            <a:lvl9pPr marL="3810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defRPr sz="1600">
                <a:solidFill>
                  <a:srgbClr val="41414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kern="0" dirty="0"/>
              <a:t>Libraries:</a:t>
            </a:r>
          </a:p>
        </p:txBody>
      </p:sp>
    </p:spTree>
    <p:extLst>
      <p:ext uri="{BB962C8B-B14F-4D97-AF65-F5344CB8AC3E}">
        <p14:creationId xmlns:p14="http://schemas.microsoft.com/office/powerpoint/2010/main" val="32007535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E2805-E9D8-D04A-5336-8CDAB64B1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6DA65B3C-0286-CC68-F9A2-DBFCC60794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Hauptkompenentenanalyse</a:t>
            </a:r>
            <a:endParaRPr lang="de-DE" dirty="0"/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4490464E-DEAC-0130-7CE7-D7F45BF9BB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Wie geht das?</a:t>
            </a:r>
          </a:p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07B5250-4EA0-4248-FE0E-9C9933A031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8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17052376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DC8C5-6B84-38F9-328D-9E6B4534A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A45EFF85-64A8-E302-6981-1B6B7F7F8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Hauptkompenentenanalyse</a:t>
            </a:r>
            <a:r>
              <a:rPr lang="de-DE" dirty="0"/>
              <a:t>:</a:t>
            </a:r>
            <a:br>
              <a:rPr lang="de-DE" dirty="0"/>
            </a:br>
            <a:r>
              <a:rPr lang="de-DE" sz="2400" dirty="0"/>
              <a:t>???</a:t>
            </a:r>
            <a:endParaRPr lang="de-DE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2F3D23E5-4A0C-AAB9-6742-8234C303F8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??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261BA00-8F21-42B1-B753-4444F47505B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9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30560359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1A0095-53C7-3F5E-182B-1605E00E0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D757B5A5-6051-FFCC-0340-6B2A2309A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Hauptkompenentenanalyse</a:t>
            </a:r>
            <a:r>
              <a:rPr lang="de-DE" dirty="0"/>
              <a:t>:</a:t>
            </a:r>
            <a:br>
              <a:rPr lang="de-DE" dirty="0"/>
            </a:br>
            <a:r>
              <a:rPr lang="de-DE" sz="2400" dirty="0"/>
              <a:t>Code</a:t>
            </a:r>
            <a:endParaRPr lang="de-DE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E0628943-4EE5-D432-8B1F-90A882908D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Bild vom Code / Beschreibung von </a:t>
            </a:r>
            <a:r>
              <a:rPr lang="de-DE" dirty="0" err="1"/>
              <a:t>methoden</a:t>
            </a:r>
            <a:r>
              <a:rPr lang="de-DE" dirty="0"/>
              <a:t>/ </a:t>
            </a:r>
            <a:r>
              <a:rPr lang="de-DE" dirty="0" err="1"/>
              <a:t>Bib</a:t>
            </a:r>
            <a:r>
              <a:rPr lang="de-DE" dirty="0"/>
              <a:t>. ?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53E53DE-A460-5286-4612-B8186AA662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10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1026886502"/>
      </p:ext>
    </p:extLst>
  </p:cSld>
  <p:clrMapOvr>
    <a:masterClrMapping/>
  </p:clrMapOvr>
</p:sld>
</file>

<file path=ppt/theme/theme1.xml><?xml version="1.0" encoding="utf-8"?>
<a:theme xmlns:a="http://schemas.openxmlformats.org/drawingml/2006/main" name="B-TU_Design">
  <a:themeElements>
    <a:clrScheme name="Leere Präsentatio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eere Präsentation">
      <a:majorFont>
        <a:latin typeface="Arial"/>
        <a:ea typeface="ヒラギノ角ゴ Pro W3"/>
        <a:cs typeface="ヒラギノ角ゴ Pro W3"/>
      </a:majorFont>
      <a:minorFont>
        <a:latin typeface="Arial"/>
        <a:ea typeface="ヒラギノ角ゴ Pro W3"/>
        <a:cs typeface="ヒラギノ角ゴ Pro W3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Arial" pitchFamily="-109" charset="0"/>
            <a:ea typeface="ヒラギノ角ゴ Pro W3" pitchFamily="-109" charset="-128"/>
            <a:cs typeface="ヒラギノ角ゴ Pro W3" pitchFamily="-109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Arial" pitchFamily="-109" charset="0"/>
            <a:ea typeface="ヒラギノ角ゴ Pro W3" pitchFamily="-109" charset="-128"/>
            <a:cs typeface="ヒラギノ角ゴ Pro W3" pitchFamily="-109" charset="-128"/>
          </a:defRPr>
        </a:defPPr>
      </a:lstStyle>
    </a:lnDef>
  </a:objectDefaults>
  <a:extraClrSchemeLst>
    <a:extraClrScheme>
      <a:clrScheme name="Leere Präsentatio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ere Präsentatio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ere Präsentatio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ere Präsentatio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ere Präsentatio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ere Präsentatio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ere Präsentatio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713E39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BBAFAE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ere Präsentatio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ere Präsentatio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ere Präsentatio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ere Präsentatio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ere Präsentatio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B-TU_Design" id="{F0532450-6947-47A6-81BF-02E1F018A2A7}" vid="{AA793E9C-2381-410C-B7B6-98D03D23E979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B-TU_Design</Template>
  <TotalTime>0</TotalTime>
  <Words>387</Words>
  <Application>Microsoft Macintosh PowerPoint</Application>
  <PresentationFormat>Breitbild</PresentationFormat>
  <Paragraphs>59</Paragraphs>
  <Slides>10</Slides>
  <Notes>4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9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20" baseType="lpstr">
      <vt:lpstr>Aptos</vt:lpstr>
      <vt:lpstr>Arial</vt:lpstr>
      <vt:lpstr>Courier New</vt:lpstr>
      <vt:lpstr>gg sans</vt:lpstr>
      <vt:lpstr>inherit</vt:lpstr>
      <vt:lpstr>Lucida Grande</vt:lpstr>
      <vt:lpstr>Menlo</vt:lpstr>
      <vt:lpstr>Times</vt:lpstr>
      <vt:lpstr>Wingdings</vt:lpstr>
      <vt:lpstr>B-TU_Design</vt:lpstr>
      <vt:lpstr>Team 3: Seminaraufgabe 2</vt:lpstr>
      <vt:lpstr>Gliederung</vt:lpstr>
      <vt:lpstr>Ziel</vt:lpstr>
      <vt:lpstr>Mekmalsanalyse: Feature Extraction</vt:lpstr>
      <vt:lpstr>Mekmalsanalyse: Feature Extraction: Code</vt:lpstr>
      <vt:lpstr>Mekmalsanalyse: Standartisierung &amp; Code</vt:lpstr>
      <vt:lpstr>Mekmalsanalyse: Standartisierung &amp; PCA: Code</vt:lpstr>
      <vt:lpstr>Hauptkompenentenanalyse</vt:lpstr>
      <vt:lpstr>Hauptkompenentenanalyse: ???</vt:lpstr>
      <vt:lpstr>Hauptkompenentenanalyse: Code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Tim Giese</dc:creator>
  <cp:lastModifiedBy>Tim Giese</cp:lastModifiedBy>
  <cp:revision>45</cp:revision>
  <dcterms:created xsi:type="dcterms:W3CDTF">2026-06-13T09:02:33Z</dcterms:created>
  <dcterms:modified xsi:type="dcterms:W3CDTF">2026-06-19T10:31:34Z</dcterms:modified>
</cp:coreProperties>
</file>